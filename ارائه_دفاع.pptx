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700" b="0" i="0" u="none" strike="noStrike">
                <a:solidFill>
                  <a:srgbClr val="0B1F3A"/>
                </a:solidFill>
                <a:latin typeface="B Nazanin"/>
              </a:defRPr>
            </a:pPr>
            <a:r>
              <a:rPr sz="1700" b="0" i="0" u="none" strike="noStrike">
                <a:solidFill>
                  <a:srgbClr val="0B1F3A"/>
                </a:solidFill>
                <a:latin typeface="B Nazanin"/>
              </a:rPr>
              <a:t>توزیع مشاهدات بر حسب مؤسسهٔ حسابرس (درصد)</a:t>
            </a:r>
          </a:p>
        </c:rich>
      </c:tx>
      <c:layout/>
      <c:overlay val="0"/>
    </c:title>
    <c:autoTitleDeleted val="0"/>
    <c:plotArea>
      <c:layout/>
      <c:doughnutChart>
        <c:varyColors val="1"/>
        <c:ser>
          <c:idx val="0"/>
          <c:order val="0"/>
          <c:tx>
            <c:strRef>
              <c:f>Sheet1!$B$1</c:f>
              <c:strCache>
                <c:ptCount val="1"/>
                <c:pt idx="0">
                  <c:v>سهم مشاهدات</c:v>
                </c:pt>
              </c:strCache>
            </c:strRef>
          </c:tx>
          <c:spPr>
            <a:solidFill>
              <a:schemeClr val="accent1"/>
            </a:solidFill>
            <a:ln w="9525" cap="flat">
              <a:solidFill>
                <a:srgbClr val="F9F9F9"/>
              </a:solidFill>
              <a:prstDash val="solid"/>
              <a:round/>
            </a:ln>
            <a:effectLst/>
          </c:spPr>
          <c:dPt>
            <c:idx val="0"/>
            <c:bubble3D val="0"/>
            <c:spPr>
              <a:solidFill>
                <a:srgbClr val="5B7FA6"/>
              </a:solidFill>
              <a:effectLst/>
            </c:spPr>
          </c:dPt>
          <c:dPt>
            <c:idx val="1"/>
            <c:bubble3D val="0"/>
            <c:spPr>
              <a:solidFill>
                <a:srgbClr val="F2A541"/>
              </a:solidFill>
              <a:effectLst/>
            </c:spPr>
          </c:dPt>
          <c:dLbls>
            <c:dLbl>
              <c:idx val="0"/>
              <c:numFmt formatCode="0%" sourceLinked="0"/>
              <c:spPr/>
              <c:txPr>
                <a:bodyPr/>
                <a:lstStyle/>
                <a:p>
                  <a:pPr>
                    <a:defRPr sz="1600" b="0" i="0" u="none" strike="noStrike">
                      <a:solidFill>
                        <a:srgbClr val="FFFFFF"/>
                      </a:solidFill>
                      <a:latin typeface="B Nazanin"/>
                    </a:defRPr>
                  </a:pPr>
                </a:p>
              </c:txPr>
              <c:showLegendKey val="0"/>
              <c:showVal val="0"/>
              <c:showCatName val="0"/>
              <c:showSerName val="0"/>
              <c:showPercent val="1"/>
              <c:showBubbleSize val="0"/>
            </c:dLbl>
            <c:dLbl>
              <c:idx val="1"/>
              <c:numFmt formatCode="0%" sourceLinked="0"/>
              <c:spPr/>
              <c:txPr>
                <a:bodyPr/>
                <a:lstStyle/>
                <a:p>
                  <a:pPr>
                    <a:defRPr sz="1600" b="0" i="0" u="none" strike="noStrike">
                      <a:solidFill>
                        <a:srgbClr val="FFFFFF"/>
                      </a:solidFill>
                      <a:latin typeface="B Nazanin"/>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سایر مؤسسات</c:v>
                </c:pt>
                <c:pt idx="1">
                  <c:v>سازمان حسابرسی</c:v>
                </c:pt>
              </c:strCache>
            </c:strRef>
          </c:cat>
          <c:val>
            <c:numRef>
              <c:f>Sheet1!$B$2:$B$3</c:f>
              <c:numCache>
                <c:ptCount val="2"/>
                <c:pt idx="0">
                  <c:v>87.2</c:v>
                </c:pt>
                <c:pt idx="1">
                  <c:v>12.8</c:v>
                </c:pt>
              </c:numCache>
            </c:numRef>
          </c:val>
        </c:ser>
        <c:firstSliceAng val="0"/>
        <c:holeSize val="55"/>
      </c:doughnutChart>
      <c:spPr>
        <a:noFill/>
        <a:ln>
          <a:noFill/>
        </a:ln>
        <a:effectLst/>
      </c:spPr>
    </c:plotArea>
    <c:legend>
      <c:legendPos val="b"/>
      <c:overlay val="0"/>
      <c:txPr>
        <a:bodyPr/>
        <a:lstStyle/>
        <a:p>
          <a:pPr>
            <a:defRPr sz="1600">
              <a:solidFill>
                <a:srgbClr val="0B1F3A"/>
              </a:solidFill>
              <a:latin typeface="B Nazanin"/>
              <a:cs typeface="B Nazanin"/>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B1F3A"/>
                </a:solidFill>
                <a:latin typeface="B Nazanin"/>
              </a:defRPr>
            </a:pPr>
            <a:r>
              <a:rPr sz="1800" b="0" i="0" u="none" strike="noStrike">
                <a:solidFill>
                  <a:srgbClr val="0B1F3A"/>
                </a:solidFill>
                <a:latin typeface="B Nazanin"/>
              </a:rPr>
              <a:t>ضریب متغیر آزمون در هر مدل</a:t>
            </a:r>
          </a:p>
        </c:rich>
      </c:tx>
      <c:layout/>
      <c:overlay val="0"/>
    </c:title>
    <c:autoTitleDeleted val="0"/>
    <c:plotArea>
      <c:layout/>
      <c:barChart>
        <c:barDir val="col"/>
        <c:grouping val="clustered"/>
        <c:varyColors val="0"/>
        <c:ser>
          <c:idx val="0"/>
          <c:order val="0"/>
          <c:tx>
            <c:strRef>
              <c:f>Sheet1!$B$1</c:f>
              <c:strCache>
                <c:ptCount val="1"/>
                <c:pt idx="0">
                  <c:v>ضریب برآوردشده</c:v>
                </c:pt>
              </c:strCache>
            </c:strRef>
          </c:tx>
          <c:spPr>
            <a:solidFill>
              <a:srgbClr val="0E7C86"/>
            </a:solidFill>
            <a:effectLst/>
          </c:spPr>
          <c:invertIfNegative val="0"/>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cat>
            <c:multiLvlStrRef>
              <c:f>Sheet1!$A$2:$A$6</c:f>
              <c:multiLvlStrCache>
                <c:ptCount val="5"/>
                <c:lvl>
                  <c:pt idx="0">
                    <c:v>فرضیه 1 (NASR)</c:v>
                  </c:pt>
                  <c:pt idx="1">
                    <c:v>فرضیه 2 (COMPLEX)</c:v>
                  </c:pt>
                  <c:pt idx="2">
                    <c:v>فرضیه 3 (AF)</c:v>
                  </c:pt>
                  <c:pt idx="3">
                    <c:v>فرضیه 4 (AF)</c:v>
                  </c:pt>
                  <c:pt idx="4">
                    <c:v>فرضیه 5 (COSTP)</c:v>
                  </c:pt>
                </c:lvl>
              </c:multiLvlStrCache>
            </c:multiLvlStrRef>
          </c:cat>
          <c:val>
            <c:numRef>
              <c:f>Sheet1!$B$2:$B$6</c:f>
              <c:numCache>
                <c:formatCode>General</c:formatCode>
                <c:ptCount val="5"/>
                <c:pt idx="0">
                  <c:v>-0.592</c:v>
                </c:pt>
                <c:pt idx="1">
                  <c:v>-0.296</c:v>
                </c:pt>
                <c:pt idx="2">
                  <c:v>-0.649</c:v>
                </c:pt>
                <c:pt idx="3">
                  <c:v>-0.24</c:v>
                </c:pt>
                <c:pt idx="4">
                  <c:v>0.027</c:v>
                </c:pt>
              </c:numCache>
            </c:numRef>
          </c:val>
        </c:ser>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D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B1F3A"/>
                </a:solidFill>
                <a:latin typeface="B Nazanin"/>
              </a:defRPr>
            </a:pPr>
            <a:r>
              <a:rPr sz="1800" b="0" i="0" u="none" strike="noStrike">
                <a:solidFill>
                  <a:srgbClr val="0B1F3A"/>
                </a:solidFill>
                <a:latin typeface="B Nazanin"/>
              </a:rPr>
              <a:t>قدرت توضیحی مدل‌ها (R²)</a:t>
            </a:r>
          </a:p>
        </c:rich>
      </c:tx>
      <c:layout/>
      <c:overlay val="0"/>
    </c:title>
    <c:autoTitleDeleted val="0"/>
    <c:plotArea>
      <c:layout/>
      <c:barChart>
        <c:barDir val="col"/>
        <c:grouping val="clustered"/>
        <c:varyColors val="0"/>
        <c:ser>
          <c:idx val="0"/>
          <c:order val="0"/>
          <c:tx>
            <c:strRef>
              <c:f>Sheet1!$B$1</c:f>
              <c:strCache>
                <c:ptCount val="1"/>
                <c:pt idx="0">
                  <c:v>ضریب تعیین</c:v>
                </c:pt>
              </c:strCache>
            </c:strRef>
          </c:tx>
          <c:spPr>
            <a:solidFill>
              <a:srgbClr val="F2A541"/>
            </a:solidFill>
            <a:effectLst/>
          </c:spPr>
          <c:invertIfNegative val="0"/>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cat>
            <c:multiLvlStrRef>
              <c:f>Sheet1!$A$2:$A$6</c:f>
              <c:multiLvlStrCache>
                <c:ptCount val="5"/>
                <c:lvl>
                  <c:pt idx="0">
                    <c:v>مدل 1</c:v>
                  </c:pt>
                  <c:pt idx="1">
                    <c:v>مدل 2</c:v>
                  </c:pt>
                  <c:pt idx="2">
                    <c:v>مدل 3</c:v>
                  </c:pt>
                  <c:pt idx="3">
                    <c:v>مدل 4</c:v>
                  </c:pt>
                  <c:pt idx="4">
                    <c:v>مدل 5</c:v>
                  </c:pt>
                </c:lvl>
              </c:multiLvlStrCache>
            </c:multiLvlStrRef>
          </c:cat>
          <c:val>
            <c:numRef>
              <c:f>Sheet1!$B$2:$B$6</c:f>
              <c:numCache>
                <c:formatCode>General</c:formatCode>
                <c:ptCount val="5"/>
                <c:pt idx="0">
                  <c:v>0.15</c:v>
                </c:pt>
                <c:pt idx="1">
                  <c:v>0.469</c:v>
                </c:pt>
                <c:pt idx="2">
                  <c:v>0.503</c:v>
                </c:pt>
                <c:pt idx="3">
                  <c:v>0.575</c:v>
                </c:pt>
                <c:pt idx="4">
                  <c:v>0.286</c:v>
                </c:pt>
              </c:numCache>
            </c:numRef>
          </c:val>
        </c:ser>
        <c:dLbls>
          <c:numFmt formatCode="0.000" sourceLinked="0"/>
          <c:txPr>
            <a:bodyPr/>
            <a:lstStyle/>
            <a:p>
              <a:pPr>
                <a:defRPr b="0" i="0" strike="noStrike" sz="1400" u="none">
                  <a:solidFill>
                    <a:srgbClr val="0B1F3A"/>
                  </a:solidFill>
                  <a:latin typeface="B Nazani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D5DD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B1F3A"/>
                </a:solidFill>
                <a:latin typeface="B Nazani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با نام خدا. در این ارائه، یافته‌های رسالهٔ دکتری دربارهٔ هزینه‌های حسابرسی، ریکاوری حق‌الزحمه و کیفیت حسابرسی آینده را بر پایهٔ داده‌های 137 شرکت بورسی طی سال‌های 1396 تا 1402 ارائه می‌کنم.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ارائه در شش بخش پیش می‌رود: مسئله و نظریه، پیشینه، روش، تحلیل، نتایج و جمع‌بندی.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اهمیت موضوع از آن‌جاست که قیمت‌گذاری حسابرسی با استقلال و کیفیت گره خورده و بازار ایران به دلیل رقابت و افشای حق‌الزحمه بستر مناسبی برای آزمون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دو نظریهٔ رقیب پیش‌بینی‌های متضاد دارند: دی‌آنجلو سال اول را ارزان‌تر و دای گران‌تر می‌داند. شواهد پیشین در کشورهای مختلف متناقض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پژوهش حاضر به‌جای بررسی صرفِ وجود نرخ‌شکنی، همزمان تعیین‌کننده‌ها، کانال‌های بازیابی و پیامد کیفیت را بررسی می‌کند.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پنج هدف، به‌ترتیب با پنج فرضیهٔ پژوهش متناظرند.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نوآوری رساله در یکپارچه‌سازی کمّی موضوع و ورود صریح هزینهٔ سال اول در مدل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چارچوب مفهومی برگرفته از پژوهش چو، کوان و کریشنان (2020) و منطبق با بازار ایران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پنج نظریه، مبنای نظری فرضیه‌ها را فراهم می‌کنند: نمایندگی، وابستگی اقتصادی، رقابت، سرمایهٔ انسانی و اقتصاد اطلاعات.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پژوهش‌های داخلی از سنجش سطح حق‌الزحمه تا بررسی نرخ‌شکنی و پیامد کیفی آن گسترش یافته‌اند؛ تازه‌ترین آن‌ها رشیدی و حاجی‌زاده (1403)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پیشینهٔ خارجی غالباً نشان می‌دهد نرخ‌شکنی پاسخ طبیعی به رقابت است و لزوماً کیفیت را مختل نمی‌کند؛ اما نتایج بسته به بازار و دوره متفاوت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فرضیه‌های اول، چهارم و پنجم به‌صورت نبود رابطه و فرضیه‌های دوم و سوم به‌صورت وجود رابطه با جهت مشخص تدوین شده‌اند.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نمونه با حذف سیستماتیک شرکت‌های مالی و دارای داده ناقص انتخاب شد. حدود 13 درصد مشاهدات توسط سازمان حسابرس (مؤسسهٔ بزرگ) حسابرسی شده‌اند.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هر متغیر با تعریف مفهومی و عملیاتی و استناد علمی در فصل سوم آمده است؛ متغیرهای کنترلی بر پایهٔ ادبیات تعیین‌کننده‌های حق‌الزحمه انتخاب شده‌اند.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ابتدا مدل انتظاری هزینهٔ حسابرسی برآورد می‌شود و باقیماندهٔ آن، فشار هزینه‌ای حسابرس است. سپس مدل‌های فرضیه‌ها با همان متغیرهای کنترلی برآورد می‌شوند.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در هر مدل، ضریب متغیر اصلی (β1) مبنای قضاوت دربارهٔ فرضیه است. قواعد تصمیم در جدول 3-2 رساله آمده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تحلیل با داده‌های تابلویی در نرم‌افزار EViews انجام شد و مراحل آزمون دقیقاً به ترتیب بالا طی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نمونه از نظر اندازه و اهرم متعادل است؛ کیفیت حسابرسی آینده و رشد شرکت چولگی بالا دارند.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همهٔ مفروضات برقرار است و مدل پانل با اثرات ثابت برای هر پنج مدل انتخاب شد.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ضریب سهم حق‌الزحمهٔ غیرحسابرسی معنادار نیست؛ بنابراین شواهدی از یارانهٔ متقاطع در سطح مدل هزینه مشاهده نمی‌شود.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مؤسسات کوچک برای حفظ مشتریان مهم تخفیف می‌دهند؛ مؤسسات بزرگ به دلیل تنوع سبد مشتریان کمتر در معرض این فشارند. اثر خالص مؤسسات بزرگ برابر 0.109-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ریکاوری حق‌الزحمه در مؤسساتی که هزینهٔ اولیهٔ پایین‌تری داشته‌اند مشاهده می‌شود؛ این یافته با نظریهٔ دی‌آنجلو سازگار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فرضیهٔ چهارم تأیید نشد: افزون بر مجرای حق‌الزحمهٔ حسابرسی، شواهدی از جبران از طریق خدمات غیرحسابرسی دیده می‌شود، هرچند تفسیر آن نیازمند احتیاط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حسابرسان در مرحلهٔ بازیابی، کیفیت کار را قربانی فشار اقتصادی نمی‌کنند؛ این نتیجه با نگرانی اصلی تنظیم‌کنندگان هم‌خوان نیست.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این همان جدول 4-15 رساله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ضرایب منفی در فرضیه‌های 1 تا 4 و ضریب نزدیک به صفر در فرضیهٔ 5 در نمودار دیده می‌شود. ضرایب تعیین از 0.15 تا 0.58 است.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جدول 5-2 رساله؛ اغلب نتایج با پیشینه همسوست و مغایرت‌ها را می‌توان با تفاوت دوره، معیار و بازار توضیح داد.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جمع‌بندی رساله در قالب دکترین: وجود کاهش اولیه، بازیابی عمدتاً از حق‌الزحمهٔ حسابرسی، شدت بیشتر در مؤسسات کوچک و نبود اثر معنادار بر کیفیت آینده.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پیشنهادها بر پایهٔ یافته‌ها و محدودیت‌ها بر پایهٔ داده و روش تنظیم شده‌اند.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از توجه داوران و حاضران محترم سپاسگزارم.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3315C"/>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3.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498080" y="-1097280"/>
            <a:ext cx="6400800" cy="6400800"/>
          </a:xfrm>
          <a:prstGeom prst="ellipse">
            <a:avLst/>
          </a:prstGeom>
          <a:solidFill>
            <a:srgbClr val="0E7C86"/>
          </a:solidFill>
          <a:ln/>
        </p:spPr>
      </p:sp>
      <p:sp>
        <p:nvSpPr>
          <p:cNvPr id="3" name="Shape 1"/>
          <p:cNvSpPr/>
          <p:nvPr/>
        </p:nvSpPr>
        <p:spPr>
          <a:xfrm>
            <a:off x="-1645920" y="4206240"/>
            <a:ext cx="4937760" cy="4937760"/>
          </a:xfrm>
          <a:prstGeom prst="ellipse">
            <a:avLst/>
          </a:prstGeom>
          <a:solidFill>
            <a:srgbClr val="F2A541"/>
          </a:solidFill>
          <a:ln/>
        </p:spPr>
      </p:sp>
      <p:sp>
        <p:nvSpPr>
          <p:cNvPr id="4" name="anim_1_1"/>
          <p:cNvSpPr txBox="1"/>
          <p:nvPr/>
        </p:nvSpPr>
        <p:spPr>
          <a:xfrm>
            <a:off x="822960" y="640080"/>
            <a:ext cx="10515600" cy="548640"/>
          </a:xfrm>
          <a:prstGeom prst="rect">
            <a:avLst/>
          </a:prstGeom>
          <a:noFill/>
          <a:ln/>
        </p:spPr>
        <p:txBody>
          <a:bodyPr wrap="square" lIns="0" tIns="0" rIns="0" bIns="0" rtlCol="0" anchor="t"/>
          <a:lstStyle/>
          <a:p>
            <a:pPr rtl="1" algn="r" indent="0" marL="0">
              <a:buNone/>
            </a:pPr>
            <a:r>
              <a:rPr lang="fa-IR" altLang="en-US" sz="2400" dirty="0">
                <a:solidFill>
                  <a:schemeClr val="accent2"/>
                </a:solidFill>
                <a:latin typeface="B Nazanin" pitchFamily="34" charset="0"/>
                <a:ea typeface="B Nazanin" pitchFamily="34" charset="-122"/>
                <a:cs typeface="B Nazanin" pitchFamily="34" charset="-120"/>
              </a:rPr>
              <a:t>دفاع از رسالهٔ دکتری حسابداری</a:t>
            </a:r>
            <a:endParaRPr lang="fa-IR" sz="2400" dirty="0"/>
          </a:p>
        </p:txBody>
      </p:sp>
      <p:sp>
        <p:nvSpPr>
          <p:cNvPr id="5" name="anim_2_2"/>
          <p:cNvSpPr txBox="1"/>
          <p:nvPr/>
        </p:nvSpPr>
        <p:spPr>
          <a:xfrm>
            <a:off x="822960" y="1554480"/>
            <a:ext cx="10515600" cy="1737360"/>
          </a:xfrm>
          <a:prstGeom prst="rect">
            <a:avLst/>
          </a:prstGeom>
          <a:noFill/>
          <a:ln/>
        </p:spPr>
        <p:txBody>
          <a:bodyPr wrap="square" lIns="0" tIns="0" rIns="0" bIns="0" rtlCol="0" anchor="t"/>
          <a:lstStyle/>
          <a:p>
            <a:pPr rtl="1" algn="r" indent="0" marL="0">
              <a:buNone/>
            </a:pPr>
            <a:r>
              <a:rPr lang="fa-IR" altLang="en-US" sz="4400" dirty="0">
                <a:solidFill>
                  <a:schemeClr val="bg1"/>
                </a:solidFill>
                <a:latin typeface="B Titr" pitchFamily="34" charset="0"/>
                <a:ea typeface="B Titr" pitchFamily="34" charset="-122"/>
                <a:cs typeface="B Titr" pitchFamily="34" charset="-120"/>
              </a:rPr>
              <a:t>بررسی هزینه‌های حسابرسی و ارائهٔ مدلی جهت پیش‌بینی آن</a:t>
            </a:r>
            <a:endParaRPr lang="fa-IR" sz="4400" dirty="0"/>
          </a:p>
        </p:txBody>
      </p:sp>
      <p:sp>
        <p:nvSpPr>
          <p:cNvPr id="6" name="anim_3_3"/>
          <p:cNvSpPr txBox="1"/>
          <p:nvPr/>
        </p:nvSpPr>
        <p:spPr>
          <a:xfrm>
            <a:off x="822960" y="3429000"/>
            <a:ext cx="10515600" cy="640080"/>
          </a:xfrm>
          <a:prstGeom prst="rect">
            <a:avLst/>
          </a:prstGeom>
          <a:noFill/>
          <a:ln/>
        </p:spPr>
        <p:txBody>
          <a:bodyPr wrap="square" lIns="0" tIns="0" rIns="0" bIns="0" rtlCol="0" anchor="t"/>
          <a:lstStyle/>
          <a:p>
            <a:pPr rtl="1" algn="r" indent="0" marL="0">
              <a:buNone/>
            </a:pPr>
            <a:r>
              <a:rPr lang="fa-IR" altLang="en-US" sz="2800" dirty="0">
                <a:solidFill>
                  <a:schemeClr val="bg2"/>
                </a:solidFill>
                <a:latin typeface="B Nazanin" pitchFamily="34" charset="0"/>
                <a:ea typeface="B Nazanin" pitchFamily="34" charset="-122"/>
                <a:cs typeface="B Nazanin" pitchFamily="34" charset="-120"/>
              </a:rPr>
              <a:t>عوامل تعیین‌کننده، ریکاوری و کیفیت حسابرسی آینده</a:t>
            </a:r>
            <a:endParaRPr lang="fa-IR" sz="2800" dirty="0"/>
          </a:p>
        </p:txBody>
      </p:sp>
      <p:sp>
        <p:nvSpPr>
          <p:cNvPr id="7" name="anim_4_4"/>
          <p:cNvSpPr/>
          <p:nvPr/>
        </p:nvSpPr>
        <p:spPr>
          <a:xfrm>
            <a:off x="795528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8" name="anim_4_5"/>
          <p:cNvSpPr txBox="1"/>
          <p:nvPr/>
        </p:nvSpPr>
        <p:spPr>
          <a:xfrm>
            <a:off x="795528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137</a:t>
            </a:r>
            <a:endParaRPr lang="fa-IR" sz="3400" dirty="0"/>
          </a:p>
        </p:txBody>
      </p:sp>
      <p:sp>
        <p:nvSpPr>
          <p:cNvPr id="9" name="anim_4_6"/>
          <p:cNvSpPr txBox="1"/>
          <p:nvPr/>
        </p:nvSpPr>
        <p:spPr>
          <a:xfrm>
            <a:off x="795528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شرکت بورسی</a:t>
            </a:r>
            <a:endParaRPr lang="fa-IR" sz="1800" dirty="0"/>
          </a:p>
        </p:txBody>
      </p:sp>
      <p:sp>
        <p:nvSpPr>
          <p:cNvPr id="10" name="anim_4_7"/>
          <p:cNvSpPr/>
          <p:nvPr/>
        </p:nvSpPr>
        <p:spPr>
          <a:xfrm>
            <a:off x="438912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11" name="anim_4_8"/>
          <p:cNvSpPr txBox="1"/>
          <p:nvPr/>
        </p:nvSpPr>
        <p:spPr>
          <a:xfrm>
            <a:off x="438912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1396 تا 1402</a:t>
            </a:r>
            <a:endParaRPr lang="fa-IR" sz="3400" dirty="0"/>
          </a:p>
        </p:txBody>
      </p:sp>
      <p:sp>
        <p:nvSpPr>
          <p:cNvPr id="12" name="anim_4_9"/>
          <p:cNvSpPr txBox="1"/>
          <p:nvPr/>
        </p:nvSpPr>
        <p:spPr>
          <a:xfrm>
            <a:off x="438912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دورهٔ پژوهش (هفت سال)</a:t>
            </a:r>
            <a:endParaRPr lang="fa-IR" sz="1800" dirty="0"/>
          </a:p>
        </p:txBody>
      </p:sp>
      <p:sp>
        <p:nvSpPr>
          <p:cNvPr id="13" name="anim_4_10"/>
          <p:cNvSpPr/>
          <p:nvPr/>
        </p:nvSpPr>
        <p:spPr>
          <a:xfrm>
            <a:off x="822960" y="4572000"/>
            <a:ext cx="3291840" cy="1417320"/>
          </a:xfrm>
          <a:prstGeom prst="roundRect">
            <a:avLst>
              <a:gd name="adj" fmla="val 7742"/>
            </a:avLst>
          </a:prstGeom>
          <a:solidFill>
            <a:schemeClr val="tx2"/>
          </a:solidFill>
          <a:ln/>
          <a:effectLst>
            <a:outerShdw sx="100000" sy="100000" kx="0" ky="0" algn="bl" rotWithShape="0" blurRad="101600" dist="25400" dir="5400000">
              <a:srgbClr val="000000">
                <a:alpha val="12000"/>
              </a:srgbClr>
            </a:outerShdw>
          </a:effectLst>
        </p:spPr>
      </p:sp>
      <p:sp>
        <p:nvSpPr>
          <p:cNvPr id="14" name="anim_4_11"/>
          <p:cNvSpPr txBox="1"/>
          <p:nvPr/>
        </p:nvSpPr>
        <p:spPr>
          <a:xfrm>
            <a:off x="822960" y="4645152"/>
            <a:ext cx="3291840" cy="77724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959</a:t>
            </a:r>
            <a:endParaRPr lang="fa-IR" sz="3400" dirty="0"/>
          </a:p>
        </p:txBody>
      </p:sp>
      <p:sp>
        <p:nvSpPr>
          <p:cNvPr id="15" name="anim_4_12"/>
          <p:cNvSpPr txBox="1"/>
          <p:nvPr/>
        </p:nvSpPr>
        <p:spPr>
          <a:xfrm>
            <a:off x="822960" y="5440680"/>
            <a:ext cx="329184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مشاهدهٔ سال-شرکت</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childTnLst>
                                </p:cTn>
                              </p:par>
                              <p:par>
                                <p:cTn id="7" presetID="10" presetClass="entr" presetSubtype="0" fill="hold" nodeType="withEffect">
                                  <p:stCondLst>
                                    <p:cond delay="35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0" presetID="10" presetClass="entr" presetSubtype="0" fill="hold" nodeType="withEffect">
                                  <p:stCondLst>
                                    <p:cond delay="7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3" presetID="10" presetClass="entr" presetSubtype="0" fill="hold" nodeType="withEffect">
                                  <p:stCondLst>
                                    <p:cond delay="105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par>
                                <p:cTn id="16" presetID="10" presetClass="entr" presetSubtype="0" fill="hold" nodeType="withEffect">
                                  <p:stCondLst>
                                    <p:cond delay="105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600"/>
                                        <p:tgtEl>
                                          <p:spTgt spid="8"/>
                                        </p:tgtEl>
                                      </p:cBhvr>
                                    </p:animEffect>
                                  </p:childTnLst>
                                </p:cTn>
                              </p:par>
                              <p:par>
                                <p:cTn id="19" presetID="10" presetClass="entr" presetSubtype="0" fill="hold" nodeType="withEffect">
                                  <p:stCondLst>
                                    <p:cond delay="10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10" presetClass="entr" presetSubtype="0" fill="hold" nodeType="withEffect">
                                  <p:stCondLst>
                                    <p:cond delay="105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600"/>
                                        <p:tgtEl>
                                          <p:spTgt spid="10"/>
                                        </p:tgtEl>
                                      </p:cBhvr>
                                    </p:animEffect>
                                  </p:childTnLst>
                                </p:cTn>
                              </p:par>
                              <p:par>
                                <p:cTn id="25" presetID="10" presetClass="entr" presetSubtype="0" fill="hold" nodeType="withEffect">
                                  <p:stCondLst>
                                    <p:cond delay="10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600"/>
                                        <p:tgtEl>
                                          <p:spTgt spid="11"/>
                                        </p:tgtEl>
                                      </p:cBhvr>
                                    </p:animEffect>
                                  </p:childTnLst>
                                </p:cTn>
                              </p:par>
                              <p:par>
                                <p:cTn id="28" presetID="10" presetClass="entr" presetSubtype="0" fill="hold" nodeType="withEffect">
                                  <p:stCondLst>
                                    <p:cond delay="10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600"/>
                                        <p:tgtEl>
                                          <p:spTgt spid="12"/>
                                        </p:tgtEl>
                                      </p:cBhvr>
                                    </p:animEffect>
                                  </p:childTnLst>
                                </p:cTn>
                              </p:par>
                              <p:par>
                                <p:cTn id="31" presetID="10" presetClass="entr" presetSubtype="0" fill="hold" nodeType="withEffect">
                                  <p:stCondLst>
                                    <p:cond delay="10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600"/>
                                        <p:tgtEl>
                                          <p:spTgt spid="13"/>
                                        </p:tgtEl>
                                      </p:cBhvr>
                                    </p:animEffect>
                                  </p:childTnLst>
                                </p:cTn>
                              </p:par>
                              <p:par>
                                <p:cTn id="34" presetID="10" presetClass="entr" presetSubtype="0" fill="hold" nodeType="withEffect">
                                  <p:stCondLst>
                                    <p:cond delay="105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600"/>
                                        <p:tgtEl>
                                          <p:spTgt spid="14"/>
                                        </p:tgtEl>
                                      </p:cBhvr>
                                    </p:animEffect>
                                  </p:childTnLst>
                                </p:cTn>
                              </p:par>
                              <p:par>
                                <p:cTn id="37" presetID="10" presetClass="entr" presetSubtype="0" fill="hold" nodeType="withEffect">
                                  <p:stCondLst>
                                    <p:cond delay="105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فهرست ارائه</a:t>
            </a:r>
            <a:endParaRPr lang="fa-IR" sz="3400" dirty="0"/>
          </a:p>
        </p:txBody>
      </p:sp>
      <p:sp>
        <p:nvSpPr>
          <p:cNvPr id="3" name="anim_1_13"/>
          <p:cNvSpPr/>
          <p:nvPr/>
        </p:nvSpPr>
        <p:spPr>
          <a:xfrm>
            <a:off x="6217920" y="155448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4" name="anim_1_14"/>
          <p:cNvSpPr/>
          <p:nvPr/>
        </p:nvSpPr>
        <p:spPr>
          <a:xfrm>
            <a:off x="10561320" y="1783080"/>
            <a:ext cx="868680" cy="868680"/>
          </a:xfrm>
          <a:prstGeom prst="ellipse">
            <a:avLst/>
          </a:prstGeom>
          <a:solidFill>
            <a:schemeClr val="accent1"/>
          </a:solidFill>
          <a:ln/>
        </p:spPr>
      </p:sp>
      <p:pic>
        <p:nvPicPr>
          <p:cNvPr id="5" name="anim_1_15" descr="preencoded.png">    </p:cNvPr>
          <p:cNvPicPr>
            <a:picLocks noChangeAspect="1"/>
          </p:cNvPicPr>
          <p:nvPr/>
        </p:nvPicPr>
        <p:blipFill>
          <a:blip r:embed="rId1"/>
          <a:stretch>
            <a:fillRect/>
          </a:stretch>
        </p:blipFill>
        <p:spPr>
          <a:xfrm>
            <a:off x="10769803" y="1991563"/>
            <a:ext cx="451714" cy="451714"/>
          </a:xfrm>
          <a:prstGeom prst="rect">
            <a:avLst/>
          </a:prstGeom>
        </p:spPr>
      </p:pic>
      <p:sp>
        <p:nvSpPr>
          <p:cNvPr id="6" name="anim_1_16"/>
          <p:cNvSpPr txBox="1"/>
          <p:nvPr/>
        </p:nvSpPr>
        <p:spPr>
          <a:xfrm>
            <a:off x="6400800" y="171907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مقدمه و بیان مسئله</a:t>
            </a:r>
            <a:endParaRPr lang="fa-IR" sz="2200" dirty="0"/>
          </a:p>
        </p:txBody>
      </p:sp>
      <p:sp>
        <p:nvSpPr>
          <p:cNvPr id="7" name="anim_1_17"/>
          <p:cNvSpPr txBox="1"/>
          <p:nvPr/>
        </p:nvSpPr>
        <p:spPr>
          <a:xfrm>
            <a:off x="6400800" y="226771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اهمیت، نظریه‌های رقیب، اهداف و نوآوری</a:t>
            </a:r>
            <a:endParaRPr lang="fa-IR" sz="1600" dirty="0"/>
          </a:p>
        </p:txBody>
      </p:sp>
      <p:sp>
        <p:nvSpPr>
          <p:cNvPr id="8" name="anim_2_18"/>
          <p:cNvSpPr/>
          <p:nvPr/>
        </p:nvSpPr>
        <p:spPr>
          <a:xfrm>
            <a:off x="548640" y="155448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9" name="anim_2_19"/>
          <p:cNvSpPr/>
          <p:nvPr/>
        </p:nvSpPr>
        <p:spPr>
          <a:xfrm>
            <a:off x="4892040" y="1783080"/>
            <a:ext cx="868680" cy="868680"/>
          </a:xfrm>
          <a:prstGeom prst="ellipse">
            <a:avLst/>
          </a:prstGeom>
          <a:solidFill>
            <a:schemeClr val="accent5"/>
          </a:solidFill>
          <a:ln/>
        </p:spPr>
      </p:sp>
      <p:pic>
        <p:nvPicPr>
          <p:cNvPr id="10" name="anim_2_20" descr="preencoded.png">    </p:cNvPr>
          <p:cNvPicPr>
            <a:picLocks noChangeAspect="1"/>
          </p:cNvPicPr>
          <p:nvPr/>
        </p:nvPicPr>
        <p:blipFill>
          <a:blip r:embed="rId2"/>
          <a:stretch>
            <a:fillRect/>
          </a:stretch>
        </p:blipFill>
        <p:spPr>
          <a:xfrm>
            <a:off x="5100523" y="1991563"/>
            <a:ext cx="451714" cy="451714"/>
          </a:xfrm>
          <a:prstGeom prst="rect">
            <a:avLst/>
          </a:prstGeom>
        </p:spPr>
      </p:pic>
      <p:sp>
        <p:nvSpPr>
          <p:cNvPr id="11" name="anim_2_21"/>
          <p:cNvSpPr txBox="1"/>
          <p:nvPr/>
        </p:nvSpPr>
        <p:spPr>
          <a:xfrm>
            <a:off x="731520" y="171907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مبانی نظری و پیشینه</a:t>
            </a:r>
            <a:endParaRPr lang="fa-IR" sz="2200" dirty="0"/>
          </a:p>
        </p:txBody>
      </p:sp>
      <p:sp>
        <p:nvSpPr>
          <p:cNvPr id="12" name="anim_2_22"/>
          <p:cNvSpPr txBox="1"/>
          <p:nvPr/>
        </p:nvSpPr>
        <p:spPr>
          <a:xfrm>
            <a:off x="731520" y="226771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نظریه‌های پشتیبان و پژوهش‌های داخلی و خارجی</a:t>
            </a:r>
            <a:endParaRPr lang="fa-IR" sz="1600" dirty="0"/>
          </a:p>
        </p:txBody>
      </p:sp>
      <p:sp>
        <p:nvSpPr>
          <p:cNvPr id="13" name="anim_3_23"/>
          <p:cNvSpPr/>
          <p:nvPr/>
        </p:nvSpPr>
        <p:spPr>
          <a:xfrm>
            <a:off x="6217920" y="310896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14" name="anim_3_24"/>
          <p:cNvSpPr/>
          <p:nvPr/>
        </p:nvSpPr>
        <p:spPr>
          <a:xfrm>
            <a:off x="10561320" y="3337560"/>
            <a:ext cx="868680" cy="868680"/>
          </a:xfrm>
          <a:prstGeom prst="ellipse">
            <a:avLst/>
          </a:prstGeom>
          <a:solidFill>
            <a:schemeClr val="accent2"/>
          </a:solidFill>
          <a:ln/>
        </p:spPr>
      </p:sp>
      <p:pic>
        <p:nvPicPr>
          <p:cNvPr id="15" name="anim_3_25" descr="preencoded.png">    </p:cNvPr>
          <p:cNvPicPr>
            <a:picLocks noChangeAspect="1"/>
          </p:cNvPicPr>
          <p:nvPr/>
        </p:nvPicPr>
        <p:blipFill>
          <a:blip r:embed="rId3"/>
          <a:stretch>
            <a:fillRect/>
          </a:stretch>
        </p:blipFill>
        <p:spPr>
          <a:xfrm>
            <a:off x="10769803" y="3546043"/>
            <a:ext cx="451714" cy="451714"/>
          </a:xfrm>
          <a:prstGeom prst="rect">
            <a:avLst/>
          </a:prstGeom>
        </p:spPr>
      </p:pic>
      <p:sp>
        <p:nvSpPr>
          <p:cNvPr id="16" name="anim_3_26"/>
          <p:cNvSpPr txBox="1"/>
          <p:nvPr/>
        </p:nvSpPr>
        <p:spPr>
          <a:xfrm>
            <a:off x="6400800" y="327355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فرضیه‌ها و روش‌شناسی</a:t>
            </a:r>
            <a:endParaRPr lang="fa-IR" sz="2200" dirty="0"/>
          </a:p>
        </p:txBody>
      </p:sp>
      <p:sp>
        <p:nvSpPr>
          <p:cNvPr id="17" name="anim_3_27"/>
          <p:cNvSpPr txBox="1"/>
          <p:nvPr/>
        </p:nvSpPr>
        <p:spPr>
          <a:xfrm>
            <a:off x="6400800" y="382219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پنج فرضیه، متغیرها، مدل‌ها و شیوهٔ آزمون</a:t>
            </a:r>
            <a:endParaRPr lang="fa-IR" sz="1600" dirty="0"/>
          </a:p>
        </p:txBody>
      </p:sp>
      <p:sp>
        <p:nvSpPr>
          <p:cNvPr id="18" name="anim_4_28"/>
          <p:cNvSpPr/>
          <p:nvPr/>
        </p:nvSpPr>
        <p:spPr>
          <a:xfrm>
            <a:off x="548640" y="310896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19" name="anim_4_29"/>
          <p:cNvSpPr/>
          <p:nvPr/>
        </p:nvSpPr>
        <p:spPr>
          <a:xfrm>
            <a:off x="4892040" y="3337560"/>
            <a:ext cx="868680" cy="868680"/>
          </a:xfrm>
          <a:prstGeom prst="ellipse">
            <a:avLst/>
          </a:prstGeom>
          <a:solidFill>
            <a:schemeClr val="accent1"/>
          </a:solidFill>
          <a:ln/>
        </p:spPr>
      </p:sp>
      <p:pic>
        <p:nvPicPr>
          <p:cNvPr id="20" name="anim_4_30" descr="preencoded.png">    </p:cNvPr>
          <p:cNvPicPr>
            <a:picLocks noChangeAspect="1"/>
          </p:cNvPicPr>
          <p:nvPr/>
        </p:nvPicPr>
        <p:blipFill>
          <a:blip r:embed="rId4"/>
          <a:stretch>
            <a:fillRect/>
          </a:stretch>
        </p:blipFill>
        <p:spPr>
          <a:xfrm>
            <a:off x="5100523" y="3546043"/>
            <a:ext cx="451714" cy="451714"/>
          </a:xfrm>
          <a:prstGeom prst="rect">
            <a:avLst/>
          </a:prstGeom>
        </p:spPr>
      </p:pic>
      <p:sp>
        <p:nvSpPr>
          <p:cNvPr id="21" name="anim_4_31"/>
          <p:cNvSpPr txBox="1"/>
          <p:nvPr/>
        </p:nvSpPr>
        <p:spPr>
          <a:xfrm>
            <a:off x="731520" y="327355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تحلیل داده‌ها</a:t>
            </a:r>
            <a:endParaRPr lang="fa-IR" sz="2200" dirty="0"/>
          </a:p>
        </p:txBody>
      </p:sp>
      <p:sp>
        <p:nvSpPr>
          <p:cNvPr id="22" name="anim_4_32"/>
          <p:cNvSpPr txBox="1"/>
          <p:nvPr/>
        </p:nvSpPr>
        <p:spPr>
          <a:xfrm>
            <a:off x="731520" y="382219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آمار توصیفی و آزمون‌های تشخیصی</a:t>
            </a:r>
            <a:endParaRPr lang="fa-IR" sz="1600" dirty="0"/>
          </a:p>
        </p:txBody>
      </p:sp>
      <p:sp>
        <p:nvSpPr>
          <p:cNvPr id="23" name="anim_5_33"/>
          <p:cNvSpPr/>
          <p:nvPr/>
        </p:nvSpPr>
        <p:spPr>
          <a:xfrm>
            <a:off x="6217920" y="466344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24" name="anim_5_34"/>
          <p:cNvSpPr/>
          <p:nvPr/>
        </p:nvSpPr>
        <p:spPr>
          <a:xfrm>
            <a:off x="10561320" y="4892040"/>
            <a:ext cx="868680" cy="868680"/>
          </a:xfrm>
          <a:prstGeom prst="ellipse">
            <a:avLst/>
          </a:prstGeom>
          <a:solidFill>
            <a:schemeClr val="accent4"/>
          </a:solidFill>
          <a:ln/>
        </p:spPr>
      </p:sp>
      <p:pic>
        <p:nvPicPr>
          <p:cNvPr id="25" name="anim_5_35" descr="preencoded.png">    </p:cNvPr>
          <p:cNvPicPr>
            <a:picLocks noChangeAspect="1"/>
          </p:cNvPicPr>
          <p:nvPr/>
        </p:nvPicPr>
        <p:blipFill>
          <a:blip r:embed="rId5"/>
          <a:stretch>
            <a:fillRect/>
          </a:stretch>
        </p:blipFill>
        <p:spPr>
          <a:xfrm>
            <a:off x="10769803" y="5100523"/>
            <a:ext cx="451714" cy="451714"/>
          </a:xfrm>
          <a:prstGeom prst="rect">
            <a:avLst/>
          </a:prstGeom>
        </p:spPr>
      </p:pic>
      <p:sp>
        <p:nvSpPr>
          <p:cNvPr id="26" name="anim_5_36"/>
          <p:cNvSpPr txBox="1"/>
          <p:nvPr/>
        </p:nvSpPr>
        <p:spPr>
          <a:xfrm>
            <a:off x="6400800" y="482803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نتایج و مقایسه</a:t>
            </a:r>
            <a:endParaRPr lang="fa-IR" sz="2200" dirty="0"/>
          </a:p>
        </p:txBody>
      </p:sp>
      <p:sp>
        <p:nvSpPr>
          <p:cNvPr id="27" name="anim_5_37"/>
          <p:cNvSpPr txBox="1"/>
          <p:nvPr/>
        </p:nvSpPr>
        <p:spPr>
          <a:xfrm>
            <a:off x="6400800" y="537667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آزمون فرضیه‌ها، انطباق و مغایرت با پیشینه</a:t>
            </a:r>
            <a:endParaRPr lang="fa-IR" sz="1600" dirty="0"/>
          </a:p>
        </p:txBody>
      </p:sp>
      <p:sp>
        <p:nvSpPr>
          <p:cNvPr id="28" name="anim_6_38"/>
          <p:cNvSpPr/>
          <p:nvPr/>
        </p:nvSpPr>
        <p:spPr>
          <a:xfrm>
            <a:off x="548640" y="4663440"/>
            <a:ext cx="5394960" cy="1325880"/>
          </a:xfrm>
          <a:prstGeom prst="roundRect">
            <a:avLst>
              <a:gd name="adj" fmla="val 8276"/>
            </a:avLst>
          </a:prstGeom>
          <a:solidFill>
            <a:schemeClr val="bg2"/>
          </a:solidFill>
          <a:ln/>
          <a:effectLst>
            <a:outerShdw sx="100000" sy="100000" kx="0" ky="0" algn="bl" rotWithShape="0" blurRad="101600" dist="25400" dir="5400000">
              <a:srgbClr val="000000">
                <a:alpha val="12000"/>
              </a:srgbClr>
            </a:outerShdw>
          </a:effectLst>
        </p:spPr>
      </p:sp>
      <p:sp>
        <p:nvSpPr>
          <p:cNvPr id="29" name="anim_6_39"/>
          <p:cNvSpPr/>
          <p:nvPr/>
        </p:nvSpPr>
        <p:spPr>
          <a:xfrm>
            <a:off x="4892040" y="4892040"/>
            <a:ext cx="868680" cy="868680"/>
          </a:xfrm>
          <a:prstGeom prst="ellipse">
            <a:avLst/>
          </a:prstGeom>
          <a:solidFill>
            <a:schemeClr val="accent3"/>
          </a:solidFill>
          <a:ln/>
        </p:spPr>
      </p:sp>
      <p:pic>
        <p:nvPicPr>
          <p:cNvPr id="30" name="anim_6_40" descr="preencoded.png">    </p:cNvPr>
          <p:cNvPicPr>
            <a:picLocks noChangeAspect="1"/>
          </p:cNvPicPr>
          <p:nvPr/>
        </p:nvPicPr>
        <p:blipFill>
          <a:blip r:embed="rId6"/>
          <a:stretch>
            <a:fillRect/>
          </a:stretch>
        </p:blipFill>
        <p:spPr>
          <a:xfrm>
            <a:off x="5100523" y="5100523"/>
            <a:ext cx="451714" cy="451714"/>
          </a:xfrm>
          <a:prstGeom prst="rect">
            <a:avLst/>
          </a:prstGeom>
        </p:spPr>
      </p:pic>
      <p:sp>
        <p:nvSpPr>
          <p:cNvPr id="31" name="anim_6_41"/>
          <p:cNvSpPr txBox="1"/>
          <p:nvPr/>
        </p:nvSpPr>
        <p:spPr>
          <a:xfrm>
            <a:off x="731520" y="4828032"/>
            <a:ext cx="4069080" cy="502920"/>
          </a:xfrm>
          <a:prstGeom prst="rect">
            <a:avLst/>
          </a:prstGeom>
          <a:noFill/>
          <a:ln/>
        </p:spPr>
        <p:txBody>
          <a:bodyPr wrap="square" lIns="0" tIns="0" rIns="0" bIns="0" rtlCol="0" anchor="t"/>
          <a:lstStyle/>
          <a:p>
            <a:pPr rtl="1" algn="r" indent="0" marL="0">
              <a:buNone/>
            </a:pPr>
            <a:r>
              <a:rPr lang="fa-IR" altLang="en-US" sz="2200" dirty="0">
                <a:solidFill>
                  <a:schemeClr val="tx2"/>
                </a:solidFill>
                <a:latin typeface="B Titr" pitchFamily="34" charset="0"/>
                <a:ea typeface="B Titr" pitchFamily="34" charset="-122"/>
                <a:cs typeface="B Titr" pitchFamily="34" charset="-120"/>
              </a:rPr>
              <a:t>جمع‌بندی</a:t>
            </a:r>
            <a:endParaRPr lang="fa-IR" sz="2200" dirty="0"/>
          </a:p>
        </p:txBody>
      </p:sp>
      <p:sp>
        <p:nvSpPr>
          <p:cNvPr id="32" name="anim_6_42"/>
          <p:cNvSpPr txBox="1"/>
          <p:nvPr/>
        </p:nvSpPr>
        <p:spPr>
          <a:xfrm>
            <a:off x="731520" y="5376672"/>
            <a:ext cx="4069080" cy="50292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دکترین، پیشنهادها و محدودیت‌ها</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اهمیت و ضرورت پژوهش</a:t>
            </a:r>
            <a:endParaRPr lang="fa-IR" sz="3400" dirty="0"/>
          </a:p>
        </p:txBody>
      </p:sp>
      <p:sp>
        <p:nvSpPr>
          <p:cNvPr id="3" name="anim_1_43"/>
          <p:cNvSpPr/>
          <p:nvPr/>
        </p:nvSpPr>
        <p:spPr>
          <a:xfrm>
            <a:off x="6675120" y="1463040"/>
            <a:ext cx="4965192" cy="4572000"/>
          </a:xfrm>
          <a:prstGeom prst="roundRect">
            <a:avLst>
              <a:gd name="adj" fmla="val 2400"/>
            </a:avLst>
          </a:prstGeom>
          <a:solidFill>
            <a:schemeClr val="tx2"/>
          </a:solidFill>
          <a:ln/>
          <a:effectLst>
            <a:outerShdw sx="100000" sy="100000" kx="0" ky="0" algn="bl" rotWithShape="0" blurRad="101600" dist="25400" dir="5400000">
              <a:srgbClr val="000000">
                <a:alpha val="12000"/>
              </a:srgbClr>
            </a:outerShdw>
          </a:effectLst>
        </p:spPr>
      </p:sp>
      <p:sp>
        <p:nvSpPr>
          <p:cNvPr id="4" name="anim_1_44"/>
          <p:cNvSpPr txBox="1"/>
          <p:nvPr/>
        </p:nvSpPr>
        <p:spPr>
          <a:xfrm>
            <a:off x="6949440" y="1691640"/>
            <a:ext cx="4434840" cy="1554480"/>
          </a:xfrm>
          <a:prstGeom prst="rect">
            <a:avLst/>
          </a:prstGeom>
          <a:noFill/>
          <a:ln/>
        </p:spPr>
        <p:txBody>
          <a:bodyPr wrap="square" lIns="0" tIns="0" rIns="0" bIns="0" rtlCol="0" anchor="t"/>
          <a:lstStyle/>
          <a:p>
            <a:pPr rtl="1" algn="r" indent="0" marL="0">
              <a:buNone/>
            </a:pPr>
            <a:r>
              <a:rPr lang="fa-IR" altLang="en-US" sz="2600" dirty="0">
                <a:solidFill>
                  <a:schemeClr val="bg1"/>
                </a:solidFill>
                <a:latin typeface="B Titr" pitchFamily="34" charset="0"/>
                <a:ea typeface="B Titr" pitchFamily="34" charset="-122"/>
                <a:cs typeface="B Titr" pitchFamily="34" charset="-120"/>
              </a:rPr>
              <a:t>حسابرسی؛ پاسخ به عدم تقارن اطلاعاتی میان مدیران و مالکان</a:t>
            </a:r>
            <a:endParaRPr lang="fa-IR" sz="2600" dirty="0"/>
          </a:p>
        </p:txBody>
      </p:sp>
      <p:sp>
        <p:nvSpPr>
          <p:cNvPr id="5" name="anim_1_45"/>
          <p:cNvSpPr txBox="1"/>
          <p:nvPr/>
        </p:nvSpPr>
        <p:spPr>
          <a:xfrm>
            <a:off x="6949440" y="3383280"/>
            <a:ext cx="4434840" cy="2377440"/>
          </a:xfrm>
          <a:prstGeom prst="rect">
            <a:avLst/>
          </a:prstGeom>
          <a:noFill/>
          <a:ln/>
        </p:spPr>
        <p:txBody>
          <a:bodyPr wrap="square" lIns="0" tIns="0" rIns="0" bIns="0" rtlCol="0" anchor="t"/>
          <a:lstStyle/>
          <a:p>
            <a:pPr rtl="1" algn="r" indent="0" marL="0">
              <a:buNone/>
            </a:pPr>
            <a:r>
              <a:rPr lang="fa-IR" altLang="en-US" sz="2000" dirty="0">
                <a:solidFill>
                  <a:schemeClr val="bg2"/>
                </a:solidFill>
                <a:latin typeface="B Nazanin" pitchFamily="34" charset="0"/>
                <a:ea typeface="B Nazanin" pitchFamily="34" charset="-122"/>
                <a:cs typeface="B Nazanin" pitchFamily="34" charset="-120"/>
              </a:rPr>
              <a:t>حق‌الزحمهٔ حسابرسی هم هزینهٔ شرکت و هم درآمد مؤسسه است و رفتار قیمت‌گذاری آن می‌تواند بر استقلال و کیفیت حسابرسی اثر بگذارد.</a:t>
            </a:r>
            <a:endParaRPr lang="fa-IR" sz="2000" dirty="0"/>
          </a:p>
        </p:txBody>
      </p:sp>
      <p:sp>
        <p:nvSpPr>
          <p:cNvPr id="6" name="anim_2_46"/>
          <p:cNvSpPr/>
          <p:nvPr/>
        </p:nvSpPr>
        <p:spPr>
          <a:xfrm>
            <a:off x="548640" y="1463040"/>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7" name="anim_2_47"/>
          <p:cNvSpPr/>
          <p:nvPr/>
        </p:nvSpPr>
        <p:spPr>
          <a:xfrm>
            <a:off x="5440680" y="1719072"/>
            <a:ext cx="777240" cy="777240"/>
          </a:xfrm>
          <a:prstGeom prst="ellipse">
            <a:avLst/>
          </a:prstGeom>
          <a:solidFill>
            <a:schemeClr val="accent1"/>
          </a:solidFill>
          <a:ln/>
        </p:spPr>
      </p:sp>
      <p:pic>
        <p:nvPicPr>
          <p:cNvPr id="8" name="anim_2_48" descr="preencoded.png">    </p:cNvPr>
          <p:cNvPicPr>
            <a:picLocks noChangeAspect="1"/>
          </p:cNvPicPr>
          <p:nvPr/>
        </p:nvPicPr>
        <p:blipFill>
          <a:blip r:embed="rId1"/>
          <a:stretch>
            <a:fillRect/>
          </a:stretch>
        </p:blipFill>
        <p:spPr>
          <a:xfrm>
            <a:off x="5627218" y="1905610"/>
            <a:ext cx="404165" cy="404165"/>
          </a:xfrm>
          <a:prstGeom prst="rect">
            <a:avLst/>
          </a:prstGeom>
        </p:spPr>
      </p:pic>
      <p:sp>
        <p:nvSpPr>
          <p:cNvPr id="9" name="anim_2_49"/>
          <p:cNvSpPr txBox="1"/>
          <p:nvPr/>
        </p:nvSpPr>
        <p:spPr>
          <a:xfrm>
            <a:off x="685800" y="1572768"/>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پدیدهٔ کاهش اولیهٔ حق‌الزحمه</a:t>
            </a:r>
            <a:endParaRPr lang="fa-IR" sz="2000" dirty="0"/>
          </a:p>
        </p:txBody>
      </p:sp>
      <p:sp>
        <p:nvSpPr>
          <p:cNvPr id="10" name="anim_2_50"/>
          <p:cNvSpPr txBox="1"/>
          <p:nvPr/>
        </p:nvSpPr>
        <p:spPr>
          <a:xfrm>
            <a:off x="685800" y="2057400"/>
            <a:ext cx="4572000" cy="77724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رقابت شدید مؤسسات بر سر تصاحب کار، نرخ‌شکنی در سال نخست را رایج کرده است.</a:t>
            </a:r>
            <a:endParaRPr lang="fa-IR" sz="1600" dirty="0"/>
          </a:p>
        </p:txBody>
      </p:sp>
      <p:sp>
        <p:nvSpPr>
          <p:cNvPr id="11" name="anim_3_51"/>
          <p:cNvSpPr/>
          <p:nvPr/>
        </p:nvSpPr>
        <p:spPr>
          <a:xfrm>
            <a:off x="548640" y="3035808"/>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12" name="anim_3_52"/>
          <p:cNvSpPr/>
          <p:nvPr/>
        </p:nvSpPr>
        <p:spPr>
          <a:xfrm>
            <a:off x="5440680" y="3291840"/>
            <a:ext cx="777240" cy="777240"/>
          </a:xfrm>
          <a:prstGeom prst="ellipse">
            <a:avLst/>
          </a:prstGeom>
          <a:solidFill>
            <a:schemeClr val="accent2"/>
          </a:solidFill>
          <a:ln/>
        </p:spPr>
      </p:sp>
      <p:pic>
        <p:nvPicPr>
          <p:cNvPr id="13" name="anim_3_53" descr="preencoded.png">    </p:cNvPr>
          <p:cNvPicPr>
            <a:picLocks noChangeAspect="1"/>
          </p:cNvPicPr>
          <p:nvPr/>
        </p:nvPicPr>
        <p:blipFill>
          <a:blip r:embed="rId2"/>
          <a:stretch>
            <a:fillRect/>
          </a:stretch>
        </p:blipFill>
        <p:spPr>
          <a:xfrm>
            <a:off x="5627218" y="3478378"/>
            <a:ext cx="404165" cy="404165"/>
          </a:xfrm>
          <a:prstGeom prst="rect">
            <a:avLst/>
          </a:prstGeom>
        </p:spPr>
      </p:pic>
      <p:sp>
        <p:nvSpPr>
          <p:cNvPr id="14" name="anim_3_54"/>
          <p:cNvSpPr txBox="1"/>
          <p:nvPr/>
        </p:nvSpPr>
        <p:spPr>
          <a:xfrm>
            <a:off x="685800" y="3145536"/>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بازیابی در سال‌های بعد</a:t>
            </a:r>
            <a:endParaRPr lang="fa-IR" sz="2000" dirty="0"/>
          </a:p>
        </p:txBody>
      </p:sp>
      <p:sp>
        <p:nvSpPr>
          <p:cNvPr id="15" name="anim_3_55"/>
          <p:cNvSpPr txBox="1"/>
          <p:nvPr/>
        </p:nvSpPr>
        <p:spPr>
          <a:xfrm>
            <a:off x="685800" y="3630168"/>
            <a:ext cx="4572000" cy="77724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مؤسسات ممکن است تخفیف اولیه را از طریق افزایش حق‌الزحمهٔ حسابرسی یا خدمات غیرحسابرسی جبران کنند.</a:t>
            </a:r>
            <a:endParaRPr lang="fa-IR" sz="1600" dirty="0"/>
          </a:p>
        </p:txBody>
      </p:sp>
      <p:sp>
        <p:nvSpPr>
          <p:cNvPr id="16" name="anim_4_56"/>
          <p:cNvSpPr/>
          <p:nvPr/>
        </p:nvSpPr>
        <p:spPr>
          <a:xfrm>
            <a:off x="548640" y="4608576"/>
            <a:ext cx="5852160" cy="1417320"/>
          </a:xfrm>
          <a:prstGeom prst="roundRect">
            <a:avLst>
              <a:gd name="adj" fmla="val 7742"/>
            </a:avLst>
          </a:prstGeom>
          <a:solidFill>
            <a:schemeClr val="bg2"/>
          </a:solidFill>
          <a:ln/>
          <a:effectLst>
            <a:outerShdw sx="100000" sy="100000" kx="0" ky="0" algn="bl" rotWithShape="0" blurRad="101600" dist="25400" dir="5400000">
              <a:srgbClr val="000000">
                <a:alpha val="12000"/>
              </a:srgbClr>
            </a:outerShdw>
          </a:effectLst>
        </p:spPr>
      </p:sp>
      <p:sp>
        <p:nvSpPr>
          <p:cNvPr id="17" name="anim_4_57"/>
          <p:cNvSpPr/>
          <p:nvPr/>
        </p:nvSpPr>
        <p:spPr>
          <a:xfrm>
            <a:off x="5440680" y="4864608"/>
            <a:ext cx="777240" cy="777240"/>
          </a:xfrm>
          <a:prstGeom prst="ellipse">
            <a:avLst/>
          </a:prstGeom>
          <a:solidFill>
            <a:schemeClr val="accent3"/>
          </a:solidFill>
          <a:ln/>
        </p:spPr>
      </p:sp>
      <p:pic>
        <p:nvPicPr>
          <p:cNvPr id="18" name="anim_4_58" descr="preencoded.png">    </p:cNvPr>
          <p:cNvPicPr>
            <a:picLocks noChangeAspect="1"/>
          </p:cNvPicPr>
          <p:nvPr/>
        </p:nvPicPr>
        <p:blipFill>
          <a:blip r:embed="rId3"/>
          <a:stretch>
            <a:fillRect/>
          </a:stretch>
        </p:blipFill>
        <p:spPr>
          <a:xfrm>
            <a:off x="5627218" y="5051146"/>
            <a:ext cx="404165" cy="404165"/>
          </a:xfrm>
          <a:prstGeom prst="rect">
            <a:avLst/>
          </a:prstGeom>
        </p:spPr>
      </p:pic>
      <p:sp>
        <p:nvSpPr>
          <p:cNvPr id="19" name="anim_4_59"/>
          <p:cNvSpPr txBox="1"/>
          <p:nvPr/>
        </p:nvSpPr>
        <p:spPr>
          <a:xfrm>
            <a:off x="685800" y="4718304"/>
            <a:ext cx="4572000" cy="457200"/>
          </a:xfrm>
          <a:prstGeom prst="rect">
            <a:avLst/>
          </a:prstGeom>
          <a:noFill/>
          <a:ln/>
        </p:spPr>
        <p:txBody>
          <a:bodyPr wrap="square" lIns="0" tIns="0" rIns="0" bIns="0" rtlCol="0" anchor="t"/>
          <a:lstStyle/>
          <a:p>
            <a:pPr rtl="1" algn="r" indent="0" marL="0">
              <a:buNone/>
            </a:pPr>
            <a:r>
              <a:rPr lang="fa-IR" altLang="en-US" sz="2000" dirty="0">
                <a:solidFill>
                  <a:schemeClr val="tx2"/>
                </a:solidFill>
                <a:latin typeface="B Titr" pitchFamily="34" charset="0"/>
                <a:ea typeface="B Titr" pitchFamily="34" charset="-122"/>
                <a:cs typeface="B Titr" pitchFamily="34" charset="-120"/>
              </a:rPr>
              <a:t>نگرانی ناظران</a:t>
            </a:r>
            <a:endParaRPr lang="fa-IR" sz="2000" dirty="0"/>
          </a:p>
        </p:txBody>
      </p:sp>
      <p:sp>
        <p:nvSpPr>
          <p:cNvPr id="20" name="anim_4_60"/>
          <p:cNvSpPr txBox="1"/>
          <p:nvPr/>
        </p:nvSpPr>
        <p:spPr>
          <a:xfrm>
            <a:off x="685800" y="5202936"/>
            <a:ext cx="4572000" cy="777240"/>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پرسش اصلی تنظیم‌کنندگان: آیا این الگو، کیفیت حسابرسی آینده را تهدید می‌کند؟</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3</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8"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بیان مسئله: دو نظریهٔ رقیب قیمت‌گذاری حسابرسی نخستین</a:t>
            </a:r>
            <a:endParaRPr lang="fa-IR" sz="3400" dirty="0"/>
          </a:p>
        </p:txBody>
      </p:sp>
      <p:sp>
        <p:nvSpPr>
          <p:cNvPr id="3" name="anim_1_61"/>
          <p:cNvSpPr/>
          <p:nvPr/>
        </p:nvSpPr>
        <p:spPr>
          <a:xfrm>
            <a:off x="6263640" y="1417320"/>
            <a:ext cx="5440680" cy="3794760"/>
          </a:xfrm>
          <a:prstGeom prst="roundRect">
            <a:avLst>
              <a:gd name="adj" fmla="val 2892"/>
            </a:avLst>
          </a:prstGeom>
          <a:solidFill>
            <a:schemeClr val="bg2"/>
          </a:solidFill>
          <a:ln/>
          <a:effectLst>
            <a:outerShdw sx="100000" sy="100000" kx="0" ky="0" algn="bl" rotWithShape="0" blurRad="101600" dist="25400" dir="5400000">
              <a:srgbClr val="000000">
                <a:alpha val="12000"/>
              </a:srgbClr>
            </a:outerShdw>
          </a:effectLst>
        </p:spPr>
      </p:sp>
      <p:sp>
        <p:nvSpPr>
          <p:cNvPr id="4" name="anim_1_62"/>
          <p:cNvSpPr/>
          <p:nvPr/>
        </p:nvSpPr>
        <p:spPr>
          <a:xfrm>
            <a:off x="6537960" y="1645920"/>
            <a:ext cx="4892040" cy="685800"/>
          </a:xfrm>
          <a:prstGeom prst="roundRect">
            <a:avLst>
              <a:gd name="adj" fmla="val 13333"/>
            </a:avLst>
          </a:prstGeom>
          <a:solidFill>
            <a:schemeClr val="accent1"/>
          </a:solidFill>
          <a:ln/>
        </p:spPr>
      </p:sp>
      <p:sp>
        <p:nvSpPr>
          <p:cNvPr id="5" name="anim_1_63"/>
          <p:cNvSpPr txBox="1"/>
          <p:nvPr/>
        </p:nvSpPr>
        <p:spPr>
          <a:xfrm>
            <a:off x="6537960" y="1645920"/>
            <a:ext cx="4892040" cy="685800"/>
          </a:xfrm>
          <a:prstGeom prst="rect">
            <a:avLst/>
          </a:prstGeom>
          <a:noFill/>
          <a:ln/>
        </p:spPr>
        <p:txBody>
          <a:bodyPr wrap="square" lIns="0" tIns="0" rIns="0" bIns="0" rtlCol="0" anchor="ctr"/>
          <a:lstStyle/>
          <a:p>
            <a:pPr rtl="1" algn="ctr" indent="0" marL="0">
              <a:buNone/>
            </a:pPr>
            <a:r>
              <a:rPr lang="fa-IR" altLang="en-US" sz="2000" dirty="0">
                <a:solidFill>
                  <a:schemeClr val="bg1"/>
                </a:solidFill>
                <a:latin typeface="B Titr" pitchFamily="34" charset="0"/>
                <a:ea typeface="B Titr" pitchFamily="34" charset="-122"/>
                <a:cs typeface="B Titr" pitchFamily="34" charset="-120"/>
              </a:rPr>
              <a:t>دی‌آنجلو (1981) | نرخ‌شکنی (Low-balling)</a:t>
            </a:r>
            <a:endParaRPr lang="fa-IR" sz="2000" dirty="0"/>
          </a:p>
        </p:txBody>
      </p:sp>
      <p:sp>
        <p:nvSpPr>
          <p:cNvPr id="6" name="anim_1_64"/>
          <p:cNvSpPr txBox="1"/>
          <p:nvPr/>
        </p:nvSpPr>
        <p:spPr>
          <a:xfrm>
            <a:off x="6583680" y="2514600"/>
            <a:ext cx="4846320" cy="2560320"/>
          </a:xfrm>
          <a:prstGeom prst="rect">
            <a:avLst/>
          </a:prstGeom>
          <a:noFill/>
          <a:ln/>
        </p:spPr>
        <p:txBody>
          <a:bodyPr wrap="square" lIns="0" tIns="0" rIns="0" bIns="0" rtlCol="0" anchor="t"/>
          <a:lstStyle/>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هزینه‌های بالای تغییر حسابرس مزیت رقابتی ایجاد می‌کند</a:t>
            </a:r>
            <a:endParaRPr lang="fa-IR" sz="2000" dirty="0"/>
          </a:p>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حسابرس برای جذب کار، حق‌الزحمهٔ سال اول را تخفیف می‌دهد</a:t>
            </a:r>
            <a:endParaRPr lang="fa-IR" sz="2000" dirty="0"/>
          </a:p>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حق‌الزحمهٔ سال اول کمتر از سال‌های بعد است</a:t>
            </a:r>
            <a:endParaRPr lang="fa-IR" sz="2000" dirty="0"/>
          </a:p>
        </p:txBody>
      </p:sp>
      <p:sp>
        <p:nvSpPr>
          <p:cNvPr id="7" name="anim_2_65"/>
          <p:cNvSpPr/>
          <p:nvPr/>
        </p:nvSpPr>
        <p:spPr>
          <a:xfrm>
            <a:off x="548640" y="1417320"/>
            <a:ext cx="5440680" cy="3794760"/>
          </a:xfrm>
          <a:prstGeom prst="roundRect">
            <a:avLst>
              <a:gd name="adj" fmla="val 2892"/>
            </a:avLst>
          </a:prstGeom>
          <a:solidFill>
            <a:schemeClr val="bg2"/>
          </a:solidFill>
          <a:ln/>
          <a:effectLst>
            <a:outerShdw sx="100000" sy="100000" kx="0" ky="0" algn="bl" rotWithShape="0" blurRad="101600" dist="25400" dir="5400000">
              <a:srgbClr val="000000">
                <a:alpha val="12000"/>
              </a:srgbClr>
            </a:outerShdw>
          </a:effectLst>
        </p:spPr>
      </p:sp>
      <p:sp>
        <p:nvSpPr>
          <p:cNvPr id="8" name="anim_2_66"/>
          <p:cNvSpPr/>
          <p:nvPr/>
        </p:nvSpPr>
        <p:spPr>
          <a:xfrm>
            <a:off x="822960" y="1645920"/>
            <a:ext cx="4892040" cy="685800"/>
          </a:xfrm>
          <a:prstGeom prst="roundRect">
            <a:avLst>
              <a:gd name="adj" fmla="val 13333"/>
            </a:avLst>
          </a:prstGeom>
          <a:solidFill>
            <a:schemeClr val="accent2"/>
          </a:solidFill>
          <a:ln/>
        </p:spPr>
      </p:sp>
      <p:sp>
        <p:nvSpPr>
          <p:cNvPr id="9" name="anim_2_67"/>
          <p:cNvSpPr txBox="1"/>
          <p:nvPr/>
        </p:nvSpPr>
        <p:spPr>
          <a:xfrm>
            <a:off x="822960" y="1645920"/>
            <a:ext cx="4892040" cy="685800"/>
          </a:xfrm>
          <a:prstGeom prst="rect">
            <a:avLst/>
          </a:prstGeom>
          <a:noFill/>
          <a:ln/>
        </p:spPr>
        <p:txBody>
          <a:bodyPr wrap="square" lIns="0" tIns="0" rIns="0" bIns="0" rtlCol="0" anchor="ctr"/>
          <a:lstStyle/>
          <a:p>
            <a:pPr rtl="1" algn="ctr" indent="0" marL="0">
              <a:buNone/>
            </a:pPr>
            <a:r>
              <a:rPr lang="fa-IR" altLang="en-US" sz="2000" dirty="0">
                <a:solidFill>
                  <a:schemeClr val="bg1"/>
                </a:solidFill>
                <a:latin typeface="B Titr" pitchFamily="34" charset="0"/>
                <a:ea typeface="B Titr" pitchFamily="34" charset="-122"/>
                <a:cs typeface="B Titr" pitchFamily="34" charset="-120"/>
              </a:rPr>
              <a:t>دای (1991) | قدرت چانه‌زنی و افشا</a:t>
            </a:r>
            <a:endParaRPr lang="fa-IR" sz="2000" dirty="0"/>
          </a:p>
        </p:txBody>
      </p:sp>
      <p:sp>
        <p:nvSpPr>
          <p:cNvPr id="10" name="anim_2_68"/>
          <p:cNvSpPr txBox="1"/>
          <p:nvPr/>
        </p:nvSpPr>
        <p:spPr>
          <a:xfrm>
            <a:off x="868680" y="2514600"/>
            <a:ext cx="4846320" cy="2560320"/>
          </a:xfrm>
          <a:prstGeom prst="rect">
            <a:avLst/>
          </a:prstGeom>
          <a:noFill/>
          <a:ln/>
        </p:spPr>
        <p:txBody>
          <a:bodyPr wrap="square" lIns="0" tIns="0" rIns="0" bIns="0" rtlCol="0" anchor="t"/>
          <a:lstStyle/>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تخفیف تابع قدرت چانه‌زنی صاحبکار است</a:t>
            </a:r>
            <a:endParaRPr lang="fa-IR" sz="2000" dirty="0"/>
          </a:p>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افشای حق‌الزحمه شبه‌منافع را حذف می‌کند</a:t>
            </a:r>
            <a:endParaRPr lang="fa-IR" sz="2000" dirty="0"/>
          </a:p>
          <a:p>
            <a:pPr algn="r" marL="342900" indent="-342900">
              <a:spcAft>
                <a:spcPts val="10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حسابرس در سال اول زمان بیشتری صرف می‌کند؛ حق‌الزحمهٔ سال اول بیشتر است</a:t>
            </a:r>
            <a:endParaRPr lang="fa-IR" sz="2000" dirty="0"/>
          </a:p>
        </p:txBody>
      </p:sp>
      <p:sp>
        <p:nvSpPr>
          <p:cNvPr id="11" name="anim_3_69"/>
          <p:cNvSpPr/>
          <p:nvPr/>
        </p:nvSpPr>
        <p:spPr>
          <a:xfrm>
            <a:off x="548640" y="5394960"/>
            <a:ext cx="11091672" cy="868680"/>
          </a:xfrm>
          <a:prstGeom prst="roundRect">
            <a:avLst>
              <a:gd name="adj" fmla="val 12632"/>
            </a:avLst>
          </a:prstGeom>
          <a:solidFill>
            <a:schemeClr val="tx2"/>
          </a:solidFill>
          <a:ln/>
          <a:effectLst>
            <a:outerShdw sx="100000" sy="100000" kx="0" ky="0" algn="bl" rotWithShape="0" blurRad="101600" dist="25400" dir="5400000">
              <a:srgbClr val="000000">
                <a:alpha val="12000"/>
              </a:srgbClr>
            </a:outerShdw>
          </a:effectLst>
        </p:spPr>
      </p:sp>
      <p:sp>
        <p:nvSpPr>
          <p:cNvPr id="12" name="anim_3_70"/>
          <p:cNvSpPr txBox="1"/>
          <p:nvPr/>
        </p:nvSpPr>
        <p:spPr>
          <a:xfrm>
            <a:off x="822960" y="5440680"/>
            <a:ext cx="10543032" cy="777240"/>
          </a:xfrm>
          <a:prstGeom prst="rect">
            <a:avLst/>
          </a:prstGeom>
          <a:noFill/>
          <a:ln/>
        </p:spPr>
        <p:txBody>
          <a:bodyPr wrap="square" lIns="0" tIns="0" rIns="0" bIns="0" rtlCol="0" anchor="ctr"/>
          <a:lstStyle/>
          <a:p>
            <a:pPr rtl="1" algn="r" indent="0" marL="0">
              <a:buNone/>
            </a:pPr>
            <a:r>
              <a:rPr lang="fa-IR" altLang="en-US" sz="2000" dirty="0">
                <a:solidFill>
                  <a:schemeClr val="bg1"/>
                </a:solidFill>
                <a:latin typeface="B Nazanin" pitchFamily="34" charset="0"/>
                <a:ea typeface="B Nazanin" pitchFamily="34" charset="-122"/>
                <a:cs typeface="B Nazanin" pitchFamily="34" charset="-120"/>
              </a:rPr>
              <a:t>در ایران حق‌الزحمه در صورت‌های مالی افشا می‌شود؛ بنابراین هر دو نظریه باید همزمان و با شواهد تجربی آزموده شوند.</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شکاف پژوهشی و پرسش اصلی</a:t>
            </a:r>
            <a:endParaRPr lang="fa-IR" sz="3400" dirty="0"/>
          </a:p>
        </p:txBody>
      </p:sp>
      <p:sp>
        <p:nvSpPr>
          <p:cNvPr id="3" name="anim_1_71"/>
          <p:cNvSpPr/>
          <p:nvPr/>
        </p:nvSpPr>
        <p:spPr>
          <a:xfrm>
            <a:off x="548640" y="1417320"/>
            <a:ext cx="11091672" cy="1554480"/>
          </a:xfrm>
          <a:prstGeom prst="roundRect">
            <a:avLst>
              <a:gd name="adj" fmla="val 7059"/>
            </a:avLst>
          </a:prstGeom>
          <a:solidFill>
            <a:schemeClr val="tx2"/>
          </a:solidFill>
          <a:ln/>
          <a:effectLst>
            <a:outerShdw sx="100000" sy="100000" kx="0" ky="0" algn="bl" rotWithShape="0" blurRad="101600" dist="25400" dir="5400000">
              <a:srgbClr val="000000">
                <a:alpha val="12000"/>
              </a:srgbClr>
            </a:outerShdw>
          </a:effectLst>
        </p:spPr>
      </p:sp>
      <p:sp>
        <p:nvSpPr>
          <p:cNvPr id="4" name="anim_1_72"/>
          <p:cNvSpPr txBox="1"/>
          <p:nvPr/>
        </p:nvSpPr>
        <p:spPr>
          <a:xfrm>
            <a:off x="822960" y="1463040"/>
            <a:ext cx="10543032" cy="1463040"/>
          </a:xfrm>
          <a:prstGeom prst="rect">
            <a:avLst/>
          </a:prstGeom>
          <a:noFill/>
          <a:ln/>
        </p:spPr>
        <p:txBody>
          <a:bodyPr wrap="square" lIns="0" tIns="0" rIns="0" bIns="0" rtlCol="0" anchor="ctr"/>
          <a:lstStyle/>
          <a:p>
            <a:pPr rtl="1" algn="r" indent="0" marL="0">
              <a:buNone/>
            </a:pPr>
            <a:r>
              <a:rPr lang="fa-IR" altLang="en-US" sz="2200" dirty="0">
                <a:solidFill>
                  <a:schemeClr val="bg1"/>
                </a:solidFill>
                <a:latin typeface="B Nazanin" pitchFamily="34" charset="0"/>
                <a:ea typeface="B Nazanin" pitchFamily="34" charset="-122"/>
                <a:cs typeface="B Nazanin" pitchFamily="34" charset="-120"/>
              </a:rPr>
              <a:t>پژوهش‌های پیشین بیشتر بر «وجود» نرخ‌شکنی تمرکز کرده‌اند و کمتر به کانال‌های بازیابی و پیامد آن برای کیفیت حسابرسی پرداخته‌اند (دفوند و ژانگ، 2014).</a:t>
            </a:r>
            <a:endParaRPr lang="fa-IR" sz="2200" dirty="0"/>
          </a:p>
        </p:txBody>
      </p:sp>
      <p:sp>
        <p:nvSpPr>
          <p:cNvPr id="5" name="anim_2_73"/>
          <p:cNvSpPr txBox="1"/>
          <p:nvPr/>
        </p:nvSpPr>
        <p:spPr>
          <a:xfrm>
            <a:off x="548640" y="3200400"/>
            <a:ext cx="11091672" cy="457200"/>
          </a:xfrm>
          <a:prstGeom prst="rect">
            <a:avLst/>
          </a:prstGeom>
          <a:noFill/>
          <a:ln/>
        </p:spPr>
        <p:txBody>
          <a:bodyPr wrap="square" lIns="0" tIns="0" rIns="0" bIns="0" rtlCol="0" anchor="t"/>
          <a:lstStyle/>
          <a:p>
            <a:pPr rtl="1" algn="r" indent="0" marL="0">
              <a:buNone/>
            </a:pPr>
            <a:r>
              <a:rPr lang="fa-IR" altLang="en-US" sz="2400" dirty="0">
                <a:solidFill>
                  <a:schemeClr val="accent1"/>
                </a:solidFill>
                <a:latin typeface="B Titr" pitchFamily="34" charset="0"/>
                <a:ea typeface="B Titr" pitchFamily="34" charset="-122"/>
                <a:cs typeface="B Titr" pitchFamily="34" charset="-120"/>
              </a:rPr>
              <a:t>پرسش اصلی پژوهش</a:t>
            </a:r>
            <a:endParaRPr lang="fa-IR" sz="2400" dirty="0"/>
          </a:p>
        </p:txBody>
      </p:sp>
      <p:sp>
        <p:nvSpPr>
          <p:cNvPr id="6" name="anim_2_74"/>
          <p:cNvSpPr txBox="1"/>
          <p:nvPr/>
        </p:nvSpPr>
        <p:spPr>
          <a:xfrm>
            <a:off x="548640" y="3703320"/>
            <a:ext cx="11091672" cy="914400"/>
          </a:xfrm>
          <a:prstGeom prst="rect">
            <a:avLst/>
          </a:prstGeom>
          <a:noFill/>
          <a:ln/>
        </p:spPr>
        <p:txBody>
          <a:bodyPr wrap="square" lIns="0" tIns="0" rIns="0" bIns="0" rtlCol="0" anchor="t"/>
          <a:lstStyle/>
          <a:p>
            <a:pPr rtl="1" algn="r" indent="0" marL="0">
              <a:buNone/>
            </a:pPr>
            <a:r>
              <a:rPr lang="fa-IR" altLang="en-US" sz="2200" dirty="0">
                <a:solidFill>
                  <a:schemeClr val="tx1"/>
                </a:solidFill>
                <a:latin typeface="B Nazanin" pitchFamily="34" charset="0"/>
                <a:ea typeface="B Nazanin" pitchFamily="34" charset="-122"/>
                <a:cs typeface="B Nazanin" pitchFamily="34" charset="-120"/>
              </a:rPr>
              <a:t>آیا کاهش اولیهٔ حق‌الزحمه در بازار حسابرسی ایران وجود دارد؟ از چه مجرایی بازیابی می‌شود؟ و آیا کیفیت حسابرسی آینده را تهدید می‌کند؟</a:t>
            </a:r>
            <a:endParaRPr lang="fa-IR" sz="2200" dirty="0"/>
          </a:p>
        </p:txBody>
      </p:sp>
      <p:sp>
        <p:nvSpPr>
          <p:cNvPr id="7" name="anim_3_75"/>
          <p:cNvSpPr/>
          <p:nvPr/>
        </p:nvSpPr>
        <p:spPr>
          <a:xfrm>
            <a:off x="813816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8" name="anim_3_76"/>
          <p:cNvSpPr/>
          <p:nvPr/>
        </p:nvSpPr>
        <p:spPr>
          <a:xfrm>
            <a:off x="10835640" y="5074920"/>
            <a:ext cx="731520" cy="731520"/>
          </a:xfrm>
          <a:prstGeom prst="ellipse">
            <a:avLst/>
          </a:prstGeom>
          <a:solidFill>
            <a:schemeClr val="accent1"/>
          </a:solidFill>
          <a:ln/>
        </p:spPr>
      </p:sp>
      <p:sp>
        <p:nvSpPr>
          <p:cNvPr id="9" name="anim_3_77"/>
          <p:cNvSpPr txBox="1"/>
          <p:nvPr/>
        </p:nvSpPr>
        <p:spPr>
          <a:xfrm>
            <a:off x="1083564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10" name="anim_3_78"/>
          <p:cNvSpPr txBox="1"/>
          <p:nvPr/>
        </p:nvSpPr>
        <p:spPr>
          <a:xfrm>
            <a:off x="827532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نقش خدمات غیرحسابرسی</a:t>
            </a:r>
            <a:endParaRPr lang="fa-IR" sz="1900" dirty="0"/>
          </a:p>
        </p:txBody>
      </p:sp>
      <p:sp>
        <p:nvSpPr>
          <p:cNvPr id="11" name="anim_4_79"/>
          <p:cNvSpPr/>
          <p:nvPr/>
        </p:nvSpPr>
        <p:spPr>
          <a:xfrm>
            <a:off x="434340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12" name="anim_4_80"/>
          <p:cNvSpPr/>
          <p:nvPr/>
        </p:nvSpPr>
        <p:spPr>
          <a:xfrm>
            <a:off x="7040880" y="5074920"/>
            <a:ext cx="731520" cy="731520"/>
          </a:xfrm>
          <a:prstGeom prst="ellipse">
            <a:avLst/>
          </a:prstGeom>
          <a:solidFill>
            <a:schemeClr val="accent2"/>
          </a:solidFill>
          <a:ln/>
        </p:spPr>
      </p:sp>
      <p:sp>
        <p:nvSpPr>
          <p:cNvPr id="13" name="anim_4_81"/>
          <p:cNvSpPr txBox="1"/>
          <p:nvPr/>
        </p:nvSpPr>
        <p:spPr>
          <a:xfrm>
            <a:off x="704088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4" name="anim_4_82"/>
          <p:cNvSpPr txBox="1"/>
          <p:nvPr/>
        </p:nvSpPr>
        <p:spPr>
          <a:xfrm>
            <a:off x="448056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نقش اهمیت مشتری و اندازهٔ مؤسسه</a:t>
            </a:r>
            <a:endParaRPr lang="fa-IR" sz="1900" dirty="0"/>
          </a:p>
        </p:txBody>
      </p:sp>
      <p:sp>
        <p:nvSpPr>
          <p:cNvPr id="15" name="anim_5_83"/>
          <p:cNvSpPr/>
          <p:nvPr/>
        </p:nvSpPr>
        <p:spPr>
          <a:xfrm>
            <a:off x="548640" y="4846320"/>
            <a:ext cx="3566160" cy="1188720"/>
          </a:xfrm>
          <a:prstGeom prst="roundRect">
            <a:avLst>
              <a:gd name="adj" fmla="val 9231"/>
            </a:avLst>
          </a:prstGeom>
          <a:solidFill>
            <a:schemeClr val="bg2"/>
          </a:solidFill>
          <a:ln/>
          <a:effectLst>
            <a:outerShdw sx="100000" sy="100000" kx="0" ky="0" algn="bl" rotWithShape="0" blurRad="101600" dist="25400" dir="5400000">
              <a:srgbClr val="000000">
                <a:alpha val="12000"/>
              </a:srgbClr>
            </a:outerShdw>
          </a:effectLst>
        </p:spPr>
      </p:sp>
      <p:sp>
        <p:nvSpPr>
          <p:cNvPr id="16" name="anim_5_84"/>
          <p:cNvSpPr/>
          <p:nvPr/>
        </p:nvSpPr>
        <p:spPr>
          <a:xfrm>
            <a:off x="3246120" y="5074920"/>
            <a:ext cx="731520" cy="731520"/>
          </a:xfrm>
          <a:prstGeom prst="ellipse">
            <a:avLst/>
          </a:prstGeom>
          <a:solidFill>
            <a:schemeClr val="accent3"/>
          </a:solidFill>
          <a:ln/>
        </p:spPr>
      </p:sp>
      <p:sp>
        <p:nvSpPr>
          <p:cNvPr id="17" name="anim_5_85"/>
          <p:cNvSpPr txBox="1"/>
          <p:nvPr/>
        </p:nvSpPr>
        <p:spPr>
          <a:xfrm>
            <a:off x="3246120" y="507492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8" name="anim_5_86"/>
          <p:cNvSpPr txBox="1"/>
          <p:nvPr/>
        </p:nvSpPr>
        <p:spPr>
          <a:xfrm>
            <a:off x="685800" y="4937760"/>
            <a:ext cx="2377440" cy="1005840"/>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الگوی ریکاوری و کیفیت آینده</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5</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7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4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4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4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اهداف پژوهش</a:t>
            </a:r>
            <a:endParaRPr lang="fa-IR" sz="3400" dirty="0"/>
          </a:p>
        </p:txBody>
      </p:sp>
      <p:sp>
        <p:nvSpPr>
          <p:cNvPr id="3" name="anim_1_87"/>
          <p:cNvSpPr/>
          <p:nvPr/>
        </p:nvSpPr>
        <p:spPr>
          <a:xfrm>
            <a:off x="548640" y="1417320"/>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4" name="anim_1_88"/>
          <p:cNvSpPr/>
          <p:nvPr/>
        </p:nvSpPr>
        <p:spPr>
          <a:xfrm>
            <a:off x="10863072" y="1499616"/>
            <a:ext cx="685800" cy="685800"/>
          </a:xfrm>
          <a:prstGeom prst="ellipse">
            <a:avLst/>
          </a:prstGeom>
          <a:solidFill>
            <a:schemeClr val="accent1"/>
          </a:solidFill>
          <a:ln/>
        </p:spPr>
      </p:sp>
      <p:sp>
        <p:nvSpPr>
          <p:cNvPr id="5" name="anim_1_89"/>
          <p:cNvSpPr txBox="1"/>
          <p:nvPr/>
        </p:nvSpPr>
        <p:spPr>
          <a:xfrm>
            <a:off x="10863072" y="1499616"/>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90"/>
          <p:cNvSpPr txBox="1"/>
          <p:nvPr/>
        </p:nvSpPr>
        <p:spPr>
          <a:xfrm>
            <a:off x="777240" y="1463040"/>
            <a:ext cx="9811512" cy="758952"/>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تعیین رابطهٔ سطح حق‌الزحمه‌های غیرحسابرسی با کاهش هزینهٔ حسابرسی در سال اول</a:t>
            </a:r>
            <a:endParaRPr lang="fa-IR" sz="2000" dirty="0"/>
          </a:p>
        </p:txBody>
      </p:sp>
      <p:sp>
        <p:nvSpPr>
          <p:cNvPr id="7" name="anim_2_91"/>
          <p:cNvSpPr/>
          <p:nvPr/>
        </p:nvSpPr>
        <p:spPr>
          <a:xfrm>
            <a:off x="548640" y="2395728"/>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8" name="anim_2_92"/>
          <p:cNvSpPr/>
          <p:nvPr/>
        </p:nvSpPr>
        <p:spPr>
          <a:xfrm>
            <a:off x="10863072" y="2478024"/>
            <a:ext cx="685800" cy="685800"/>
          </a:xfrm>
          <a:prstGeom prst="ellipse">
            <a:avLst/>
          </a:prstGeom>
          <a:solidFill>
            <a:schemeClr val="accent5"/>
          </a:solidFill>
          <a:ln/>
        </p:spPr>
      </p:sp>
      <p:sp>
        <p:nvSpPr>
          <p:cNvPr id="9" name="anim_2_93"/>
          <p:cNvSpPr txBox="1"/>
          <p:nvPr/>
        </p:nvSpPr>
        <p:spPr>
          <a:xfrm>
            <a:off x="10863072" y="2478024"/>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0" name="anim_2_94"/>
          <p:cNvSpPr txBox="1"/>
          <p:nvPr/>
        </p:nvSpPr>
        <p:spPr>
          <a:xfrm>
            <a:off x="777240" y="2441448"/>
            <a:ext cx="9811512" cy="758952"/>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تعیین اثر اهمیت مشتری بر کاهش هزینه در مؤسسات حسابرسی کوچک و بزرگ و مقایسهٔ آن‌ها</a:t>
            </a:r>
            <a:endParaRPr lang="fa-IR" sz="2000" dirty="0"/>
          </a:p>
        </p:txBody>
      </p:sp>
      <p:sp>
        <p:nvSpPr>
          <p:cNvPr id="11" name="anim_3_95"/>
          <p:cNvSpPr/>
          <p:nvPr/>
        </p:nvSpPr>
        <p:spPr>
          <a:xfrm>
            <a:off x="548640" y="3374136"/>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12" name="anim_3_96"/>
          <p:cNvSpPr/>
          <p:nvPr/>
        </p:nvSpPr>
        <p:spPr>
          <a:xfrm>
            <a:off x="10863072" y="3456432"/>
            <a:ext cx="685800" cy="685800"/>
          </a:xfrm>
          <a:prstGeom prst="ellipse">
            <a:avLst/>
          </a:prstGeom>
          <a:solidFill>
            <a:schemeClr val="accent2"/>
          </a:solidFill>
          <a:ln/>
        </p:spPr>
      </p:sp>
      <p:sp>
        <p:nvSpPr>
          <p:cNvPr id="13" name="anim_3_97"/>
          <p:cNvSpPr txBox="1"/>
          <p:nvPr/>
        </p:nvSpPr>
        <p:spPr>
          <a:xfrm>
            <a:off x="10863072" y="3456432"/>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4" name="anim_3_98"/>
          <p:cNvSpPr txBox="1"/>
          <p:nvPr/>
        </p:nvSpPr>
        <p:spPr>
          <a:xfrm>
            <a:off x="777240" y="3419856"/>
            <a:ext cx="9811512" cy="758952"/>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مقایسهٔ افزایش حق‌الزحمهٔ سال‌های بعد در مؤسسات کم‌هزینه و پرهزینه</a:t>
            </a:r>
            <a:endParaRPr lang="fa-IR" sz="2000" dirty="0"/>
          </a:p>
        </p:txBody>
      </p:sp>
      <p:sp>
        <p:nvSpPr>
          <p:cNvPr id="15" name="anim_4_99"/>
          <p:cNvSpPr/>
          <p:nvPr/>
        </p:nvSpPr>
        <p:spPr>
          <a:xfrm>
            <a:off x="548640" y="4352544"/>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16" name="anim_4_100"/>
          <p:cNvSpPr/>
          <p:nvPr/>
        </p:nvSpPr>
        <p:spPr>
          <a:xfrm>
            <a:off x="10863072" y="4434840"/>
            <a:ext cx="685800" cy="685800"/>
          </a:xfrm>
          <a:prstGeom prst="ellipse">
            <a:avLst/>
          </a:prstGeom>
          <a:solidFill>
            <a:schemeClr val="accent4"/>
          </a:solidFill>
          <a:ln/>
        </p:spPr>
      </p:sp>
      <p:sp>
        <p:nvSpPr>
          <p:cNvPr id="17" name="anim_4_101"/>
          <p:cNvSpPr txBox="1"/>
          <p:nvPr/>
        </p:nvSpPr>
        <p:spPr>
          <a:xfrm>
            <a:off x="10863072" y="4434840"/>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18" name="anim_4_102"/>
          <p:cNvSpPr txBox="1"/>
          <p:nvPr/>
        </p:nvSpPr>
        <p:spPr>
          <a:xfrm>
            <a:off x="777240" y="4398264"/>
            <a:ext cx="9811512" cy="758952"/>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بررسی افزایش حق‌الزحمه‌های غیرحسابرسی در سال‌های بعد در مؤسسات کم‌هزینه</a:t>
            </a:r>
            <a:endParaRPr lang="fa-IR" sz="2000" dirty="0"/>
          </a:p>
        </p:txBody>
      </p:sp>
      <p:sp>
        <p:nvSpPr>
          <p:cNvPr id="19" name="anim_5_103"/>
          <p:cNvSpPr/>
          <p:nvPr/>
        </p:nvSpPr>
        <p:spPr>
          <a:xfrm>
            <a:off x="548640" y="5330952"/>
            <a:ext cx="11091672" cy="850392"/>
          </a:xfrm>
          <a:prstGeom prst="roundRect">
            <a:avLst>
              <a:gd name="adj" fmla="val 12903"/>
            </a:avLst>
          </a:prstGeom>
          <a:solidFill>
            <a:schemeClr val="bg2"/>
          </a:solidFill>
          <a:ln/>
          <a:effectLst>
            <a:outerShdw sx="100000" sy="100000" kx="0" ky="0" algn="bl" rotWithShape="0" blurRad="101600" dist="25400" dir="5400000">
              <a:srgbClr val="000000">
                <a:alpha val="12000"/>
              </a:srgbClr>
            </a:outerShdw>
          </a:effectLst>
        </p:spPr>
      </p:sp>
      <p:sp>
        <p:nvSpPr>
          <p:cNvPr id="20" name="anim_5_104"/>
          <p:cNvSpPr/>
          <p:nvPr/>
        </p:nvSpPr>
        <p:spPr>
          <a:xfrm>
            <a:off x="10863072" y="5413248"/>
            <a:ext cx="685800" cy="685800"/>
          </a:xfrm>
          <a:prstGeom prst="ellipse">
            <a:avLst/>
          </a:prstGeom>
          <a:solidFill>
            <a:schemeClr val="accent3"/>
          </a:solidFill>
          <a:ln/>
        </p:spPr>
      </p:sp>
      <p:sp>
        <p:nvSpPr>
          <p:cNvPr id="21" name="anim_5_105"/>
          <p:cNvSpPr txBox="1"/>
          <p:nvPr/>
        </p:nvSpPr>
        <p:spPr>
          <a:xfrm>
            <a:off x="10863072" y="5413248"/>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2" name="anim_5_106"/>
          <p:cNvSpPr txBox="1"/>
          <p:nvPr/>
        </p:nvSpPr>
        <p:spPr>
          <a:xfrm>
            <a:off x="777240" y="5376672"/>
            <a:ext cx="9811512" cy="758952"/>
          </a:xfrm>
          <a:prstGeom prst="rect">
            <a:avLst/>
          </a:prstGeom>
          <a:noFill/>
          <a:ln/>
        </p:spPr>
        <p:txBody>
          <a:bodyPr wrap="square" lIns="0" tIns="0" rIns="0" bIns="0" rtlCol="0" anchor="ctr"/>
          <a:lstStyle/>
          <a:p>
            <a:pPr rtl="1" algn="r" indent="0" marL="0">
              <a:buNone/>
            </a:pPr>
            <a:r>
              <a:rPr lang="fa-IR" altLang="en-US" sz="2000" dirty="0">
                <a:solidFill>
                  <a:schemeClr val="tx1"/>
                </a:solidFill>
                <a:latin typeface="B Nazanin" pitchFamily="34" charset="0"/>
                <a:ea typeface="B Nazanin" pitchFamily="34" charset="-122"/>
                <a:cs typeface="B Nazanin" pitchFamily="34" charset="-120"/>
              </a:rPr>
              <a:t>بررسی کیفیت حسابرسی آینده و میزان بازیابی حق‌الزحمه در مؤسسات کم‌هزینه</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6</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40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4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نوآوری و کاربرد پژوهش</a:t>
            </a:r>
            <a:endParaRPr lang="fa-IR" sz="3400" dirty="0"/>
          </a:p>
        </p:txBody>
      </p:sp>
      <p:sp>
        <p:nvSpPr>
          <p:cNvPr id="3" name="anim_1_107"/>
          <p:cNvSpPr/>
          <p:nvPr/>
        </p:nvSpPr>
        <p:spPr>
          <a:xfrm>
            <a:off x="6263640" y="1417320"/>
            <a:ext cx="5440680" cy="4709160"/>
          </a:xfrm>
          <a:prstGeom prst="roundRect">
            <a:avLst>
              <a:gd name="adj" fmla="val 2330"/>
            </a:avLst>
          </a:prstGeom>
          <a:solidFill>
            <a:schemeClr val="bg2"/>
          </a:solidFill>
          <a:ln/>
          <a:effectLst>
            <a:outerShdw sx="100000" sy="100000" kx="0" ky="0" algn="bl" rotWithShape="0" blurRad="101600" dist="25400" dir="5400000">
              <a:srgbClr val="000000">
                <a:alpha val="12000"/>
              </a:srgbClr>
            </a:outerShdw>
          </a:effectLst>
        </p:spPr>
      </p:sp>
      <p:sp>
        <p:nvSpPr>
          <p:cNvPr id="4" name="anim_1_108"/>
          <p:cNvSpPr/>
          <p:nvPr/>
        </p:nvSpPr>
        <p:spPr>
          <a:xfrm>
            <a:off x="10607040" y="1600200"/>
            <a:ext cx="868680" cy="868680"/>
          </a:xfrm>
          <a:prstGeom prst="ellipse">
            <a:avLst/>
          </a:prstGeom>
          <a:solidFill>
            <a:schemeClr val="accent1"/>
          </a:solidFill>
          <a:ln/>
        </p:spPr>
      </p:sp>
      <p:pic>
        <p:nvPicPr>
          <p:cNvPr id="5" name="anim_1_109" descr="preencoded.png">    </p:cNvPr>
          <p:cNvPicPr>
            <a:picLocks noChangeAspect="1"/>
          </p:cNvPicPr>
          <p:nvPr/>
        </p:nvPicPr>
        <p:blipFill>
          <a:blip r:embed="rId1"/>
          <a:stretch>
            <a:fillRect/>
          </a:stretch>
        </p:blipFill>
        <p:spPr>
          <a:xfrm>
            <a:off x="10815523" y="1808683"/>
            <a:ext cx="451714" cy="451714"/>
          </a:xfrm>
          <a:prstGeom prst="rect">
            <a:avLst/>
          </a:prstGeom>
        </p:spPr>
      </p:pic>
      <p:sp>
        <p:nvSpPr>
          <p:cNvPr id="6" name="anim_1_110"/>
          <p:cNvSpPr txBox="1"/>
          <p:nvPr/>
        </p:nvSpPr>
        <p:spPr>
          <a:xfrm>
            <a:off x="6492240" y="1691640"/>
            <a:ext cx="3931920" cy="685800"/>
          </a:xfrm>
          <a:prstGeom prst="rect">
            <a:avLst/>
          </a:prstGeom>
          <a:noFill/>
          <a:ln/>
        </p:spPr>
        <p:txBody>
          <a:bodyPr wrap="square" lIns="0" tIns="0" rIns="0" bIns="0" rtlCol="0" anchor="ctr"/>
          <a:lstStyle/>
          <a:p>
            <a:pPr rtl="1" algn="r" indent="0" marL="0">
              <a:buNone/>
            </a:pPr>
            <a:r>
              <a:rPr lang="fa-IR" altLang="en-US" sz="2400" dirty="0">
                <a:solidFill>
                  <a:schemeClr val="tx2"/>
                </a:solidFill>
                <a:latin typeface="B Titr" pitchFamily="34" charset="0"/>
                <a:ea typeface="B Titr" pitchFamily="34" charset="-122"/>
                <a:cs typeface="B Titr" pitchFamily="34" charset="-120"/>
              </a:rPr>
              <a:t>جنبه‌های نوآوری</a:t>
            </a:r>
            <a:endParaRPr lang="fa-IR" sz="2400" dirty="0"/>
          </a:p>
        </p:txBody>
      </p:sp>
      <p:sp>
        <p:nvSpPr>
          <p:cNvPr id="7" name="anim_1_111"/>
          <p:cNvSpPr txBox="1"/>
          <p:nvPr/>
        </p:nvSpPr>
        <p:spPr>
          <a:xfrm>
            <a:off x="6537960" y="2651760"/>
            <a:ext cx="4937760" cy="3291840"/>
          </a:xfrm>
          <a:prstGeom prst="rect">
            <a:avLst/>
          </a:prstGeom>
          <a:noFill/>
          <a:ln/>
        </p:spPr>
        <p:txBody>
          <a:bodyPr wrap="square" lIns="0" tIns="0" rIns="0" bIns="0" rtlCol="0" anchor="t"/>
          <a:lstStyle/>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مدل هزینهٔ حسابرسی سال اول و سنجش فشار هزینه‌ای حسابرس</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چارچوب کمّی یکپارچه: تعیین‌کننده‌ها، ریکاوری و کیفیت آینده</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تفکیک مؤسسات کوچک و بزرگ در اثر اهمیت مشتری</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آزمون همزمان دو نظریهٔ رقیب با داده‌های ایران</a:t>
            </a:r>
            <a:endParaRPr lang="fa-IR" sz="2000" dirty="0"/>
          </a:p>
        </p:txBody>
      </p:sp>
      <p:sp>
        <p:nvSpPr>
          <p:cNvPr id="8" name="anim_2_112"/>
          <p:cNvSpPr/>
          <p:nvPr/>
        </p:nvSpPr>
        <p:spPr>
          <a:xfrm>
            <a:off x="548640" y="1417320"/>
            <a:ext cx="5440680" cy="4709160"/>
          </a:xfrm>
          <a:prstGeom prst="roundRect">
            <a:avLst>
              <a:gd name="adj" fmla="val 2330"/>
            </a:avLst>
          </a:prstGeom>
          <a:solidFill>
            <a:schemeClr val="bg2"/>
          </a:solidFill>
          <a:ln/>
          <a:effectLst>
            <a:outerShdw sx="100000" sy="100000" kx="0" ky="0" algn="bl" rotWithShape="0" blurRad="101600" dist="25400" dir="5400000">
              <a:srgbClr val="000000">
                <a:alpha val="12000"/>
              </a:srgbClr>
            </a:outerShdw>
          </a:effectLst>
        </p:spPr>
      </p:sp>
      <p:sp>
        <p:nvSpPr>
          <p:cNvPr id="9" name="anim_2_113"/>
          <p:cNvSpPr/>
          <p:nvPr/>
        </p:nvSpPr>
        <p:spPr>
          <a:xfrm>
            <a:off x="4892040" y="1600200"/>
            <a:ext cx="868680" cy="868680"/>
          </a:xfrm>
          <a:prstGeom prst="ellipse">
            <a:avLst/>
          </a:prstGeom>
          <a:solidFill>
            <a:schemeClr val="accent2"/>
          </a:solidFill>
          <a:ln/>
        </p:spPr>
      </p:sp>
      <p:pic>
        <p:nvPicPr>
          <p:cNvPr id="10" name="anim_2_114" descr="preencoded.png">    </p:cNvPr>
          <p:cNvPicPr>
            <a:picLocks noChangeAspect="1"/>
          </p:cNvPicPr>
          <p:nvPr/>
        </p:nvPicPr>
        <p:blipFill>
          <a:blip r:embed="rId2"/>
          <a:stretch>
            <a:fillRect/>
          </a:stretch>
        </p:blipFill>
        <p:spPr>
          <a:xfrm>
            <a:off x="5100523" y="1808683"/>
            <a:ext cx="451714" cy="451714"/>
          </a:xfrm>
          <a:prstGeom prst="rect">
            <a:avLst/>
          </a:prstGeom>
        </p:spPr>
      </p:pic>
      <p:sp>
        <p:nvSpPr>
          <p:cNvPr id="11" name="anim_2_115"/>
          <p:cNvSpPr txBox="1"/>
          <p:nvPr/>
        </p:nvSpPr>
        <p:spPr>
          <a:xfrm>
            <a:off x="777240" y="1691640"/>
            <a:ext cx="3931920" cy="685800"/>
          </a:xfrm>
          <a:prstGeom prst="rect">
            <a:avLst/>
          </a:prstGeom>
          <a:noFill/>
          <a:ln/>
        </p:spPr>
        <p:txBody>
          <a:bodyPr wrap="square" lIns="0" tIns="0" rIns="0" bIns="0" rtlCol="0" anchor="ctr"/>
          <a:lstStyle/>
          <a:p>
            <a:pPr rtl="1" algn="r" indent="0" marL="0">
              <a:buNone/>
            </a:pPr>
            <a:r>
              <a:rPr lang="fa-IR" altLang="en-US" sz="2400" dirty="0">
                <a:solidFill>
                  <a:schemeClr val="tx2"/>
                </a:solidFill>
                <a:latin typeface="B Titr" pitchFamily="34" charset="0"/>
                <a:ea typeface="B Titr" pitchFamily="34" charset="-122"/>
                <a:cs typeface="B Titr" pitchFamily="34" charset="-120"/>
              </a:rPr>
              <a:t>کاربران نتایج</a:t>
            </a:r>
            <a:endParaRPr lang="fa-IR" sz="2400" dirty="0"/>
          </a:p>
        </p:txBody>
      </p:sp>
      <p:sp>
        <p:nvSpPr>
          <p:cNvPr id="12" name="anim_2_116"/>
          <p:cNvSpPr txBox="1"/>
          <p:nvPr/>
        </p:nvSpPr>
        <p:spPr>
          <a:xfrm>
            <a:off x="822960" y="2651760"/>
            <a:ext cx="4937760" cy="3291840"/>
          </a:xfrm>
          <a:prstGeom prst="rect">
            <a:avLst/>
          </a:prstGeom>
          <a:noFill/>
          <a:ln/>
        </p:spPr>
        <p:txBody>
          <a:bodyPr wrap="square" lIns="0" tIns="0" rIns="0" bIns="0" rtlCol="0" anchor="t"/>
          <a:lstStyle/>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سازمان بورس و جامعهٔ حسابداران رسمی: سیاست‌گذاری و نظارت</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کمیته‌های حسابرسی: انتخاب و ارزیابی حسابرس</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سرمایه‌گذاران و اعتباردهندگان: ارزیابی کیفیت اطلاعات</a:t>
            </a:r>
            <a:endParaRPr lang="fa-IR" sz="2000" dirty="0"/>
          </a:p>
          <a:p>
            <a:pPr algn="r" marL="342900" indent="-342900">
              <a:spcAft>
                <a:spcPts val="1200"/>
              </a:spcAft>
              <a:buSzPct val="100000"/>
              <a:buChar char="•"/>
            </a:pPr>
            <a:r>
              <a:rPr lang="fa-IR" altLang="en-US" sz="2000" dirty="0">
                <a:solidFill>
                  <a:schemeClr val="tx1"/>
                </a:solidFill>
                <a:latin typeface="B Nazanin" pitchFamily="34" charset="0"/>
                <a:ea typeface="B Nazanin" pitchFamily="34" charset="-122"/>
                <a:cs typeface="B Nazanin" pitchFamily="34" charset="-120"/>
              </a:rPr>
              <a:t>پژوهشگران و دانشجویان حسابداری</a:t>
            </a:r>
            <a:endParaRPr lang="fa-IR" sz="20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7</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چارچوب مفهومی پژوهش</a:t>
            </a:r>
            <a:endParaRPr lang="fa-IR" sz="3400" dirty="0"/>
          </a:p>
        </p:txBody>
      </p:sp>
      <p:sp>
        <p:nvSpPr>
          <p:cNvPr id="3" name="anim_1_117"/>
          <p:cNvSpPr/>
          <p:nvPr/>
        </p:nvSpPr>
        <p:spPr>
          <a:xfrm>
            <a:off x="9125712" y="1737360"/>
            <a:ext cx="2514600" cy="2743200"/>
          </a:xfrm>
          <a:prstGeom prst="roundRect">
            <a:avLst>
              <a:gd name="adj" fmla="val 4364"/>
            </a:avLst>
          </a:prstGeom>
          <a:solidFill>
            <a:schemeClr val="tx2"/>
          </a:solidFill>
          <a:ln/>
          <a:effectLst>
            <a:outerShdw sx="100000" sy="100000" kx="0" ky="0" algn="bl" rotWithShape="0" blurRad="101600" dist="25400" dir="5400000">
              <a:srgbClr val="000000">
                <a:alpha val="12000"/>
              </a:srgbClr>
            </a:outerShdw>
          </a:effectLst>
        </p:spPr>
      </p:sp>
      <p:sp>
        <p:nvSpPr>
          <p:cNvPr id="4" name="anim_1_118"/>
          <p:cNvSpPr txBox="1"/>
          <p:nvPr/>
        </p:nvSpPr>
        <p:spPr>
          <a:xfrm>
            <a:off x="9217152" y="1965960"/>
            <a:ext cx="2331720" cy="82296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عوامل تعیین‌کننده</a:t>
            </a:r>
            <a:endParaRPr lang="fa-IR" sz="2200" dirty="0"/>
          </a:p>
        </p:txBody>
      </p:sp>
      <p:sp>
        <p:nvSpPr>
          <p:cNvPr id="5" name="anim_1_119"/>
          <p:cNvSpPr txBox="1"/>
          <p:nvPr/>
        </p:nvSpPr>
        <p:spPr>
          <a:xfrm>
            <a:off x="9262872" y="2926080"/>
            <a:ext cx="2240280" cy="137160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خدمات غیرحسابرسی، اهمیت مشتری، اندازهٔ مؤسسه</a:t>
            </a:r>
            <a:endParaRPr lang="fa-IR" sz="1900" dirty="0"/>
          </a:p>
        </p:txBody>
      </p:sp>
      <p:sp>
        <p:nvSpPr>
          <p:cNvPr id="6" name="anim_2_120"/>
          <p:cNvSpPr/>
          <p:nvPr/>
        </p:nvSpPr>
        <p:spPr>
          <a:xfrm>
            <a:off x="6245352" y="1737360"/>
            <a:ext cx="2514600" cy="2743200"/>
          </a:xfrm>
          <a:prstGeom prst="roundRect">
            <a:avLst>
              <a:gd name="adj" fmla="val 4364"/>
            </a:avLst>
          </a:prstGeom>
          <a:solidFill>
            <a:schemeClr val="accent1"/>
          </a:solidFill>
          <a:ln/>
          <a:effectLst>
            <a:outerShdw sx="100000" sy="100000" kx="0" ky="0" algn="bl" rotWithShape="0" blurRad="101600" dist="25400" dir="5400000">
              <a:srgbClr val="000000">
                <a:alpha val="12000"/>
              </a:srgbClr>
            </a:outerShdw>
          </a:effectLst>
        </p:spPr>
      </p:sp>
      <p:sp>
        <p:nvSpPr>
          <p:cNvPr id="7" name="anim_2_121"/>
          <p:cNvSpPr txBox="1"/>
          <p:nvPr/>
        </p:nvSpPr>
        <p:spPr>
          <a:xfrm>
            <a:off x="6336792" y="1965960"/>
            <a:ext cx="2331720" cy="82296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کاهش اولیهٔ هزینه</a:t>
            </a:r>
            <a:endParaRPr lang="fa-IR" sz="2200" dirty="0"/>
          </a:p>
        </p:txBody>
      </p:sp>
      <p:sp>
        <p:nvSpPr>
          <p:cNvPr id="8" name="anim_2_122"/>
          <p:cNvSpPr txBox="1"/>
          <p:nvPr/>
        </p:nvSpPr>
        <p:spPr>
          <a:xfrm>
            <a:off x="6382512" y="2926080"/>
            <a:ext cx="2240280" cy="137160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حق‌الزحمهٔ سال اول (COSTP)</a:t>
            </a:r>
            <a:endParaRPr lang="fa-IR" sz="1900" dirty="0"/>
          </a:p>
        </p:txBody>
      </p:sp>
      <p:sp>
        <p:nvSpPr>
          <p:cNvPr id="9" name="anim_3_123"/>
          <p:cNvSpPr/>
          <p:nvPr/>
        </p:nvSpPr>
        <p:spPr>
          <a:xfrm>
            <a:off x="3364992" y="1737360"/>
            <a:ext cx="2514600" cy="2743200"/>
          </a:xfrm>
          <a:prstGeom prst="roundRect">
            <a:avLst>
              <a:gd name="adj" fmla="val 4364"/>
            </a:avLst>
          </a:prstGeom>
          <a:solidFill>
            <a:schemeClr val="accent5"/>
          </a:solidFill>
          <a:ln/>
          <a:effectLst>
            <a:outerShdw sx="100000" sy="100000" kx="0" ky="0" algn="bl" rotWithShape="0" blurRad="101600" dist="25400" dir="5400000">
              <a:srgbClr val="000000">
                <a:alpha val="12000"/>
              </a:srgbClr>
            </a:outerShdw>
          </a:effectLst>
        </p:spPr>
      </p:sp>
      <p:sp>
        <p:nvSpPr>
          <p:cNvPr id="10" name="anim_3_124"/>
          <p:cNvSpPr txBox="1"/>
          <p:nvPr/>
        </p:nvSpPr>
        <p:spPr>
          <a:xfrm>
            <a:off x="3456432" y="1965960"/>
            <a:ext cx="2331720" cy="82296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بازیابی حق‌الزحمه</a:t>
            </a:r>
            <a:endParaRPr lang="fa-IR" sz="2200" dirty="0"/>
          </a:p>
        </p:txBody>
      </p:sp>
      <p:sp>
        <p:nvSpPr>
          <p:cNvPr id="11" name="anim_3_125"/>
          <p:cNvSpPr txBox="1"/>
          <p:nvPr/>
        </p:nvSpPr>
        <p:spPr>
          <a:xfrm>
            <a:off x="3502152" y="2926080"/>
            <a:ext cx="2240280" cy="137160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افزایش حق‌الزحمهٔ حسابرسی و غیرحسابرسی</a:t>
            </a:r>
            <a:endParaRPr lang="fa-IR" sz="1900" dirty="0"/>
          </a:p>
        </p:txBody>
      </p:sp>
      <p:sp>
        <p:nvSpPr>
          <p:cNvPr id="12" name="anim_4_126"/>
          <p:cNvSpPr/>
          <p:nvPr/>
        </p:nvSpPr>
        <p:spPr>
          <a:xfrm>
            <a:off x="484632" y="1737360"/>
            <a:ext cx="2514600" cy="2743200"/>
          </a:xfrm>
          <a:prstGeom prst="roundRect">
            <a:avLst>
              <a:gd name="adj" fmla="val 4364"/>
            </a:avLst>
          </a:prstGeom>
          <a:solidFill>
            <a:schemeClr val="accent4"/>
          </a:solidFill>
          <a:ln/>
          <a:effectLst>
            <a:outerShdw sx="100000" sy="100000" kx="0" ky="0" algn="bl" rotWithShape="0" blurRad="101600" dist="25400" dir="5400000">
              <a:srgbClr val="000000">
                <a:alpha val="12000"/>
              </a:srgbClr>
            </a:outerShdw>
          </a:effectLst>
        </p:spPr>
      </p:sp>
      <p:sp>
        <p:nvSpPr>
          <p:cNvPr id="13" name="anim_4_127"/>
          <p:cNvSpPr txBox="1"/>
          <p:nvPr/>
        </p:nvSpPr>
        <p:spPr>
          <a:xfrm>
            <a:off x="576072" y="1965960"/>
            <a:ext cx="2331720" cy="82296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کیفیت حسابرسی آینده</a:t>
            </a:r>
            <a:endParaRPr lang="fa-IR" sz="2200" dirty="0"/>
          </a:p>
        </p:txBody>
      </p:sp>
      <p:sp>
        <p:nvSpPr>
          <p:cNvPr id="14" name="anim_4_128"/>
          <p:cNvSpPr txBox="1"/>
          <p:nvPr/>
        </p:nvSpPr>
        <p:spPr>
          <a:xfrm>
            <a:off x="621792" y="2926080"/>
            <a:ext cx="2240280" cy="1371600"/>
          </a:xfrm>
          <a:prstGeom prst="rect">
            <a:avLst/>
          </a:prstGeom>
          <a:noFill/>
          <a:ln/>
        </p:spPr>
        <p:txBody>
          <a:bodyPr wrap="square" lIns="0" tIns="0" rIns="0" bIns="0" rtlCol="0" anchor="t"/>
          <a:lstStyle/>
          <a:p>
            <a:pPr rtl="1" algn="ctr" indent="0" marL="0">
              <a:buNone/>
            </a:pPr>
            <a:r>
              <a:rPr lang="fa-IR" altLang="en-US" sz="1900" dirty="0">
                <a:solidFill>
                  <a:schemeClr val="bg1"/>
                </a:solidFill>
                <a:latin typeface="B Nazanin" pitchFamily="34" charset="0"/>
                <a:ea typeface="B Nazanin" pitchFamily="34" charset="-122"/>
                <a:cs typeface="B Nazanin" pitchFamily="34" charset="-120"/>
              </a:rPr>
              <a:t>اقلام تعهدی اختیاری (AFQ)</a:t>
            </a:r>
            <a:endParaRPr lang="fa-IR" sz="1900" dirty="0"/>
          </a:p>
        </p:txBody>
      </p:sp>
      <p:sp>
        <p:nvSpPr>
          <p:cNvPr id="15" name="anim_5_129"/>
          <p:cNvSpPr/>
          <p:nvPr/>
        </p:nvSpPr>
        <p:spPr>
          <a:xfrm>
            <a:off x="8759952" y="2880360"/>
            <a:ext cx="365760" cy="548640"/>
          </a:xfrm>
          <a:prstGeom prst="leftArrow">
            <a:avLst/>
          </a:prstGeom>
          <a:solidFill>
            <a:srgbClr val="F2A541"/>
          </a:solidFill>
          <a:ln/>
        </p:spPr>
      </p:sp>
      <p:sp>
        <p:nvSpPr>
          <p:cNvPr id="16" name="anim_5_130"/>
          <p:cNvSpPr txBox="1"/>
          <p:nvPr/>
        </p:nvSpPr>
        <p:spPr>
          <a:xfrm>
            <a:off x="7936992" y="4617720"/>
            <a:ext cx="2011680" cy="457200"/>
          </a:xfrm>
          <a:prstGeom prst="rect">
            <a:avLst/>
          </a:prstGeom>
          <a:noFill/>
          <a:ln/>
        </p:spPr>
        <p:txBody>
          <a:bodyPr wrap="square" lIns="0" tIns="0" rIns="0" bIns="0" rtlCol="0" anchor="t"/>
          <a:lstStyle/>
          <a:p>
            <a:pPr rtl="1" algn="ctr" indent="0" marL="0">
              <a:buNone/>
            </a:pPr>
            <a:r>
              <a:rPr lang="fa-IR" altLang="en-US" sz="1700" b="1" dirty="0">
                <a:solidFill>
                  <a:schemeClr val="accent3"/>
                </a:solidFill>
                <a:latin typeface="B Nazanin" pitchFamily="34" charset="0"/>
                <a:ea typeface="B Nazanin" pitchFamily="34" charset="-122"/>
                <a:cs typeface="B Nazanin" pitchFamily="34" charset="-120"/>
              </a:rPr>
              <a:t>فرضیه‌های 1 و 2</a:t>
            </a:r>
            <a:endParaRPr lang="fa-IR" sz="1700" dirty="0"/>
          </a:p>
        </p:txBody>
      </p:sp>
      <p:sp>
        <p:nvSpPr>
          <p:cNvPr id="17" name="anim_6_131"/>
          <p:cNvSpPr/>
          <p:nvPr/>
        </p:nvSpPr>
        <p:spPr>
          <a:xfrm>
            <a:off x="5879592" y="2880360"/>
            <a:ext cx="365760" cy="548640"/>
          </a:xfrm>
          <a:prstGeom prst="leftArrow">
            <a:avLst/>
          </a:prstGeom>
          <a:solidFill>
            <a:srgbClr val="F2A541"/>
          </a:solidFill>
          <a:ln/>
        </p:spPr>
      </p:sp>
      <p:sp>
        <p:nvSpPr>
          <p:cNvPr id="18" name="anim_6_132"/>
          <p:cNvSpPr txBox="1"/>
          <p:nvPr/>
        </p:nvSpPr>
        <p:spPr>
          <a:xfrm>
            <a:off x="5056632" y="4617720"/>
            <a:ext cx="2011680" cy="457200"/>
          </a:xfrm>
          <a:prstGeom prst="rect">
            <a:avLst/>
          </a:prstGeom>
          <a:noFill/>
          <a:ln/>
        </p:spPr>
        <p:txBody>
          <a:bodyPr wrap="square" lIns="0" tIns="0" rIns="0" bIns="0" rtlCol="0" anchor="t"/>
          <a:lstStyle/>
          <a:p>
            <a:pPr rtl="1" algn="ctr" indent="0" marL="0">
              <a:buNone/>
            </a:pPr>
            <a:r>
              <a:rPr lang="fa-IR" altLang="en-US" sz="1700" b="1" dirty="0">
                <a:solidFill>
                  <a:schemeClr val="accent3"/>
                </a:solidFill>
                <a:latin typeface="B Nazanin" pitchFamily="34" charset="0"/>
                <a:ea typeface="B Nazanin" pitchFamily="34" charset="-122"/>
                <a:cs typeface="B Nazanin" pitchFamily="34" charset="-120"/>
              </a:rPr>
              <a:t>فرضیه‌های 3 و 4</a:t>
            </a:r>
            <a:endParaRPr lang="fa-IR" sz="1700" dirty="0"/>
          </a:p>
        </p:txBody>
      </p:sp>
      <p:sp>
        <p:nvSpPr>
          <p:cNvPr id="19" name="anim_7_133"/>
          <p:cNvSpPr/>
          <p:nvPr/>
        </p:nvSpPr>
        <p:spPr>
          <a:xfrm>
            <a:off x="2999232" y="2880360"/>
            <a:ext cx="365760" cy="548640"/>
          </a:xfrm>
          <a:prstGeom prst="leftArrow">
            <a:avLst/>
          </a:prstGeom>
          <a:solidFill>
            <a:srgbClr val="F2A541"/>
          </a:solidFill>
          <a:ln/>
        </p:spPr>
      </p:sp>
      <p:sp>
        <p:nvSpPr>
          <p:cNvPr id="20" name="anim_7_134"/>
          <p:cNvSpPr txBox="1"/>
          <p:nvPr/>
        </p:nvSpPr>
        <p:spPr>
          <a:xfrm>
            <a:off x="2176272" y="4617720"/>
            <a:ext cx="2011680" cy="457200"/>
          </a:xfrm>
          <a:prstGeom prst="rect">
            <a:avLst/>
          </a:prstGeom>
          <a:noFill/>
          <a:ln/>
        </p:spPr>
        <p:txBody>
          <a:bodyPr wrap="square" lIns="0" tIns="0" rIns="0" bIns="0" rtlCol="0" anchor="t"/>
          <a:lstStyle/>
          <a:p>
            <a:pPr rtl="1" algn="ctr" indent="0" marL="0">
              <a:buNone/>
            </a:pPr>
            <a:r>
              <a:rPr lang="fa-IR" altLang="en-US" sz="1700" b="1" dirty="0">
                <a:solidFill>
                  <a:schemeClr val="accent3"/>
                </a:solidFill>
                <a:latin typeface="B Nazanin" pitchFamily="34" charset="0"/>
                <a:ea typeface="B Nazanin" pitchFamily="34" charset="-122"/>
                <a:cs typeface="B Nazanin" pitchFamily="34" charset="-120"/>
              </a:rPr>
              <a:t>فرضیهٔ 5</a:t>
            </a:r>
            <a:endParaRPr lang="fa-IR" sz="1700" dirty="0"/>
          </a:p>
        </p:txBody>
      </p:sp>
      <p:sp>
        <p:nvSpPr>
          <p:cNvPr id="21" name="anim_8_135"/>
          <p:cNvSpPr txBox="1"/>
          <p:nvPr/>
        </p:nvSpPr>
        <p:spPr>
          <a:xfrm>
            <a:off x="548640" y="5349240"/>
            <a:ext cx="11091672" cy="914400"/>
          </a:xfrm>
          <a:prstGeom prst="rect">
            <a:avLst/>
          </a:prstGeom>
          <a:noFill/>
          <a:ln/>
        </p:spPr>
        <p:txBody>
          <a:bodyPr wrap="square" lIns="0" tIns="0" rIns="0" bIns="0" rtlCol="0" anchor="t"/>
          <a:lstStyle/>
          <a:p>
            <a:pPr rtl="1" algn="ctr" indent="0" marL="0">
              <a:buNone/>
            </a:pPr>
            <a:r>
              <a:rPr lang="fa-IR" altLang="en-US" sz="2200" dirty="0">
                <a:solidFill>
                  <a:schemeClr val="tx2"/>
                </a:solidFill>
                <a:latin typeface="B Nazanin" pitchFamily="34" charset="0"/>
                <a:ea typeface="B Nazanin" pitchFamily="34" charset="-122"/>
                <a:cs typeface="B Nazanin" pitchFamily="34" charset="-120"/>
              </a:rPr>
              <a:t>جریان منطقی پژوهش: از تعیین‌کننده‌های تخفیف اولیه، به بازیابی آن و در نهایت به پیامد برای کیفیت حسابرسی</a:t>
            </a:r>
            <a:endParaRPr lang="fa-IR" sz="22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4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4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7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7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21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21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24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نظریه‌های پشتیبان پژوهش</a:t>
            </a:r>
            <a:endParaRPr lang="fa-IR" sz="3400" dirty="0"/>
          </a:p>
        </p:txBody>
      </p:sp>
      <p:sp>
        <p:nvSpPr>
          <p:cNvPr id="3" name="anim_1_136"/>
          <p:cNvSpPr/>
          <p:nvPr/>
        </p:nvSpPr>
        <p:spPr>
          <a:xfrm>
            <a:off x="804672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4" name="anim_1_137"/>
          <p:cNvSpPr/>
          <p:nvPr/>
        </p:nvSpPr>
        <p:spPr>
          <a:xfrm>
            <a:off x="10789920" y="1600200"/>
            <a:ext cx="685800" cy="685800"/>
          </a:xfrm>
          <a:prstGeom prst="ellipse">
            <a:avLst/>
          </a:prstGeom>
          <a:solidFill>
            <a:schemeClr val="accent1"/>
          </a:solidFill>
          <a:ln/>
        </p:spPr>
      </p:sp>
      <p:pic>
        <p:nvPicPr>
          <p:cNvPr id="5" name="anim_1_138" descr="preencoded.png">    </p:cNvPr>
          <p:cNvPicPr>
            <a:picLocks noChangeAspect="1"/>
          </p:cNvPicPr>
          <p:nvPr/>
        </p:nvPicPr>
        <p:blipFill>
          <a:blip r:embed="rId1"/>
          <a:stretch>
            <a:fillRect/>
          </a:stretch>
        </p:blipFill>
        <p:spPr>
          <a:xfrm>
            <a:off x="10954512" y="1764792"/>
            <a:ext cx="356616" cy="356616"/>
          </a:xfrm>
          <a:prstGeom prst="rect">
            <a:avLst/>
          </a:prstGeom>
        </p:spPr>
      </p:pic>
      <p:sp>
        <p:nvSpPr>
          <p:cNvPr id="6" name="anim_1_139"/>
          <p:cNvSpPr txBox="1"/>
          <p:nvPr/>
        </p:nvSpPr>
        <p:spPr>
          <a:xfrm>
            <a:off x="813816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نظریهٔ نمایندگی</a:t>
            </a:r>
            <a:endParaRPr lang="fa-IR" sz="1900" dirty="0"/>
          </a:p>
        </p:txBody>
      </p:sp>
      <p:sp>
        <p:nvSpPr>
          <p:cNvPr id="7" name="anim_1_140"/>
          <p:cNvSpPr txBox="1"/>
          <p:nvPr/>
        </p:nvSpPr>
        <p:spPr>
          <a:xfrm>
            <a:off x="818388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جنسن و مک‌لینگ (1976): حسابرسی سازوکار کاهش هزینه‌های نمایندگی است</a:t>
            </a:r>
            <a:endParaRPr lang="fa-IR" sz="1700" dirty="0"/>
          </a:p>
        </p:txBody>
      </p:sp>
      <p:sp>
        <p:nvSpPr>
          <p:cNvPr id="8" name="anim_2_141"/>
          <p:cNvSpPr/>
          <p:nvPr/>
        </p:nvSpPr>
        <p:spPr>
          <a:xfrm>
            <a:off x="429768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9" name="anim_2_142"/>
          <p:cNvSpPr/>
          <p:nvPr/>
        </p:nvSpPr>
        <p:spPr>
          <a:xfrm>
            <a:off x="7040880" y="1600200"/>
            <a:ext cx="685800" cy="685800"/>
          </a:xfrm>
          <a:prstGeom prst="ellipse">
            <a:avLst/>
          </a:prstGeom>
          <a:solidFill>
            <a:schemeClr val="accent5"/>
          </a:solidFill>
          <a:ln/>
        </p:spPr>
      </p:sp>
      <p:pic>
        <p:nvPicPr>
          <p:cNvPr id="10" name="anim_2_143" descr="preencoded.png">    </p:cNvPr>
          <p:cNvPicPr>
            <a:picLocks noChangeAspect="1"/>
          </p:cNvPicPr>
          <p:nvPr/>
        </p:nvPicPr>
        <p:blipFill>
          <a:blip r:embed="rId2"/>
          <a:stretch>
            <a:fillRect/>
          </a:stretch>
        </p:blipFill>
        <p:spPr>
          <a:xfrm>
            <a:off x="7205472" y="1764792"/>
            <a:ext cx="356616" cy="356616"/>
          </a:xfrm>
          <a:prstGeom prst="rect">
            <a:avLst/>
          </a:prstGeom>
        </p:spPr>
      </p:pic>
      <p:sp>
        <p:nvSpPr>
          <p:cNvPr id="11" name="anim_2_144"/>
          <p:cNvSpPr txBox="1"/>
          <p:nvPr/>
        </p:nvSpPr>
        <p:spPr>
          <a:xfrm>
            <a:off x="438912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وابستگی اقتصادی و منبع</a:t>
            </a:r>
            <a:endParaRPr lang="fa-IR" sz="1900" dirty="0"/>
          </a:p>
        </p:txBody>
      </p:sp>
      <p:sp>
        <p:nvSpPr>
          <p:cNvPr id="12" name="anim_2_145"/>
          <p:cNvSpPr txBox="1"/>
          <p:nvPr/>
        </p:nvSpPr>
        <p:spPr>
          <a:xfrm>
            <a:off x="443484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پفر و سالانسیک (1978): وابستگی به مشتری مهم، قدرت چانه‌زنی او را بالا می‌برد</a:t>
            </a:r>
            <a:endParaRPr lang="fa-IR" sz="1700" dirty="0"/>
          </a:p>
        </p:txBody>
      </p:sp>
      <p:sp>
        <p:nvSpPr>
          <p:cNvPr id="13" name="anim_3_146"/>
          <p:cNvSpPr/>
          <p:nvPr/>
        </p:nvSpPr>
        <p:spPr>
          <a:xfrm>
            <a:off x="548640" y="146304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14" name="anim_3_147"/>
          <p:cNvSpPr/>
          <p:nvPr/>
        </p:nvSpPr>
        <p:spPr>
          <a:xfrm>
            <a:off x="3291840" y="1600200"/>
            <a:ext cx="685800" cy="685800"/>
          </a:xfrm>
          <a:prstGeom prst="ellipse">
            <a:avLst/>
          </a:prstGeom>
          <a:solidFill>
            <a:schemeClr val="accent2"/>
          </a:solidFill>
          <a:ln/>
        </p:spPr>
      </p:sp>
      <p:pic>
        <p:nvPicPr>
          <p:cNvPr id="15" name="anim_3_148" descr="preencoded.png">    </p:cNvPr>
          <p:cNvPicPr>
            <a:picLocks noChangeAspect="1"/>
          </p:cNvPicPr>
          <p:nvPr/>
        </p:nvPicPr>
        <p:blipFill>
          <a:blip r:embed="rId3"/>
          <a:stretch>
            <a:fillRect/>
          </a:stretch>
        </p:blipFill>
        <p:spPr>
          <a:xfrm>
            <a:off x="3456432" y="1764792"/>
            <a:ext cx="356616" cy="356616"/>
          </a:xfrm>
          <a:prstGeom prst="rect">
            <a:avLst/>
          </a:prstGeom>
        </p:spPr>
      </p:pic>
      <p:sp>
        <p:nvSpPr>
          <p:cNvPr id="16" name="anim_3_149"/>
          <p:cNvSpPr txBox="1"/>
          <p:nvPr/>
        </p:nvSpPr>
        <p:spPr>
          <a:xfrm>
            <a:off x="640080" y="164592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رقابت در بازار حسابرسی</a:t>
            </a:r>
            <a:endParaRPr lang="fa-IR" sz="1900" dirty="0"/>
          </a:p>
        </p:txBody>
      </p:sp>
      <p:sp>
        <p:nvSpPr>
          <p:cNvPr id="17" name="anim_3_150"/>
          <p:cNvSpPr txBox="1"/>
          <p:nvPr/>
        </p:nvSpPr>
        <p:spPr>
          <a:xfrm>
            <a:off x="685800" y="237744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پورتر (1980): رقابت قیمتی مؤسسات را به کاهش اولیهٔ قیمت می‌کشاند</a:t>
            </a:r>
            <a:endParaRPr lang="fa-IR" sz="1700" dirty="0"/>
          </a:p>
        </p:txBody>
      </p:sp>
      <p:sp>
        <p:nvSpPr>
          <p:cNvPr id="18" name="anim_4_151"/>
          <p:cNvSpPr/>
          <p:nvPr/>
        </p:nvSpPr>
        <p:spPr>
          <a:xfrm>
            <a:off x="6172200" y="388620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19" name="anim_4_152"/>
          <p:cNvSpPr/>
          <p:nvPr/>
        </p:nvSpPr>
        <p:spPr>
          <a:xfrm>
            <a:off x="8915400" y="4023360"/>
            <a:ext cx="685800" cy="685800"/>
          </a:xfrm>
          <a:prstGeom prst="ellipse">
            <a:avLst/>
          </a:prstGeom>
          <a:solidFill>
            <a:schemeClr val="accent4"/>
          </a:solidFill>
          <a:ln/>
        </p:spPr>
      </p:sp>
      <p:pic>
        <p:nvPicPr>
          <p:cNvPr id="20" name="anim_4_153" descr="preencoded.png">    </p:cNvPr>
          <p:cNvPicPr>
            <a:picLocks noChangeAspect="1"/>
          </p:cNvPicPr>
          <p:nvPr/>
        </p:nvPicPr>
        <p:blipFill>
          <a:blip r:embed="rId4"/>
          <a:stretch>
            <a:fillRect/>
          </a:stretch>
        </p:blipFill>
        <p:spPr>
          <a:xfrm>
            <a:off x="9079992" y="4187952"/>
            <a:ext cx="356616" cy="356616"/>
          </a:xfrm>
          <a:prstGeom prst="rect">
            <a:avLst/>
          </a:prstGeom>
        </p:spPr>
      </p:pic>
      <p:sp>
        <p:nvSpPr>
          <p:cNvPr id="21" name="anim_4_154"/>
          <p:cNvSpPr txBox="1"/>
          <p:nvPr/>
        </p:nvSpPr>
        <p:spPr>
          <a:xfrm>
            <a:off x="6263640" y="406908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سرمایهٔ انسانی</a:t>
            </a:r>
            <a:endParaRPr lang="fa-IR" sz="1900" dirty="0"/>
          </a:p>
        </p:txBody>
      </p:sp>
      <p:sp>
        <p:nvSpPr>
          <p:cNvPr id="22" name="anim_4_155"/>
          <p:cNvSpPr txBox="1"/>
          <p:nvPr/>
        </p:nvSpPr>
        <p:spPr>
          <a:xfrm>
            <a:off x="6309360" y="480060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بکر (1964): کیفیت تابع تخصص و منابع انسانی است نه صرفاً قیمت قرارداد</a:t>
            </a:r>
            <a:endParaRPr lang="fa-IR" sz="1700" dirty="0"/>
          </a:p>
        </p:txBody>
      </p:sp>
      <p:sp>
        <p:nvSpPr>
          <p:cNvPr id="23" name="anim_5_156"/>
          <p:cNvSpPr/>
          <p:nvPr/>
        </p:nvSpPr>
        <p:spPr>
          <a:xfrm>
            <a:off x="2423160" y="3886200"/>
            <a:ext cx="3611880" cy="2240280"/>
          </a:xfrm>
          <a:prstGeom prst="roundRect">
            <a:avLst>
              <a:gd name="adj" fmla="val 4898"/>
            </a:avLst>
          </a:prstGeom>
          <a:solidFill>
            <a:schemeClr val="bg2"/>
          </a:solidFill>
          <a:ln/>
          <a:effectLst>
            <a:outerShdw sx="100000" sy="100000" kx="0" ky="0" algn="bl" rotWithShape="0" blurRad="101600" dist="25400" dir="5400000">
              <a:srgbClr val="000000">
                <a:alpha val="12000"/>
              </a:srgbClr>
            </a:outerShdw>
          </a:effectLst>
        </p:spPr>
      </p:sp>
      <p:sp>
        <p:nvSpPr>
          <p:cNvPr id="24" name="anim_5_157"/>
          <p:cNvSpPr/>
          <p:nvPr/>
        </p:nvSpPr>
        <p:spPr>
          <a:xfrm>
            <a:off x="5166360" y="4023360"/>
            <a:ext cx="685800" cy="685800"/>
          </a:xfrm>
          <a:prstGeom prst="ellipse">
            <a:avLst/>
          </a:prstGeom>
          <a:solidFill>
            <a:schemeClr val="accent3"/>
          </a:solidFill>
          <a:ln/>
        </p:spPr>
      </p:sp>
      <p:pic>
        <p:nvPicPr>
          <p:cNvPr id="25" name="anim_5_158" descr="preencoded.png">    </p:cNvPr>
          <p:cNvPicPr>
            <a:picLocks noChangeAspect="1"/>
          </p:cNvPicPr>
          <p:nvPr/>
        </p:nvPicPr>
        <p:blipFill>
          <a:blip r:embed="rId5"/>
          <a:stretch>
            <a:fillRect/>
          </a:stretch>
        </p:blipFill>
        <p:spPr>
          <a:xfrm>
            <a:off x="5330952" y="4187952"/>
            <a:ext cx="356616" cy="356616"/>
          </a:xfrm>
          <a:prstGeom prst="rect">
            <a:avLst/>
          </a:prstGeom>
        </p:spPr>
      </p:pic>
      <p:sp>
        <p:nvSpPr>
          <p:cNvPr id="26" name="anim_5_159"/>
          <p:cNvSpPr txBox="1"/>
          <p:nvPr/>
        </p:nvSpPr>
        <p:spPr>
          <a:xfrm>
            <a:off x="2514600" y="4069080"/>
            <a:ext cx="256032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اقتصاد اطلاعات</a:t>
            </a:r>
            <a:endParaRPr lang="fa-IR" sz="1900" dirty="0"/>
          </a:p>
        </p:txBody>
      </p:sp>
      <p:sp>
        <p:nvSpPr>
          <p:cNvPr id="27" name="anim_5_160"/>
          <p:cNvSpPr txBox="1"/>
          <p:nvPr/>
        </p:nvSpPr>
        <p:spPr>
          <a:xfrm>
            <a:off x="2560320" y="4800600"/>
            <a:ext cx="3337560" cy="123444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آکرلوف (1970) و اسپنس (1973): قیمت و کیفیت در شرایط عدم تقارن اطلاعاتی</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9</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پیشینهٔ داخلی (از جدید به قدیم)</a:t>
            </a:r>
            <a:endParaRPr lang="fa-IR" sz="3400" dirty="0"/>
          </a:p>
        </p:txBody>
      </p:sp>
      <p:sp>
        <p:nvSpPr>
          <p:cNvPr id="3" name="anim_1_161"/>
          <p:cNvSpPr/>
          <p:nvPr/>
        </p:nvSpPr>
        <p:spPr>
          <a:xfrm>
            <a:off x="548640" y="1417320"/>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4" name="anim_1_162"/>
          <p:cNvSpPr/>
          <p:nvPr/>
        </p:nvSpPr>
        <p:spPr>
          <a:xfrm>
            <a:off x="10405872" y="1527048"/>
            <a:ext cx="1097280" cy="649224"/>
          </a:xfrm>
          <a:prstGeom prst="roundRect">
            <a:avLst>
              <a:gd name="adj" fmla="val 14085"/>
            </a:avLst>
          </a:prstGeom>
          <a:solidFill>
            <a:schemeClr val="accent1"/>
          </a:solidFill>
          <a:ln/>
        </p:spPr>
      </p:sp>
      <p:sp>
        <p:nvSpPr>
          <p:cNvPr id="5" name="anim_1_163"/>
          <p:cNvSpPr txBox="1"/>
          <p:nvPr/>
        </p:nvSpPr>
        <p:spPr>
          <a:xfrm>
            <a:off x="10405872" y="1527048"/>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1403</a:t>
            </a:r>
            <a:endParaRPr lang="fa-IR" sz="2200" dirty="0"/>
          </a:p>
        </p:txBody>
      </p:sp>
      <p:sp>
        <p:nvSpPr>
          <p:cNvPr id="6" name="anim_1_164"/>
          <p:cNvSpPr txBox="1"/>
          <p:nvPr/>
        </p:nvSpPr>
        <p:spPr>
          <a:xfrm>
            <a:off x="7479792" y="1490472"/>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رشیدی و حاجی‌زاده</a:t>
            </a:r>
            <a:endParaRPr lang="fa-IR" sz="1600" dirty="0"/>
          </a:p>
        </p:txBody>
      </p:sp>
      <p:sp>
        <p:nvSpPr>
          <p:cNvPr id="7" name="anim_1_165"/>
          <p:cNvSpPr txBox="1"/>
          <p:nvPr/>
        </p:nvSpPr>
        <p:spPr>
          <a:xfrm>
            <a:off x="731520" y="1463040"/>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اهمیت صاحبکار بر نرخ‌شکنی اثر مثبت دارد؛ اندازهٔ مؤسسه رابطه را تعدیل می‌کند</a:t>
            </a:r>
            <a:endParaRPr lang="fa-IR" sz="1700" dirty="0"/>
          </a:p>
        </p:txBody>
      </p:sp>
      <p:sp>
        <p:nvSpPr>
          <p:cNvPr id="8" name="anim_2_166"/>
          <p:cNvSpPr/>
          <p:nvPr/>
        </p:nvSpPr>
        <p:spPr>
          <a:xfrm>
            <a:off x="548640" y="2395728"/>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9" name="anim_2_167"/>
          <p:cNvSpPr/>
          <p:nvPr/>
        </p:nvSpPr>
        <p:spPr>
          <a:xfrm>
            <a:off x="10405872" y="2505456"/>
            <a:ext cx="1097280" cy="649224"/>
          </a:xfrm>
          <a:prstGeom prst="roundRect">
            <a:avLst>
              <a:gd name="adj" fmla="val 14085"/>
            </a:avLst>
          </a:prstGeom>
          <a:solidFill>
            <a:schemeClr val="accent5"/>
          </a:solidFill>
          <a:ln/>
        </p:spPr>
      </p:sp>
      <p:sp>
        <p:nvSpPr>
          <p:cNvPr id="10" name="anim_2_168"/>
          <p:cNvSpPr txBox="1"/>
          <p:nvPr/>
        </p:nvSpPr>
        <p:spPr>
          <a:xfrm>
            <a:off x="10405872" y="2505456"/>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1400</a:t>
            </a:r>
            <a:endParaRPr lang="fa-IR" sz="2200" dirty="0"/>
          </a:p>
        </p:txBody>
      </p:sp>
      <p:sp>
        <p:nvSpPr>
          <p:cNvPr id="11" name="anim_2_169"/>
          <p:cNvSpPr txBox="1"/>
          <p:nvPr/>
        </p:nvSpPr>
        <p:spPr>
          <a:xfrm>
            <a:off x="7479792" y="2468880"/>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سلیمانی و شکریان</a:t>
            </a:r>
            <a:endParaRPr lang="fa-IR" sz="1600" dirty="0"/>
          </a:p>
        </p:txBody>
      </p:sp>
      <p:sp>
        <p:nvSpPr>
          <p:cNvPr id="12" name="anim_2_170"/>
          <p:cNvSpPr txBox="1"/>
          <p:nvPr/>
        </p:nvSpPr>
        <p:spPr>
          <a:xfrm>
            <a:off x="731520" y="2441448"/>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حق‌الزحمه، افشای تحریف را کاهش و احتمال تقلب را افزایش می‌دهد</a:t>
            </a:r>
            <a:endParaRPr lang="fa-IR" sz="1700" dirty="0"/>
          </a:p>
        </p:txBody>
      </p:sp>
      <p:sp>
        <p:nvSpPr>
          <p:cNvPr id="13" name="anim_3_171"/>
          <p:cNvSpPr/>
          <p:nvPr/>
        </p:nvSpPr>
        <p:spPr>
          <a:xfrm>
            <a:off x="548640" y="3374136"/>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4" name="anim_3_172"/>
          <p:cNvSpPr/>
          <p:nvPr/>
        </p:nvSpPr>
        <p:spPr>
          <a:xfrm>
            <a:off x="10405872" y="3483864"/>
            <a:ext cx="1097280" cy="649224"/>
          </a:xfrm>
          <a:prstGeom prst="roundRect">
            <a:avLst>
              <a:gd name="adj" fmla="val 14085"/>
            </a:avLst>
          </a:prstGeom>
          <a:solidFill>
            <a:schemeClr val="accent2"/>
          </a:solidFill>
          <a:ln/>
        </p:spPr>
      </p:sp>
      <p:sp>
        <p:nvSpPr>
          <p:cNvPr id="15" name="anim_3_173"/>
          <p:cNvSpPr txBox="1"/>
          <p:nvPr/>
        </p:nvSpPr>
        <p:spPr>
          <a:xfrm>
            <a:off x="10405872" y="3483864"/>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1395</a:t>
            </a:r>
            <a:endParaRPr lang="fa-IR" sz="2200" dirty="0"/>
          </a:p>
        </p:txBody>
      </p:sp>
      <p:sp>
        <p:nvSpPr>
          <p:cNvPr id="16" name="anim_3_174"/>
          <p:cNvSpPr txBox="1"/>
          <p:nvPr/>
        </p:nvSpPr>
        <p:spPr>
          <a:xfrm>
            <a:off x="7479792" y="3447288"/>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حیدرپور و جعفری؛ مشایخی و همکاران</a:t>
            </a:r>
            <a:endParaRPr lang="fa-IR" sz="1600" dirty="0"/>
          </a:p>
        </p:txBody>
      </p:sp>
      <p:sp>
        <p:nvSpPr>
          <p:cNvPr id="17" name="anim_3_175"/>
          <p:cNvSpPr txBox="1"/>
          <p:nvPr/>
        </p:nvSpPr>
        <p:spPr>
          <a:xfrm>
            <a:off x="731520" y="3419856"/>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ساختار بازار و مالکیت بر هزینهٔ حسابرسی اثر دارد؛ کیفیت حسابرسی داخلی اثری بر حق‌الزحمهٔ مستقل ندارد</a:t>
            </a:r>
            <a:endParaRPr lang="fa-IR" sz="1700" dirty="0"/>
          </a:p>
        </p:txBody>
      </p:sp>
      <p:sp>
        <p:nvSpPr>
          <p:cNvPr id="18" name="anim_4_176"/>
          <p:cNvSpPr/>
          <p:nvPr/>
        </p:nvSpPr>
        <p:spPr>
          <a:xfrm>
            <a:off x="548640" y="4352544"/>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9" name="anim_4_177"/>
          <p:cNvSpPr/>
          <p:nvPr/>
        </p:nvSpPr>
        <p:spPr>
          <a:xfrm>
            <a:off x="10405872" y="4462272"/>
            <a:ext cx="1097280" cy="649224"/>
          </a:xfrm>
          <a:prstGeom prst="roundRect">
            <a:avLst>
              <a:gd name="adj" fmla="val 14085"/>
            </a:avLst>
          </a:prstGeom>
          <a:solidFill>
            <a:schemeClr val="accent4"/>
          </a:solidFill>
          <a:ln/>
        </p:spPr>
      </p:sp>
      <p:sp>
        <p:nvSpPr>
          <p:cNvPr id="20" name="anim_4_178"/>
          <p:cNvSpPr txBox="1"/>
          <p:nvPr/>
        </p:nvSpPr>
        <p:spPr>
          <a:xfrm>
            <a:off x="10405872" y="4462272"/>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1394</a:t>
            </a:r>
            <a:endParaRPr lang="fa-IR" sz="2200" dirty="0"/>
          </a:p>
        </p:txBody>
      </p:sp>
      <p:sp>
        <p:nvSpPr>
          <p:cNvPr id="21" name="anim_4_179"/>
          <p:cNvSpPr txBox="1"/>
          <p:nvPr/>
        </p:nvSpPr>
        <p:spPr>
          <a:xfrm>
            <a:off x="7479792" y="4425696"/>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دیانتی‌دیلمی و بیاتی</a:t>
            </a:r>
            <a:endParaRPr lang="fa-IR" sz="1600" dirty="0"/>
          </a:p>
        </p:txBody>
      </p:sp>
      <p:sp>
        <p:nvSpPr>
          <p:cNvPr id="22" name="anim_4_180"/>
          <p:cNvSpPr txBox="1"/>
          <p:nvPr/>
        </p:nvSpPr>
        <p:spPr>
          <a:xfrm>
            <a:off x="731520" y="4398264"/>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رقابت بازار محصول بر حق‌الزحمهٔ حسابرس اثر معنادار دارد</a:t>
            </a:r>
            <a:endParaRPr lang="fa-IR" sz="1700" dirty="0"/>
          </a:p>
        </p:txBody>
      </p:sp>
      <p:sp>
        <p:nvSpPr>
          <p:cNvPr id="23" name="anim_5_181"/>
          <p:cNvSpPr/>
          <p:nvPr/>
        </p:nvSpPr>
        <p:spPr>
          <a:xfrm>
            <a:off x="548640" y="5330952"/>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24" name="anim_5_182"/>
          <p:cNvSpPr/>
          <p:nvPr/>
        </p:nvSpPr>
        <p:spPr>
          <a:xfrm>
            <a:off x="10405872" y="5440680"/>
            <a:ext cx="1097280" cy="649224"/>
          </a:xfrm>
          <a:prstGeom prst="roundRect">
            <a:avLst>
              <a:gd name="adj" fmla="val 14085"/>
            </a:avLst>
          </a:prstGeom>
          <a:solidFill>
            <a:schemeClr val="accent3"/>
          </a:solidFill>
          <a:ln/>
        </p:spPr>
      </p:sp>
      <p:sp>
        <p:nvSpPr>
          <p:cNvPr id="25" name="anim_5_183"/>
          <p:cNvSpPr txBox="1"/>
          <p:nvPr/>
        </p:nvSpPr>
        <p:spPr>
          <a:xfrm>
            <a:off x="10405872" y="5440680"/>
            <a:ext cx="1097280" cy="649224"/>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1392</a:t>
            </a:r>
            <a:endParaRPr lang="fa-IR" sz="2200" dirty="0"/>
          </a:p>
        </p:txBody>
      </p:sp>
      <p:sp>
        <p:nvSpPr>
          <p:cNvPr id="26" name="anim_5_184"/>
          <p:cNvSpPr txBox="1"/>
          <p:nvPr/>
        </p:nvSpPr>
        <p:spPr>
          <a:xfrm>
            <a:off x="7479792" y="5404104"/>
            <a:ext cx="2743200" cy="731520"/>
          </a:xfrm>
          <a:prstGeom prst="rect">
            <a:avLst/>
          </a:prstGeom>
          <a:noFill/>
          <a:ln/>
        </p:spPr>
        <p:txBody>
          <a:bodyPr wrap="square" lIns="0" tIns="0" rIns="0" bIns="0" rtlCol="0" anchor="ctr"/>
          <a:lstStyle/>
          <a:p>
            <a:pPr rtl="1" algn="r" indent="0" marL="0">
              <a:buNone/>
            </a:pPr>
            <a:r>
              <a:rPr lang="fa-IR" altLang="en-US" sz="1600" dirty="0">
                <a:solidFill>
                  <a:schemeClr val="tx2"/>
                </a:solidFill>
                <a:latin typeface="B Titr" pitchFamily="34" charset="0"/>
                <a:ea typeface="B Titr" pitchFamily="34" charset="-122"/>
                <a:cs typeface="B Titr" pitchFamily="34" charset="-120"/>
              </a:rPr>
              <a:t>عزیزخانی و آقابیگی</a:t>
            </a:r>
            <a:endParaRPr lang="fa-IR" sz="1600" dirty="0"/>
          </a:p>
        </p:txBody>
      </p:sp>
      <p:sp>
        <p:nvSpPr>
          <p:cNvPr id="27" name="anim_5_185"/>
          <p:cNvSpPr txBox="1"/>
          <p:nvPr/>
        </p:nvSpPr>
        <p:spPr>
          <a:xfrm>
            <a:off x="731520" y="5376672"/>
            <a:ext cx="6400800" cy="777240"/>
          </a:xfrm>
          <a:prstGeom prst="rect">
            <a:avLst/>
          </a:prstGeom>
          <a:noFill/>
          <a:ln/>
        </p:spPr>
        <p:txBody>
          <a:bodyPr wrap="square" lIns="0" tIns="0" rIns="0" bIns="0" rtlCol="0" anchor="ctr"/>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حق‌الزحمهٔ نخستین بالاتر از سنوات بعد؛ رابطهٔ معنادار با سنوات تصدی نیست</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پیشینهٔ خارجی (منتخب)</a:t>
            </a:r>
            <a:endParaRPr lang="fa-IR" sz="3400" dirty="0"/>
          </a:p>
        </p:txBody>
      </p:sp>
      <p:sp>
        <p:nvSpPr>
          <p:cNvPr id="3" name="anim_1_186"/>
          <p:cNvSpPr/>
          <p:nvPr/>
        </p:nvSpPr>
        <p:spPr>
          <a:xfrm>
            <a:off x="6263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187"/>
          <p:cNvSpPr/>
          <p:nvPr/>
        </p:nvSpPr>
        <p:spPr>
          <a:xfrm>
            <a:off x="10287000" y="1554480"/>
            <a:ext cx="1280160" cy="502920"/>
          </a:xfrm>
          <a:prstGeom prst="roundRect">
            <a:avLst>
              <a:gd name="adj" fmla="val 18182"/>
            </a:avLst>
          </a:prstGeom>
          <a:solidFill>
            <a:schemeClr val="accent1"/>
          </a:solidFill>
          <a:ln/>
        </p:spPr>
      </p:sp>
      <p:sp>
        <p:nvSpPr>
          <p:cNvPr id="5" name="anim_1_188"/>
          <p:cNvSpPr txBox="1"/>
          <p:nvPr/>
        </p:nvSpPr>
        <p:spPr>
          <a:xfrm>
            <a:off x="10287000" y="15544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2025–2026</a:t>
            </a:r>
            <a:endParaRPr lang="fa-IR" sz="1700" dirty="0"/>
          </a:p>
        </p:txBody>
      </p:sp>
      <p:sp>
        <p:nvSpPr>
          <p:cNvPr id="6" name="anim_1_189"/>
          <p:cNvSpPr txBox="1"/>
          <p:nvPr/>
        </p:nvSpPr>
        <p:spPr>
          <a:xfrm>
            <a:off x="6400800" y="15270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امر و یوآن؛ محمدرضایی و همکاران</a:t>
            </a:r>
            <a:endParaRPr lang="fa-IR" sz="1700" dirty="0"/>
          </a:p>
        </p:txBody>
      </p:sp>
      <p:sp>
        <p:nvSpPr>
          <p:cNvPr id="7" name="anim_1_190"/>
          <p:cNvSpPr txBox="1"/>
          <p:nvPr/>
        </p:nvSpPr>
        <p:spPr>
          <a:xfrm>
            <a:off x="6400800" y="21031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در رقابت بیشتر؛ در ایران پس از رتبه‌بندی مؤسسات تخفیف‌ها کاهش یافته است</a:t>
            </a:r>
            <a:endParaRPr lang="fa-IR" sz="1700" dirty="0"/>
          </a:p>
        </p:txBody>
      </p:sp>
      <p:sp>
        <p:nvSpPr>
          <p:cNvPr id="8" name="anim_2_191"/>
          <p:cNvSpPr/>
          <p:nvPr/>
        </p:nvSpPr>
        <p:spPr>
          <a:xfrm>
            <a:off x="548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9" name="anim_2_192"/>
          <p:cNvSpPr/>
          <p:nvPr/>
        </p:nvSpPr>
        <p:spPr>
          <a:xfrm>
            <a:off x="4572000" y="1554480"/>
            <a:ext cx="1280160" cy="502920"/>
          </a:xfrm>
          <a:prstGeom prst="roundRect">
            <a:avLst>
              <a:gd name="adj" fmla="val 18182"/>
            </a:avLst>
          </a:prstGeom>
          <a:solidFill>
            <a:schemeClr val="accent5"/>
          </a:solidFill>
          <a:ln/>
        </p:spPr>
      </p:sp>
      <p:sp>
        <p:nvSpPr>
          <p:cNvPr id="10" name="anim_2_193"/>
          <p:cNvSpPr txBox="1"/>
          <p:nvPr/>
        </p:nvSpPr>
        <p:spPr>
          <a:xfrm>
            <a:off x="4572000" y="15544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2023</a:t>
            </a:r>
            <a:endParaRPr lang="fa-IR" sz="1700" dirty="0"/>
          </a:p>
        </p:txBody>
      </p:sp>
      <p:sp>
        <p:nvSpPr>
          <p:cNvPr id="11" name="anim_2_194"/>
          <p:cNvSpPr txBox="1"/>
          <p:nvPr/>
        </p:nvSpPr>
        <p:spPr>
          <a:xfrm>
            <a:off x="685800" y="15270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نواک و نچل</a:t>
            </a:r>
            <a:endParaRPr lang="fa-IR" sz="1700" dirty="0"/>
          </a:p>
        </p:txBody>
      </p:sp>
      <p:sp>
        <p:nvSpPr>
          <p:cNvPr id="12" name="anim_2_195"/>
          <p:cNvSpPr txBox="1"/>
          <p:nvPr/>
        </p:nvSpPr>
        <p:spPr>
          <a:xfrm>
            <a:off x="685800" y="21031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حاشیهٔ مشارکت قراردادهای جدید مثبت است؛ تخفیف لزوماً نرخ‌شکنی نیست</a:t>
            </a:r>
            <a:endParaRPr lang="fa-IR" sz="1700" dirty="0"/>
          </a:p>
        </p:txBody>
      </p:sp>
      <p:sp>
        <p:nvSpPr>
          <p:cNvPr id="13" name="anim_3_196"/>
          <p:cNvSpPr/>
          <p:nvPr/>
        </p:nvSpPr>
        <p:spPr>
          <a:xfrm>
            <a:off x="6263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4" name="anim_3_197"/>
          <p:cNvSpPr/>
          <p:nvPr/>
        </p:nvSpPr>
        <p:spPr>
          <a:xfrm>
            <a:off x="10287000" y="3154680"/>
            <a:ext cx="1280160" cy="502920"/>
          </a:xfrm>
          <a:prstGeom prst="roundRect">
            <a:avLst>
              <a:gd name="adj" fmla="val 18182"/>
            </a:avLst>
          </a:prstGeom>
          <a:solidFill>
            <a:schemeClr val="accent2"/>
          </a:solidFill>
          <a:ln/>
        </p:spPr>
      </p:sp>
      <p:sp>
        <p:nvSpPr>
          <p:cNvPr id="15" name="anim_3_198"/>
          <p:cNvSpPr txBox="1"/>
          <p:nvPr/>
        </p:nvSpPr>
        <p:spPr>
          <a:xfrm>
            <a:off x="10287000" y="31546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2020</a:t>
            </a:r>
            <a:endParaRPr lang="fa-IR" sz="1700" dirty="0"/>
          </a:p>
        </p:txBody>
      </p:sp>
      <p:sp>
        <p:nvSpPr>
          <p:cNvPr id="16" name="anim_3_199"/>
          <p:cNvSpPr txBox="1"/>
          <p:nvPr/>
        </p:nvSpPr>
        <p:spPr>
          <a:xfrm>
            <a:off x="6400800" y="31272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چو، کوان و کریشنان</a:t>
            </a:r>
            <a:endParaRPr lang="fa-IR" sz="1700" dirty="0"/>
          </a:p>
        </p:txBody>
      </p:sp>
      <p:sp>
        <p:nvSpPr>
          <p:cNvPr id="17" name="anim_3_200"/>
          <p:cNvSpPr txBox="1"/>
          <p:nvPr/>
        </p:nvSpPr>
        <p:spPr>
          <a:xfrm>
            <a:off x="6400800" y="37033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نرخ‌شکنی بازیابی می‌شود، ولی بازیابی با کیفیت آینده رابطه ندارد</a:t>
            </a:r>
            <a:endParaRPr lang="fa-IR" sz="1700" dirty="0"/>
          </a:p>
        </p:txBody>
      </p:sp>
      <p:sp>
        <p:nvSpPr>
          <p:cNvPr id="18" name="anim_4_201"/>
          <p:cNvSpPr/>
          <p:nvPr/>
        </p:nvSpPr>
        <p:spPr>
          <a:xfrm>
            <a:off x="548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9" name="anim_4_202"/>
          <p:cNvSpPr/>
          <p:nvPr/>
        </p:nvSpPr>
        <p:spPr>
          <a:xfrm>
            <a:off x="4572000" y="3154680"/>
            <a:ext cx="1280160" cy="502920"/>
          </a:xfrm>
          <a:prstGeom prst="roundRect">
            <a:avLst>
              <a:gd name="adj" fmla="val 18182"/>
            </a:avLst>
          </a:prstGeom>
          <a:solidFill>
            <a:schemeClr val="accent4"/>
          </a:solidFill>
          <a:ln/>
        </p:spPr>
      </p:sp>
      <p:sp>
        <p:nvSpPr>
          <p:cNvPr id="20" name="anim_4_203"/>
          <p:cNvSpPr txBox="1"/>
          <p:nvPr/>
        </p:nvSpPr>
        <p:spPr>
          <a:xfrm>
            <a:off x="4572000" y="31546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2016</a:t>
            </a:r>
            <a:endParaRPr lang="fa-IR" sz="1700" dirty="0"/>
          </a:p>
        </p:txBody>
      </p:sp>
      <p:sp>
        <p:nvSpPr>
          <p:cNvPr id="21" name="anim_4_204"/>
          <p:cNvSpPr txBox="1"/>
          <p:nvPr/>
        </p:nvSpPr>
        <p:spPr>
          <a:xfrm>
            <a:off x="685800" y="31272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کاچر و ویلسون</a:t>
            </a:r>
            <a:endParaRPr lang="fa-IR" sz="1700" dirty="0"/>
          </a:p>
        </p:txBody>
      </p:sp>
      <p:sp>
        <p:nvSpPr>
          <p:cNvPr id="22" name="anim_4_205"/>
          <p:cNvSpPr txBox="1"/>
          <p:nvPr/>
        </p:nvSpPr>
        <p:spPr>
          <a:xfrm>
            <a:off x="685800" y="37033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تخفیف به کوتاه‌کردن کار نمی‌انجامد؛ حق‌الزحمه طی حدود 5 سال عادی می‌شود</a:t>
            </a:r>
            <a:endParaRPr lang="fa-IR" sz="1700" dirty="0"/>
          </a:p>
        </p:txBody>
      </p:sp>
      <p:sp>
        <p:nvSpPr>
          <p:cNvPr id="23" name="anim_5_206"/>
          <p:cNvSpPr/>
          <p:nvPr/>
        </p:nvSpPr>
        <p:spPr>
          <a:xfrm>
            <a:off x="6263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4" name="anim_5_207"/>
          <p:cNvSpPr/>
          <p:nvPr/>
        </p:nvSpPr>
        <p:spPr>
          <a:xfrm>
            <a:off x="10287000" y="4754880"/>
            <a:ext cx="1280160" cy="502920"/>
          </a:xfrm>
          <a:prstGeom prst="roundRect">
            <a:avLst>
              <a:gd name="adj" fmla="val 18182"/>
            </a:avLst>
          </a:prstGeom>
          <a:solidFill>
            <a:schemeClr val="accent3"/>
          </a:solidFill>
          <a:ln/>
        </p:spPr>
      </p:sp>
      <p:sp>
        <p:nvSpPr>
          <p:cNvPr id="25" name="anim_5_208"/>
          <p:cNvSpPr txBox="1"/>
          <p:nvPr/>
        </p:nvSpPr>
        <p:spPr>
          <a:xfrm>
            <a:off x="10287000" y="47548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2014</a:t>
            </a:r>
            <a:endParaRPr lang="fa-IR" sz="1700" dirty="0"/>
          </a:p>
        </p:txBody>
      </p:sp>
      <p:sp>
        <p:nvSpPr>
          <p:cNvPr id="26" name="anim_5_209"/>
          <p:cNvSpPr txBox="1"/>
          <p:nvPr/>
        </p:nvSpPr>
        <p:spPr>
          <a:xfrm>
            <a:off x="6400800" y="47274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کروب و همکاران</a:t>
            </a:r>
            <a:endParaRPr lang="fa-IR" sz="1700" dirty="0"/>
          </a:p>
        </p:txBody>
      </p:sp>
      <p:sp>
        <p:nvSpPr>
          <p:cNvPr id="27" name="anim_5_210"/>
          <p:cNvSpPr txBox="1"/>
          <p:nvPr/>
        </p:nvSpPr>
        <p:spPr>
          <a:xfrm>
            <a:off x="6400800" y="53035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نرخ‌شکنی سیستماتیک در آلمان؛ بدون تفاوت در کیفیت</a:t>
            </a:r>
            <a:endParaRPr lang="fa-IR" sz="1700" dirty="0"/>
          </a:p>
        </p:txBody>
      </p:sp>
      <p:sp>
        <p:nvSpPr>
          <p:cNvPr id="28" name="anim_6_211"/>
          <p:cNvSpPr/>
          <p:nvPr/>
        </p:nvSpPr>
        <p:spPr>
          <a:xfrm>
            <a:off x="548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9" name="anim_6_212"/>
          <p:cNvSpPr/>
          <p:nvPr/>
        </p:nvSpPr>
        <p:spPr>
          <a:xfrm>
            <a:off x="4572000" y="4754880"/>
            <a:ext cx="1280160" cy="502920"/>
          </a:xfrm>
          <a:prstGeom prst="roundRect">
            <a:avLst>
              <a:gd name="adj" fmla="val 18182"/>
            </a:avLst>
          </a:prstGeom>
          <a:solidFill>
            <a:schemeClr val="accent6"/>
          </a:solidFill>
          <a:ln/>
        </p:spPr>
      </p:sp>
      <p:sp>
        <p:nvSpPr>
          <p:cNvPr id="30" name="anim_6_213"/>
          <p:cNvSpPr txBox="1"/>
          <p:nvPr/>
        </p:nvSpPr>
        <p:spPr>
          <a:xfrm>
            <a:off x="4572000" y="4754880"/>
            <a:ext cx="128016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2004</a:t>
            </a:r>
            <a:endParaRPr lang="fa-IR" sz="1700" dirty="0"/>
          </a:p>
        </p:txBody>
      </p:sp>
      <p:sp>
        <p:nvSpPr>
          <p:cNvPr id="31" name="anim_6_214"/>
          <p:cNvSpPr txBox="1"/>
          <p:nvPr/>
        </p:nvSpPr>
        <p:spPr>
          <a:xfrm>
            <a:off x="685800" y="4727448"/>
            <a:ext cx="3749040" cy="548640"/>
          </a:xfrm>
          <a:prstGeom prst="rect">
            <a:avLst/>
          </a:prstGeom>
          <a:noFill/>
          <a:ln/>
        </p:spPr>
        <p:txBody>
          <a:bodyPr wrap="square" lIns="0" tIns="0" rIns="0" bIns="0" rtlCol="0" anchor="ctr"/>
          <a:lstStyle/>
          <a:p>
            <a:pPr rtl="1" algn="r" indent="0" marL="0">
              <a:buNone/>
            </a:pPr>
            <a:r>
              <a:rPr lang="fa-IR" altLang="en-US" sz="1700" dirty="0">
                <a:solidFill>
                  <a:schemeClr val="tx2"/>
                </a:solidFill>
                <a:latin typeface="B Titr" pitchFamily="34" charset="0"/>
                <a:ea typeface="B Titr" pitchFamily="34" charset="-122"/>
                <a:cs typeface="B Titr" pitchFamily="34" charset="-120"/>
              </a:rPr>
              <a:t>جانستون و همکاران</a:t>
            </a:r>
            <a:endParaRPr lang="fa-IR" sz="1700" dirty="0"/>
          </a:p>
        </p:txBody>
      </p:sp>
      <p:sp>
        <p:nvSpPr>
          <p:cNvPr id="32" name="anim_6_215"/>
          <p:cNvSpPr txBox="1"/>
          <p:nvPr/>
        </p:nvSpPr>
        <p:spPr>
          <a:xfrm>
            <a:off x="685800" y="5303520"/>
            <a:ext cx="5166360" cy="731520"/>
          </a:xfrm>
          <a:prstGeom prst="rect">
            <a:avLst/>
          </a:prstGeom>
          <a:noFill/>
          <a:ln/>
        </p:spPr>
        <p:txBody>
          <a:bodyPr wrap="square" lIns="0" tIns="0" rIns="0" bIns="0" rtlCol="0" anchor="t"/>
          <a:lstStyle/>
          <a:p>
            <a:pPr rtl="1" algn="r" indent="0" marL="0">
              <a:buNone/>
            </a:pPr>
            <a:r>
              <a:rPr lang="fa-IR" altLang="en-US" sz="1700" dirty="0">
                <a:solidFill>
                  <a:schemeClr val="tx1"/>
                </a:solidFill>
                <a:latin typeface="B Nazanin" pitchFamily="34" charset="0"/>
                <a:ea typeface="B Nazanin" pitchFamily="34" charset="-122"/>
                <a:cs typeface="B Nazanin" pitchFamily="34" charset="-120"/>
              </a:rPr>
              <a:t>در فضای رقابتی، حق‌الزحمه کمتر و تلاش برنامه‌ریزی‌شده بیشتر است</a:t>
            </a:r>
            <a:endParaRPr lang="fa-IR" sz="17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11</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فرضیه‌های پژوهش</a:t>
            </a:r>
            <a:endParaRPr lang="fa-IR" sz="3400" dirty="0"/>
          </a:p>
        </p:txBody>
      </p:sp>
      <p:sp>
        <p:nvSpPr>
          <p:cNvPr id="3" name="anim_1_216"/>
          <p:cNvSpPr/>
          <p:nvPr/>
        </p:nvSpPr>
        <p:spPr>
          <a:xfrm>
            <a:off x="548640" y="1417320"/>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4" name="anim_1_217"/>
          <p:cNvSpPr/>
          <p:nvPr/>
        </p:nvSpPr>
        <p:spPr>
          <a:xfrm>
            <a:off x="10863072" y="1508760"/>
            <a:ext cx="685800" cy="685800"/>
          </a:xfrm>
          <a:prstGeom prst="ellipse">
            <a:avLst/>
          </a:prstGeom>
          <a:solidFill>
            <a:schemeClr val="accent1"/>
          </a:solidFill>
          <a:ln/>
        </p:spPr>
      </p:sp>
      <p:sp>
        <p:nvSpPr>
          <p:cNvPr id="5" name="anim_1_218"/>
          <p:cNvSpPr txBox="1"/>
          <p:nvPr/>
        </p:nvSpPr>
        <p:spPr>
          <a:xfrm>
            <a:off x="10863072" y="1508760"/>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219"/>
          <p:cNvSpPr txBox="1"/>
          <p:nvPr/>
        </p:nvSpPr>
        <p:spPr>
          <a:xfrm>
            <a:off x="777240" y="1444752"/>
            <a:ext cx="9811512" cy="813816"/>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فرضیهٔ 1: کاهش هزینهٔ حسابرسی در سال اول با سطح حق‌الزحمه‌های غیرحسابرسی رابطهٔ معناداری ندارد</a:t>
            </a:r>
            <a:endParaRPr lang="fa-IR" sz="1900" dirty="0"/>
          </a:p>
        </p:txBody>
      </p:sp>
      <p:sp>
        <p:nvSpPr>
          <p:cNvPr id="7" name="anim_2_220"/>
          <p:cNvSpPr/>
          <p:nvPr/>
        </p:nvSpPr>
        <p:spPr>
          <a:xfrm>
            <a:off x="548640" y="2395728"/>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8" name="anim_2_221"/>
          <p:cNvSpPr/>
          <p:nvPr/>
        </p:nvSpPr>
        <p:spPr>
          <a:xfrm>
            <a:off x="10863072" y="2487168"/>
            <a:ext cx="685800" cy="685800"/>
          </a:xfrm>
          <a:prstGeom prst="ellipse">
            <a:avLst/>
          </a:prstGeom>
          <a:solidFill>
            <a:schemeClr val="accent5"/>
          </a:solidFill>
          <a:ln/>
        </p:spPr>
      </p:sp>
      <p:sp>
        <p:nvSpPr>
          <p:cNvPr id="9" name="anim_2_222"/>
          <p:cNvSpPr txBox="1"/>
          <p:nvPr/>
        </p:nvSpPr>
        <p:spPr>
          <a:xfrm>
            <a:off x="10863072" y="2487168"/>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0" name="anim_2_223"/>
          <p:cNvSpPr txBox="1"/>
          <p:nvPr/>
        </p:nvSpPr>
        <p:spPr>
          <a:xfrm>
            <a:off x="777240" y="2423160"/>
            <a:ext cx="9811512" cy="813816"/>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فرضیهٔ 2: اهمیت مشتری در مؤسسات کوچک با کاهش هزینه رابطهٔ مثبت و معنادار دارد؛ در مؤسسات بزرگ معنادار نیست</a:t>
            </a:r>
            <a:endParaRPr lang="fa-IR" sz="1900" dirty="0"/>
          </a:p>
        </p:txBody>
      </p:sp>
      <p:sp>
        <p:nvSpPr>
          <p:cNvPr id="11" name="anim_3_224"/>
          <p:cNvSpPr/>
          <p:nvPr/>
        </p:nvSpPr>
        <p:spPr>
          <a:xfrm>
            <a:off x="548640" y="3374136"/>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2" name="anim_3_225"/>
          <p:cNvSpPr/>
          <p:nvPr/>
        </p:nvSpPr>
        <p:spPr>
          <a:xfrm>
            <a:off x="10863072" y="3465576"/>
            <a:ext cx="685800" cy="685800"/>
          </a:xfrm>
          <a:prstGeom prst="ellipse">
            <a:avLst/>
          </a:prstGeom>
          <a:solidFill>
            <a:schemeClr val="accent2"/>
          </a:solidFill>
          <a:ln/>
        </p:spPr>
      </p:sp>
      <p:sp>
        <p:nvSpPr>
          <p:cNvPr id="13" name="anim_3_226"/>
          <p:cNvSpPr txBox="1"/>
          <p:nvPr/>
        </p:nvSpPr>
        <p:spPr>
          <a:xfrm>
            <a:off x="10863072" y="3465576"/>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4" name="anim_3_227"/>
          <p:cNvSpPr txBox="1"/>
          <p:nvPr/>
        </p:nvSpPr>
        <p:spPr>
          <a:xfrm>
            <a:off x="777240" y="3401568"/>
            <a:ext cx="9811512" cy="813816"/>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فرضیهٔ 3: افزایش حق‌الزحمهٔ بعدی در مؤسسات با هزینهٔ اولیهٔ پایین، معناداراً بیشتر است</a:t>
            </a:r>
            <a:endParaRPr lang="fa-IR" sz="1900" dirty="0"/>
          </a:p>
        </p:txBody>
      </p:sp>
      <p:sp>
        <p:nvSpPr>
          <p:cNvPr id="15" name="anim_4_228"/>
          <p:cNvSpPr/>
          <p:nvPr/>
        </p:nvSpPr>
        <p:spPr>
          <a:xfrm>
            <a:off x="548640" y="4352544"/>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16" name="anim_4_229"/>
          <p:cNvSpPr/>
          <p:nvPr/>
        </p:nvSpPr>
        <p:spPr>
          <a:xfrm>
            <a:off x="10863072" y="4443984"/>
            <a:ext cx="685800" cy="685800"/>
          </a:xfrm>
          <a:prstGeom prst="ellipse">
            <a:avLst/>
          </a:prstGeom>
          <a:solidFill>
            <a:schemeClr val="accent4"/>
          </a:solidFill>
          <a:ln/>
        </p:spPr>
      </p:sp>
      <p:sp>
        <p:nvSpPr>
          <p:cNvPr id="17" name="anim_4_230"/>
          <p:cNvSpPr txBox="1"/>
          <p:nvPr/>
        </p:nvSpPr>
        <p:spPr>
          <a:xfrm>
            <a:off x="10863072" y="4443984"/>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18" name="anim_4_231"/>
          <p:cNvSpPr txBox="1"/>
          <p:nvPr/>
        </p:nvSpPr>
        <p:spPr>
          <a:xfrm>
            <a:off x="777240" y="4379976"/>
            <a:ext cx="9811512" cy="813816"/>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فرضیهٔ 4: افزایش حق‌الزحمه‌های غیرحسابرسی بعدی در مؤسسات با هزینهٔ اولیهٔ پایین، معناداراً بیشتر نیست</a:t>
            </a:r>
            <a:endParaRPr lang="fa-IR" sz="1900" dirty="0"/>
          </a:p>
        </p:txBody>
      </p:sp>
      <p:sp>
        <p:nvSpPr>
          <p:cNvPr id="19" name="anim_5_232"/>
          <p:cNvSpPr/>
          <p:nvPr/>
        </p:nvSpPr>
        <p:spPr>
          <a:xfrm>
            <a:off x="548640" y="5330952"/>
            <a:ext cx="11091672" cy="868680"/>
          </a:xfrm>
          <a:prstGeom prst="roundRect">
            <a:avLst>
              <a:gd name="adj" fmla="val 12632"/>
            </a:avLst>
          </a:prstGeom>
          <a:solidFill>
            <a:schemeClr val="bg2"/>
          </a:solidFill>
          <a:ln/>
          <a:effectLst>
            <a:outerShdw sx="100000" sy="100000" kx="0" ky="0" algn="bl" rotWithShape="0" blurRad="101600" dist="25400" dir="5400000">
              <a:srgbClr val="000000">
                <a:alpha val="12000"/>
              </a:srgbClr>
            </a:outerShdw>
          </a:effectLst>
        </p:spPr>
      </p:sp>
      <p:sp>
        <p:nvSpPr>
          <p:cNvPr id="20" name="anim_5_233"/>
          <p:cNvSpPr/>
          <p:nvPr/>
        </p:nvSpPr>
        <p:spPr>
          <a:xfrm>
            <a:off x="10863072" y="5422392"/>
            <a:ext cx="685800" cy="685800"/>
          </a:xfrm>
          <a:prstGeom prst="ellipse">
            <a:avLst/>
          </a:prstGeom>
          <a:solidFill>
            <a:schemeClr val="accent3"/>
          </a:solidFill>
          <a:ln/>
        </p:spPr>
      </p:sp>
      <p:sp>
        <p:nvSpPr>
          <p:cNvPr id="21" name="anim_5_234"/>
          <p:cNvSpPr txBox="1"/>
          <p:nvPr/>
        </p:nvSpPr>
        <p:spPr>
          <a:xfrm>
            <a:off x="10863072" y="5422392"/>
            <a:ext cx="685800" cy="68580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2" name="anim_5_235"/>
          <p:cNvSpPr txBox="1"/>
          <p:nvPr/>
        </p:nvSpPr>
        <p:spPr>
          <a:xfrm>
            <a:off x="777240" y="5358384"/>
            <a:ext cx="9811512" cy="813816"/>
          </a:xfrm>
          <a:prstGeom prst="rect">
            <a:avLst/>
          </a:prstGeom>
          <a:noFill/>
          <a:ln/>
        </p:spPr>
        <p:txBody>
          <a:bodyPr wrap="square" lIns="0" tIns="0" rIns="0" bIns="0" rtlCol="0" anchor="ctr"/>
          <a:lstStyle/>
          <a:p>
            <a:pPr rtl="1" algn="r" indent="0" marL="0">
              <a:buNone/>
            </a:pPr>
            <a:r>
              <a:rPr lang="fa-IR" altLang="en-US" sz="1900" dirty="0">
                <a:solidFill>
                  <a:schemeClr val="tx1"/>
                </a:solidFill>
                <a:latin typeface="B Nazanin" pitchFamily="34" charset="0"/>
                <a:ea typeface="B Nazanin" pitchFamily="34" charset="-122"/>
                <a:cs typeface="B Nazanin" pitchFamily="34" charset="-120"/>
              </a:rPr>
              <a:t>فرضیهٔ 5: کیفیت حسابرسی در دوره‌های بعد به میزان بازیابی حق‌الزحمه وابسته نیست</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12</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40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40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نوع پژوهش، جامعه و نمونه</a:t>
            </a:r>
            <a:endParaRPr lang="fa-IR" sz="3400" dirty="0"/>
          </a:p>
        </p:txBody>
      </p:sp>
      <p:sp>
        <p:nvSpPr>
          <p:cNvPr id="3" name="anim_1_236"/>
          <p:cNvSpPr/>
          <p:nvPr/>
        </p:nvSpPr>
        <p:spPr>
          <a:xfrm>
            <a:off x="6858000" y="1417320"/>
            <a:ext cx="4782312" cy="4754880"/>
          </a:xfrm>
          <a:prstGeom prst="roundRect">
            <a:avLst>
              <a:gd name="adj" fmla="val 2308"/>
            </a:avLst>
          </a:prstGeom>
          <a:solidFill>
            <a:schemeClr val="bg2"/>
          </a:solidFill>
          <a:ln/>
          <a:effectLst>
            <a:outerShdw sx="100000" sy="100000" kx="0" ky="0" algn="bl" rotWithShape="0" blurRad="101600" dist="25400" dir="5400000">
              <a:srgbClr val="000000">
                <a:alpha val="12000"/>
              </a:srgbClr>
            </a:outerShdw>
          </a:effectLst>
        </p:spPr>
      </p:sp>
      <p:sp>
        <p:nvSpPr>
          <p:cNvPr id="4" name="anim_1_237"/>
          <p:cNvSpPr txBox="1"/>
          <p:nvPr/>
        </p:nvSpPr>
        <p:spPr>
          <a:xfrm>
            <a:off x="7086600" y="1737360"/>
            <a:ext cx="4343400" cy="4297680"/>
          </a:xfrm>
          <a:prstGeom prst="rect">
            <a:avLst/>
          </a:prstGeom>
          <a:noFill/>
          <a:ln/>
        </p:spPr>
        <p:txBody>
          <a:bodyPr wrap="square" lIns="0" tIns="0" rIns="0" bIns="0" rtlCol="0" anchor="t"/>
          <a:lstStyle/>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کاربردی از نظر هدف</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توصیفی-همبستگی، پس‌رویدادی</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رویکرد کمّی، منطق قیاسی-استقرایی</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داده‌های تابلویی (پانل) 1396 تا 1402</a:t>
            </a:r>
            <a:endParaRPr lang="fa-IR" sz="2100" dirty="0"/>
          </a:p>
          <a:p>
            <a:pPr algn="r" marL="342900" indent="-342900">
              <a:spcAft>
                <a:spcPts val="1600"/>
              </a:spcAft>
              <a:buSzPct val="100000"/>
              <a:buChar char="•"/>
            </a:pPr>
            <a:r>
              <a:rPr lang="fa-IR" altLang="en-US" sz="2100" dirty="0">
                <a:solidFill>
                  <a:schemeClr val="tx1"/>
                </a:solidFill>
                <a:latin typeface="B Nazanin" pitchFamily="34" charset="0"/>
                <a:ea typeface="B Nazanin" pitchFamily="34" charset="-122"/>
                <a:cs typeface="B Nazanin" pitchFamily="34" charset="-120"/>
              </a:rPr>
              <a:t>منابع داده: کدال، سازمان بورس، رهاورد نوین و تدبیرپرداز</a:t>
            </a:r>
            <a:endParaRPr lang="fa-IR" sz="2100" dirty="0"/>
          </a:p>
        </p:txBody>
      </p:sp>
      <p:sp>
        <p:nvSpPr>
          <p:cNvPr id="5" name="anim_2_238"/>
          <p:cNvSpPr/>
          <p:nvPr/>
        </p:nvSpPr>
        <p:spPr>
          <a:xfrm>
            <a:off x="484632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6" name="anim_2_239"/>
          <p:cNvSpPr txBox="1"/>
          <p:nvPr/>
        </p:nvSpPr>
        <p:spPr>
          <a:xfrm>
            <a:off x="484632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137</a:t>
            </a:r>
            <a:endParaRPr lang="fa-IR" sz="3400" dirty="0"/>
          </a:p>
        </p:txBody>
      </p:sp>
      <p:sp>
        <p:nvSpPr>
          <p:cNvPr id="7" name="anim_2_240"/>
          <p:cNvSpPr txBox="1"/>
          <p:nvPr/>
        </p:nvSpPr>
        <p:spPr>
          <a:xfrm>
            <a:off x="484632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شرکت</a:t>
            </a:r>
            <a:endParaRPr lang="fa-IR" sz="1800" dirty="0"/>
          </a:p>
        </p:txBody>
      </p:sp>
      <p:sp>
        <p:nvSpPr>
          <p:cNvPr id="8" name="anim_3_241"/>
          <p:cNvSpPr/>
          <p:nvPr/>
        </p:nvSpPr>
        <p:spPr>
          <a:xfrm>
            <a:off x="269748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9" name="anim_3_242"/>
          <p:cNvSpPr txBox="1"/>
          <p:nvPr/>
        </p:nvSpPr>
        <p:spPr>
          <a:xfrm>
            <a:off x="269748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7</a:t>
            </a:r>
            <a:endParaRPr lang="fa-IR" sz="3400" dirty="0"/>
          </a:p>
        </p:txBody>
      </p:sp>
      <p:sp>
        <p:nvSpPr>
          <p:cNvPr id="10" name="anim_3_243"/>
          <p:cNvSpPr txBox="1"/>
          <p:nvPr/>
        </p:nvSpPr>
        <p:spPr>
          <a:xfrm>
            <a:off x="269748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سال</a:t>
            </a:r>
            <a:endParaRPr lang="fa-IR" sz="1800" dirty="0"/>
          </a:p>
        </p:txBody>
      </p:sp>
      <p:sp>
        <p:nvSpPr>
          <p:cNvPr id="11" name="anim_4_244"/>
          <p:cNvSpPr/>
          <p:nvPr/>
        </p:nvSpPr>
        <p:spPr>
          <a:xfrm>
            <a:off x="548640" y="1417320"/>
            <a:ext cx="1965960" cy="1325880"/>
          </a:xfrm>
          <a:prstGeom prst="roundRect">
            <a:avLst>
              <a:gd name="adj" fmla="val 8276"/>
            </a:avLst>
          </a:prstGeom>
          <a:solidFill>
            <a:schemeClr val="tx2"/>
          </a:solidFill>
          <a:ln/>
          <a:effectLst>
            <a:outerShdw sx="100000" sy="100000" kx="0" ky="0" algn="bl" rotWithShape="0" blurRad="101600" dist="25400" dir="5400000">
              <a:srgbClr val="000000">
                <a:alpha val="12000"/>
              </a:srgbClr>
            </a:outerShdw>
          </a:effectLst>
        </p:spPr>
      </p:sp>
      <p:sp>
        <p:nvSpPr>
          <p:cNvPr id="12" name="anim_4_245"/>
          <p:cNvSpPr txBox="1"/>
          <p:nvPr/>
        </p:nvSpPr>
        <p:spPr>
          <a:xfrm>
            <a:off x="548640" y="1463040"/>
            <a:ext cx="1965960" cy="731520"/>
          </a:xfrm>
          <a:prstGeom prst="rect">
            <a:avLst/>
          </a:prstGeom>
          <a:noFill/>
          <a:ln/>
        </p:spPr>
        <p:txBody>
          <a:bodyPr wrap="square" lIns="0" tIns="0" rIns="0" bIns="0" rtlCol="0" anchor="ctr"/>
          <a:lstStyle/>
          <a:p>
            <a:pPr rtl="1" algn="ctr" indent="0" marL="0">
              <a:buNone/>
            </a:pPr>
            <a:r>
              <a:rPr lang="fa-IR" altLang="en-US" sz="3400" dirty="0">
                <a:solidFill>
                  <a:schemeClr val="accent2"/>
                </a:solidFill>
                <a:latin typeface="B Titr" pitchFamily="34" charset="0"/>
                <a:ea typeface="B Titr" pitchFamily="34" charset="-122"/>
                <a:cs typeface="B Titr" pitchFamily="34" charset="-120"/>
              </a:rPr>
              <a:t>959</a:t>
            </a:r>
            <a:endParaRPr lang="fa-IR" sz="3400" dirty="0"/>
          </a:p>
        </p:txBody>
      </p:sp>
      <p:sp>
        <p:nvSpPr>
          <p:cNvPr id="13" name="anim_4_246"/>
          <p:cNvSpPr txBox="1"/>
          <p:nvPr/>
        </p:nvSpPr>
        <p:spPr>
          <a:xfrm>
            <a:off x="548640" y="2194560"/>
            <a:ext cx="1965960" cy="45720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مشاهده</a:t>
            </a:r>
            <a:endParaRPr lang="fa-IR" sz="1800" dirty="0"/>
          </a:p>
        </p:txBody>
      </p:sp>
      <p:graphicFrame>
        <p:nvGraphicFramePr>
          <p:cNvPr id="14" name="anim_5_247" descr=""/>
          <p:cNvGraphicFramePr/>
          <p:nvPr/>
        </p:nvGraphicFramePr>
        <p:xfrm>
          <a:off x="548640" y="2926080"/>
          <a:ext cx="6126480" cy="32461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13</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4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متغیرهای پژوهش و پشتوانهٔ علمی</a:t>
            </a:r>
            <a:endParaRPr lang="fa-IR" sz="3400" dirty="0"/>
          </a:p>
        </p:txBody>
      </p:sp>
      <p:graphicFrame>
        <p:nvGraphicFramePr>
          <p:cNvPr id="15" name="anim_1_tbl"/>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502152"/>
                <a:gridCol w="3840480"/>
                <a:gridCol w="1371600"/>
                <a:gridCol w="2377440"/>
              </a:tblGrid>
              <a:tr h="512064">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پشتوانه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نحوهٔ اندازه‌گیری</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نقش</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نماد</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سیمونیک (1980)؛ هی و همکاران (2006)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لگاریتم حق‌الزحمهٔ حسابرسی</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AF</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سیمون و فرانسیس (1988)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تغییر AF نسبت به سال قبل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ΔAF</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سیمونیک (1984)؛ فرانکل و همکاران (2002)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سهم حق‌الزحمهٔ غیرحسابرسی از کل حق‌الزحمه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مستقل/وابسته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NASR</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دچاو و همکاران (1995)؛ کوتاری (2005)</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قدر مطلق اقلام تعهدی اختیاری (جونز تعدیل‌شده)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وابسته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AFQ</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چانگ و کالاپور (2003)؛ لی (2009)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شاخص اندازهٔ نسبی صاحبکار (اهمیت مشتری)</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COMPLEX</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چو و همکاران (2020)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باقیماندهٔ مدل هزینهٔ سال اول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مستقل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COSTP</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دی‌آنجلو (1981)؛ چوی و همکاران (2008)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سازمان حسابرس؛ سال اول رابطه</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کنترل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‪BIG4 / TENURE‬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512064">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سیمونیک (1980)؛ بل و همکاران (2001)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اندازه، سودآوری، اهرم، رشد و ریسک</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کنترل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SIZE, ROA, LEV, GROWTH, RISK</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15"/>
                                        </p:tgtEl>
                                        <p:attrNameLst>
                                          <p:attrName>style.visibility</p:attrName>
                                        </p:attrNameLst>
                                      </p:cBhvr>
                                      <p:to>
                                        <p:strVal val="visible"/>
                                      </p:to>
                                    </p:set>
                                    <p:animEffect transition="in" filter="fade">
                                      <p:cBhvr>
                                        <p:cTn id="6"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مدل هزینهٔ سال اول و مدل‌های فرضیه‌های اول و دوم</a:t>
            </a:r>
            <a:endParaRPr lang="fa-IR" sz="3400" dirty="0"/>
          </a:p>
        </p:txBody>
      </p:sp>
      <p:sp>
        <p:nvSpPr>
          <p:cNvPr id="3" name="anim_1_248"/>
          <p:cNvSpPr/>
          <p:nvPr/>
        </p:nvSpPr>
        <p:spPr>
          <a:xfrm>
            <a:off x="548640" y="146304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249"/>
          <p:cNvSpPr/>
          <p:nvPr/>
        </p:nvSpPr>
        <p:spPr>
          <a:xfrm>
            <a:off x="8531352" y="1572768"/>
            <a:ext cx="2971800" cy="502920"/>
          </a:xfrm>
          <a:prstGeom prst="roundRect">
            <a:avLst>
              <a:gd name="adj" fmla="val 18182"/>
            </a:avLst>
          </a:prstGeom>
          <a:solidFill>
            <a:schemeClr val="accent1"/>
          </a:solidFill>
          <a:ln/>
        </p:spPr>
      </p:sp>
      <p:sp>
        <p:nvSpPr>
          <p:cNvPr id="5" name="anim_1_250"/>
          <p:cNvSpPr txBox="1"/>
          <p:nvPr/>
        </p:nvSpPr>
        <p:spPr>
          <a:xfrm>
            <a:off x="8531352" y="1572768"/>
            <a:ext cx="2971800" cy="50292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مدل هزینهٔ سال اول (مبنای COSTP)</a:t>
            </a:r>
            <a:endParaRPr lang="fa-IR" sz="1500" dirty="0"/>
          </a:p>
        </p:txBody>
      </p:sp>
      <p:sp>
        <p:nvSpPr>
          <p:cNvPr id="6" name="anim_1_251"/>
          <p:cNvSpPr txBox="1"/>
          <p:nvPr/>
        </p:nvSpPr>
        <p:spPr>
          <a:xfrm>
            <a:off x="731520" y="2103120"/>
            <a:ext cx="10725912" cy="777240"/>
          </a:xfrm>
          <a:prstGeom prst="rect">
            <a:avLst/>
          </a:prstGeom>
          <a:noFill/>
          <a:ln/>
        </p:spPr>
        <p:txBody>
          <a:bodyPr wrap="square" lIns="0" tIns="0" rIns="0" bIns="0" rtlCol="0" anchor="ctr"/>
          <a:lstStyle/>
          <a:p>
            <a:pPr algn="ctr" indent="0" marL="0">
              <a:buNone/>
            </a:pPr>
            <a:r>
              <a:rPr lang="fa-IR" altLang="en-US" sz="1800" i="1" dirty="0">
                <a:solidFill>
                  <a:schemeClr val="tx2"/>
                </a:solidFill>
                <a:latin typeface="Cambria" pitchFamily="34" charset="0"/>
                <a:ea typeface="Cambria" pitchFamily="34" charset="-122"/>
                <a:cs typeface="Cambria" pitchFamily="34" charset="-120"/>
              </a:rPr>
              <a:t>AF = γ0 + γ1 SIZE + γ2 LEV + γ3 ROA + γ4 GROWTH + γ5 RISK + γ6 BIG4 + γ7 TENURE + u</a:t>
            </a:r>
            <a:endParaRPr lang="fa-IR" sz="1800" dirty="0"/>
          </a:p>
          <a:p>
            <a:pPr algn="ctr" indent="0" marL="0">
              <a:buNone/>
            </a:pPr>
            <a:r>
              <a:rPr lang="fa-IR" altLang="en-US" sz="1800" i="1" dirty="0">
                <a:solidFill>
                  <a:schemeClr val="tx2"/>
                </a:solidFill>
                <a:latin typeface="Cambria" pitchFamily="34" charset="0"/>
                <a:ea typeface="Cambria" pitchFamily="34" charset="-122"/>
                <a:cs typeface="Cambria" pitchFamily="34" charset="-120"/>
              </a:rPr>
              <a:t>COSTP = AF − AF̂</a:t>
            </a:r>
            <a:endParaRPr lang="fa-IR" sz="1800" dirty="0"/>
          </a:p>
        </p:txBody>
      </p:sp>
      <p:sp>
        <p:nvSpPr>
          <p:cNvPr id="7" name="anim_2_252"/>
          <p:cNvSpPr/>
          <p:nvPr/>
        </p:nvSpPr>
        <p:spPr>
          <a:xfrm>
            <a:off x="548640" y="310896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8" name="anim_2_253"/>
          <p:cNvSpPr/>
          <p:nvPr/>
        </p:nvSpPr>
        <p:spPr>
          <a:xfrm>
            <a:off x="8531352" y="3218688"/>
            <a:ext cx="2971800" cy="502920"/>
          </a:xfrm>
          <a:prstGeom prst="roundRect">
            <a:avLst>
              <a:gd name="adj" fmla="val 18182"/>
            </a:avLst>
          </a:prstGeom>
          <a:solidFill>
            <a:schemeClr val="accent5"/>
          </a:solidFill>
          <a:ln/>
        </p:spPr>
      </p:sp>
      <p:sp>
        <p:nvSpPr>
          <p:cNvPr id="9" name="anim_2_254"/>
          <p:cNvSpPr txBox="1"/>
          <p:nvPr/>
        </p:nvSpPr>
        <p:spPr>
          <a:xfrm>
            <a:off x="8531352" y="3218688"/>
            <a:ext cx="2971800" cy="50292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فرضیهٔ اول</a:t>
            </a:r>
            <a:endParaRPr lang="fa-IR" sz="1500" dirty="0"/>
          </a:p>
        </p:txBody>
      </p:sp>
      <p:sp>
        <p:nvSpPr>
          <p:cNvPr id="10" name="anim_2_255"/>
          <p:cNvSpPr txBox="1"/>
          <p:nvPr/>
        </p:nvSpPr>
        <p:spPr>
          <a:xfrm>
            <a:off x="731520" y="3749040"/>
            <a:ext cx="10725912" cy="777240"/>
          </a:xfrm>
          <a:prstGeom prst="rect">
            <a:avLst/>
          </a:prstGeom>
          <a:noFill/>
          <a:ln/>
        </p:spPr>
        <p:txBody>
          <a:bodyPr wrap="square" lIns="0" tIns="0" rIns="0" bIns="0" rtlCol="0" anchor="ctr"/>
          <a:lstStyle/>
          <a:p>
            <a:pPr algn="ctr" indent="0" marL="0">
              <a:buNone/>
            </a:pPr>
            <a:r>
              <a:rPr lang="fa-IR" altLang="en-US" sz="1800" i="1" dirty="0">
                <a:solidFill>
                  <a:schemeClr val="tx2"/>
                </a:solidFill>
                <a:latin typeface="Cambria" pitchFamily="34" charset="0"/>
                <a:ea typeface="Cambria" pitchFamily="34" charset="-122"/>
                <a:cs typeface="Cambria" pitchFamily="34" charset="-120"/>
              </a:rPr>
              <a:t>AF = α0 + β1 NASR + β2 SIZE + β3 ROA + β4 GROWTH + ε</a:t>
            </a:r>
            <a:endParaRPr lang="fa-IR" sz="1800" dirty="0"/>
          </a:p>
        </p:txBody>
      </p:sp>
      <p:sp>
        <p:nvSpPr>
          <p:cNvPr id="11" name="anim_3_256"/>
          <p:cNvSpPr/>
          <p:nvPr/>
        </p:nvSpPr>
        <p:spPr>
          <a:xfrm>
            <a:off x="548640" y="475488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2" name="anim_3_257"/>
          <p:cNvSpPr/>
          <p:nvPr/>
        </p:nvSpPr>
        <p:spPr>
          <a:xfrm>
            <a:off x="8531352" y="4864608"/>
            <a:ext cx="2971800" cy="502920"/>
          </a:xfrm>
          <a:prstGeom prst="roundRect">
            <a:avLst>
              <a:gd name="adj" fmla="val 18182"/>
            </a:avLst>
          </a:prstGeom>
          <a:solidFill>
            <a:schemeClr val="accent2"/>
          </a:solidFill>
          <a:ln/>
        </p:spPr>
      </p:sp>
      <p:sp>
        <p:nvSpPr>
          <p:cNvPr id="13" name="anim_3_258"/>
          <p:cNvSpPr txBox="1"/>
          <p:nvPr/>
        </p:nvSpPr>
        <p:spPr>
          <a:xfrm>
            <a:off x="8531352" y="4864608"/>
            <a:ext cx="2971800" cy="502920"/>
          </a:xfrm>
          <a:prstGeom prst="rect">
            <a:avLst/>
          </a:prstGeom>
          <a:noFill/>
          <a:ln/>
        </p:spPr>
        <p:txBody>
          <a:bodyPr wrap="square" lIns="0" tIns="0" rIns="0" bIns="0" rtlCol="0" anchor="ctr"/>
          <a:lstStyle/>
          <a:p>
            <a:pPr rtl="1" algn="ctr" indent="0" marL="0">
              <a:buNone/>
            </a:pPr>
            <a:r>
              <a:rPr lang="fa-IR" altLang="en-US" sz="1500" dirty="0">
                <a:solidFill>
                  <a:schemeClr val="bg1"/>
                </a:solidFill>
                <a:latin typeface="B Titr" pitchFamily="34" charset="0"/>
                <a:ea typeface="B Titr" pitchFamily="34" charset="-122"/>
                <a:cs typeface="B Titr" pitchFamily="34" charset="-120"/>
              </a:rPr>
              <a:t>فرضیهٔ دوم</a:t>
            </a:r>
            <a:endParaRPr lang="fa-IR" sz="1500" dirty="0"/>
          </a:p>
        </p:txBody>
      </p:sp>
      <p:sp>
        <p:nvSpPr>
          <p:cNvPr id="14" name="anim_3_259"/>
          <p:cNvSpPr txBox="1"/>
          <p:nvPr/>
        </p:nvSpPr>
        <p:spPr>
          <a:xfrm>
            <a:off x="731520" y="5394960"/>
            <a:ext cx="10725912" cy="777240"/>
          </a:xfrm>
          <a:prstGeom prst="rect">
            <a:avLst/>
          </a:prstGeom>
          <a:noFill/>
          <a:ln/>
        </p:spPr>
        <p:txBody>
          <a:bodyPr wrap="square" lIns="0" tIns="0" rIns="0" bIns="0" rtlCol="0" anchor="ctr"/>
          <a:lstStyle/>
          <a:p>
            <a:pPr algn="ctr" indent="0" marL="0">
              <a:buNone/>
            </a:pPr>
            <a:r>
              <a:rPr lang="fa-IR" altLang="en-US" sz="1800" i="1" dirty="0">
                <a:solidFill>
                  <a:schemeClr val="tx2"/>
                </a:solidFill>
                <a:latin typeface="Cambria" pitchFamily="34" charset="0"/>
                <a:ea typeface="Cambria" pitchFamily="34" charset="-122"/>
                <a:cs typeface="Cambria" pitchFamily="34" charset="-120"/>
              </a:rPr>
              <a:t>AF = α0 + β1 COMPLEX + β2 BIG4 + β3 (COMPLEX × BIG4) + β4 SIZE + β5 ROA + β6 LEV + ε</a:t>
            </a:r>
            <a:endParaRPr lang="fa-IR" sz="1800" dirty="0"/>
          </a:p>
        </p:txBody>
      </p:sp>
      <p:sp>
        <p:nvSpPr>
          <p:cNvPr id="15" name="anim_4_260"/>
          <p:cNvSpPr txBox="1"/>
          <p:nvPr/>
        </p:nvSpPr>
        <p:spPr>
          <a:xfrm>
            <a:off x="548640" y="6291072"/>
            <a:ext cx="9811512" cy="457200"/>
          </a:xfrm>
          <a:prstGeom prst="rect">
            <a:avLst/>
          </a:prstGeom>
          <a:noFill/>
          <a:ln/>
        </p:spPr>
        <p:txBody>
          <a:bodyPr wrap="square" lIns="0" tIns="0" rIns="0" bIns="0" rtlCol="0" anchor="t"/>
          <a:lstStyle/>
          <a:p>
            <a:pPr rtl="1" algn="r" indent="0" marL="0">
              <a:buNone/>
            </a:pPr>
            <a:r>
              <a:rPr lang="fa-IR" altLang="en-US" sz="1500" dirty="0">
                <a:solidFill>
                  <a:schemeClr val="accent5"/>
                </a:solidFill>
                <a:latin typeface="B Nazanin" pitchFamily="34" charset="0"/>
                <a:ea typeface="B Nazanin" pitchFamily="34" charset="-122"/>
                <a:cs typeface="B Nazanin" pitchFamily="34" charset="-120"/>
              </a:rPr>
              <a:t>تفسیر: β1 &lt; 0 در مدل دوم یعنی هرچه مشتری مهم‌تر باشد، هزینه کمتر است؛ β1+β3 اثر را در مؤسسات بزرگ نشان می‌دهد.</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15</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مدل‌های فرضیه‌های سوم تا پنجم</a:t>
            </a:r>
            <a:endParaRPr lang="fa-IR" sz="3400" dirty="0"/>
          </a:p>
        </p:txBody>
      </p:sp>
      <p:sp>
        <p:nvSpPr>
          <p:cNvPr id="3" name="anim_1_261"/>
          <p:cNvSpPr/>
          <p:nvPr/>
        </p:nvSpPr>
        <p:spPr>
          <a:xfrm>
            <a:off x="548640" y="146304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262"/>
          <p:cNvSpPr/>
          <p:nvPr/>
        </p:nvSpPr>
        <p:spPr>
          <a:xfrm>
            <a:off x="9445752" y="1572768"/>
            <a:ext cx="2057400" cy="502920"/>
          </a:xfrm>
          <a:prstGeom prst="roundRect">
            <a:avLst>
              <a:gd name="adj" fmla="val 18182"/>
            </a:avLst>
          </a:prstGeom>
          <a:solidFill>
            <a:schemeClr val="accent2"/>
          </a:solidFill>
          <a:ln/>
        </p:spPr>
      </p:sp>
      <p:sp>
        <p:nvSpPr>
          <p:cNvPr id="5" name="anim_1_263"/>
          <p:cNvSpPr txBox="1"/>
          <p:nvPr/>
        </p:nvSpPr>
        <p:spPr>
          <a:xfrm>
            <a:off x="9445752" y="1572768"/>
            <a:ext cx="205740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سوم</a:t>
            </a:r>
            <a:endParaRPr lang="fa-IR" sz="1700" dirty="0"/>
          </a:p>
        </p:txBody>
      </p:sp>
      <p:sp>
        <p:nvSpPr>
          <p:cNvPr id="6" name="anim_1_264"/>
          <p:cNvSpPr txBox="1"/>
          <p:nvPr/>
        </p:nvSpPr>
        <p:spPr>
          <a:xfrm>
            <a:off x="731520" y="1572768"/>
            <a:ext cx="8531352" cy="50292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β1 &lt; 0: هزینهٔ پایین‌تر، افزایش بعدی بیشتر</a:t>
            </a:r>
            <a:endParaRPr lang="fa-IR" sz="1700" dirty="0"/>
          </a:p>
        </p:txBody>
      </p:sp>
      <p:sp>
        <p:nvSpPr>
          <p:cNvPr id="7" name="anim_1_265"/>
          <p:cNvSpPr txBox="1"/>
          <p:nvPr/>
        </p:nvSpPr>
        <p:spPr>
          <a:xfrm>
            <a:off x="731520" y="2194560"/>
            <a:ext cx="10725912" cy="640080"/>
          </a:xfrm>
          <a:prstGeom prst="rect">
            <a:avLst/>
          </a:prstGeom>
          <a:noFill/>
          <a:ln/>
        </p:spPr>
        <p:txBody>
          <a:bodyPr wrap="square" lIns="0" tIns="0" rIns="0" bIns="0" rtlCol="0" anchor="ctr"/>
          <a:lstStyle/>
          <a:p>
            <a:pPr algn="ctr" indent="0" marL="0">
              <a:buNone/>
            </a:pPr>
            <a:r>
              <a:rPr lang="fa-IR" altLang="en-US" sz="1900" i="1" dirty="0">
                <a:solidFill>
                  <a:schemeClr val="tx2"/>
                </a:solidFill>
                <a:latin typeface="Cambria" pitchFamily="34" charset="0"/>
                <a:ea typeface="Cambria" pitchFamily="34" charset="-122"/>
                <a:cs typeface="Cambria" pitchFamily="34" charset="-120"/>
              </a:rPr>
              <a:t>ΔAF = α0 + β1 AF + β2 SIZE + β3 RISK + β4 ROA + β5 GROWTH + ε</a:t>
            </a:r>
            <a:endParaRPr lang="fa-IR" sz="1900" dirty="0"/>
          </a:p>
        </p:txBody>
      </p:sp>
      <p:sp>
        <p:nvSpPr>
          <p:cNvPr id="8" name="anim_2_266"/>
          <p:cNvSpPr/>
          <p:nvPr/>
        </p:nvSpPr>
        <p:spPr>
          <a:xfrm>
            <a:off x="548640" y="310896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9" name="anim_2_267"/>
          <p:cNvSpPr/>
          <p:nvPr/>
        </p:nvSpPr>
        <p:spPr>
          <a:xfrm>
            <a:off x="9445752" y="3218688"/>
            <a:ext cx="2057400" cy="502920"/>
          </a:xfrm>
          <a:prstGeom prst="roundRect">
            <a:avLst>
              <a:gd name="adj" fmla="val 18182"/>
            </a:avLst>
          </a:prstGeom>
          <a:solidFill>
            <a:schemeClr val="accent4"/>
          </a:solidFill>
          <a:ln/>
        </p:spPr>
      </p:sp>
      <p:sp>
        <p:nvSpPr>
          <p:cNvPr id="10" name="anim_2_268"/>
          <p:cNvSpPr txBox="1"/>
          <p:nvPr/>
        </p:nvSpPr>
        <p:spPr>
          <a:xfrm>
            <a:off x="9445752" y="3218688"/>
            <a:ext cx="205740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چهارم</a:t>
            </a:r>
            <a:endParaRPr lang="fa-IR" sz="1700" dirty="0"/>
          </a:p>
        </p:txBody>
      </p:sp>
      <p:sp>
        <p:nvSpPr>
          <p:cNvPr id="11" name="anim_2_269"/>
          <p:cNvSpPr txBox="1"/>
          <p:nvPr/>
        </p:nvSpPr>
        <p:spPr>
          <a:xfrm>
            <a:off x="731520" y="3218688"/>
            <a:ext cx="8531352" cy="50292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β1 منفی و معنادار: سهم NAS در مؤسسات کم‌هزینه بیشتر است</a:t>
            </a:r>
            <a:endParaRPr lang="fa-IR" sz="1700" dirty="0"/>
          </a:p>
        </p:txBody>
      </p:sp>
      <p:sp>
        <p:nvSpPr>
          <p:cNvPr id="12" name="anim_2_270"/>
          <p:cNvSpPr txBox="1"/>
          <p:nvPr/>
        </p:nvSpPr>
        <p:spPr>
          <a:xfrm>
            <a:off x="731520" y="3840480"/>
            <a:ext cx="10725912" cy="640080"/>
          </a:xfrm>
          <a:prstGeom prst="rect">
            <a:avLst/>
          </a:prstGeom>
          <a:noFill/>
          <a:ln/>
        </p:spPr>
        <p:txBody>
          <a:bodyPr wrap="square" lIns="0" tIns="0" rIns="0" bIns="0" rtlCol="0" anchor="ctr"/>
          <a:lstStyle/>
          <a:p>
            <a:pPr algn="ctr" indent="0" marL="0">
              <a:buNone/>
            </a:pPr>
            <a:r>
              <a:rPr lang="fa-IR" altLang="en-US" sz="1900" i="1" dirty="0">
                <a:solidFill>
                  <a:schemeClr val="tx2"/>
                </a:solidFill>
                <a:latin typeface="Cambria" pitchFamily="34" charset="0"/>
                <a:ea typeface="Cambria" pitchFamily="34" charset="-122"/>
                <a:cs typeface="Cambria" pitchFamily="34" charset="-120"/>
              </a:rPr>
              <a:t>NASR = α0 + β1 AF + β2 SIZE + β3 RISK + β4 ROA + β5 GROWTH + ε</a:t>
            </a:r>
            <a:endParaRPr lang="fa-IR" sz="1900" dirty="0"/>
          </a:p>
        </p:txBody>
      </p:sp>
      <p:sp>
        <p:nvSpPr>
          <p:cNvPr id="13" name="anim_3_271"/>
          <p:cNvSpPr/>
          <p:nvPr/>
        </p:nvSpPr>
        <p:spPr>
          <a:xfrm>
            <a:off x="548640" y="4754880"/>
            <a:ext cx="11091672"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4" name="anim_3_272"/>
          <p:cNvSpPr/>
          <p:nvPr/>
        </p:nvSpPr>
        <p:spPr>
          <a:xfrm>
            <a:off x="9445752" y="4864608"/>
            <a:ext cx="2057400" cy="502920"/>
          </a:xfrm>
          <a:prstGeom prst="roundRect">
            <a:avLst>
              <a:gd name="adj" fmla="val 18182"/>
            </a:avLst>
          </a:prstGeom>
          <a:solidFill>
            <a:schemeClr val="accent3"/>
          </a:solidFill>
          <a:ln/>
        </p:spPr>
      </p:sp>
      <p:sp>
        <p:nvSpPr>
          <p:cNvPr id="15" name="anim_3_273"/>
          <p:cNvSpPr txBox="1"/>
          <p:nvPr/>
        </p:nvSpPr>
        <p:spPr>
          <a:xfrm>
            <a:off x="9445752" y="4864608"/>
            <a:ext cx="2057400" cy="502920"/>
          </a:xfrm>
          <a:prstGeom prst="rect">
            <a:avLst/>
          </a:prstGeom>
          <a:noFill/>
          <a:ln/>
        </p:spPr>
        <p:txBody>
          <a:bodyPr wrap="square" lIns="0" tIns="0" rIns="0" bIns="0" rtlCol="0" anchor="ctr"/>
          <a:lstStyle/>
          <a:p>
            <a:pPr rtl="1" algn="ctr" indent="0" marL="0">
              <a:buNone/>
            </a:pPr>
            <a:r>
              <a:rPr lang="fa-IR" altLang="en-US" sz="1700" dirty="0">
                <a:solidFill>
                  <a:schemeClr val="bg1"/>
                </a:solidFill>
                <a:latin typeface="B Titr" pitchFamily="34" charset="0"/>
                <a:ea typeface="B Titr" pitchFamily="34" charset="-122"/>
                <a:cs typeface="B Titr" pitchFamily="34" charset="-120"/>
              </a:rPr>
              <a:t>فرضیهٔ پنجم</a:t>
            </a:r>
            <a:endParaRPr lang="fa-IR" sz="1700" dirty="0"/>
          </a:p>
        </p:txBody>
      </p:sp>
      <p:sp>
        <p:nvSpPr>
          <p:cNvPr id="16" name="anim_3_274"/>
          <p:cNvSpPr txBox="1"/>
          <p:nvPr/>
        </p:nvSpPr>
        <p:spPr>
          <a:xfrm>
            <a:off x="731520" y="4864608"/>
            <a:ext cx="8531352" cy="502920"/>
          </a:xfrm>
          <a:prstGeom prst="rect">
            <a:avLst/>
          </a:prstGeom>
          <a:noFill/>
          <a:ln/>
        </p:spPr>
        <p:txBody>
          <a:bodyPr wrap="square" lIns="0" tIns="0" rIns="0" bIns="0" rtlCol="0" anchor="ctr"/>
          <a:lstStyle/>
          <a:p>
            <a:pPr rtl="1" algn="r" indent="0" marL="0">
              <a:buNone/>
            </a:pPr>
            <a:r>
              <a:rPr lang="fa-IR" altLang="en-US" sz="1700" dirty="0">
                <a:solidFill>
                  <a:schemeClr val="accent5"/>
                </a:solidFill>
                <a:latin typeface="B Nazanin" pitchFamily="34" charset="0"/>
                <a:ea typeface="B Nazanin" pitchFamily="34" charset="-122"/>
                <a:cs typeface="B Nazanin" pitchFamily="34" charset="-120"/>
              </a:rPr>
              <a:t>β1 غیرمعنادار: کیفیت آینده به بازیابی وابسته نیست</a:t>
            </a:r>
            <a:endParaRPr lang="fa-IR" sz="1700" dirty="0"/>
          </a:p>
        </p:txBody>
      </p:sp>
      <p:sp>
        <p:nvSpPr>
          <p:cNvPr id="17" name="anim_3_275"/>
          <p:cNvSpPr txBox="1"/>
          <p:nvPr/>
        </p:nvSpPr>
        <p:spPr>
          <a:xfrm>
            <a:off x="731520" y="5486400"/>
            <a:ext cx="10725912" cy="640080"/>
          </a:xfrm>
          <a:prstGeom prst="rect">
            <a:avLst/>
          </a:prstGeom>
          <a:noFill/>
          <a:ln/>
        </p:spPr>
        <p:txBody>
          <a:bodyPr wrap="square" lIns="0" tIns="0" rIns="0" bIns="0" rtlCol="0" anchor="ctr"/>
          <a:lstStyle/>
          <a:p>
            <a:pPr algn="ctr" indent="0" marL="0">
              <a:buNone/>
            </a:pPr>
            <a:r>
              <a:rPr lang="fa-IR" altLang="en-US" sz="1900" i="1" dirty="0">
                <a:solidFill>
                  <a:schemeClr val="tx2"/>
                </a:solidFill>
                <a:latin typeface="Cambria" pitchFamily="34" charset="0"/>
                <a:ea typeface="Cambria" pitchFamily="34" charset="-122"/>
                <a:cs typeface="Cambria" pitchFamily="34" charset="-120"/>
              </a:rPr>
              <a:t>AFQ = α0 + β1 COSTP + β2 SIZE + β3 BIG4 + β4 TENURE + ε</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شیوهٔ آزمون فرضیه‌ها</a:t>
            </a:r>
            <a:endParaRPr lang="fa-IR" sz="3400" dirty="0"/>
          </a:p>
        </p:txBody>
      </p:sp>
      <p:sp>
        <p:nvSpPr>
          <p:cNvPr id="3" name="anim_1_276"/>
          <p:cNvSpPr/>
          <p:nvPr/>
        </p:nvSpPr>
        <p:spPr>
          <a:xfrm>
            <a:off x="813816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4" name="anim_1_277"/>
          <p:cNvSpPr/>
          <p:nvPr/>
        </p:nvSpPr>
        <p:spPr>
          <a:xfrm>
            <a:off x="10835640" y="1737360"/>
            <a:ext cx="731520" cy="731520"/>
          </a:xfrm>
          <a:prstGeom prst="ellipse">
            <a:avLst/>
          </a:prstGeom>
          <a:solidFill>
            <a:schemeClr val="accent1"/>
          </a:solidFill>
          <a:ln/>
        </p:spPr>
      </p:sp>
      <p:sp>
        <p:nvSpPr>
          <p:cNvPr id="5" name="anim_1_278"/>
          <p:cNvSpPr txBox="1"/>
          <p:nvPr/>
        </p:nvSpPr>
        <p:spPr>
          <a:xfrm>
            <a:off x="1083564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1</a:t>
            </a:r>
            <a:endParaRPr lang="fa-IR" sz="2000" dirty="0"/>
          </a:p>
        </p:txBody>
      </p:sp>
      <p:sp>
        <p:nvSpPr>
          <p:cNvPr id="6" name="anim_1_279"/>
          <p:cNvSpPr txBox="1"/>
          <p:nvPr/>
        </p:nvSpPr>
        <p:spPr>
          <a:xfrm>
            <a:off x="822960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آمار توصیفی</a:t>
            </a:r>
            <a:endParaRPr lang="fa-IR" sz="1900" dirty="0"/>
          </a:p>
        </p:txBody>
      </p:sp>
      <p:sp>
        <p:nvSpPr>
          <p:cNvPr id="7" name="anim_1_280"/>
          <p:cNvSpPr txBox="1"/>
          <p:nvPr/>
        </p:nvSpPr>
        <p:spPr>
          <a:xfrm>
            <a:off x="8275320" y="265176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میانگین، میانه، چولگی و کشیدگی</a:t>
            </a:r>
            <a:endParaRPr lang="fa-IR" sz="1800" dirty="0"/>
          </a:p>
        </p:txBody>
      </p:sp>
      <p:sp>
        <p:nvSpPr>
          <p:cNvPr id="8" name="anim_2_281"/>
          <p:cNvSpPr/>
          <p:nvPr/>
        </p:nvSpPr>
        <p:spPr>
          <a:xfrm>
            <a:off x="434340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9" name="anim_2_282"/>
          <p:cNvSpPr/>
          <p:nvPr/>
        </p:nvSpPr>
        <p:spPr>
          <a:xfrm>
            <a:off x="7040880" y="1737360"/>
            <a:ext cx="731520" cy="731520"/>
          </a:xfrm>
          <a:prstGeom prst="ellipse">
            <a:avLst/>
          </a:prstGeom>
          <a:solidFill>
            <a:schemeClr val="accent5"/>
          </a:solidFill>
          <a:ln/>
        </p:spPr>
      </p:sp>
      <p:sp>
        <p:nvSpPr>
          <p:cNvPr id="10" name="anim_2_283"/>
          <p:cNvSpPr txBox="1"/>
          <p:nvPr/>
        </p:nvSpPr>
        <p:spPr>
          <a:xfrm>
            <a:off x="704088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2</a:t>
            </a:r>
            <a:endParaRPr lang="fa-IR" sz="2000" dirty="0"/>
          </a:p>
        </p:txBody>
      </p:sp>
      <p:sp>
        <p:nvSpPr>
          <p:cNvPr id="11" name="anim_2_284"/>
          <p:cNvSpPr txBox="1"/>
          <p:nvPr/>
        </p:nvSpPr>
        <p:spPr>
          <a:xfrm>
            <a:off x="443484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مانایی و هم‌انباشتگی</a:t>
            </a:r>
            <a:endParaRPr lang="fa-IR" sz="1900" dirty="0"/>
          </a:p>
        </p:txBody>
      </p:sp>
      <p:sp>
        <p:nvSpPr>
          <p:cNvPr id="12" name="anim_2_285"/>
          <p:cNvSpPr txBox="1"/>
          <p:nvPr/>
        </p:nvSpPr>
        <p:spPr>
          <a:xfrm>
            <a:off x="4480560" y="265176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لوین-لین-چو، ایم-پسران-شین، کائو</a:t>
            </a:r>
            <a:endParaRPr lang="fa-IR" sz="1800" dirty="0"/>
          </a:p>
        </p:txBody>
      </p:sp>
      <p:sp>
        <p:nvSpPr>
          <p:cNvPr id="13" name="anim_3_286"/>
          <p:cNvSpPr/>
          <p:nvPr/>
        </p:nvSpPr>
        <p:spPr>
          <a:xfrm>
            <a:off x="548640" y="155448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14" name="anim_3_287"/>
          <p:cNvSpPr/>
          <p:nvPr/>
        </p:nvSpPr>
        <p:spPr>
          <a:xfrm>
            <a:off x="3246120" y="1737360"/>
            <a:ext cx="731520" cy="731520"/>
          </a:xfrm>
          <a:prstGeom prst="ellipse">
            <a:avLst/>
          </a:prstGeom>
          <a:solidFill>
            <a:schemeClr val="accent2"/>
          </a:solidFill>
          <a:ln/>
        </p:spPr>
      </p:sp>
      <p:sp>
        <p:nvSpPr>
          <p:cNvPr id="15" name="anim_3_288"/>
          <p:cNvSpPr txBox="1"/>
          <p:nvPr/>
        </p:nvSpPr>
        <p:spPr>
          <a:xfrm>
            <a:off x="3246120" y="173736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3</a:t>
            </a:r>
            <a:endParaRPr lang="fa-IR" sz="2000" dirty="0"/>
          </a:p>
        </p:txBody>
      </p:sp>
      <p:sp>
        <p:nvSpPr>
          <p:cNvPr id="16" name="anim_3_289"/>
          <p:cNvSpPr txBox="1"/>
          <p:nvPr/>
        </p:nvSpPr>
        <p:spPr>
          <a:xfrm>
            <a:off x="640080" y="178308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مفروضات</a:t>
            </a:r>
            <a:endParaRPr lang="fa-IR" sz="1900" dirty="0"/>
          </a:p>
        </p:txBody>
      </p:sp>
      <p:sp>
        <p:nvSpPr>
          <p:cNvPr id="17" name="anim_3_290"/>
          <p:cNvSpPr txBox="1"/>
          <p:nvPr/>
        </p:nvSpPr>
        <p:spPr>
          <a:xfrm>
            <a:off x="685800" y="265176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VIF، وایت، بروش-گادفری</a:t>
            </a:r>
            <a:endParaRPr lang="fa-IR" sz="1800" dirty="0"/>
          </a:p>
        </p:txBody>
      </p:sp>
      <p:sp>
        <p:nvSpPr>
          <p:cNvPr id="18" name="anim_4_291"/>
          <p:cNvSpPr/>
          <p:nvPr/>
        </p:nvSpPr>
        <p:spPr>
          <a:xfrm>
            <a:off x="813816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19" name="anim_4_292"/>
          <p:cNvSpPr/>
          <p:nvPr/>
        </p:nvSpPr>
        <p:spPr>
          <a:xfrm>
            <a:off x="10835640" y="4069080"/>
            <a:ext cx="731520" cy="731520"/>
          </a:xfrm>
          <a:prstGeom prst="ellipse">
            <a:avLst/>
          </a:prstGeom>
          <a:solidFill>
            <a:schemeClr val="accent4"/>
          </a:solidFill>
          <a:ln/>
        </p:spPr>
      </p:sp>
      <p:sp>
        <p:nvSpPr>
          <p:cNvPr id="20" name="anim_4_293"/>
          <p:cNvSpPr txBox="1"/>
          <p:nvPr/>
        </p:nvSpPr>
        <p:spPr>
          <a:xfrm>
            <a:off x="1083564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4</a:t>
            </a:r>
            <a:endParaRPr lang="fa-IR" sz="2000" dirty="0"/>
          </a:p>
        </p:txBody>
      </p:sp>
      <p:sp>
        <p:nvSpPr>
          <p:cNvPr id="21" name="anim_4_294"/>
          <p:cNvSpPr txBox="1"/>
          <p:nvPr/>
        </p:nvSpPr>
        <p:spPr>
          <a:xfrm>
            <a:off x="822960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نوع مدل پانل</a:t>
            </a:r>
            <a:endParaRPr lang="fa-IR" sz="1900" dirty="0"/>
          </a:p>
        </p:txBody>
      </p:sp>
      <p:sp>
        <p:nvSpPr>
          <p:cNvPr id="22" name="anim_4_295"/>
          <p:cNvSpPr txBox="1"/>
          <p:nvPr/>
        </p:nvSpPr>
        <p:spPr>
          <a:xfrm>
            <a:off x="8275320" y="498348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F لیمر و هاسمن</a:t>
            </a:r>
            <a:endParaRPr lang="fa-IR" sz="1800" dirty="0"/>
          </a:p>
        </p:txBody>
      </p:sp>
      <p:sp>
        <p:nvSpPr>
          <p:cNvPr id="23" name="anim_5_296"/>
          <p:cNvSpPr/>
          <p:nvPr/>
        </p:nvSpPr>
        <p:spPr>
          <a:xfrm>
            <a:off x="434340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24" name="anim_5_297"/>
          <p:cNvSpPr/>
          <p:nvPr/>
        </p:nvSpPr>
        <p:spPr>
          <a:xfrm>
            <a:off x="7040880" y="4069080"/>
            <a:ext cx="731520" cy="731520"/>
          </a:xfrm>
          <a:prstGeom prst="ellipse">
            <a:avLst/>
          </a:prstGeom>
          <a:solidFill>
            <a:schemeClr val="accent3"/>
          </a:solidFill>
          <a:ln/>
        </p:spPr>
      </p:sp>
      <p:sp>
        <p:nvSpPr>
          <p:cNvPr id="25" name="anim_5_298"/>
          <p:cNvSpPr txBox="1"/>
          <p:nvPr/>
        </p:nvSpPr>
        <p:spPr>
          <a:xfrm>
            <a:off x="704088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5</a:t>
            </a:r>
            <a:endParaRPr lang="fa-IR" sz="2000" dirty="0"/>
          </a:p>
        </p:txBody>
      </p:sp>
      <p:sp>
        <p:nvSpPr>
          <p:cNvPr id="26" name="anim_5_299"/>
          <p:cNvSpPr txBox="1"/>
          <p:nvPr/>
        </p:nvSpPr>
        <p:spPr>
          <a:xfrm>
            <a:off x="443484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برآورد و تصمیم</a:t>
            </a:r>
            <a:endParaRPr lang="fa-IR" sz="1900" dirty="0"/>
          </a:p>
        </p:txBody>
      </p:sp>
      <p:sp>
        <p:nvSpPr>
          <p:cNvPr id="27" name="anim_5_300"/>
          <p:cNvSpPr txBox="1"/>
          <p:nvPr/>
        </p:nvSpPr>
        <p:spPr>
          <a:xfrm>
            <a:off x="4480560" y="498348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اثرات ثابت؛ t و p در سطح 95 درصد</a:t>
            </a:r>
            <a:endParaRPr lang="fa-IR" sz="1800" dirty="0"/>
          </a:p>
        </p:txBody>
      </p:sp>
      <p:sp>
        <p:nvSpPr>
          <p:cNvPr id="28" name="anim_6_301"/>
          <p:cNvSpPr/>
          <p:nvPr/>
        </p:nvSpPr>
        <p:spPr>
          <a:xfrm>
            <a:off x="548640" y="3886200"/>
            <a:ext cx="3566160" cy="2103120"/>
          </a:xfrm>
          <a:prstGeom prst="roundRect">
            <a:avLst>
              <a:gd name="adj" fmla="val 5217"/>
            </a:avLst>
          </a:prstGeom>
          <a:solidFill>
            <a:schemeClr val="bg2"/>
          </a:solidFill>
          <a:ln/>
          <a:effectLst>
            <a:outerShdw sx="100000" sy="100000" kx="0" ky="0" algn="bl" rotWithShape="0" blurRad="101600" dist="25400" dir="5400000">
              <a:srgbClr val="000000">
                <a:alpha val="12000"/>
              </a:srgbClr>
            </a:outerShdw>
          </a:effectLst>
        </p:spPr>
      </p:sp>
      <p:sp>
        <p:nvSpPr>
          <p:cNvPr id="29" name="anim_6_302"/>
          <p:cNvSpPr/>
          <p:nvPr/>
        </p:nvSpPr>
        <p:spPr>
          <a:xfrm>
            <a:off x="3246120" y="4069080"/>
            <a:ext cx="731520" cy="731520"/>
          </a:xfrm>
          <a:prstGeom prst="ellipse">
            <a:avLst/>
          </a:prstGeom>
          <a:solidFill>
            <a:schemeClr val="tx2"/>
          </a:solidFill>
          <a:ln/>
        </p:spPr>
      </p:sp>
      <p:sp>
        <p:nvSpPr>
          <p:cNvPr id="30" name="anim_6_303"/>
          <p:cNvSpPr txBox="1"/>
          <p:nvPr/>
        </p:nvSpPr>
        <p:spPr>
          <a:xfrm>
            <a:off x="3246120" y="4069080"/>
            <a:ext cx="731520" cy="731520"/>
          </a:xfrm>
          <a:prstGeom prst="rect">
            <a:avLst/>
          </a:prstGeom>
          <a:noFill/>
          <a:ln/>
        </p:spPr>
        <p:txBody>
          <a:bodyPr wrap="square" lIns="0" tIns="0" rIns="0" bIns="0" rtlCol="0" anchor="ctr"/>
          <a:lstStyle/>
          <a:p>
            <a:pPr rtl="1" algn="ctr" indent="0" marL="0">
              <a:buNone/>
            </a:pPr>
            <a:r>
              <a:rPr lang="fa-IR" altLang="en-US" sz="2000" b="1" dirty="0">
                <a:solidFill>
                  <a:schemeClr val="bg1"/>
                </a:solidFill>
                <a:latin typeface="B Titr" pitchFamily="34" charset="0"/>
                <a:ea typeface="B Titr" pitchFamily="34" charset="-122"/>
                <a:cs typeface="B Titr" pitchFamily="34" charset="-120"/>
              </a:rPr>
              <a:t>6</a:t>
            </a:r>
            <a:endParaRPr lang="fa-IR" sz="2000" dirty="0"/>
          </a:p>
        </p:txBody>
      </p:sp>
      <p:sp>
        <p:nvSpPr>
          <p:cNvPr id="31" name="anim_6_304"/>
          <p:cNvSpPr txBox="1"/>
          <p:nvPr/>
        </p:nvSpPr>
        <p:spPr>
          <a:xfrm>
            <a:off x="640080" y="4114800"/>
            <a:ext cx="2560320" cy="64008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قاعدهٔ تأیید</a:t>
            </a:r>
            <a:endParaRPr lang="fa-IR" sz="1900" dirty="0"/>
          </a:p>
        </p:txBody>
      </p:sp>
      <p:sp>
        <p:nvSpPr>
          <p:cNvPr id="32" name="anim_6_305"/>
          <p:cNvSpPr txBox="1"/>
          <p:nvPr/>
        </p:nvSpPr>
        <p:spPr>
          <a:xfrm>
            <a:off x="685800" y="4983480"/>
            <a:ext cx="3291840" cy="914400"/>
          </a:xfrm>
          <a:prstGeom prst="rect">
            <a:avLst/>
          </a:prstGeom>
          <a:noFill/>
          <a:ln/>
        </p:spPr>
        <p:txBody>
          <a:bodyPr wrap="square" lIns="0" tIns="0" rIns="0" bIns="0" rtlCol="0" anchor="t"/>
          <a:lstStyle/>
          <a:p>
            <a:pPr rtl="1" algn="r" indent="0" marL="0">
              <a:buNone/>
            </a:pPr>
            <a:r>
              <a:rPr lang="fa-IR" altLang="en-US" sz="1800" dirty="0">
                <a:solidFill>
                  <a:schemeClr val="tx1"/>
                </a:solidFill>
                <a:latin typeface="B Nazanin" pitchFamily="34" charset="0"/>
                <a:ea typeface="B Nazanin" pitchFamily="34" charset="-122"/>
                <a:cs typeface="B Nazanin" pitchFamily="34" charset="-120"/>
              </a:rPr>
              <a:t>طبق جدول 3-2 رساله</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17</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آمار توصیفی متغیرهای اصلی</a:t>
            </a:r>
            <a:endParaRPr lang="fa-IR" sz="3400" dirty="0"/>
          </a:p>
        </p:txBody>
      </p:sp>
      <p:graphicFrame>
        <p:nvGraphicFramePr>
          <p:cNvPr id="19" name="anim_1_tbl"/>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99032"/>
                <a:gridCol w="1371600"/>
                <a:gridCol w="1645920"/>
                <a:gridCol w="1371600"/>
                <a:gridCol w="1371600"/>
                <a:gridCol w="3931920"/>
              </a:tblGrid>
              <a:tr h="475488">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بیشینه</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کمینه</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انحراف معیار</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میانه</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میانگین</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متغیر</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‪1.964‬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‪0.266‬</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‪0.259‬</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‪1.272‬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‪1.260‬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لگاریتم هزینهٔ حسابرسی (AF)</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‪4.192‬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‪0.000‬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‪0.247‬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‪0.107‬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کیفیت حسابرسی آینده (AFQ)</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‪2.767‬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‪1.216‬</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‪0.259‬</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‪1.962‬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‪2.003‬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اهمیت مشتری (COMPLEX)</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‪1.124‬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‪-0.539‬</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‪0.116‬</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‪0.017‬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‪0.025‬</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فشار هزینه‌ای (COSTP)</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‪0.803‬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‪0.360‬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‪0.511‬</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‪0.520‬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سهم حق‌الزحمهٔ غیرحسابرسی (NASR)</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‪21.899‬</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‪11.407‬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‪1.865‬</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‪15.915‬</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‪16.178‬</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اندازهٔ شرکت (SIZE)</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‪1.587‬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‪0.023‬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‪0.204‬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‪0.428‬</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‪0.442‬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اهرم مالی (LEV)</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75488">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‪0.237‬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‪0.000‬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‪0.059‬</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سال اول رابطه (TENURE)</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4" name="anim_2_306"/>
          <p:cNvSpPr txBox="1"/>
          <p:nvPr/>
        </p:nvSpPr>
        <p:spPr>
          <a:xfrm>
            <a:off x="548640" y="5806440"/>
            <a:ext cx="11091672" cy="685800"/>
          </a:xfrm>
          <a:prstGeom prst="rect">
            <a:avLst/>
          </a:prstGeom>
          <a:noFill/>
          <a:ln/>
        </p:spPr>
        <p:txBody>
          <a:bodyPr wrap="square" lIns="0" tIns="0" rIns="0" bIns="0" rtlCol="0" anchor="t"/>
          <a:lstStyle/>
          <a:p>
            <a:pPr rtl="1" algn="r" indent="0" marL="0">
              <a:buNone/>
            </a:pPr>
            <a:r>
              <a:rPr lang="fa-IR" altLang="en-US" sz="1600" dirty="0">
                <a:solidFill>
                  <a:schemeClr val="accent5"/>
                </a:solidFill>
                <a:latin typeface="B Nazanin" pitchFamily="34" charset="0"/>
                <a:ea typeface="B Nazanin" pitchFamily="34" charset="-122"/>
                <a:cs typeface="B Nazanin" pitchFamily="34" charset="-120"/>
              </a:rPr>
              <a:t>حدود 13٪ مشاهدات توسط سازمان حسابرسی و حدود 6٪ مشاهدات «سال اول رابطه» هستند؛ جارک-برا نرمال بودن را رد می‌کند اما با 959 مشاهده، آزمون‌های t و F قابل اتکا است.</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18</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600"/>
                                        <p:tgtEl>
                                          <p:spTgt spid="19"/>
                                        </p:tgtEl>
                                      </p:cBhvr>
                                    </p:animEffect>
                                  </p:childTnLst>
                                </p:cTn>
                              </p:par>
                              <p:par>
                                <p:cTn id="7" presetID="10" presetClass="entr" presetSubtype="0" fill="hold"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آزمون‌های تشخیصی پیش از برآورد</a:t>
            </a:r>
            <a:endParaRPr lang="fa-IR" sz="3400" dirty="0"/>
          </a:p>
        </p:txBody>
      </p:sp>
      <p:sp>
        <p:nvSpPr>
          <p:cNvPr id="3" name="anim_1_307"/>
          <p:cNvSpPr/>
          <p:nvPr/>
        </p:nvSpPr>
        <p:spPr>
          <a:xfrm>
            <a:off x="6263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4" name="anim_1_308"/>
          <p:cNvSpPr/>
          <p:nvPr/>
        </p:nvSpPr>
        <p:spPr>
          <a:xfrm>
            <a:off x="10835640" y="1783080"/>
            <a:ext cx="685800" cy="685800"/>
          </a:xfrm>
          <a:prstGeom prst="ellipse">
            <a:avLst/>
          </a:prstGeom>
          <a:solidFill>
            <a:schemeClr val="accent1"/>
          </a:solidFill>
          <a:ln/>
        </p:spPr>
      </p:sp>
      <p:pic>
        <p:nvPicPr>
          <p:cNvPr id="5" name="anim_1_309" descr="preencoded.png">    </p:cNvPr>
          <p:cNvPicPr>
            <a:picLocks noChangeAspect="1"/>
          </p:cNvPicPr>
          <p:nvPr/>
        </p:nvPicPr>
        <p:blipFill>
          <a:blip r:embed="rId1"/>
          <a:stretch>
            <a:fillRect/>
          </a:stretch>
        </p:blipFill>
        <p:spPr>
          <a:xfrm>
            <a:off x="11000232" y="1947672"/>
            <a:ext cx="356616" cy="356616"/>
          </a:xfrm>
          <a:prstGeom prst="rect">
            <a:avLst/>
          </a:prstGeom>
        </p:spPr>
      </p:pic>
      <p:sp>
        <p:nvSpPr>
          <p:cNvPr id="6" name="anim_1_310"/>
          <p:cNvSpPr txBox="1"/>
          <p:nvPr/>
        </p:nvSpPr>
        <p:spPr>
          <a:xfrm>
            <a:off x="6400800" y="15087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مانایی</a:t>
            </a:r>
            <a:endParaRPr lang="fa-IR" sz="1800" dirty="0"/>
          </a:p>
        </p:txBody>
      </p:sp>
      <p:sp>
        <p:nvSpPr>
          <p:cNvPr id="7" name="anim_1_311"/>
          <p:cNvSpPr txBox="1"/>
          <p:nvPr/>
        </p:nvSpPr>
        <p:spPr>
          <a:xfrm>
            <a:off x="6400800" y="19842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AF، BIG4، COMPLEX، SIZE و TENURE در تفاضل اول مانا؛ سایر متغیرها مانا در سطح</a:t>
            </a:r>
            <a:endParaRPr lang="fa-IR" sz="1600" dirty="0"/>
          </a:p>
        </p:txBody>
      </p:sp>
      <p:sp>
        <p:nvSpPr>
          <p:cNvPr id="8" name="anim_2_312"/>
          <p:cNvSpPr/>
          <p:nvPr/>
        </p:nvSpPr>
        <p:spPr>
          <a:xfrm>
            <a:off x="548640" y="14173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9" name="anim_2_313"/>
          <p:cNvSpPr/>
          <p:nvPr/>
        </p:nvSpPr>
        <p:spPr>
          <a:xfrm>
            <a:off x="5120640" y="1783080"/>
            <a:ext cx="685800" cy="685800"/>
          </a:xfrm>
          <a:prstGeom prst="ellipse">
            <a:avLst/>
          </a:prstGeom>
          <a:solidFill>
            <a:schemeClr val="accent5"/>
          </a:solidFill>
          <a:ln/>
        </p:spPr>
      </p:sp>
      <p:pic>
        <p:nvPicPr>
          <p:cNvPr id="10" name="anim_2_314" descr="preencoded.png">    </p:cNvPr>
          <p:cNvPicPr>
            <a:picLocks noChangeAspect="1"/>
          </p:cNvPicPr>
          <p:nvPr/>
        </p:nvPicPr>
        <p:blipFill>
          <a:blip r:embed="rId2"/>
          <a:stretch>
            <a:fillRect/>
          </a:stretch>
        </p:blipFill>
        <p:spPr>
          <a:xfrm>
            <a:off x="5285232" y="1947672"/>
            <a:ext cx="356616" cy="356616"/>
          </a:xfrm>
          <a:prstGeom prst="rect">
            <a:avLst/>
          </a:prstGeom>
        </p:spPr>
      </p:pic>
      <p:sp>
        <p:nvSpPr>
          <p:cNvPr id="11" name="anim_2_315"/>
          <p:cNvSpPr txBox="1"/>
          <p:nvPr/>
        </p:nvSpPr>
        <p:spPr>
          <a:xfrm>
            <a:off x="685800" y="15087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هم‌انباشتگی (کائو)</a:t>
            </a:r>
            <a:endParaRPr lang="fa-IR" sz="1800" dirty="0"/>
          </a:p>
        </p:txBody>
      </p:sp>
      <p:sp>
        <p:nvSpPr>
          <p:cNvPr id="12" name="anim_2_316"/>
          <p:cNvSpPr txBox="1"/>
          <p:nvPr/>
        </p:nvSpPr>
        <p:spPr>
          <a:xfrm>
            <a:off x="685800" y="19842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0.0011 تا 0.0186؛ رابطهٔ بلندمدت، رگرسیون کاذب نیست</a:t>
            </a:r>
            <a:endParaRPr lang="fa-IR" sz="1600" dirty="0"/>
          </a:p>
        </p:txBody>
      </p:sp>
      <p:sp>
        <p:nvSpPr>
          <p:cNvPr id="13" name="anim_3_317"/>
          <p:cNvSpPr/>
          <p:nvPr/>
        </p:nvSpPr>
        <p:spPr>
          <a:xfrm>
            <a:off x="6263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4" name="anim_3_318"/>
          <p:cNvSpPr/>
          <p:nvPr/>
        </p:nvSpPr>
        <p:spPr>
          <a:xfrm>
            <a:off x="10835640" y="3383280"/>
            <a:ext cx="685800" cy="685800"/>
          </a:xfrm>
          <a:prstGeom prst="ellipse">
            <a:avLst/>
          </a:prstGeom>
          <a:solidFill>
            <a:schemeClr val="accent2"/>
          </a:solidFill>
          <a:ln/>
        </p:spPr>
      </p:sp>
      <p:pic>
        <p:nvPicPr>
          <p:cNvPr id="15" name="anim_3_319" descr="preencoded.png">    </p:cNvPr>
          <p:cNvPicPr>
            <a:picLocks noChangeAspect="1"/>
          </p:cNvPicPr>
          <p:nvPr/>
        </p:nvPicPr>
        <p:blipFill>
          <a:blip r:embed="rId3"/>
          <a:stretch>
            <a:fillRect/>
          </a:stretch>
        </p:blipFill>
        <p:spPr>
          <a:xfrm>
            <a:off x="11000232" y="3547872"/>
            <a:ext cx="356616" cy="356616"/>
          </a:xfrm>
          <a:prstGeom prst="rect">
            <a:avLst/>
          </a:prstGeom>
        </p:spPr>
      </p:pic>
      <p:sp>
        <p:nvSpPr>
          <p:cNvPr id="16" name="anim_3_320"/>
          <p:cNvSpPr txBox="1"/>
          <p:nvPr/>
        </p:nvSpPr>
        <p:spPr>
          <a:xfrm>
            <a:off x="6400800" y="31089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همخطی (VIF)</a:t>
            </a:r>
            <a:endParaRPr lang="fa-IR" sz="1800" dirty="0"/>
          </a:p>
        </p:txBody>
      </p:sp>
      <p:sp>
        <p:nvSpPr>
          <p:cNvPr id="17" name="anim_3_321"/>
          <p:cNvSpPr txBox="1"/>
          <p:nvPr/>
        </p:nvSpPr>
        <p:spPr>
          <a:xfrm>
            <a:off x="6400800" y="35844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بیشینه 2.333؛ کمتر از 5</a:t>
            </a:r>
            <a:endParaRPr lang="fa-IR" sz="1600" dirty="0"/>
          </a:p>
        </p:txBody>
      </p:sp>
      <p:sp>
        <p:nvSpPr>
          <p:cNvPr id="18" name="anim_4_322"/>
          <p:cNvSpPr/>
          <p:nvPr/>
        </p:nvSpPr>
        <p:spPr>
          <a:xfrm>
            <a:off x="548640" y="30175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19" name="anim_4_323"/>
          <p:cNvSpPr/>
          <p:nvPr/>
        </p:nvSpPr>
        <p:spPr>
          <a:xfrm>
            <a:off x="5120640" y="3383280"/>
            <a:ext cx="685800" cy="685800"/>
          </a:xfrm>
          <a:prstGeom prst="ellipse">
            <a:avLst/>
          </a:prstGeom>
          <a:solidFill>
            <a:schemeClr val="accent4"/>
          </a:solidFill>
          <a:ln/>
        </p:spPr>
      </p:sp>
      <p:pic>
        <p:nvPicPr>
          <p:cNvPr id="20" name="anim_4_324" descr="preencoded.png">    </p:cNvPr>
          <p:cNvPicPr>
            <a:picLocks noChangeAspect="1"/>
          </p:cNvPicPr>
          <p:nvPr/>
        </p:nvPicPr>
        <p:blipFill>
          <a:blip r:embed="rId4"/>
          <a:stretch>
            <a:fillRect/>
          </a:stretch>
        </p:blipFill>
        <p:spPr>
          <a:xfrm>
            <a:off x="5285232" y="3547872"/>
            <a:ext cx="356616" cy="356616"/>
          </a:xfrm>
          <a:prstGeom prst="rect">
            <a:avLst/>
          </a:prstGeom>
        </p:spPr>
      </p:pic>
      <p:sp>
        <p:nvSpPr>
          <p:cNvPr id="21" name="anim_4_325"/>
          <p:cNvSpPr txBox="1"/>
          <p:nvPr/>
        </p:nvSpPr>
        <p:spPr>
          <a:xfrm>
            <a:off x="685800" y="31089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وایت و بروش-گادفری</a:t>
            </a:r>
            <a:endParaRPr lang="fa-IR" sz="1800" dirty="0"/>
          </a:p>
        </p:txBody>
      </p:sp>
      <p:sp>
        <p:nvSpPr>
          <p:cNvPr id="22" name="anim_4_326"/>
          <p:cNvSpPr txBox="1"/>
          <p:nvPr/>
        </p:nvSpPr>
        <p:spPr>
          <a:xfrm>
            <a:off x="685800" y="35844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بیش از 0.05؛ بدون ناهمسانی و خودهمبستگی</a:t>
            </a:r>
            <a:endParaRPr lang="fa-IR" sz="1600" dirty="0"/>
          </a:p>
        </p:txBody>
      </p:sp>
      <p:sp>
        <p:nvSpPr>
          <p:cNvPr id="23" name="anim_5_327"/>
          <p:cNvSpPr/>
          <p:nvPr/>
        </p:nvSpPr>
        <p:spPr>
          <a:xfrm>
            <a:off x="6263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4" name="anim_5_328"/>
          <p:cNvSpPr/>
          <p:nvPr/>
        </p:nvSpPr>
        <p:spPr>
          <a:xfrm>
            <a:off x="10835640" y="4983480"/>
            <a:ext cx="685800" cy="685800"/>
          </a:xfrm>
          <a:prstGeom prst="ellipse">
            <a:avLst/>
          </a:prstGeom>
          <a:solidFill>
            <a:schemeClr val="accent1"/>
          </a:solidFill>
          <a:ln/>
        </p:spPr>
      </p:sp>
      <p:pic>
        <p:nvPicPr>
          <p:cNvPr id="25" name="anim_5_329" descr="preencoded.png">    </p:cNvPr>
          <p:cNvPicPr>
            <a:picLocks noChangeAspect="1"/>
          </p:cNvPicPr>
          <p:nvPr/>
        </p:nvPicPr>
        <p:blipFill>
          <a:blip r:embed="rId5"/>
          <a:stretch>
            <a:fillRect/>
          </a:stretch>
        </p:blipFill>
        <p:spPr>
          <a:xfrm>
            <a:off x="11000232" y="5148072"/>
            <a:ext cx="356616" cy="356616"/>
          </a:xfrm>
          <a:prstGeom prst="rect">
            <a:avLst/>
          </a:prstGeom>
        </p:spPr>
      </p:pic>
      <p:sp>
        <p:nvSpPr>
          <p:cNvPr id="26" name="anim_5_330"/>
          <p:cNvSpPr txBox="1"/>
          <p:nvPr/>
        </p:nvSpPr>
        <p:spPr>
          <a:xfrm>
            <a:off x="6400800" y="47091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F لیمر</a:t>
            </a:r>
            <a:endParaRPr lang="fa-IR" sz="1800" dirty="0"/>
          </a:p>
        </p:txBody>
      </p:sp>
      <p:sp>
        <p:nvSpPr>
          <p:cNvPr id="27" name="anim_5_331"/>
          <p:cNvSpPr txBox="1"/>
          <p:nvPr/>
        </p:nvSpPr>
        <p:spPr>
          <a:xfrm>
            <a:off x="6400800" y="51846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0.0000؛ مدل پانل به‌جای تجمیعی</a:t>
            </a:r>
            <a:endParaRPr lang="fa-IR" sz="1600" dirty="0"/>
          </a:p>
        </p:txBody>
      </p:sp>
      <p:sp>
        <p:nvSpPr>
          <p:cNvPr id="28" name="anim_6_332"/>
          <p:cNvSpPr/>
          <p:nvPr/>
        </p:nvSpPr>
        <p:spPr>
          <a:xfrm>
            <a:off x="548640" y="4617720"/>
            <a:ext cx="5440680" cy="1463040"/>
          </a:xfrm>
          <a:prstGeom prst="roundRect">
            <a:avLst>
              <a:gd name="adj" fmla="val 7500"/>
            </a:avLst>
          </a:prstGeom>
          <a:solidFill>
            <a:schemeClr val="bg2"/>
          </a:solidFill>
          <a:ln/>
          <a:effectLst>
            <a:outerShdw sx="100000" sy="100000" kx="0" ky="0" algn="bl" rotWithShape="0" blurRad="101600" dist="25400" dir="5400000">
              <a:srgbClr val="000000">
                <a:alpha val="12000"/>
              </a:srgbClr>
            </a:outerShdw>
          </a:effectLst>
        </p:spPr>
      </p:sp>
      <p:sp>
        <p:nvSpPr>
          <p:cNvPr id="29" name="anim_6_333"/>
          <p:cNvSpPr/>
          <p:nvPr/>
        </p:nvSpPr>
        <p:spPr>
          <a:xfrm>
            <a:off x="5120640" y="4983480"/>
            <a:ext cx="685800" cy="685800"/>
          </a:xfrm>
          <a:prstGeom prst="ellipse">
            <a:avLst/>
          </a:prstGeom>
          <a:solidFill>
            <a:schemeClr val="accent5"/>
          </a:solidFill>
          <a:ln/>
        </p:spPr>
      </p:sp>
      <p:pic>
        <p:nvPicPr>
          <p:cNvPr id="30" name="anim_6_334" descr="preencoded.png">    </p:cNvPr>
          <p:cNvPicPr>
            <a:picLocks noChangeAspect="1"/>
          </p:cNvPicPr>
          <p:nvPr/>
        </p:nvPicPr>
        <p:blipFill>
          <a:blip r:embed="rId6"/>
          <a:stretch>
            <a:fillRect/>
          </a:stretch>
        </p:blipFill>
        <p:spPr>
          <a:xfrm>
            <a:off x="5285232" y="5148072"/>
            <a:ext cx="356616" cy="356616"/>
          </a:xfrm>
          <a:prstGeom prst="rect">
            <a:avLst/>
          </a:prstGeom>
        </p:spPr>
      </p:pic>
      <p:sp>
        <p:nvSpPr>
          <p:cNvPr id="31" name="anim_6_335"/>
          <p:cNvSpPr txBox="1"/>
          <p:nvPr/>
        </p:nvSpPr>
        <p:spPr>
          <a:xfrm>
            <a:off x="685800" y="4709160"/>
            <a:ext cx="4206240" cy="457200"/>
          </a:xfrm>
          <a:prstGeom prst="rect">
            <a:avLst/>
          </a:prstGeom>
          <a:noFill/>
          <a:ln/>
        </p:spPr>
        <p:txBody>
          <a:bodyPr wrap="square" lIns="0" tIns="0" rIns="0" bIns="0" rtlCol="0" anchor="t"/>
          <a:lstStyle/>
          <a:p>
            <a:pPr rtl="1" algn="r" indent="0" marL="0">
              <a:buNone/>
            </a:pPr>
            <a:r>
              <a:rPr lang="fa-IR" altLang="en-US" sz="1800" dirty="0">
                <a:solidFill>
                  <a:schemeClr val="tx2"/>
                </a:solidFill>
                <a:latin typeface="B Titr" pitchFamily="34" charset="0"/>
                <a:ea typeface="B Titr" pitchFamily="34" charset="-122"/>
                <a:cs typeface="B Titr" pitchFamily="34" charset="-120"/>
              </a:rPr>
              <a:t>هاسمن</a:t>
            </a:r>
            <a:endParaRPr lang="fa-IR" sz="1800" dirty="0"/>
          </a:p>
        </p:txBody>
      </p:sp>
      <p:sp>
        <p:nvSpPr>
          <p:cNvPr id="32" name="anim_6_336"/>
          <p:cNvSpPr txBox="1"/>
          <p:nvPr/>
        </p:nvSpPr>
        <p:spPr>
          <a:xfrm>
            <a:off x="685800" y="5184648"/>
            <a:ext cx="4297680" cy="841248"/>
          </a:xfrm>
          <a:prstGeom prst="rect">
            <a:avLst/>
          </a:prstGeom>
          <a:noFill/>
          <a:ln/>
        </p:spPr>
        <p:txBody>
          <a:bodyPr wrap="square" lIns="0" tIns="0" rIns="0" bIns="0" rtlCol="0" anchor="t"/>
          <a:lstStyle/>
          <a:p>
            <a:pPr rtl="1" algn="r" indent="0" marL="0">
              <a:buNone/>
            </a:pPr>
            <a:r>
              <a:rPr lang="fa-IR" altLang="en-US" sz="1600" dirty="0">
                <a:solidFill>
                  <a:schemeClr val="tx1"/>
                </a:solidFill>
                <a:latin typeface="B Nazanin" pitchFamily="34" charset="0"/>
                <a:ea typeface="B Nazanin" pitchFamily="34" charset="-122"/>
                <a:cs typeface="B Nazanin" pitchFamily="34" charset="-120"/>
              </a:rPr>
              <a:t>احتمال کمتر از 0.05؛ اثرات ثابت</a:t>
            </a:r>
            <a:endParaRPr lang="fa-IR" sz="16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19</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4"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05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05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par>
                                <p:cTn id="58" presetID="10" presetClass="entr" presetSubtype="0" fill="hold" nodeType="withEffect">
                                  <p:stCondLst>
                                    <p:cond delay="105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600"/>
                                        <p:tgtEl>
                                          <p:spTgt spid="21"/>
                                        </p:tgtEl>
                                      </p:cBhvr>
                                    </p:animEffect>
                                  </p:childTnLst>
                                </p:cTn>
                              </p:par>
                              <p:par>
                                <p:cTn id="61" presetID="10" presetClass="entr" presetSubtype="0" fill="hold" nodeType="withEffect">
                                  <p:stCondLst>
                                    <p:cond delay="105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600"/>
                                        <p:tgtEl>
                                          <p:spTgt spid="22"/>
                                        </p:tgtEl>
                                      </p:cBhvr>
                                    </p:animEffect>
                                  </p:childTnLst>
                                </p:cTn>
                              </p:par>
                              <p:par>
                                <p:cTn id="64" presetID="10" presetClass="entr" presetSubtype="0" fill="hold" nodeType="withEffect">
                                  <p:stCondLst>
                                    <p:cond delay="140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600"/>
                                        <p:tgtEl>
                                          <p:spTgt spid="23"/>
                                        </p:tgtEl>
                                      </p:cBhvr>
                                    </p:animEffect>
                                  </p:childTnLst>
                                </p:cTn>
                              </p:par>
                              <p:par>
                                <p:cTn id="67" presetID="10" presetClass="entr" presetSubtype="0" fill="hold" nodeType="withEffect">
                                  <p:stCondLst>
                                    <p:cond delay="140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600"/>
                                        <p:tgtEl>
                                          <p:spTgt spid="24"/>
                                        </p:tgtEl>
                                      </p:cBhvr>
                                    </p:animEffect>
                                  </p:childTnLst>
                                </p:cTn>
                              </p:par>
                              <p:par>
                                <p:cTn id="70" presetID="10" presetClass="entr" presetSubtype="0" fill="hold" nodeType="withEffect">
                                  <p:stCondLst>
                                    <p:cond delay="140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600"/>
                                        <p:tgtEl>
                                          <p:spTgt spid="25"/>
                                        </p:tgtEl>
                                      </p:cBhvr>
                                    </p:animEffect>
                                  </p:childTnLst>
                                </p:cTn>
                              </p:par>
                              <p:par>
                                <p:cTn id="73" presetID="10" presetClass="entr" presetSubtype="0" fill="hold" nodeType="withEffect">
                                  <p:stCondLst>
                                    <p:cond delay="140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600"/>
                                        <p:tgtEl>
                                          <p:spTgt spid="26"/>
                                        </p:tgtEl>
                                      </p:cBhvr>
                                    </p:animEffect>
                                  </p:childTnLst>
                                </p:cTn>
                              </p:par>
                              <p:par>
                                <p:cTn id="76" presetID="10" presetClass="entr" presetSubtype="0" fill="hold" nodeType="withEffect">
                                  <p:stCondLst>
                                    <p:cond delay="140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600"/>
                                        <p:tgtEl>
                                          <p:spTgt spid="27"/>
                                        </p:tgtEl>
                                      </p:cBhvr>
                                    </p:animEffect>
                                  </p:childTnLst>
                                </p:cTn>
                              </p:par>
                              <p:par>
                                <p:cTn id="79" presetID="10" presetClass="entr" presetSubtype="0" fill="hold" nodeType="withEffect">
                                  <p:stCondLst>
                                    <p:cond delay="175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600"/>
                                        <p:tgtEl>
                                          <p:spTgt spid="28"/>
                                        </p:tgtEl>
                                      </p:cBhvr>
                                    </p:animEffect>
                                  </p:childTnLst>
                                </p:cTn>
                              </p:par>
                              <p:par>
                                <p:cTn id="82" presetID="10" presetClass="entr" presetSubtype="0" fill="hold" nodeType="withEffect">
                                  <p:stCondLst>
                                    <p:cond delay="175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fill="hold" nodeType="withEffect">
                                  <p:stCondLst>
                                    <p:cond delay="175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fill="hold" nodeType="withEffect">
                                  <p:stCondLst>
                                    <p:cond delay="175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600"/>
                                        <p:tgtEl>
                                          <p:spTgt spid="31"/>
                                        </p:tgtEl>
                                      </p:cBhvr>
                                    </p:animEffect>
                                  </p:childTnLst>
                                </p:cTn>
                              </p:par>
                              <p:par>
                                <p:cTn id="91" presetID="10" presetClass="entr" presetSubtype="0" fill="hold" nodeType="withEffect">
                                  <p:stCondLst>
                                    <p:cond delay="175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اول: خدمات غیرحسابرسی و کاهش هزینه</a:t>
            </a:r>
            <a:endParaRPr lang="fa-IR" sz="3400" dirty="0"/>
          </a:p>
        </p:txBody>
      </p:sp>
      <p:sp>
        <p:nvSpPr>
          <p:cNvPr id="3" name="anim_1_337"/>
          <p:cNvSpPr/>
          <p:nvPr/>
        </p:nvSpPr>
        <p:spPr>
          <a:xfrm>
            <a:off x="548640" y="1371600"/>
            <a:ext cx="11091672" cy="1051560"/>
          </a:xfrm>
          <a:prstGeom prst="roundRect">
            <a:avLst>
              <a:gd name="adj" fmla="val 10435"/>
            </a:avLst>
          </a:prstGeom>
          <a:solidFill>
            <a:schemeClr val="tx2"/>
          </a:solidFill>
          <a:ln/>
          <a:effectLst>
            <a:outerShdw sx="100000" sy="100000" kx="0" ky="0" algn="bl" rotWithShape="0" blurRad="101600" dist="25400" dir="5400000">
              <a:srgbClr val="000000">
                <a:alpha val="12000"/>
              </a:srgbClr>
            </a:outerShdw>
          </a:effectLst>
        </p:spPr>
      </p:sp>
      <p:sp>
        <p:nvSpPr>
          <p:cNvPr id="4" name="anim_1_338"/>
          <p:cNvSpPr txBox="1"/>
          <p:nvPr/>
        </p:nvSpPr>
        <p:spPr>
          <a:xfrm>
            <a:off x="2286000" y="1389888"/>
            <a:ext cx="9171432" cy="1005840"/>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کاهش هزینهٔ حسابرسی در سال اول با سطح حق‌الزحمه‌های غیرحسابرسی رابطهٔ معناداری ندارد</a:t>
            </a:r>
            <a:endParaRPr lang="fa-IR" sz="1900" dirty="0"/>
          </a:p>
        </p:txBody>
      </p:sp>
      <p:sp>
        <p:nvSpPr>
          <p:cNvPr id="5" name="anim_1_339"/>
          <p:cNvSpPr/>
          <p:nvPr/>
        </p:nvSpPr>
        <p:spPr>
          <a:xfrm>
            <a:off x="731520" y="1554480"/>
            <a:ext cx="1371600" cy="685800"/>
          </a:xfrm>
          <a:prstGeom prst="roundRect">
            <a:avLst>
              <a:gd name="adj" fmla="val 16000"/>
            </a:avLst>
          </a:prstGeom>
          <a:solidFill>
            <a:schemeClr val="accent4"/>
          </a:solidFill>
          <a:ln/>
        </p:spPr>
      </p:sp>
      <p:sp>
        <p:nvSpPr>
          <p:cNvPr id="6" name="anim_1_340"/>
          <p:cNvSpPr txBox="1"/>
          <p:nvPr/>
        </p:nvSpPr>
        <p:spPr>
          <a:xfrm>
            <a:off x="731520" y="1554480"/>
            <a:ext cx="1371600" cy="68580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تأیید</a:t>
            </a:r>
            <a:endParaRPr lang="fa-IR" sz="2200" dirty="0"/>
          </a:p>
        </p:txBody>
      </p:sp>
      <p:graphicFrame>
        <p:nvGraphicFramePr>
          <p:cNvPr id="21" name="anim_2_tbl"/>
          <p:cNvGraphicFramePr>
            <a:graphicFrameLocks noGrp="1"/>
          </p:cNvGraphicFramePr>
          <p:nvPr>
            <p:extLst>
              <p:ext uri="{D42A27DB-BD31-4B8C-83A1-F6EECF244321}">
                <p14:modId xmlns:p14="http://schemas.microsoft.com/office/powerpoint/2010/main" val="1579011935"/>
              </p:ext>
            </p:extLst>
          </p:nvPr>
        </p:nvGraphicFramePr>
        <p:xfrm>
          <a:off x="548640" y="2651760"/>
          <a:ext cx="6035040" cy="914400"/>
        </p:xfrm>
        <a:graphic>
          <a:graphicData uri="http://schemas.openxmlformats.org/drawingml/2006/table">
            <a:tbl>
              <a:tblPr/>
              <a:tblGrid>
                <a:gridCol w="1463040"/>
                <a:gridCol w="1463040"/>
                <a:gridCol w="1463040"/>
                <a:gridCol w="1645920"/>
              </a:tblGrid>
              <a:tr h="457200">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t</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‪0.1151‬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‪-1.578‬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‪-0.592‬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NASR</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‪33.936‬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‪0.091‬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SIZE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‪0.4481‬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‪-0.759‬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‪-0.015‬</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ROA</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‪0.2424‬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‪1.170‬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‪0.005‬</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GROWTH</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8" name="anim_3_341"/>
          <p:cNvSpPr/>
          <p:nvPr/>
        </p:nvSpPr>
        <p:spPr>
          <a:xfrm>
            <a:off x="6858000" y="2651760"/>
            <a:ext cx="4782312" cy="3520440"/>
          </a:xfrm>
          <a:prstGeom prst="roundRect">
            <a:avLst>
              <a:gd name="adj" fmla="val 3117"/>
            </a:avLst>
          </a:prstGeom>
          <a:solidFill>
            <a:schemeClr val="bg2"/>
          </a:solidFill>
          <a:ln/>
          <a:effectLst>
            <a:outerShdw sx="100000" sy="100000" kx="0" ky="0" algn="bl" rotWithShape="0" blurRad="101600" dist="25400" dir="5400000">
              <a:srgbClr val="000000">
                <a:alpha val="12000"/>
              </a:srgbClr>
            </a:outerShdw>
          </a:effectLst>
        </p:spPr>
      </p:sp>
      <p:sp>
        <p:nvSpPr>
          <p:cNvPr id="9" name="anim_3_342"/>
          <p:cNvSpPr txBox="1"/>
          <p:nvPr/>
        </p:nvSpPr>
        <p:spPr>
          <a:xfrm>
            <a:off x="7040880" y="2788920"/>
            <a:ext cx="4434840" cy="3291840"/>
          </a:xfrm>
          <a:prstGeom prst="rect">
            <a:avLst/>
          </a:prstGeom>
          <a:noFill/>
          <a:ln/>
        </p:spPr>
        <p:txBody>
          <a:bodyPr wrap="square" lIns="0" tIns="0" rIns="0" bIns="0" rtlCol="0" anchor="t"/>
          <a:lstStyle/>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ضریب NASR در سطح 5٪ معنادار نیست؛ فرضیه تأیید می‌شود</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تنها اندازهٔ شرکت بر هزینه اثر معنادار دارد</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همسو با کروب و همکاران (2014)، باروا و همکاران (2020) و نواک و نچل (2023)</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ناهمسو با چو و همکاران (2020) که رابطه‌ای معنادار یافتند</a:t>
            </a:r>
            <a:endParaRPr lang="fa-IR" sz="1800" dirty="0"/>
          </a:p>
        </p:txBody>
      </p:sp>
      <p:sp>
        <p:nvSpPr>
          <p:cNvPr id="10" name="anim_4_343"/>
          <p:cNvSpPr/>
          <p:nvPr/>
        </p:nvSpPr>
        <p:spPr>
          <a:xfrm>
            <a:off x="457200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1" name="anim_4_344"/>
          <p:cNvSpPr txBox="1"/>
          <p:nvPr/>
        </p:nvSpPr>
        <p:spPr>
          <a:xfrm>
            <a:off x="457200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0.150</a:t>
            </a:r>
            <a:endParaRPr lang="fa-IR" sz="2200" dirty="0"/>
          </a:p>
        </p:txBody>
      </p:sp>
      <p:sp>
        <p:nvSpPr>
          <p:cNvPr id="12" name="anim_4_345"/>
          <p:cNvSpPr txBox="1"/>
          <p:nvPr/>
        </p:nvSpPr>
        <p:spPr>
          <a:xfrm>
            <a:off x="457200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13" name="anim_4_346"/>
          <p:cNvSpPr/>
          <p:nvPr/>
        </p:nvSpPr>
        <p:spPr>
          <a:xfrm>
            <a:off x="256032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4" name="anim_4_347"/>
          <p:cNvSpPr txBox="1"/>
          <p:nvPr/>
        </p:nvSpPr>
        <p:spPr>
          <a:xfrm>
            <a:off x="256032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3.027</a:t>
            </a:r>
            <a:endParaRPr lang="fa-IR" sz="2200" dirty="0"/>
          </a:p>
        </p:txBody>
      </p:sp>
      <p:sp>
        <p:nvSpPr>
          <p:cNvPr id="15" name="anim_4_348"/>
          <p:cNvSpPr txBox="1"/>
          <p:nvPr/>
        </p:nvSpPr>
        <p:spPr>
          <a:xfrm>
            <a:off x="256032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16" name="anim_4_349"/>
          <p:cNvSpPr/>
          <p:nvPr/>
        </p:nvSpPr>
        <p:spPr>
          <a:xfrm>
            <a:off x="54864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7" name="anim_4_350"/>
          <p:cNvSpPr txBox="1"/>
          <p:nvPr/>
        </p:nvSpPr>
        <p:spPr>
          <a:xfrm>
            <a:off x="54864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1.759</a:t>
            </a:r>
            <a:endParaRPr lang="fa-IR" sz="2200" dirty="0"/>
          </a:p>
        </p:txBody>
      </p:sp>
      <p:sp>
        <p:nvSpPr>
          <p:cNvPr id="18" name="anim_4_351"/>
          <p:cNvSpPr txBox="1"/>
          <p:nvPr/>
        </p:nvSpPr>
        <p:spPr>
          <a:xfrm>
            <a:off x="54864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600"/>
                                        <p:tgtEl>
                                          <p:spTgt spid="21"/>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10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دوم: اهمیت مشتری و اندازهٔ مؤسسه</a:t>
            </a:r>
            <a:endParaRPr lang="fa-IR" sz="3400" dirty="0"/>
          </a:p>
        </p:txBody>
      </p:sp>
      <p:sp>
        <p:nvSpPr>
          <p:cNvPr id="3" name="anim_1_352"/>
          <p:cNvSpPr/>
          <p:nvPr/>
        </p:nvSpPr>
        <p:spPr>
          <a:xfrm>
            <a:off x="548640" y="1371600"/>
            <a:ext cx="11091672" cy="1051560"/>
          </a:xfrm>
          <a:prstGeom prst="roundRect">
            <a:avLst>
              <a:gd name="adj" fmla="val 10435"/>
            </a:avLst>
          </a:prstGeom>
          <a:solidFill>
            <a:schemeClr val="tx2"/>
          </a:solidFill>
          <a:ln/>
          <a:effectLst>
            <a:outerShdw sx="100000" sy="100000" kx="0" ky="0" algn="bl" rotWithShape="0" blurRad="101600" dist="25400" dir="5400000">
              <a:srgbClr val="000000">
                <a:alpha val="12000"/>
              </a:srgbClr>
            </a:outerShdw>
          </a:effectLst>
        </p:spPr>
      </p:sp>
      <p:sp>
        <p:nvSpPr>
          <p:cNvPr id="4" name="anim_1_353"/>
          <p:cNvSpPr txBox="1"/>
          <p:nvPr/>
        </p:nvSpPr>
        <p:spPr>
          <a:xfrm>
            <a:off x="2286000" y="1389888"/>
            <a:ext cx="9171432" cy="1005840"/>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اهمیت مشتری در مؤسسات کوچک با کاهش هزینه رابطه دارد و این رابطه در مؤسسات بزرگ ضعیف‌تر است</a:t>
            </a:r>
            <a:endParaRPr lang="fa-IR" sz="1900" dirty="0"/>
          </a:p>
        </p:txBody>
      </p:sp>
      <p:sp>
        <p:nvSpPr>
          <p:cNvPr id="5" name="anim_1_354"/>
          <p:cNvSpPr/>
          <p:nvPr/>
        </p:nvSpPr>
        <p:spPr>
          <a:xfrm>
            <a:off x="731520" y="1554480"/>
            <a:ext cx="1371600" cy="685800"/>
          </a:xfrm>
          <a:prstGeom prst="roundRect">
            <a:avLst>
              <a:gd name="adj" fmla="val 16000"/>
            </a:avLst>
          </a:prstGeom>
          <a:solidFill>
            <a:schemeClr val="accent4"/>
          </a:solidFill>
          <a:ln/>
        </p:spPr>
      </p:sp>
      <p:sp>
        <p:nvSpPr>
          <p:cNvPr id="6" name="anim_1_355"/>
          <p:cNvSpPr txBox="1"/>
          <p:nvPr/>
        </p:nvSpPr>
        <p:spPr>
          <a:xfrm>
            <a:off x="731520" y="1554480"/>
            <a:ext cx="1371600" cy="68580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تأیید</a:t>
            </a:r>
            <a:endParaRPr lang="fa-IR" sz="2200" dirty="0"/>
          </a:p>
        </p:txBody>
      </p:sp>
      <p:graphicFrame>
        <p:nvGraphicFramePr>
          <p:cNvPr id="22" name="anim_2_tbl"/>
          <p:cNvGraphicFramePr>
            <a:graphicFrameLocks noGrp="1"/>
          </p:cNvGraphicFramePr>
          <p:nvPr>
            <p:extLst>
              <p:ext uri="{D42A27DB-BD31-4B8C-83A1-F6EECF244321}">
                <p14:modId xmlns:p14="http://schemas.microsoft.com/office/powerpoint/2010/main" val="1579011935"/>
              </p:ext>
            </p:extLst>
          </p:nvPr>
        </p:nvGraphicFramePr>
        <p:xfrm>
          <a:off x="548640" y="2651760"/>
          <a:ext cx="6035040" cy="914400"/>
        </p:xfrm>
        <a:graphic>
          <a:graphicData uri="http://schemas.openxmlformats.org/drawingml/2006/table">
            <a:tbl>
              <a:tblPr/>
              <a:tblGrid>
                <a:gridCol w="1463040"/>
                <a:gridCol w="1280160"/>
                <a:gridCol w="1280160"/>
                <a:gridCol w="2011680"/>
              </a:tblGrid>
              <a:tr h="457200">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t</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‪0.0108‬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‪-2.554‬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‪-0.296‬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COMPLEX</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‪0.8743‬</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‪0.158‬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‪BIG4‬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‪0.0071‬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‪2.700‬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‪0.187‬</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‪COMPLEX×BIG4‬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‪3.926‬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‪0.144‬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LEV</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8" name="anim_3_356"/>
          <p:cNvSpPr/>
          <p:nvPr/>
        </p:nvSpPr>
        <p:spPr>
          <a:xfrm>
            <a:off x="6858000" y="2651760"/>
            <a:ext cx="4782312" cy="3520440"/>
          </a:xfrm>
          <a:prstGeom prst="roundRect">
            <a:avLst>
              <a:gd name="adj" fmla="val 3117"/>
            </a:avLst>
          </a:prstGeom>
          <a:solidFill>
            <a:schemeClr val="bg2"/>
          </a:solidFill>
          <a:ln/>
          <a:effectLst>
            <a:outerShdw sx="100000" sy="100000" kx="0" ky="0" algn="bl" rotWithShape="0" blurRad="101600" dist="25400" dir="5400000">
              <a:srgbClr val="000000">
                <a:alpha val="12000"/>
              </a:srgbClr>
            </a:outerShdw>
          </a:effectLst>
        </p:spPr>
      </p:sp>
      <p:sp>
        <p:nvSpPr>
          <p:cNvPr id="9" name="anim_3_357"/>
          <p:cNvSpPr txBox="1"/>
          <p:nvPr/>
        </p:nvSpPr>
        <p:spPr>
          <a:xfrm>
            <a:off x="7040880" y="2788920"/>
            <a:ext cx="4434840" cy="3291840"/>
          </a:xfrm>
          <a:prstGeom prst="rect">
            <a:avLst/>
          </a:prstGeom>
          <a:noFill/>
          <a:ln/>
        </p:spPr>
        <p:txBody>
          <a:bodyPr wrap="square" lIns="0" tIns="0" rIns="0" bIns="0" rtlCol="0" anchor="t"/>
          <a:lstStyle/>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اثر در مؤسسات کوچک (β1) منفی و معنادار است</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ضریب تعاملی مثبت و معنادار است؛ اثر در مؤسسات بزرگ حدود 63٪ ضعیف‌تر است</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همسو با رشیدی و حاجی‌زاده (1403) و چو و همکاران (2020)</a:t>
            </a:r>
            <a:endParaRPr lang="fa-IR" sz="1800" dirty="0"/>
          </a:p>
        </p:txBody>
      </p:sp>
      <p:sp>
        <p:nvSpPr>
          <p:cNvPr id="10" name="anim_4_358"/>
          <p:cNvSpPr/>
          <p:nvPr/>
        </p:nvSpPr>
        <p:spPr>
          <a:xfrm>
            <a:off x="457200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1" name="anim_4_359"/>
          <p:cNvSpPr txBox="1"/>
          <p:nvPr/>
        </p:nvSpPr>
        <p:spPr>
          <a:xfrm>
            <a:off x="457200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‪-0.109‬</a:t>
            </a:r>
            <a:endParaRPr lang="fa-IR" sz="2200" dirty="0"/>
          </a:p>
        </p:txBody>
      </p:sp>
      <p:sp>
        <p:nvSpPr>
          <p:cNvPr id="12" name="anim_4_360"/>
          <p:cNvSpPr txBox="1"/>
          <p:nvPr/>
        </p:nvSpPr>
        <p:spPr>
          <a:xfrm>
            <a:off x="457200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اثر خالص (بزرگ)</a:t>
            </a:r>
            <a:endParaRPr lang="fa-IR" sz="1500" dirty="0"/>
          </a:p>
        </p:txBody>
      </p:sp>
      <p:sp>
        <p:nvSpPr>
          <p:cNvPr id="13" name="anim_4_361"/>
          <p:cNvSpPr/>
          <p:nvPr/>
        </p:nvSpPr>
        <p:spPr>
          <a:xfrm>
            <a:off x="256032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4" name="anim_4_362"/>
          <p:cNvSpPr txBox="1"/>
          <p:nvPr/>
        </p:nvSpPr>
        <p:spPr>
          <a:xfrm>
            <a:off x="256032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0.469</a:t>
            </a:r>
            <a:endParaRPr lang="fa-IR" sz="2200" dirty="0"/>
          </a:p>
        </p:txBody>
      </p:sp>
      <p:sp>
        <p:nvSpPr>
          <p:cNvPr id="15" name="anim_4_363"/>
          <p:cNvSpPr txBox="1"/>
          <p:nvPr/>
        </p:nvSpPr>
        <p:spPr>
          <a:xfrm>
            <a:off x="256032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16" name="anim_4_364"/>
          <p:cNvSpPr/>
          <p:nvPr/>
        </p:nvSpPr>
        <p:spPr>
          <a:xfrm>
            <a:off x="54864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7" name="anim_4_365"/>
          <p:cNvSpPr txBox="1"/>
          <p:nvPr/>
        </p:nvSpPr>
        <p:spPr>
          <a:xfrm>
            <a:off x="54864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34.581</a:t>
            </a:r>
            <a:endParaRPr lang="fa-IR" sz="2200" dirty="0"/>
          </a:p>
        </p:txBody>
      </p:sp>
      <p:sp>
        <p:nvSpPr>
          <p:cNvPr id="18" name="anim_4_366"/>
          <p:cNvSpPr txBox="1"/>
          <p:nvPr/>
        </p:nvSpPr>
        <p:spPr>
          <a:xfrm>
            <a:off x="54864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21</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10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سوم: الگوی ریکاوری حق‌الزحمه</a:t>
            </a:r>
            <a:endParaRPr lang="fa-IR" sz="3400" dirty="0"/>
          </a:p>
        </p:txBody>
      </p:sp>
      <p:sp>
        <p:nvSpPr>
          <p:cNvPr id="3" name="anim_1_367"/>
          <p:cNvSpPr/>
          <p:nvPr/>
        </p:nvSpPr>
        <p:spPr>
          <a:xfrm>
            <a:off x="548640" y="1371600"/>
            <a:ext cx="11091672" cy="1051560"/>
          </a:xfrm>
          <a:prstGeom prst="roundRect">
            <a:avLst>
              <a:gd name="adj" fmla="val 10435"/>
            </a:avLst>
          </a:prstGeom>
          <a:solidFill>
            <a:schemeClr val="tx2"/>
          </a:solidFill>
          <a:ln/>
          <a:effectLst>
            <a:outerShdw sx="100000" sy="100000" kx="0" ky="0" algn="bl" rotWithShape="0" blurRad="101600" dist="25400" dir="5400000">
              <a:srgbClr val="000000">
                <a:alpha val="12000"/>
              </a:srgbClr>
            </a:outerShdw>
          </a:effectLst>
        </p:spPr>
      </p:sp>
      <p:sp>
        <p:nvSpPr>
          <p:cNvPr id="4" name="anim_1_368"/>
          <p:cNvSpPr txBox="1"/>
          <p:nvPr/>
        </p:nvSpPr>
        <p:spPr>
          <a:xfrm>
            <a:off x="2286000" y="1389888"/>
            <a:ext cx="9171432" cy="1005840"/>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افزایش حق‌الزحمهٔ سال‌های بعد در مؤسسات با هزینهٔ اولیهٔ پایین معناداراً بیشتر است</a:t>
            </a:r>
            <a:endParaRPr lang="fa-IR" sz="1900" dirty="0"/>
          </a:p>
        </p:txBody>
      </p:sp>
      <p:sp>
        <p:nvSpPr>
          <p:cNvPr id="5" name="anim_1_369"/>
          <p:cNvSpPr/>
          <p:nvPr/>
        </p:nvSpPr>
        <p:spPr>
          <a:xfrm>
            <a:off x="731520" y="1554480"/>
            <a:ext cx="1371600" cy="685800"/>
          </a:xfrm>
          <a:prstGeom prst="roundRect">
            <a:avLst>
              <a:gd name="adj" fmla="val 16000"/>
            </a:avLst>
          </a:prstGeom>
          <a:solidFill>
            <a:schemeClr val="accent4"/>
          </a:solidFill>
          <a:ln/>
        </p:spPr>
      </p:sp>
      <p:sp>
        <p:nvSpPr>
          <p:cNvPr id="6" name="anim_1_370"/>
          <p:cNvSpPr txBox="1"/>
          <p:nvPr/>
        </p:nvSpPr>
        <p:spPr>
          <a:xfrm>
            <a:off x="731520" y="1554480"/>
            <a:ext cx="1371600" cy="68580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تأیید</a:t>
            </a:r>
            <a:endParaRPr lang="fa-IR" sz="2200" dirty="0"/>
          </a:p>
        </p:txBody>
      </p:sp>
      <p:graphicFrame>
        <p:nvGraphicFramePr>
          <p:cNvPr id="23" name="anim_2_tbl"/>
          <p:cNvGraphicFramePr>
            <a:graphicFrameLocks noGrp="1"/>
          </p:cNvGraphicFramePr>
          <p:nvPr>
            <p:extLst>
              <p:ext uri="{D42A27DB-BD31-4B8C-83A1-F6EECF244321}">
                <p14:modId xmlns:p14="http://schemas.microsoft.com/office/powerpoint/2010/main" val="1579011935"/>
              </p:ext>
            </p:extLst>
          </p:nvPr>
        </p:nvGraphicFramePr>
        <p:xfrm>
          <a:off x="548640" y="2651760"/>
          <a:ext cx="6035040" cy="914400"/>
        </p:xfrm>
        <a:graphic>
          <a:graphicData uri="http://schemas.openxmlformats.org/drawingml/2006/table">
            <a:tbl>
              <a:tblPr/>
              <a:tblGrid>
                <a:gridCol w="1463040"/>
                <a:gridCol w="1463040"/>
                <a:gridCol w="1463040"/>
                <a:gridCol w="1645920"/>
              </a:tblGrid>
              <a:tr h="457200">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t</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‪-16.905‬</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‪-0.649‬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AF</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‪6.344‬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‪0.036‬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SIZE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‪-4.148‬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‪-0.136‬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ROA</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‪0.4346‬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‪0.782‬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‪0.079‬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RISK</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8" name="anim_3_371"/>
          <p:cNvSpPr/>
          <p:nvPr/>
        </p:nvSpPr>
        <p:spPr>
          <a:xfrm>
            <a:off x="6858000" y="2651760"/>
            <a:ext cx="4782312" cy="3520440"/>
          </a:xfrm>
          <a:prstGeom prst="roundRect">
            <a:avLst>
              <a:gd name="adj" fmla="val 3117"/>
            </a:avLst>
          </a:prstGeom>
          <a:solidFill>
            <a:schemeClr val="bg2"/>
          </a:solidFill>
          <a:ln/>
          <a:effectLst>
            <a:outerShdw sx="100000" sy="100000" kx="0" ky="0" algn="bl" rotWithShape="0" blurRad="101600" dist="25400" dir="5400000">
              <a:srgbClr val="000000">
                <a:alpha val="12000"/>
              </a:srgbClr>
            </a:outerShdw>
          </a:effectLst>
        </p:spPr>
      </p:sp>
      <p:sp>
        <p:nvSpPr>
          <p:cNvPr id="9" name="anim_3_372"/>
          <p:cNvSpPr txBox="1"/>
          <p:nvPr/>
        </p:nvSpPr>
        <p:spPr>
          <a:xfrm>
            <a:off x="7040880" y="2788920"/>
            <a:ext cx="4434840" cy="3291840"/>
          </a:xfrm>
          <a:prstGeom prst="rect">
            <a:avLst/>
          </a:prstGeom>
          <a:noFill/>
          <a:ln/>
        </p:spPr>
        <p:txBody>
          <a:bodyPr wrap="square" lIns="0" tIns="0" rIns="0" bIns="0" rtlCol="0" anchor="t"/>
          <a:lstStyle/>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ضریب منفی و بسیار معنادار؛ هزینهٔ کمتر، افزایش بعدی بیشتر</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مهم‌ترین شاهد وجود ریکاوری در بازار ایران</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همسو با دی‌آنجلو (1981)، سیمون و فرانسیس (1988)، پیل (2013) و چو و همکاران (2020)</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احتیاط: بخشی از ضریب می‌تواند بازگشت به میانگین باشد</a:t>
            </a:r>
            <a:endParaRPr lang="fa-IR" sz="1800" dirty="0"/>
          </a:p>
        </p:txBody>
      </p:sp>
      <p:sp>
        <p:nvSpPr>
          <p:cNvPr id="10" name="anim_4_373"/>
          <p:cNvSpPr/>
          <p:nvPr/>
        </p:nvSpPr>
        <p:spPr>
          <a:xfrm>
            <a:off x="457200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1" name="anim_4_374"/>
          <p:cNvSpPr txBox="1"/>
          <p:nvPr/>
        </p:nvSpPr>
        <p:spPr>
          <a:xfrm>
            <a:off x="457200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0.503</a:t>
            </a:r>
            <a:endParaRPr lang="fa-IR" sz="2200" dirty="0"/>
          </a:p>
        </p:txBody>
      </p:sp>
      <p:sp>
        <p:nvSpPr>
          <p:cNvPr id="12" name="anim_4_375"/>
          <p:cNvSpPr txBox="1"/>
          <p:nvPr/>
        </p:nvSpPr>
        <p:spPr>
          <a:xfrm>
            <a:off x="457200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13" name="anim_4_376"/>
          <p:cNvSpPr/>
          <p:nvPr/>
        </p:nvSpPr>
        <p:spPr>
          <a:xfrm>
            <a:off x="256032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4" name="anim_4_377"/>
          <p:cNvSpPr txBox="1"/>
          <p:nvPr/>
        </p:nvSpPr>
        <p:spPr>
          <a:xfrm>
            <a:off x="256032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4.181</a:t>
            </a:r>
            <a:endParaRPr lang="fa-IR" sz="2200" dirty="0"/>
          </a:p>
        </p:txBody>
      </p:sp>
      <p:sp>
        <p:nvSpPr>
          <p:cNvPr id="15" name="anim_4_378"/>
          <p:cNvSpPr txBox="1"/>
          <p:nvPr/>
        </p:nvSpPr>
        <p:spPr>
          <a:xfrm>
            <a:off x="256032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16" name="anim_4_379"/>
          <p:cNvSpPr/>
          <p:nvPr/>
        </p:nvSpPr>
        <p:spPr>
          <a:xfrm>
            <a:off x="54864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7" name="anim_4_380"/>
          <p:cNvSpPr txBox="1"/>
          <p:nvPr/>
        </p:nvSpPr>
        <p:spPr>
          <a:xfrm>
            <a:off x="54864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1.871</a:t>
            </a:r>
            <a:endParaRPr lang="fa-IR" sz="2200" dirty="0"/>
          </a:p>
        </p:txBody>
      </p:sp>
      <p:sp>
        <p:nvSpPr>
          <p:cNvPr id="18" name="anim_4_381"/>
          <p:cNvSpPr txBox="1"/>
          <p:nvPr/>
        </p:nvSpPr>
        <p:spPr>
          <a:xfrm>
            <a:off x="54864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600"/>
                                        <p:tgtEl>
                                          <p:spTgt spid="23"/>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10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چهارم: ریکاوری از مجرای خدمات غیرحسابرسی</a:t>
            </a:r>
            <a:endParaRPr lang="fa-IR" sz="3400" dirty="0"/>
          </a:p>
        </p:txBody>
      </p:sp>
      <p:sp>
        <p:nvSpPr>
          <p:cNvPr id="3" name="anim_1_382"/>
          <p:cNvSpPr/>
          <p:nvPr/>
        </p:nvSpPr>
        <p:spPr>
          <a:xfrm>
            <a:off x="548640" y="1371600"/>
            <a:ext cx="11091672" cy="1051560"/>
          </a:xfrm>
          <a:prstGeom prst="roundRect">
            <a:avLst>
              <a:gd name="adj" fmla="val 10435"/>
            </a:avLst>
          </a:prstGeom>
          <a:solidFill>
            <a:schemeClr val="tx2"/>
          </a:solidFill>
          <a:ln/>
          <a:effectLst>
            <a:outerShdw sx="100000" sy="100000" kx="0" ky="0" algn="bl" rotWithShape="0" blurRad="101600" dist="25400" dir="5400000">
              <a:srgbClr val="000000">
                <a:alpha val="12000"/>
              </a:srgbClr>
            </a:outerShdw>
          </a:effectLst>
        </p:spPr>
      </p:sp>
      <p:sp>
        <p:nvSpPr>
          <p:cNvPr id="4" name="anim_1_383"/>
          <p:cNvSpPr txBox="1"/>
          <p:nvPr/>
        </p:nvSpPr>
        <p:spPr>
          <a:xfrm>
            <a:off x="2286000" y="1389888"/>
            <a:ext cx="9171432" cy="1005840"/>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افزایش حق‌الزحمه‌های غیرحسابرسی بعدی در مؤسسات با هزینهٔ اولیهٔ پایین معناداراً بیشتر نیست</a:t>
            </a:r>
            <a:endParaRPr lang="fa-IR" sz="1900" dirty="0"/>
          </a:p>
        </p:txBody>
      </p:sp>
      <p:sp>
        <p:nvSpPr>
          <p:cNvPr id="5" name="anim_1_384"/>
          <p:cNvSpPr/>
          <p:nvPr/>
        </p:nvSpPr>
        <p:spPr>
          <a:xfrm>
            <a:off x="731520" y="1554480"/>
            <a:ext cx="1371600" cy="685800"/>
          </a:xfrm>
          <a:prstGeom prst="roundRect">
            <a:avLst>
              <a:gd name="adj" fmla="val 16000"/>
            </a:avLst>
          </a:prstGeom>
          <a:solidFill>
            <a:schemeClr val="accent3"/>
          </a:solidFill>
          <a:ln/>
        </p:spPr>
      </p:sp>
      <p:sp>
        <p:nvSpPr>
          <p:cNvPr id="6" name="anim_1_385"/>
          <p:cNvSpPr txBox="1"/>
          <p:nvPr/>
        </p:nvSpPr>
        <p:spPr>
          <a:xfrm>
            <a:off x="731520" y="1554480"/>
            <a:ext cx="1371600" cy="68580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عدم تأیید</a:t>
            </a:r>
            <a:endParaRPr lang="fa-IR" sz="2200" dirty="0"/>
          </a:p>
        </p:txBody>
      </p:sp>
      <p:graphicFrame>
        <p:nvGraphicFramePr>
          <p:cNvPr id="24" name="anim_2_tbl"/>
          <p:cNvGraphicFramePr>
            <a:graphicFrameLocks noGrp="1"/>
          </p:cNvGraphicFramePr>
          <p:nvPr>
            <p:extLst>
              <p:ext uri="{D42A27DB-BD31-4B8C-83A1-F6EECF244321}">
                <p14:modId xmlns:p14="http://schemas.microsoft.com/office/powerpoint/2010/main" val="1579011935"/>
              </p:ext>
            </p:extLst>
          </p:nvPr>
        </p:nvGraphicFramePr>
        <p:xfrm>
          <a:off x="548640" y="2651760"/>
          <a:ext cx="6035040" cy="914400"/>
        </p:xfrm>
        <a:graphic>
          <a:graphicData uri="http://schemas.openxmlformats.org/drawingml/2006/table">
            <a:tbl>
              <a:tblPr/>
              <a:tblGrid>
                <a:gridCol w="1463040"/>
                <a:gridCol w="1463040"/>
                <a:gridCol w="1463040"/>
                <a:gridCol w="1645920"/>
              </a:tblGrid>
              <a:tr h="457200">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t</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‪-34.029‬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‪-0.240‬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AF</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‪20.931‬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SIZE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‪0.0116‬</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‪2.532‬</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‪0.048‬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RISK</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‪5.004‬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‪0.030‬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ROA</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8" name="anim_3_386"/>
          <p:cNvSpPr/>
          <p:nvPr/>
        </p:nvSpPr>
        <p:spPr>
          <a:xfrm>
            <a:off x="6858000" y="2651760"/>
            <a:ext cx="4782312" cy="3520440"/>
          </a:xfrm>
          <a:prstGeom prst="roundRect">
            <a:avLst>
              <a:gd name="adj" fmla="val 3117"/>
            </a:avLst>
          </a:prstGeom>
          <a:solidFill>
            <a:schemeClr val="bg2"/>
          </a:solidFill>
          <a:ln/>
          <a:effectLst>
            <a:outerShdw sx="100000" sy="100000" kx="0" ky="0" algn="bl" rotWithShape="0" blurRad="101600" dist="25400" dir="5400000">
              <a:srgbClr val="000000">
                <a:alpha val="12000"/>
              </a:srgbClr>
            </a:outerShdw>
          </a:effectLst>
        </p:spPr>
      </p:sp>
      <p:sp>
        <p:nvSpPr>
          <p:cNvPr id="9" name="anim_3_387"/>
          <p:cNvSpPr txBox="1"/>
          <p:nvPr/>
        </p:nvSpPr>
        <p:spPr>
          <a:xfrm>
            <a:off x="7040880" y="2788920"/>
            <a:ext cx="4434840" cy="3291840"/>
          </a:xfrm>
          <a:prstGeom prst="rect">
            <a:avLst/>
          </a:prstGeom>
          <a:noFill/>
          <a:ln/>
        </p:spPr>
        <p:txBody>
          <a:bodyPr wrap="square" lIns="0" tIns="0" rIns="0" bIns="0" rtlCol="0" anchor="t"/>
          <a:lstStyle/>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ضریب AF منفی و معنادار است؛ سهم خدمات غیرحسابرسی در مؤسسات کم‌هزینه بیشتر است</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فرض نبود رابطه رد می‌شود</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همسو با پیل (2013)؛ ناهمسو با چو و همکاران (2020)</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احتیاط: نسبتی بودن NASR بخشی از رابطه را حسابی می‌کند</a:t>
            </a:r>
            <a:endParaRPr lang="fa-IR" sz="1800" dirty="0"/>
          </a:p>
        </p:txBody>
      </p:sp>
      <p:sp>
        <p:nvSpPr>
          <p:cNvPr id="10" name="anim_4_388"/>
          <p:cNvSpPr/>
          <p:nvPr/>
        </p:nvSpPr>
        <p:spPr>
          <a:xfrm>
            <a:off x="457200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1" name="anim_4_389"/>
          <p:cNvSpPr txBox="1"/>
          <p:nvPr/>
        </p:nvSpPr>
        <p:spPr>
          <a:xfrm>
            <a:off x="457200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0.575</a:t>
            </a:r>
            <a:endParaRPr lang="fa-IR" sz="2200" dirty="0"/>
          </a:p>
        </p:txBody>
      </p:sp>
      <p:sp>
        <p:nvSpPr>
          <p:cNvPr id="12" name="anim_4_390"/>
          <p:cNvSpPr txBox="1"/>
          <p:nvPr/>
        </p:nvSpPr>
        <p:spPr>
          <a:xfrm>
            <a:off x="457200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13" name="anim_4_391"/>
          <p:cNvSpPr/>
          <p:nvPr/>
        </p:nvSpPr>
        <p:spPr>
          <a:xfrm>
            <a:off x="256032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4" name="anim_4_392"/>
          <p:cNvSpPr txBox="1"/>
          <p:nvPr/>
        </p:nvSpPr>
        <p:spPr>
          <a:xfrm>
            <a:off x="256032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36.154</a:t>
            </a:r>
            <a:endParaRPr lang="fa-IR" sz="2200" dirty="0"/>
          </a:p>
        </p:txBody>
      </p:sp>
      <p:sp>
        <p:nvSpPr>
          <p:cNvPr id="15" name="anim_4_393"/>
          <p:cNvSpPr txBox="1"/>
          <p:nvPr/>
        </p:nvSpPr>
        <p:spPr>
          <a:xfrm>
            <a:off x="256032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16" name="anim_4_394"/>
          <p:cNvSpPr/>
          <p:nvPr/>
        </p:nvSpPr>
        <p:spPr>
          <a:xfrm>
            <a:off x="54864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7" name="anim_4_395"/>
          <p:cNvSpPr txBox="1"/>
          <p:nvPr/>
        </p:nvSpPr>
        <p:spPr>
          <a:xfrm>
            <a:off x="54864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1.505</a:t>
            </a:r>
            <a:endParaRPr lang="fa-IR" sz="2200" dirty="0"/>
          </a:p>
        </p:txBody>
      </p:sp>
      <p:sp>
        <p:nvSpPr>
          <p:cNvPr id="18" name="anim_4_396"/>
          <p:cNvSpPr txBox="1"/>
          <p:nvPr/>
        </p:nvSpPr>
        <p:spPr>
          <a:xfrm>
            <a:off x="54864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23</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600"/>
                                        <p:tgtEl>
                                          <p:spTgt spid="24"/>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10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نتیجهٔ فرضیهٔ پنجم: بازیابی و کیفیت حسابرسی آینده</a:t>
            </a:r>
            <a:endParaRPr lang="fa-IR" sz="3400" dirty="0"/>
          </a:p>
        </p:txBody>
      </p:sp>
      <p:sp>
        <p:nvSpPr>
          <p:cNvPr id="3" name="anim_1_397"/>
          <p:cNvSpPr/>
          <p:nvPr/>
        </p:nvSpPr>
        <p:spPr>
          <a:xfrm>
            <a:off x="548640" y="1371600"/>
            <a:ext cx="11091672" cy="1051560"/>
          </a:xfrm>
          <a:prstGeom prst="roundRect">
            <a:avLst>
              <a:gd name="adj" fmla="val 10435"/>
            </a:avLst>
          </a:prstGeom>
          <a:solidFill>
            <a:schemeClr val="tx2"/>
          </a:solidFill>
          <a:ln/>
          <a:effectLst>
            <a:outerShdw sx="100000" sy="100000" kx="0" ky="0" algn="bl" rotWithShape="0" blurRad="101600" dist="25400" dir="5400000">
              <a:srgbClr val="000000">
                <a:alpha val="12000"/>
              </a:srgbClr>
            </a:outerShdw>
          </a:effectLst>
        </p:spPr>
      </p:sp>
      <p:sp>
        <p:nvSpPr>
          <p:cNvPr id="4" name="anim_1_398"/>
          <p:cNvSpPr txBox="1"/>
          <p:nvPr/>
        </p:nvSpPr>
        <p:spPr>
          <a:xfrm>
            <a:off x="2286000" y="1389888"/>
            <a:ext cx="9171432" cy="1005840"/>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کیفیت حسابرسی در دوره‌های بعد به میزان بازیابی حق‌الزحمه وابسته نیست</a:t>
            </a:r>
            <a:endParaRPr lang="fa-IR" sz="1900" dirty="0"/>
          </a:p>
        </p:txBody>
      </p:sp>
      <p:sp>
        <p:nvSpPr>
          <p:cNvPr id="5" name="anim_1_399"/>
          <p:cNvSpPr/>
          <p:nvPr/>
        </p:nvSpPr>
        <p:spPr>
          <a:xfrm>
            <a:off x="731520" y="1554480"/>
            <a:ext cx="1371600" cy="685800"/>
          </a:xfrm>
          <a:prstGeom prst="roundRect">
            <a:avLst>
              <a:gd name="adj" fmla="val 16000"/>
            </a:avLst>
          </a:prstGeom>
          <a:solidFill>
            <a:schemeClr val="accent4"/>
          </a:solidFill>
          <a:ln/>
        </p:spPr>
      </p:sp>
      <p:sp>
        <p:nvSpPr>
          <p:cNvPr id="6" name="anim_1_400"/>
          <p:cNvSpPr txBox="1"/>
          <p:nvPr/>
        </p:nvSpPr>
        <p:spPr>
          <a:xfrm>
            <a:off x="731520" y="1554480"/>
            <a:ext cx="1371600" cy="685800"/>
          </a:xfrm>
          <a:prstGeom prst="rect">
            <a:avLst/>
          </a:prstGeom>
          <a:noFill/>
          <a:ln/>
        </p:spPr>
        <p:txBody>
          <a:bodyPr wrap="square" lIns="0" tIns="0" rIns="0" bIns="0" rtlCol="0" anchor="ctr"/>
          <a:lstStyle/>
          <a:p>
            <a:pPr rtl="1" algn="ctr" indent="0" marL="0">
              <a:buNone/>
            </a:pPr>
            <a:r>
              <a:rPr lang="fa-IR" altLang="en-US" sz="2200" dirty="0">
                <a:solidFill>
                  <a:schemeClr val="bg1"/>
                </a:solidFill>
                <a:latin typeface="B Titr" pitchFamily="34" charset="0"/>
                <a:ea typeface="B Titr" pitchFamily="34" charset="-122"/>
                <a:cs typeface="B Titr" pitchFamily="34" charset="-120"/>
              </a:rPr>
              <a:t>تأیید</a:t>
            </a:r>
            <a:endParaRPr lang="fa-IR" sz="2200" dirty="0"/>
          </a:p>
        </p:txBody>
      </p:sp>
      <p:graphicFrame>
        <p:nvGraphicFramePr>
          <p:cNvPr id="25" name="anim_2_tbl"/>
          <p:cNvGraphicFramePr>
            <a:graphicFrameLocks noGrp="1"/>
          </p:cNvGraphicFramePr>
          <p:nvPr>
            <p:extLst>
              <p:ext uri="{D42A27DB-BD31-4B8C-83A1-F6EECF244321}">
                <p14:modId xmlns:p14="http://schemas.microsoft.com/office/powerpoint/2010/main" val="1579011935"/>
              </p:ext>
            </p:extLst>
          </p:nvPr>
        </p:nvGraphicFramePr>
        <p:xfrm>
          <a:off x="548640" y="2651760"/>
          <a:ext cx="6035040" cy="914400"/>
        </p:xfrm>
        <a:graphic>
          <a:graphicData uri="http://schemas.openxmlformats.org/drawingml/2006/table">
            <a:tbl>
              <a:tblPr/>
              <a:tblGrid>
                <a:gridCol w="1463040"/>
                <a:gridCol w="1463040"/>
                <a:gridCol w="1463040"/>
                <a:gridCol w="1645920"/>
              </a:tblGrid>
              <a:tr h="457200">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احتمال</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t</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ضریب</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500" b="1" dirty="0">
                          <a:solidFill>
                            <a:schemeClr val="bg1"/>
                          </a:solidFill>
                          <a:latin typeface="B Nazanin" pitchFamily="34" charset="0"/>
                          <a:ea typeface="B Nazanin" pitchFamily="34" charset="-122"/>
                          <a:cs typeface="B Nazanin" pitchFamily="34" charset="-120"/>
                        </a:rPr>
                        <a:t>متغیر</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‪0.4108‬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‪0.823‬</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‪0.027‬</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COSTP</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‪&lt; 0.0001‬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‪18.000‬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‪0.071‬</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SIZE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‪0.7797‬</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‪-0.280‬</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‪-0.005‬</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‪BIG4‬</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457200">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‪0.2727‬</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‪-1.098‬</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‪-0.019‬</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TENURE</a:t>
                      </a:r>
                      <a:endParaRPr lang="fa-IR" sz="15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bl>
          </a:graphicData>
        </a:graphic>
      </p:graphicFrame>
      <p:sp>
        <p:nvSpPr>
          <p:cNvPr id="8" name="anim_3_401"/>
          <p:cNvSpPr/>
          <p:nvPr/>
        </p:nvSpPr>
        <p:spPr>
          <a:xfrm>
            <a:off x="6858000" y="2651760"/>
            <a:ext cx="4782312" cy="3520440"/>
          </a:xfrm>
          <a:prstGeom prst="roundRect">
            <a:avLst>
              <a:gd name="adj" fmla="val 3117"/>
            </a:avLst>
          </a:prstGeom>
          <a:solidFill>
            <a:schemeClr val="bg2"/>
          </a:solidFill>
          <a:ln/>
          <a:effectLst>
            <a:outerShdw sx="100000" sy="100000" kx="0" ky="0" algn="bl" rotWithShape="0" blurRad="101600" dist="25400" dir="5400000">
              <a:srgbClr val="000000">
                <a:alpha val="12000"/>
              </a:srgbClr>
            </a:outerShdw>
          </a:effectLst>
        </p:spPr>
      </p:sp>
      <p:sp>
        <p:nvSpPr>
          <p:cNvPr id="9" name="anim_3_402"/>
          <p:cNvSpPr txBox="1"/>
          <p:nvPr/>
        </p:nvSpPr>
        <p:spPr>
          <a:xfrm>
            <a:off x="7040880" y="2788920"/>
            <a:ext cx="4434840" cy="3291840"/>
          </a:xfrm>
          <a:prstGeom prst="rect">
            <a:avLst/>
          </a:prstGeom>
          <a:noFill/>
          <a:ln/>
        </p:spPr>
        <p:txBody>
          <a:bodyPr wrap="square" lIns="0" tIns="0" rIns="0" bIns="0" rtlCol="0" anchor="t"/>
          <a:lstStyle/>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ضریب COSTP غیرمعنادار است؛ فرضیه تأیید می‌شود</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ریکاوری لزوماً به معنای افت کیفیت نیست</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همسو با چو و همکاران (2020)، کروب و همکاران (2014) و کریشنان و تانی (2020)</a:t>
            </a:r>
            <a:endParaRPr lang="fa-IR" sz="1800" dirty="0"/>
          </a:p>
          <a:p>
            <a:pPr algn="r" marL="342900" indent="-342900">
              <a:spcAft>
                <a:spcPts val="8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ناهمسو با سلیمانی و شکریان (1400)</a:t>
            </a:r>
            <a:endParaRPr lang="fa-IR" sz="1800" dirty="0"/>
          </a:p>
        </p:txBody>
      </p:sp>
      <p:sp>
        <p:nvSpPr>
          <p:cNvPr id="10" name="anim_4_403"/>
          <p:cNvSpPr/>
          <p:nvPr/>
        </p:nvSpPr>
        <p:spPr>
          <a:xfrm>
            <a:off x="457200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1" name="anim_4_404"/>
          <p:cNvSpPr txBox="1"/>
          <p:nvPr/>
        </p:nvSpPr>
        <p:spPr>
          <a:xfrm>
            <a:off x="457200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0.286</a:t>
            </a:r>
            <a:endParaRPr lang="fa-IR" sz="2200" dirty="0"/>
          </a:p>
        </p:txBody>
      </p:sp>
      <p:sp>
        <p:nvSpPr>
          <p:cNvPr id="12" name="anim_4_405"/>
          <p:cNvSpPr txBox="1"/>
          <p:nvPr/>
        </p:nvSpPr>
        <p:spPr>
          <a:xfrm>
            <a:off x="457200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ضریب تعیین</a:t>
            </a:r>
            <a:endParaRPr lang="fa-IR" sz="1500" dirty="0"/>
          </a:p>
        </p:txBody>
      </p:sp>
      <p:sp>
        <p:nvSpPr>
          <p:cNvPr id="13" name="anim_4_406"/>
          <p:cNvSpPr/>
          <p:nvPr/>
        </p:nvSpPr>
        <p:spPr>
          <a:xfrm>
            <a:off x="256032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4" name="anim_4_407"/>
          <p:cNvSpPr txBox="1"/>
          <p:nvPr/>
        </p:nvSpPr>
        <p:spPr>
          <a:xfrm>
            <a:off x="256032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3.068</a:t>
            </a:r>
            <a:endParaRPr lang="fa-IR" sz="2200" dirty="0"/>
          </a:p>
        </p:txBody>
      </p:sp>
      <p:sp>
        <p:nvSpPr>
          <p:cNvPr id="15" name="anim_4_408"/>
          <p:cNvSpPr txBox="1"/>
          <p:nvPr/>
        </p:nvSpPr>
        <p:spPr>
          <a:xfrm>
            <a:off x="256032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آمارهٔ F</a:t>
            </a:r>
            <a:endParaRPr lang="fa-IR" sz="1500" dirty="0"/>
          </a:p>
        </p:txBody>
      </p:sp>
      <p:sp>
        <p:nvSpPr>
          <p:cNvPr id="16" name="anim_4_409"/>
          <p:cNvSpPr/>
          <p:nvPr/>
        </p:nvSpPr>
        <p:spPr>
          <a:xfrm>
            <a:off x="548640" y="5074920"/>
            <a:ext cx="1828800" cy="1097280"/>
          </a:xfrm>
          <a:prstGeom prst="roundRect">
            <a:avLst>
              <a:gd name="adj" fmla="val 10000"/>
            </a:avLst>
          </a:prstGeom>
          <a:solidFill>
            <a:schemeClr val="bg2"/>
          </a:solidFill>
          <a:ln/>
          <a:effectLst>
            <a:outerShdw sx="100000" sy="100000" kx="0" ky="0" algn="bl" rotWithShape="0" blurRad="101600" dist="25400" dir="5400000">
              <a:srgbClr val="000000">
                <a:alpha val="12000"/>
              </a:srgbClr>
            </a:outerShdw>
          </a:effectLst>
        </p:spPr>
      </p:sp>
      <p:sp>
        <p:nvSpPr>
          <p:cNvPr id="17" name="anim_4_410"/>
          <p:cNvSpPr txBox="1"/>
          <p:nvPr/>
        </p:nvSpPr>
        <p:spPr>
          <a:xfrm>
            <a:off x="548640" y="5120640"/>
            <a:ext cx="1828800" cy="548640"/>
          </a:xfrm>
          <a:prstGeom prst="rect">
            <a:avLst/>
          </a:prstGeom>
          <a:noFill/>
          <a:ln/>
        </p:spPr>
        <p:txBody>
          <a:bodyPr wrap="square" lIns="0" tIns="0" rIns="0" bIns="0" rtlCol="0" anchor="ctr"/>
          <a:lstStyle/>
          <a:p>
            <a:pPr rtl="1" algn="ctr" indent="0" marL="0">
              <a:buNone/>
            </a:pPr>
            <a:r>
              <a:rPr lang="fa-IR" altLang="en-US" sz="2200" dirty="0">
                <a:solidFill>
                  <a:schemeClr val="accent1"/>
                </a:solidFill>
                <a:latin typeface="B Titr" pitchFamily="34" charset="0"/>
                <a:ea typeface="B Titr" pitchFamily="34" charset="-122"/>
                <a:cs typeface="B Titr" pitchFamily="34" charset="-120"/>
              </a:rPr>
              <a:t>1.819</a:t>
            </a:r>
            <a:endParaRPr lang="fa-IR" sz="2200" dirty="0"/>
          </a:p>
        </p:txBody>
      </p:sp>
      <p:sp>
        <p:nvSpPr>
          <p:cNvPr id="18" name="anim_4_411"/>
          <p:cNvSpPr txBox="1"/>
          <p:nvPr/>
        </p:nvSpPr>
        <p:spPr>
          <a:xfrm>
            <a:off x="548640" y="5669280"/>
            <a:ext cx="1828800" cy="457200"/>
          </a:xfrm>
          <a:prstGeom prst="rect">
            <a:avLst/>
          </a:prstGeom>
          <a:noFill/>
          <a:ln/>
        </p:spPr>
        <p:txBody>
          <a:bodyPr wrap="square" lIns="0" tIns="0" rIns="0" bIns="0" rtlCol="0" anchor="t"/>
          <a:lstStyle/>
          <a:p>
            <a:pPr rtl="1" algn="ctr" indent="0" marL="0">
              <a:buNone/>
            </a:pPr>
            <a:r>
              <a:rPr lang="fa-IR" altLang="en-US" sz="1500" dirty="0">
                <a:solidFill>
                  <a:schemeClr val="tx1"/>
                </a:solidFill>
                <a:latin typeface="B Nazanin" pitchFamily="34" charset="0"/>
                <a:ea typeface="B Nazanin" pitchFamily="34" charset="-122"/>
                <a:cs typeface="B Nazanin" pitchFamily="34" charset="-120"/>
              </a:rPr>
              <a:t>دوربین-واتسون</a:t>
            </a:r>
            <a:endParaRPr lang="fa-IR" sz="15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24</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2"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600"/>
                                        <p:tgtEl>
                                          <p:spTgt spid="25"/>
                                        </p:tgtEl>
                                      </p:cBhvr>
                                    </p:animEffect>
                                  </p:childTnLst>
                                </p:cTn>
                              </p:par>
                              <p:par>
                                <p:cTn id="19" presetID="10" presetClass="entr" presetSubtype="0" fill="hold" nodeType="withEffect">
                                  <p:stCondLst>
                                    <p:cond delay="70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10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10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10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05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05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خلاصهٔ نتایج آزمون فرضیه‌ها</a:t>
            </a:r>
            <a:endParaRPr lang="fa-IR" sz="3400" dirty="0"/>
          </a:p>
        </p:txBody>
      </p:sp>
      <p:graphicFrame>
        <p:nvGraphicFramePr>
          <p:cNvPr id="26" name="anim_1_tbl"/>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216152"/>
                <a:gridCol w="1645920"/>
                <a:gridCol w="1463040"/>
                <a:gridCol w="1463040"/>
                <a:gridCol w="2286000"/>
                <a:gridCol w="3017520"/>
              </a:tblGrid>
              <a:tr h="640080">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وضعیت</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احتمال</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t</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ضریب</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متغیر آزمون</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700" b="1" dirty="0">
                          <a:solidFill>
                            <a:schemeClr val="bg1"/>
                          </a:solidFill>
                          <a:latin typeface="B Nazanin" pitchFamily="34" charset="0"/>
                          <a:ea typeface="B Nazanin" pitchFamily="34" charset="-122"/>
                          <a:cs typeface="B Nazanin" pitchFamily="34" charset="-120"/>
                        </a:rPr>
                        <a:t>فرضیه</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640080">
                <a:tc>
                  <a:txBody>
                    <a:bodyPr/>
                    <a:lstStyle/>
                    <a:p>
                      <a:pPr rtl="1" algn="ctr" indent="0" marL="0">
                        <a:buNone/>
                      </a:pPr>
                      <a:r>
                        <a:rPr lang="fa-IR" altLang="en-US" sz="1700" b="1" dirty="0">
                          <a:solidFill>
                            <a:schemeClr val="accent4"/>
                          </a:solidFill>
                          <a:latin typeface="B Nazanin" pitchFamily="34" charset="0"/>
                          <a:ea typeface="B Nazanin" pitchFamily="34" charset="-122"/>
                          <a:cs typeface="B Nazanin" pitchFamily="34" charset="-120"/>
                        </a:rPr>
                        <a:t>تأیید</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‪0.1151‬</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‪-1.578‬</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‪-0.592‬</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NASR</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1: NAS و کاهش هزینه</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640080">
                <a:tc>
                  <a:txBody>
                    <a:bodyPr/>
                    <a:lstStyle/>
                    <a:p>
                      <a:pPr rtl="1" algn="ctr" indent="0" marL="0">
                        <a:buNone/>
                      </a:pPr>
                      <a:r>
                        <a:rPr lang="fa-IR" altLang="en-US" sz="1700" b="1" dirty="0">
                          <a:solidFill>
                            <a:schemeClr val="accent4"/>
                          </a:solidFill>
                          <a:latin typeface="B Nazanin" pitchFamily="34" charset="0"/>
                          <a:ea typeface="B Nazanin" pitchFamily="34" charset="-122"/>
                          <a:cs typeface="B Nazanin" pitchFamily="34" charset="-120"/>
                        </a:rPr>
                        <a:t>تأیید</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‪0.0108 / 0.0071‬</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‪-2.554 / 2.700‬</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‪-0.296 / 0.187‬</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‪COMPLEX / COMPLEX×BIG4‬</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2: اهمیت مشتری و اندازهٔ مؤسسه</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640080">
                <a:tc>
                  <a:txBody>
                    <a:bodyPr/>
                    <a:lstStyle/>
                    <a:p>
                      <a:pPr rtl="1" algn="ctr" indent="0" marL="0">
                        <a:buNone/>
                      </a:pPr>
                      <a:r>
                        <a:rPr lang="fa-IR" altLang="en-US" sz="1700" b="1" dirty="0">
                          <a:solidFill>
                            <a:schemeClr val="accent4"/>
                          </a:solidFill>
                          <a:latin typeface="B Nazanin" pitchFamily="34" charset="0"/>
                          <a:ea typeface="B Nazanin" pitchFamily="34" charset="-122"/>
                          <a:cs typeface="B Nazanin" pitchFamily="34" charset="-120"/>
                        </a:rPr>
                        <a:t>تأیید</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‪&lt; 0.0001‬</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‪-16.905‬</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‪-0.649‬</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AF</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3: ریکاوری حق‌الزحمه</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640080">
                <a:tc>
                  <a:txBody>
                    <a:bodyPr/>
                    <a:lstStyle/>
                    <a:p>
                      <a:pPr rtl="1" algn="ctr" indent="0" marL="0">
                        <a:buNone/>
                      </a:pPr>
                      <a:r>
                        <a:rPr lang="fa-IR" altLang="en-US" sz="1700" b="1" dirty="0">
                          <a:solidFill>
                            <a:schemeClr val="accent3"/>
                          </a:solidFill>
                          <a:latin typeface="B Nazanin" pitchFamily="34" charset="0"/>
                          <a:ea typeface="B Nazanin" pitchFamily="34" charset="-122"/>
                          <a:cs typeface="B Nazanin" pitchFamily="34" charset="-120"/>
                        </a:rPr>
                        <a:t>عدم تأیید</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‪&lt; 0.0001‬</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‪-34.029‬</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‪-0.240‬</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AF</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4: ریکاوری از مجرای NAS</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640080">
                <a:tc>
                  <a:txBody>
                    <a:bodyPr/>
                    <a:lstStyle/>
                    <a:p>
                      <a:pPr rtl="1" algn="ctr" indent="0" marL="0">
                        <a:buNone/>
                      </a:pPr>
                      <a:r>
                        <a:rPr lang="fa-IR" altLang="en-US" sz="1700" b="1" dirty="0">
                          <a:solidFill>
                            <a:schemeClr val="accent4"/>
                          </a:solidFill>
                          <a:latin typeface="B Nazanin" pitchFamily="34" charset="0"/>
                          <a:ea typeface="B Nazanin" pitchFamily="34" charset="-122"/>
                          <a:cs typeface="B Nazanin" pitchFamily="34" charset="-120"/>
                        </a:rPr>
                        <a:t>تأیید</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‪0.4108‬</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‪0.823‬</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‪0.027‬</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COSTP</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700" dirty="0">
                          <a:solidFill>
                            <a:schemeClr val="tx1"/>
                          </a:solidFill>
                          <a:latin typeface="B Nazanin" pitchFamily="34" charset="0"/>
                          <a:ea typeface="B Nazanin" pitchFamily="34" charset="-122"/>
                          <a:cs typeface="B Nazanin" pitchFamily="34" charset="-120"/>
                        </a:rPr>
                        <a:t>5: ریکاوری و کیفیت آینده</a:t>
                      </a:r>
                      <a:endParaRPr lang="fa-IR" sz="17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bl>
          </a:graphicData>
        </a:graphic>
      </p:graphicFrame>
      <p:sp>
        <p:nvSpPr>
          <p:cNvPr id="4" name="anim_2_412"/>
          <p:cNvSpPr/>
          <p:nvPr/>
        </p:nvSpPr>
        <p:spPr>
          <a:xfrm>
            <a:off x="548640" y="5669280"/>
            <a:ext cx="11091672" cy="731520"/>
          </a:xfrm>
          <a:prstGeom prst="roundRect">
            <a:avLst>
              <a:gd name="adj" fmla="val 15000"/>
            </a:avLst>
          </a:prstGeom>
          <a:solidFill>
            <a:schemeClr val="tx2"/>
          </a:solidFill>
          <a:ln/>
          <a:effectLst>
            <a:outerShdw sx="100000" sy="100000" kx="0" ky="0" algn="bl" rotWithShape="0" blurRad="101600" dist="25400" dir="5400000">
              <a:srgbClr val="000000">
                <a:alpha val="12000"/>
              </a:srgbClr>
            </a:outerShdw>
          </a:effectLst>
        </p:spPr>
      </p:sp>
      <p:sp>
        <p:nvSpPr>
          <p:cNvPr id="5" name="anim_2_413"/>
          <p:cNvSpPr txBox="1"/>
          <p:nvPr/>
        </p:nvSpPr>
        <p:spPr>
          <a:xfrm>
            <a:off x="822960" y="5687568"/>
            <a:ext cx="10543032" cy="694944"/>
          </a:xfrm>
          <a:prstGeom prst="rect">
            <a:avLst/>
          </a:prstGeom>
          <a:noFill/>
          <a:ln/>
        </p:spPr>
        <p:txBody>
          <a:bodyPr wrap="square" lIns="0" tIns="0" rIns="0" bIns="0" rtlCol="0" anchor="ctr"/>
          <a:lstStyle/>
          <a:p>
            <a:pPr rtl="1" algn="r" indent="0" marL="0">
              <a:buNone/>
            </a:pPr>
            <a:r>
              <a:rPr lang="fa-IR" altLang="en-US" sz="1900" dirty="0">
                <a:solidFill>
                  <a:schemeClr val="bg1"/>
                </a:solidFill>
                <a:latin typeface="B Nazanin" pitchFamily="34" charset="0"/>
                <a:ea typeface="B Nazanin" pitchFamily="34" charset="-122"/>
                <a:cs typeface="B Nazanin" pitchFamily="34" charset="-120"/>
              </a:rPr>
              <a:t>چهار فرضیه تأیید و یک فرضیه (چهارم) تأیید نشد؛ با بازمحاسبهٔ احتمال‌ها، نتیجهٔ هیچ فرضیه‌ای تغییر نمی‌کند.</a:t>
            </a:r>
            <a:endParaRPr lang="fa-IR" sz="19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25</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26"/>
                                        </p:tgtEl>
                                        <p:attrNameLst>
                                          <p:attrName>style.visibility</p:attrName>
                                        </p:attrNameLst>
                                      </p:cBhvr>
                                      <p:to>
                                        <p:strVal val="visible"/>
                                      </p:to>
                                    </p:set>
                                    <p:animEffect transition="in" filter="fade">
                                      <p:cBhvr>
                                        <p:cTn id="6" dur="600"/>
                                        <p:tgtEl>
                                          <p:spTgt spid="26"/>
                                        </p:tgtEl>
                                      </p:cBhvr>
                                    </p:animEffect>
                                  </p:childTnLst>
                                </p:cTn>
                              </p:par>
                              <p:par>
                                <p:cTn id="7" presetID="10" presetClass="entr" presetSubtype="0" fill="hold"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نگاه تصویری به یافته‌ها</a:t>
            </a:r>
            <a:endParaRPr lang="fa-IR" sz="3400" dirty="0"/>
          </a:p>
        </p:txBody>
      </p:sp>
      <p:graphicFrame>
        <p:nvGraphicFramePr>
          <p:cNvPr id="3" name="anim_1_414" descr=""/>
          <p:cNvGraphicFramePr/>
          <p:nvPr/>
        </p:nvGraphicFramePr>
        <p:xfrm>
          <a:off x="548640" y="1371600"/>
          <a:ext cx="5577840" cy="49377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anim_2_415" descr=""/>
          <p:cNvGraphicFramePr/>
          <p:nvPr/>
        </p:nvGraphicFramePr>
        <p:xfrm>
          <a:off x="6309360" y="1371600"/>
          <a:ext cx="5349240" cy="49377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3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مقایسه با پژوهش‌های پیشین: انطباق و مغایرت</a:t>
            </a:r>
            <a:endParaRPr lang="fa-IR" sz="3400" dirty="0"/>
          </a:p>
        </p:txBody>
      </p:sp>
      <p:graphicFrame>
        <p:nvGraphicFramePr>
          <p:cNvPr id="28" name="anim_1_tbl"/>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325112"/>
                <a:gridCol w="5669280"/>
                <a:gridCol w="1097280"/>
              </a:tblGrid>
              <a:tr h="868680">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مغایرت</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انطباق</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c>
                  <a:txBody>
                    <a:bodyPr/>
                    <a:lstStyle/>
                    <a:p>
                      <a:pPr rtl="1" algn="ctr" indent="0" marL="0">
                        <a:buNone/>
                      </a:pPr>
                      <a:r>
                        <a:rPr lang="fa-IR" altLang="en-US" sz="1600" b="1" dirty="0">
                          <a:solidFill>
                            <a:schemeClr val="bg1"/>
                          </a:solidFill>
                          <a:latin typeface="B Nazanin" pitchFamily="34" charset="0"/>
                          <a:ea typeface="B Nazanin" pitchFamily="34" charset="-122"/>
                          <a:cs typeface="B Nazanin" pitchFamily="34" charset="-120"/>
                        </a:rPr>
                        <a:t>فرضیه</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tx2"/>
                    </a:solidFill>
                  </a:tcPr>
                </a:tc>
              </a:tr>
              <a:tr h="868680">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سیمونیک (1984)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کروب و همکاران (2014)؛ باروا و همکاران (2020)؛ نواک و نچل (2023)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‪1‬</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868680">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جمع‌بندی کلی چو و همکاران (2020)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رشیدی و حاجی‌زاده (1403)؛ چو و همکاران (2020)؛ کارسون و فارگر (2007)</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868680">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عزیزخانی و آقابیگی (1392)؛ باروا و همکاران (2020)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سیمون و فرانسیس (1988)؛ پیل (2013)؛ کاچر و ویلسون (2016)؛ چو و همکاران (2020)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‪3‬</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r h="868680">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کروب و همکاران (2014)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پیل (2013)؛ فرانکل و همکاران (2002)</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‪4‬</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rgbClr val="EEF3F8"/>
                    </a:solidFill>
                  </a:tcPr>
                </a:tc>
              </a:tr>
              <a:tr h="868680">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سلیمانی و شکریان (1400)</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چو و همکاران (2020)؛ کروب و همکاران (2014)؛ کریشنان و تانی (2020)؛ امر و یوآن (2025)</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c>
                  <a:txBody>
                    <a:bodyPr/>
                    <a:lstStyle/>
                    <a:p>
                      <a:pPr rtl="1" algn="ctr" indent="0" marL="0">
                        <a:buNone/>
                      </a:pPr>
                      <a:r>
                        <a:rPr lang="fa-IR" altLang="en-US" sz="1600" dirty="0">
                          <a:solidFill>
                            <a:schemeClr val="tx1"/>
                          </a:solidFill>
                          <a:latin typeface="B Nazanin" pitchFamily="34" charset="0"/>
                          <a:ea typeface="B Nazanin" pitchFamily="34" charset="-122"/>
                          <a:cs typeface="B Nazanin" pitchFamily="34" charset="-120"/>
                        </a:rPr>
                        <a:t>‪5‬</a:t>
                      </a:r>
                      <a:endParaRPr lang="fa-IR" sz="1600" dirty="0">
                        <a:latin typeface="B Nazanin" charset="0"/>
                        <a:ea typeface="B Nazanin" charset="0"/>
                        <a:cs typeface="B Nazanin" charset="0"/>
                      </a:endParaRPr>
                    </a:p>
                  </a:txBody>
                  <a:tcPr marL="73152" marR="73152" marT="36576" marB="36576" anchor="ctr">
                    <a:lnL w="9525" cap="flat" cmpd="sng" algn="ctr">
                      <a:solidFill>
                        <a:srgbClr val="C9D3DF"/>
                      </a:solidFill>
                      <a:prstDash val="solid"/>
                      <a:round/>
                      <a:headEnd type="none" w="med" len="med"/>
                      <a:tailEnd type="none" w="med" len="med"/>
                    </a:lnL>
                    <a:lnR w="9525" cap="flat" cmpd="sng" algn="ctr">
                      <a:solidFill>
                        <a:srgbClr val="C9D3DF"/>
                      </a:solidFill>
                      <a:prstDash val="solid"/>
                      <a:round/>
                      <a:headEnd type="none" w="med" len="med"/>
                      <a:tailEnd type="none" w="med" len="med"/>
                    </a:lnR>
                    <a:lnT w="9525" cap="flat" cmpd="sng" algn="ctr">
                      <a:solidFill>
                        <a:srgbClr val="C9D3DF"/>
                      </a:solidFill>
                      <a:prstDash val="solid"/>
                      <a:round/>
                      <a:headEnd type="none" w="med" len="med"/>
                      <a:tailEnd type="none" w="med" len="med"/>
                    </a:lnT>
                    <a:lnB w="9525" cap="flat" cmpd="sng" algn="ctr">
                      <a:solidFill>
                        <a:srgbClr val="C9D3DF"/>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27</a:t>
            </a:fld>
            <a:endParaRPr lang="en-US"/>
          </a:p>
        </p:txBody>
      </p:sp>
    </p:spTree>
  </p:cSld>
  <p:clrMapOvr>
    <a:masterClrMapping/>
  </p:clrMapOvr>
  <p:transition spd="med">
    <p:wipe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28"/>
                                        </p:tgtEl>
                                        <p:attrNameLst>
                                          <p:attrName>style.visibility</p:attrName>
                                        </p:attrNameLst>
                                      </p:cBhvr>
                                      <p:to>
                                        <p:strVal val="visible"/>
                                      </p:to>
                                    </p:set>
                                    <p:animEffect transition="in" filter="fade">
                                      <p:cBhvr>
                                        <p:cTn id="6" dur="6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accent2"/>
                </a:solidFill>
                <a:latin typeface="B Titr" pitchFamily="34" charset="0"/>
                <a:ea typeface="B Titr" pitchFamily="34" charset="-122"/>
                <a:cs typeface="B Titr" pitchFamily="34" charset="-120"/>
              </a:rPr>
              <a:t>دکترین و نتیجه‌گیری</a:t>
            </a:r>
            <a:endParaRPr lang="fa-IR" sz="3400" dirty="0"/>
          </a:p>
        </p:txBody>
      </p:sp>
      <p:sp>
        <p:nvSpPr>
          <p:cNvPr id="3" name="anim_1_416"/>
          <p:cNvSpPr/>
          <p:nvPr/>
        </p:nvSpPr>
        <p:spPr>
          <a:xfrm>
            <a:off x="548640" y="1325880"/>
            <a:ext cx="11091672" cy="2011680"/>
          </a:xfrm>
          <a:prstGeom prst="roundRect">
            <a:avLst>
              <a:gd name="adj" fmla="val 5455"/>
            </a:avLst>
          </a:prstGeom>
          <a:solidFill>
            <a:schemeClr val="tx2"/>
          </a:solidFill>
          <a:ln/>
          <a:effectLst>
            <a:outerShdw sx="100000" sy="100000" kx="0" ky="0" algn="bl" rotWithShape="0" blurRad="101600" dist="25400" dir="5400000">
              <a:srgbClr val="000000">
                <a:alpha val="12000"/>
              </a:srgbClr>
            </a:outerShdw>
          </a:effectLst>
        </p:spPr>
      </p:sp>
      <p:sp>
        <p:nvSpPr>
          <p:cNvPr id="4" name="anim_1_417"/>
          <p:cNvSpPr txBox="1"/>
          <p:nvPr/>
        </p:nvSpPr>
        <p:spPr>
          <a:xfrm>
            <a:off x="822960" y="1371600"/>
            <a:ext cx="10543032" cy="1920240"/>
          </a:xfrm>
          <a:prstGeom prst="rect">
            <a:avLst/>
          </a:prstGeom>
          <a:noFill/>
          <a:ln/>
        </p:spPr>
        <p:txBody>
          <a:bodyPr wrap="square" lIns="0" tIns="0" rIns="0" bIns="0" rtlCol="0" anchor="ctr"/>
          <a:lstStyle/>
          <a:p>
            <a:pPr rtl="1" algn="r" indent="0" marL="0">
              <a:buNone/>
            </a:pPr>
            <a:r>
              <a:rPr lang="fa-IR" altLang="en-US" sz="2100" dirty="0">
                <a:solidFill>
                  <a:schemeClr val="bg1"/>
                </a:solidFill>
                <a:latin typeface="B Nazanin" pitchFamily="34" charset="0"/>
                <a:ea typeface="B Nazanin" pitchFamily="34" charset="-122"/>
                <a:cs typeface="B Nazanin" pitchFamily="34" charset="-120"/>
              </a:rPr>
              <a:t>«در بازار حسابرسی ایران، کاهش اولیهٔ هزینهٔ حسابرسی واقعیتی قابل مشاهده است که بازیابی آن عمدتاً از طریق افزایش حق‌الزحمهٔ حسابرسی (و تا حدی خدمات غیرحسابرسی) رخ می‌دهد؛ این فرایند در مؤسسات کوچک تحت تأثیر وابستگی به مشتریان مهم شدت می‌یابد، اما کیفیت حسابرسی آینده را به‌طور معناداری تغییر نمی‌دهد.»</a:t>
            </a:r>
            <a:endParaRPr lang="fa-IR" sz="2100" dirty="0"/>
          </a:p>
        </p:txBody>
      </p:sp>
      <p:sp>
        <p:nvSpPr>
          <p:cNvPr id="5" name="anim_2_418"/>
          <p:cNvSpPr/>
          <p:nvPr/>
        </p:nvSpPr>
        <p:spPr>
          <a:xfrm>
            <a:off x="90342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6" name="anim_2_419"/>
          <p:cNvSpPr/>
          <p:nvPr/>
        </p:nvSpPr>
        <p:spPr>
          <a:xfrm>
            <a:off x="9857232" y="3840480"/>
            <a:ext cx="822960" cy="822960"/>
          </a:xfrm>
          <a:prstGeom prst="ellipse">
            <a:avLst/>
          </a:prstGeom>
          <a:solidFill>
            <a:schemeClr val="accent1"/>
          </a:solidFill>
          <a:ln/>
        </p:spPr>
      </p:sp>
      <p:pic>
        <p:nvPicPr>
          <p:cNvPr id="7" name="anim_2_420" descr="preencoded.png">    </p:cNvPr>
          <p:cNvPicPr>
            <a:picLocks noChangeAspect="1"/>
          </p:cNvPicPr>
          <p:nvPr/>
        </p:nvPicPr>
        <p:blipFill>
          <a:blip r:embed="rId1"/>
          <a:stretch>
            <a:fillRect/>
          </a:stretch>
        </p:blipFill>
        <p:spPr>
          <a:xfrm>
            <a:off x="10054742" y="4037990"/>
            <a:ext cx="427939" cy="427939"/>
          </a:xfrm>
          <a:prstGeom prst="rect">
            <a:avLst/>
          </a:prstGeom>
        </p:spPr>
      </p:pic>
      <p:sp>
        <p:nvSpPr>
          <p:cNvPr id="8" name="anim_2_421"/>
          <p:cNvSpPr txBox="1"/>
          <p:nvPr/>
        </p:nvSpPr>
        <p:spPr>
          <a:xfrm>
            <a:off x="9125712" y="4800600"/>
            <a:ext cx="2286000" cy="109728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ریکاوری از حق‌الزحمهٔ حسابرسی</a:t>
            </a:r>
            <a:endParaRPr lang="fa-IR" sz="1800" dirty="0"/>
          </a:p>
        </p:txBody>
      </p:sp>
      <p:sp>
        <p:nvSpPr>
          <p:cNvPr id="9" name="anim_3_422"/>
          <p:cNvSpPr/>
          <p:nvPr/>
        </p:nvSpPr>
        <p:spPr>
          <a:xfrm>
            <a:off x="62910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0" name="anim_3_423"/>
          <p:cNvSpPr/>
          <p:nvPr/>
        </p:nvSpPr>
        <p:spPr>
          <a:xfrm>
            <a:off x="7114032" y="3840480"/>
            <a:ext cx="822960" cy="822960"/>
          </a:xfrm>
          <a:prstGeom prst="ellipse">
            <a:avLst/>
          </a:prstGeom>
          <a:solidFill>
            <a:schemeClr val="accent2"/>
          </a:solidFill>
          <a:ln/>
        </p:spPr>
      </p:sp>
      <p:pic>
        <p:nvPicPr>
          <p:cNvPr id="11" name="anim_3_424" descr="preencoded.png">    </p:cNvPr>
          <p:cNvPicPr>
            <a:picLocks noChangeAspect="1"/>
          </p:cNvPicPr>
          <p:nvPr/>
        </p:nvPicPr>
        <p:blipFill>
          <a:blip r:embed="rId2"/>
          <a:stretch>
            <a:fillRect/>
          </a:stretch>
        </p:blipFill>
        <p:spPr>
          <a:xfrm>
            <a:off x="7311542" y="4037990"/>
            <a:ext cx="427939" cy="427939"/>
          </a:xfrm>
          <a:prstGeom prst="rect">
            <a:avLst/>
          </a:prstGeom>
        </p:spPr>
      </p:pic>
      <p:sp>
        <p:nvSpPr>
          <p:cNvPr id="12" name="anim_3_425"/>
          <p:cNvSpPr txBox="1"/>
          <p:nvPr/>
        </p:nvSpPr>
        <p:spPr>
          <a:xfrm>
            <a:off x="6382512" y="4800600"/>
            <a:ext cx="2286000" cy="109728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اثر اهمیت مشتری در مؤسسات کوچک</a:t>
            </a:r>
            <a:endParaRPr lang="fa-IR" sz="1800" dirty="0"/>
          </a:p>
        </p:txBody>
      </p:sp>
      <p:sp>
        <p:nvSpPr>
          <p:cNvPr id="13" name="anim_4_426"/>
          <p:cNvSpPr/>
          <p:nvPr/>
        </p:nvSpPr>
        <p:spPr>
          <a:xfrm>
            <a:off x="35478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4" name="anim_4_427"/>
          <p:cNvSpPr/>
          <p:nvPr/>
        </p:nvSpPr>
        <p:spPr>
          <a:xfrm>
            <a:off x="4370832" y="3840480"/>
            <a:ext cx="822960" cy="822960"/>
          </a:xfrm>
          <a:prstGeom prst="ellipse">
            <a:avLst/>
          </a:prstGeom>
          <a:solidFill>
            <a:schemeClr val="accent4"/>
          </a:solidFill>
          <a:ln/>
        </p:spPr>
      </p:sp>
      <p:pic>
        <p:nvPicPr>
          <p:cNvPr id="15" name="anim_4_428" descr="preencoded.png">    </p:cNvPr>
          <p:cNvPicPr>
            <a:picLocks noChangeAspect="1"/>
          </p:cNvPicPr>
          <p:nvPr/>
        </p:nvPicPr>
        <p:blipFill>
          <a:blip r:embed="rId3"/>
          <a:stretch>
            <a:fillRect/>
          </a:stretch>
        </p:blipFill>
        <p:spPr>
          <a:xfrm>
            <a:off x="4568342" y="4037990"/>
            <a:ext cx="427939" cy="427939"/>
          </a:xfrm>
          <a:prstGeom prst="rect">
            <a:avLst/>
          </a:prstGeom>
        </p:spPr>
      </p:pic>
      <p:sp>
        <p:nvSpPr>
          <p:cNvPr id="16" name="anim_4_429"/>
          <p:cNvSpPr txBox="1"/>
          <p:nvPr/>
        </p:nvSpPr>
        <p:spPr>
          <a:xfrm>
            <a:off x="3639312" y="4800600"/>
            <a:ext cx="2286000" cy="109728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بدون افت معنادار کیفیت آینده</a:t>
            </a:r>
            <a:endParaRPr lang="fa-IR" sz="1800" dirty="0"/>
          </a:p>
        </p:txBody>
      </p:sp>
      <p:sp>
        <p:nvSpPr>
          <p:cNvPr id="17" name="anim_5_430"/>
          <p:cNvSpPr/>
          <p:nvPr/>
        </p:nvSpPr>
        <p:spPr>
          <a:xfrm>
            <a:off x="804672" y="3657600"/>
            <a:ext cx="2468880" cy="2377440"/>
          </a:xfrm>
          <a:prstGeom prst="roundRect">
            <a:avLst>
              <a:gd name="adj" fmla="val 4615"/>
            </a:avLst>
          </a:prstGeom>
          <a:solidFill>
            <a:schemeClr val="tx2"/>
          </a:solidFill>
          <a:ln/>
          <a:effectLst>
            <a:outerShdw sx="100000" sy="100000" kx="0" ky="0" algn="bl" rotWithShape="0" blurRad="101600" dist="25400" dir="5400000">
              <a:srgbClr val="000000">
                <a:alpha val="12000"/>
              </a:srgbClr>
            </a:outerShdw>
          </a:effectLst>
        </p:spPr>
      </p:sp>
      <p:sp>
        <p:nvSpPr>
          <p:cNvPr id="18" name="anim_5_431"/>
          <p:cNvSpPr/>
          <p:nvPr/>
        </p:nvSpPr>
        <p:spPr>
          <a:xfrm>
            <a:off x="1627632" y="3840480"/>
            <a:ext cx="822960" cy="822960"/>
          </a:xfrm>
          <a:prstGeom prst="ellipse">
            <a:avLst/>
          </a:prstGeom>
          <a:solidFill>
            <a:schemeClr val="accent5"/>
          </a:solidFill>
          <a:ln/>
        </p:spPr>
      </p:sp>
      <p:pic>
        <p:nvPicPr>
          <p:cNvPr id="19" name="anim_5_432" descr="preencoded.png">    </p:cNvPr>
          <p:cNvPicPr>
            <a:picLocks noChangeAspect="1"/>
          </p:cNvPicPr>
          <p:nvPr/>
        </p:nvPicPr>
        <p:blipFill>
          <a:blip r:embed="rId4"/>
          <a:stretch>
            <a:fillRect/>
          </a:stretch>
        </p:blipFill>
        <p:spPr>
          <a:xfrm>
            <a:off x="1825142" y="4037990"/>
            <a:ext cx="427939" cy="427939"/>
          </a:xfrm>
          <a:prstGeom prst="rect">
            <a:avLst/>
          </a:prstGeom>
        </p:spPr>
      </p:pic>
      <p:sp>
        <p:nvSpPr>
          <p:cNvPr id="20" name="anim_5_433"/>
          <p:cNvSpPr txBox="1"/>
          <p:nvPr/>
        </p:nvSpPr>
        <p:spPr>
          <a:xfrm>
            <a:off x="896112" y="4800600"/>
            <a:ext cx="2286000" cy="1097280"/>
          </a:xfrm>
          <a:prstGeom prst="rect">
            <a:avLst/>
          </a:prstGeom>
          <a:noFill/>
          <a:ln/>
        </p:spPr>
        <p:txBody>
          <a:bodyPr wrap="square" lIns="0" tIns="0" rIns="0" bIns="0" rtlCol="0" anchor="t"/>
          <a:lstStyle/>
          <a:p>
            <a:pPr rtl="1" algn="ctr" indent="0" marL="0">
              <a:buNone/>
            </a:pPr>
            <a:r>
              <a:rPr lang="fa-IR" altLang="en-US" sz="1800" dirty="0">
                <a:solidFill>
                  <a:schemeClr val="bg1"/>
                </a:solidFill>
                <a:latin typeface="B Nazanin" pitchFamily="34" charset="0"/>
                <a:ea typeface="B Nazanin" pitchFamily="34" charset="-122"/>
                <a:cs typeface="B Nazanin" pitchFamily="34" charset="-120"/>
              </a:rPr>
              <a:t>همسو با بیشتر پیشینهٔ بین‌المللی</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8"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3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35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3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70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70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70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7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105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10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10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10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14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par>
                                <p:cTn id="49" presetID="10" presetClass="entr" presetSubtype="0" fill="hold" nodeType="withEffect">
                                  <p:stCondLst>
                                    <p:cond delay="140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600"/>
                                        <p:tgtEl>
                                          <p:spTgt spid="18"/>
                                        </p:tgtEl>
                                      </p:cBhvr>
                                    </p:animEffect>
                                  </p:childTnLst>
                                </p:cTn>
                              </p:par>
                              <p:par>
                                <p:cTn id="52" presetID="10" presetClass="entr" presetSubtype="0" fill="hold" nodeType="withEffect">
                                  <p:stCondLst>
                                    <p:cond delay="14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600"/>
                                        <p:tgtEl>
                                          <p:spTgt spid="19"/>
                                        </p:tgtEl>
                                      </p:cBhvr>
                                    </p:animEffect>
                                  </p:childTnLst>
                                </p:cTn>
                              </p:par>
                              <p:par>
                                <p:cTn id="55" presetID="10" presetClass="entr" presetSubtype="0" fill="hold" nodeType="withEffect">
                                  <p:stCondLst>
                                    <p:cond delay="140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777240"/>
          </a:xfrm>
          <a:prstGeom prst="rect">
            <a:avLst/>
          </a:prstGeom>
          <a:noFill/>
          <a:ln/>
        </p:spPr>
        <p:txBody>
          <a:bodyPr wrap="square" lIns="0" tIns="0" rIns="0" bIns="0" rtlCol="0" anchor="ctr"/>
          <a:lstStyle/>
          <a:p>
            <a:pPr rtl="1" algn="r" indent="0" marL="0">
              <a:buNone/>
            </a:pPr>
            <a:r>
              <a:rPr lang="fa-IR" altLang="en-US" sz="3400" dirty="0">
                <a:solidFill>
                  <a:schemeClr val="tx2"/>
                </a:solidFill>
                <a:latin typeface="B Titr" pitchFamily="34" charset="0"/>
                <a:ea typeface="B Titr" pitchFamily="34" charset="-122"/>
                <a:cs typeface="B Titr" pitchFamily="34" charset="-120"/>
              </a:rPr>
              <a:t>پیشنهادها، محدودیت‌ها و پژوهش‌های آتی</a:t>
            </a:r>
            <a:endParaRPr lang="fa-IR" sz="3400" dirty="0"/>
          </a:p>
        </p:txBody>
      </p:sp>
      <p:sp>
        <p:nvSpPr>
          <p:cNvPr id="3" name="anim_1_434"/>
          <p:cNvSpPr/>
          <p:nvPr/>
        </p:nvSpPr>
        <p:spPr>
          <a:xfrm>
            <a:off x="813816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4" name="anim_1_435"/>
          <p:cNvSpPr/>
          <p:nvPr/>
        </p:nvSpPr>
        <p:spPr>
          <a:xfrm>
            <a:off x="10835640" y="1554480"/>
            <a:ext cx="685800" cy="685800"/>
          </a:xfrm>
          <a:prstGeom prst="ellipse">
            <a:avLst/>
          </a:prstGeom>
          <a:solidFill>
            <a:schemeClr val="accent1"/>
          </a:solidFill>
          <a:ln/>
        </p:spPr>
      </p:sp>
      <p:pic>
        <p:nvPicPr>
          <p:cNvPr id="5" name="anim_1_436" descr="preencoded.png">    </p:cNvPr>
          <p:cNvPicPr>
            <a:picLocks noChangeAspect="1"/>
          </p:cNvPicPr>
          <p:nvPr/>
        </p:nvPicPr>
        <p:blipFill>
          <a:blip r:embed="rId1"/>
          <a:stretch>
            <a:fillRect/>
          </a:stretch>
        </p:blipFill>
        <p:spPr>
          <a:xfrm>
            <a:off x="11000232" y="1719072"/>
            <a:ext cx="356616" cy="356616"/>
          </a:xfrm>
          <a:prstGeom prst="rect">
            <a:avLst/>
          </a:prstGeom>
        </p:spPr>
      </p:pic>
      <p:sp>
        <p:nvSpPr>
          <p:cNvPr id="6" name="anim_1_437"/>
          <p:cNvSpPr txBox="1"/>
          <p:nvPr/>
        </p:nvSpPr>
        <p:spPr>
          <a:xfrm>
            <a:off x="822960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پیشنهادهای کاربردی</a:t>
            </a:r>
            <a:endParaRPr lang="fa-IR" sz="1900" dirty="0"/>
          </a:p>
        </p:txBody>
      </p:sp>
      <p:sp>
        <p:nvSpPr>
          <p:cNvPr id="7" name="anim_1_438"/>
          <p:cNvSpPr txBox="1"/>
          <p:nvPr/>
        </p:nvSpPr>
        <p:spPr>
          <a:xfrm>
            <a:off x="827532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تعیین آستانهٔ حداقل حق‌الزحمه توسط سازمان بورس و جامعهٔ حسابداران</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تقویت افشای تفکیکی حق‌الزحمه و خدمات غیرحسابرسی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تمرکز نظارت بر مؤسسات کوچک و پایش تمرکز درآمدی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توجه کمیتهٔ حسابرسی به روند و الگوی ریکاوری</a:t>
            </a:r>
            <a:endParaRPr lang="fa-IR" sz="1800" dirty="0"/>
          </a:p>
        </p:txBody>
      </p:sp>
      <p:sp>
        <p:nvSpPr>
          <p:cNvPr id="8" name="anim_2_439"/>
          <p:cNvSpPr/>
          <p:nvPr/>
        </p:nvSpPr>
        <p:spPr>
          <a:xfrm>
            <a:off x="434340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9" name="anim_2_440"/>
          <p:cNvSpPr/>
          <p:nvPr/>
        </p:nvSpPr>
        <p:spPr>
          <a:xfrm>
            <a:off x="7040880" y="1554480"/>
            <a:ext cx="685800" cy="685800"/>
          </a:xfrm>
          <a:prstGeom prst="ellipse">
            <a:avLst/>
          </a:prstGeom>
          <a:solidFill>
            <a:schemeClr val="accent3"/>
          </a:solidFill>
          <a:ln/>
        </p:spPr>
      </p:sp>
      <p:pic>
        <p:nvPicPr>
          <p:cNvPr id="10" name="anim_2_441" descr="preencoded.png">    </p:cNvPr>
          <p:cNvPicPr>
            <a:picLocks noChangeAspect="1"/>
          </p:cNvPicPr>
          <p:nvPr/>
        </p:nvPicPr>
        <p:blipFill>
          <a:blip r:embed="rId2"/>
          <a:stretch>
            <a:fillRect/>
          </a:stretch>
        </p:blipFill>
        <p:spPr>
          <a:xfrm>
            <a:off x="7205472" y="1719072"/>
            <a:ext cx="356616" cy="356616"/>
          </a:xfrm>
          <a:prstGeom prst="rect">
            <a:avLst/>
          </a:prstGeom>
        </p:spPr>
      </p:pic>
      <p:sp>
        <p:nvSpPr>
          <p:cNvPr id="11" name="anim_2_442"/>
          <p:cNvSpPr txBox="1"/>
          <p:nvPr/>
        </p:nvSpPr>
        <p:spPr>
          <a:xfrm>
            <a:off x="443484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محدودیت‌ها</a:t>
            </a:r>
            <a:endParaRPr lang="fa-IR" sz="1900" dirty="0"/>
          </a:p>
        </p:txBody>
      </p:sp>
      <p:sp>
        <p:nvSpPr>
          <p:cNvPr id="12" name="anim_2_443"/>
          <p:cNvSpPr txBox="1"/>
          <p:nvPr/>
        </p:nvSpPr>
        <p:spPr>
          <a:xfrm>
            <a:off x="448056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افشای ناقص حق‌الزحمه‌های غیرحسابرسی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نمونهٔ محدود به شرکت‌های بورسی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سنجش کیفیت با اقلام تعهدی اختیاری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نوسانات اقتصادی دورهٔ 1396 تا 1402</a:t>
            </a:r>
            <a:endParaRPr lang="fa-IR" sz="1800" dirty="0"/>
          </a:p>
        </p:txBody>
      </p:sp>
      <p:sp>
        <p:nvSpPr>
          <p:cNvPr id="13" name="anim_3_444"/>
          <p:cNvSpPr/>
          <p:nvPr/>
        </p:nvSpPr>
        <p:spPr>
          <a:xfrm>
            <a:off x="548640" y="1417320"/>
            <a:ext cx="3566160" cy="4754880"/>
          </a:xfrm>
          <a:prstGeom prst="roundRect">
            <a:avLst>
              <a:gd name="adj" fmla="val 3077"/>
            </a:avLst>
          </a:prstGeom>
          <a:solidFill>
            <a:schemeClr val="bg2"/>
          </a:solidFill>
          <a:ln/>
          <a:effectLst>
            <a:outerShdw sx="100000" sy="100000" kx="0" ky="0" algn="bl" rotWithShape="0" blurRad="101600" dist="25400" dir="5400000">
              <a:srgbClr val="000000">
                <a:alpha val="12000"/>
              </a:srgbClr>
            </a:outerShdw>
          </a:effectLst>
        </p:spPr>
      </p:sp>
      <p:sp>
        <p:nvSpPr>
          <p:cNvPr id="14" name="anim_3_445"/>
          <p:cNvSpPr/>
          <p:nvPr/>
        </p:nvSpPr>
        <p:spPr>
          <a:xfrm>
            <a:off x="3246120" y="1554480"/>
            <a:ext cx="685800" cy="685800"/>
          </a:xfrm>
          <a:prstGeom prst="ellipse">
            <a:avLst/>
          </a:prstGeom>
          <a:solidFill>
            <a:schemeClr val="accent2"/>
          </a:solidFill>
          <a:ln/>
        </p:spPr>
      </p:sp>
      <p:pic>
        <p:nvPicPr>
          <p:cNvPr id="15" name="anim_3_446" descr="preencoded.png">    </p:cNvPr>
          <p:cNvPicPr>
            <a:picLocks noChangeAspect="1"/>
          </p:cNvPicPr>
          <p:nvPr/>
        </p:nvPicPr>
        <p:blipFill>
          <a:blip r:embed="rId3"/>
          <a:stretch>
            <a:fillRect/>
          </a:stretch>
        </p:blipFill>
        <p:spPr>
          <a:xfrm>
            <a:off x="3410712" y="1719072"/>
            <a:ext cx="356616" cy="356616"/>
          </a:xfrm>
          <a:prstGeom prst="rect">
            <a:avLst/>
          </a:prstGeom>
        </p:spPr>
      </p:pic>
      <p:sp>
        <p:nvSpPr>
          <p:cNvPr id="16" name="anim_3_447"/>
          <p:cNvSpPr txBox="1"/>
          <p:nvPr/>
        </p:nvSpPr>
        <p:spPr>
          <a:xfrm>
            <a:off x="640080" y="1600200"/>
            <a:ext cx="2468880" cy="594360"/>
          </a:xfrm>
          <a:prstGeom prst="rect">
            <a:avLst/>
          </a:prstGeom>
          <a:noFill/>
          <a:ln/>
        </p:spPr>
        <p:txBody>
          <a:bodyPr wrap="square" lIns="0" tIns="0" rIns="0" bIns="0" rtlCol="0" anchor="ctr"/>
          <a:lstStyle/>
          <a:p>
            <a:pPr rtl="1" algn="r" indent="0" marL="0">
              <a:buNone/>
            </a:pPr>
            <a:r>
              <a:rPr lang="fa-IR" altLang="en-US" sz="1900" dirty="0">
                <a:solidFill>
                  <a:schemeClr val="tx2"/>
                </a:solidFill>
                <a:latin typeface="B Titr" pitchFamily="34" charset="0"/>
                <a:ea typeface="B Titr" pitchFamily="34" charset="-122"/>
                <a:cs typeface="B Titr" pitchFamily="34" charset="-120"/>
              </a:rPr>
              <a:t>پژوهش‌های آتی</a:t>
            </a:r>
            <a:endParaRPr lang="fa-IR" sz="1900" dirty="0"/>
          </a:p>
        </p:txBody>
      </p:sp>
      <p:sp>
        <p:nvSpPr>
          <p:cNvPr id="17" name="anim_3_448"/>
          <p:cNvSpPr txBox="1"/>
          <p:nvPr/>
        </p:nvSpPr>
        <p:spPr>
          <a:xfrm>
            <a:off x="685800" y="2423160"/>
            <a:ext cx="3291840" cy="3657600"/>
          </a:xfrm>
          <a:prstGeom prst="rect">
            <a:avLst/>
          </a:prstGeom>
          <a:noFill/>
          <a:ln/>
        </p:spPr>
        <p:txBody>
          <a:bodyPr wrap="square" lIns="0" tIns="0" rIns="0" bIns="0" rtlCol="0" anchor="t"/>
          <a:lstStyle/>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معیارهای جایگزین کیفیت (تجدید ارائه، گزارش حسابرس)</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حاکمیت شرکتی و تخصص صنعتی</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آزمون والد برای اثر خالص مؤسسات بزرگ</a:t>
            </a:r>
            <a:endParaRPr lang="fa-IR" sz="1800" dirty="0"/>
          </a:p>
          <a:p>
            <a:pPr algn="r" marL="342900" indent="-342900">
              <a:spcAft>
                <a:spcPts val="1000"/>
              </a:spcAft>
              <a:buSzPct val="100000"/>
              <a:buChar char="•"/>
            </a:pPr>
            <a:r>
              <a:rPr lang="fa-IR" altLang="en-US" sz="1800" dirty="0">
                <a:solidFill>
                  <a:schemeClr val="tx1"/>
                </a:solidFill>
                <a:latin typeface="B Nazanin" pitchFamily="34" charset="0"/>
                <a:ea typeface="B Nazanin" pitchFamily="34" charset="-122"/>
                <a:cs typeface="B Nazanin" pitchFamily="34" charset="-120"/>
              </a:rPr>
              <a:t>زیرنمونهٔ سال اول رابطهٔ حسابرسی</a:t>
            </a:r>
            <a:endParaRPr lang="fa-IR" sz="1800" dirty="0"/>
          </a:p>
        </p:txBody>
      </p:sp>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29</a:t>
            </a:fld>
            <a:endParaRPr lang="en-US"/>
          </a:p>
        </p:txBody>
      </p:sp>
    </p:spTree>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9"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600"/>
                                        <p:tgtEl>
                                          <p:spTgt spid="3"/>
                                        </p:tgtEl>
                                      </p:cBhvr>
                                    </p:animEffect>
                                  </p:childTnLst>
                                </p:cTn>
                              </p:par>
                              <p:par>
                                <p:cTn id="7" presetID="10"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10"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6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600"/>
                                        <p:tgtEl>
                                          <p:spTgt spid="6"/>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childTnLst>
                                </p:cTn>
                              </p:par>
                              <p:par>
                                <p:cTn id="19" presetID="10" presetClass="entr" presetSubtype="0" fill="hold" nodeType="withEffect">
                                  <p:stCondLst>
                                    <p:cond delay="35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600"/>
                                        <p:tgtEl>
                                          <p:spTgt spid="8"/>
                                        </p:tgtEl>
                                      </p:cBhvr>
                                    </p:animEffect>
                                  </p:childTnLst>
                                </p:cTn>
                              </p:par>
                              <p:par>
                                <p:cTn id="22" presetID="10" presetClass="entr" presetSubtype="0" fill="hold" nodeType="withEffect">
                                  <p:stCondLst>
                                    <p:cond delay="35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fill="hold" nodeType="withEffect">
                                  <p:stCondLst>
                                    <p:cond delay="35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fill="hold" nodeType="withEffect">
                                  <p:stCondLst>
                                    <p:cond delay="35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fill="hold" nodeType="withEffect">
                                  <p:stCondLst>
                                    <p:cond delay="35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fill="hold" nodeType="withEffect">
                                  <p:stCondLst>
                                    <p:cond delay="70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fill="hold" nodeType="withEffect">
                                  <p:stCondLst>
                                    <p:cond delay="70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fill="hold" nodeType="withEffect">
                                  <p:stCondLst>
                                    <p:cond delay="70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fill="hold" nodeType="withEffect">
                                  <p:stCondLst>
                                    <p:cond delay="70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fill="hold" nodeType="withEffect">
                                  <p:stCondLst>
                                    <p:cond delay="70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7498080" y="-1097280"/>
            <a:ext cx="6400800" cy="6400800"/>
          </a:xfrm>
          <a:prstGeom prst="ellipse">
            <a:avLst/>
          </a:prstGeom>
          <a:solidFill>
            <a:srgbClr val="0E7C86"/>
          </a:solidFill>
          <a:ln/>
        </p:spPr>
      </p:sp>
      <p:sp>
        <p:nvSpPr>
          <p:cNvPr id="3" name="Shape 1"/>
          <p:cNvSpPr/>
          <p:nvPr/>
        </p:nvSpPr>
        <p:spPr>
          <a:xfrm>
            <a:off x="-1645920" y="4206240"/>
            <a:ext cx="4937760" cy="4937760"/>
          </a:xfrm>
          <a:prstGeom prst="ellipse">
            <a:avLst/>
          </a:prstGeom>
          <a:solidFill>
            <a:srgbClr val="F2A541"/>
          </a:solidFill>
          <a:ln/>
        </p:spPr>
      </p:sp>
      <p:sp>
        <p:nvSpPr>
          <p:cNvPr id="4" name="anim_1_449"/>
          <p:cNvSpPr txBox="1"/>
          <p:nvPr/>
        </p:nvSpPr>
        <p:spPr>
          <a:xfrm>
            <a:off x="822960" y="2011680"/>
            <a:ext cx="10515600" cy="1188720"/>
          </a:xfrm>
          <a:prstGeom prst="rect">
            <a:avLst/>
          </a:prstGeom>
          <a:noFill/>
          <a:ln/>
        </p:spPr>
        <p:txBody>
          <a:bodyPr wrap="square" lIns="0" tIns="0" rIns="0" bIns="0" rtlCol="0" anchor="ctr"/>
          <a:lstStyle/>
          <a:p>
            <a:pPr rtl="1" algn="ctr" indent="0" marL="0">
              <a:buNone/>
            </a:pPr>
            <a:r>
              <a:rPr lang="fa-IR" altLang="en-US" sz="4800" dirty="0">
                <a:solidFill>
                  <a:schemeClr val="bg1"/>
                </a:solidFill>
                <a:latin typeface="B Titr" pitchFamily="34" charset="0"/>
                <a:ea typeface="B Titr" pitchFamily="34" charset="-122"/>
                <a:cs typeface="B Titr" pitchFamily="34" charset="-120"/>
              </a:rPr>
              <a:t>با تشکر از توجه شما</a:t>
            </a:r>
            <a:endParaRPr lang="fa-IR" sz="4800" dirty="0"/>
          </a:p>
        </p:txBody>
      </p:sp>
      <p:sp>
        <p:nvSpPr>
          <p:cNvPr id="5" name="anim_2_450"/>
          <p:cNvSpPr txBox="1"/>
          <p:nvPr/>
        </p:nvSpPr>
        <p:spPr>
          <a:xfrm>
            <a:off x="822960" y="3474720"/>
            <a:ext cx="10515600" cy="731520"/>
          </a:xfrm>
          <a:prstGeom prst="rect">
            <a:avLst/>
          </a:prstGeom>
          <a:noFill/>
          <a:ln/>
        </p:spPr>
        <p:txBody>
          <a:bodyPr wrap="square" lIns="0" tIns="0" rIns="0" bIns="0" rtlCol="0" anchor="t"/>
          <a:lstStyle/>
          <a:p>
            <a:pPr rtl="1" algn="ctr" indent="0" marL="0">
              <a:buNone/>
            </a:pPr>
            <a:r>
              <a:rPr lang="fa-IR" altLang="en-US" sz="2600" dirty="0">
                <a:solidFill>
                  <a:schemeClr val="accent2"/>
                </a:solidFill>
                <a:latin typeface="B Nazanin" pitchFamily="34" charset="0"/>
                <a:ea typeface="B Nazanin" pitchFamily="34" charset="-122"/>
                <a:cs typeface="B Nazanin" pitchFamily="34" charset="-120"/>
              </a:rPr>
              <a:t>آمادهٔ پاسخ‌گویی به پرسش‌ها و نظرات داوران محترم</a:t>
            </a:r>
            <a:endParaRPr lang="fa-IR" sz="2600" dirty="0"/>
          </a:p>
        </p:txBody>
      </p:sp>
      <p:sp>
        <p:nvSpPr>
          <p:cNvPr id="6" name="anim_3_451"/>
          <p:cNvSpPr/>
          <p:nvPr/>
        </p:nvSpPr>
        <p:spPr>
          <a:xfrm>
            <a:off x="5669280" y="4572000"/>
            <a:ext cx="868680" cy="868680"/>
          </a:xfrm>
          <a:prstGeom prst="ellipse">
            <a:avLst/>
          </a:prstGeom>
          <a:solidFill>
            <a:schemeClr val="accent2"/>
          </a:solidFill>
          <a:ln/>
        </p:spPr>
      </p:sp>
      <p:pic>
        <p:nvPicPr>
          <p:cNvPr id="7" name="anim_3_452" descr="preencoded.png">    </p:cNvPr>
          <p:cNvPicPr>
            <a:picLocks noChangeAspect="1"/>
          </p:cNvPicPr>
          <p:nvPr/>
        </p:nvPicPr>
        <p:blipFill>
          <a:blip r:embed="rId1"/>
          <a:stretch>
            <a:fillRect/>
          </a:stretch>
        </p:blipFill>
        <p:spPr>
          <a:xfrm>
            <a:off x="5877763" y="4780483"/>
            <a:ext cx="451714" cy="451714"/>
          </a:xfrm>
          <a:prstGeom prst="rect">
            <a:avLst/>
          </a:prstGeom>
        </p:spPr>
      </p:pic>
      <p:sp>
        <p:nvSpPr>
          <p:cNvPr id="25" name="Slide Number Placeholder 0"/>
          <p:cNvSpPr>
            <a:spLocks noGrp="1"/>
          </p:cNvSpPr>
          <p:nvPr>
            <p:ph type="sldNum" sz="quarter" idx="4294967295"/>
          </p:nvPr>
        </p:nvSpPr>
        <p:spPr>
          <a:xfrm>
            <a:off x="320040" y="6400800"/>
            <a:ext cx="731520" cy="320040"/>
          </a:xfrm>
          <a:prstGeom prst="rect">
            <a:avLst/>
          </a:prstGeom>
          <a:extLst>
            <a:ext uri="{C572A759-6A51-4108-AA02-DFA0A04FC94B}">
              <ma14:wrappingTextBoxFlag xmlns:ma14="http://schemas.microsoft.com/office/mac/drawingml/2011/main" val="0"/>
            </a:ext>
          </a:extLst>
        </p:spPr>
        <p:txBody>
          <a:bodyPr/>
          <a:lstStyle>
            <a:lvl1pPr>
              <a:defRPr sz="1400">
                <a:solidFill>
                  <a:schemeClr val="accent6"/>
                </a:solidFill>
                <a:latin typeface="B Nazanin"/>
                <a:ea typeface="B Nazanin"/>
                <a:cs typeface="B Nazanin"/>
              </a:defRPr>
            </a:lvl1pPr>
          </a:lstStyle>
          <a:p>
            <a:pPr algn="l"/>
            <a:fld id="{F7021451-1387-4CA6-816F-3879F97B5CBC}" type="slidenum">
              <a:rPr b="0" lang="en-US"/>
              <a:t>30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 fill="hold">
                            <p:stCondLst>
                              <p:cond delay="0"/>
                            </p:stCondLst>
                            <p:childTnLst>
                              <p:par>
                                <p:cTn id="4" presetID="10" presetClass="entr" presetSubtype="0" fill="hold" nodeType="after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childTnLst>
                                </p:cTn>
                              </p:par>
                              <p:par>
                                <p:cTn id="7" presetID="10" presetClass="entr" presetSubtype="0" fill="hold" nodeType="withEffect">
                                  <p:stCondLst>
                                    <p:cond delay="35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600"/>
                                        <p:tgtEl>
                                          <p:spTgt spid="5"/>
                                        </p:tgtEl>
                                      </p:cBhvr>
                                    </p:animEffect>
                                  </p:childTnLst>
                                </p:cTn>
                              </p:par>
                              <p:par>
                                <p:cTn id="10" presetID="10" presetClass="entr" presetSubtype="0" fill="hold" nodeType="withEffect">
                                  <p:stCondLst>
                                    <p:cond delay="7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600"/>
                                        <p:tgtEl>
                                          <p:spTgt spid="6"/>
                                        </p:tgtEl>
                                      </p:cBhvr>
                                    </p:animEffect>
                                  </p:childTnLst>
                                </p:cTn>
                              </p:par>
                              <p:par>
                                <p:cTn id="13" presetID="10" presetClass="entr" presetSubtype="0" fill="hold" nodeType="withEffect">
                                  <p:stCondLst>
                                    <p:cond delay="7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uditDefense">
  <a:themeElements>
    <a:clrScheme name="AuditDefense">
      <a:dk1>
        <a:srgbClr val="0B1F3A"/>
      </a:dk1>
      <a:lt1>
        <a:srgbClr val="FFFFFF"/>
      </a:lt1>
      <a:dk2>
        <a:srgbClr val="13315C"/>
      </a:dk2>
      <a:lt2>
        <a:srgbClr val="EEF3F8"/>
      </a:lt2>
      <a:accent1>
        <a:srgbClr val="0E7C86"/>
      </a:accent1>
      <a:accent2>
        <a:srgbClr val="F2A541"/>
      </a:accent2>
      <a:accent3>
        <a:srgbClr val="C8553D"/>
      </a:accent3>
      <a:accent4>
        <a:srgbClr val="3E8E41"/>
      </a:accent4>
      <a:accent5>
        <a:srgbClr val="5B7FA6"/>
      </a:accent5>
      <a:accent6>
        <a:srgbClr val="8E9AAF"/>
      </a:accent6>
      <a:hlink>
        <a:srgbClr val="0E7C86"/>
      </a:hlink>
      <a:folHlink>
        <a:srgbClr val="5B7FA6"/>
      </a:folHlink>
    </a:clrScheme>
    <a:fontScheme name="AuditDefense">
      <a:majorFont>
        <a:latin typeface="B Tit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 Nazani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دفاع از رسالهٔ دکتری: بررسی هزینه‌های حسابرسی و ارائهٔ مدلی جهت پیش‌بینی آن</dc:title>
  <dc:subject>PptxGenJS Presentation</dc:subject>
  <dc:creator>رسالهٔ دکتری حسابداری</dc:creator>
  <cp:lastModifiedBy>رسالهٔ دکتری حسابداری</cp:lastModifiedBy>
  <cp:revision>1</cp:revision>
  <dcterms:created xsi:type="dcterms:W3CDTF">2026-10-13T11:15:33Z</dcterms:created>
  <dcterms:modified xsi:type="dcterms:W3CDTF">2026-10-13T11:15:33Z</dcterms:modified>
</cp:coreProperties>
</file>