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700" b="0" i="0" u="none" strike="noStrike">
                <a:solidFill>
                  <a:srgbClr val="0B1F3A"/>
                </a:solidFill>
                <a:latin typeface="B Nazanin"/>
              </a:defRPr>
            </a:pPr>
            <a:r>
              <a:rPr sz="1700" b="0" i="0" u="none" strike="noStrike">
                <a:solidFill>
                  <a:srgbClr val="0B1F3A"/>
                </a:solidFill>
                <a:latin typeface="B Nazanin"/>
              </a:rPr>
              <a:t>توزیع مشاهدات بر حسب مؤسسهٔ حسابرس (درصد)</a:t>
            </a:r>
          </a:p>
        </c:rich>
      </c:tx>
      <c:layout/>
      <c:overlay val="0"/>
    </c:title>
    <c:autoTitleDeleted val="0"/>
    <c:plotArea>
      <c:layout/>
      <c:doughnutChart>
        <c:varyColors val="1"/>
        <c:ser>
          <c:idx val="0"/>
          <c:order val="0"/>
          <c:tx>
            <c:strRef>
              <c:f>Sheet1!$B$1</c:f>
              <c:strCache>
                <c:ptCount val="1"/>
                <c:pt idx="0">
                  <c:v>سهم مشاهدات</c:v>
                </c:pt>
              </c:strCache>
            </c:strRef>
          </c:tx>
          <c:spPr>
            <a:solidFill>
              <a:schemeClr val="accent1"/>
            </a:solidFill>
            <a:ln w="9525" cap="flat">
              <a:solidFill>
                <a:srgbClr val="F9F9F9"/>
              </a:solidFill>
              <a:prstDash val="solid"/>
              <a:round/>
            </a:ln>
            <a:effectLst/>
          </c:spPr>
          <c:dPt>
            <c:idx val="0"/>
            <c:bubble3D val="0"/>
            <c:spPr>
              <a:solidFill>
                <a:srgbClr val="5B7FA6"/>
              </a:solidFill>
              <a:effectLst/>
            </c:spPr>
          </c:dPt>
          <c:dPt>
            <c:idx val="1"/>
            <c:bubble3D val="0"/>
            <c:spPr>
              <a:solidFill>
                <a:srgbClr val="F2A541"/>
              </a:solidFill>
              <a:effectLst/>
            </c:spPr>
          </c:dPt>
          <c:dLbls>
            <c:dLbl>
              <c:idx val="0"/>
              <c:numFmt formatCode="0%" sourceLinked="0"/>
              <c:spPr/>
              <c:txPr>
                <a:bodyPr/>
                <a:lstStyle/>
                <a:p>
                  <a:pPr>
                    <a:defRPr sz="1600" b="0" i="0" u="none" strike="noStrike">
                      <a:solidFill>
                        <a:srgbClr val="FFFFFF"/>
                      </a:solidFill>
                      <a:latin typeface="B Nazanin"/>
                    </a:defRPr>
                  </a:pPr>
                </a:p>
              </c:txPr>
              <c:showLegendKey val="0"/>
              <c:showVal val="0"/>
              <c:showCatName val="0"/>
              <c:showSerName val="0"/>
              <c:showPercent val="1"/>
              <c:showBubbleSize val="0"/>
            </c:dLbl>
            <c:dLbl>
              <c:idx val="1"/>
              <c:numFmt formatCode="0%" sourceLinked="0"/>
              <c:spPr/>
              <c:txPr>
                <a:bodyPr/>
                <a:lstStyle/>
                <a:p>
                  <a:pPr>
                    <a:defRPr sz="1600" b="0" i="0" u="none" strike="noStrike">
                      <a:solidFill>
                        <a:srgbClr val="FFFFFF"/>
                      </a:solidFill>
                      <a:latin typeface="B Nazanin"/>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سایر مؤسسات</c:v>
                </c:pt>
                <c:pt idx="1">
                  <c:v>سازمان حسابرسی</c:v>
                </c:pt>
              </c:strCache>
            </c:strRef>
          </c:cat>
          <c:val>
            <c:numRef>
              <c:f>Sheet1!$B$2:$B$3</c:f>
              <c:numCache>
                <c:ptCount val="2"/>
                <c:pt idx="0">
                  <c:v>87.2</c:v>
                </c:pt>
                <c:pt idx="1">
                  <c:v>12.8</c:v>
                </c:pt>
              </c:numCache>
            </c:numRef>
          </c:val>
        </c:ser>
        <c:firstSliceAng val="0"/>
        <c:holeSize val="55"/>
      </c:doughnutChart>
      <c:spPr>
        <a:noFill/>
        <a:ln>
          <a:noFill/>
        </a:ln>
        <a:effectLst/>
      </c:spPr>
    </c:plotArea>
    <c:legend>
      <c:legendPos val="b"/>
      <c:overlay val="0"/>
      <c:txPr>
        <a:bodyPr/>
        <a:lstStyle/>
        <a:p>
          <a:pPr>
            <a:defRPr sz="1600">
              <a:solidFill>
                <a:srgbClr val="0B1F3A"/>
              </a:solidFill>
              <a:latin typeface="B Nazanin"/>
              <a:cs typeface="B Nazanin"/>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B1F3A"/>
                </a:solidFill>
                <a:latin typeface="B Nazanin"/>
              </a:defRPr>
            </a:pPr>
            <a:r>
              <a:rPr sz="1800" b="0" i="0" u="none" strike="noStrike">
                <a:solidFill>
                  <a:srgbClr val="0B1F3A"/>
                </a:solidFill>
                <a:latin typeface="B Nazanin"/>
              </a:rPr>
              <a:t>ضریب متغیر آزمون در هر مدل</a:t>
            </a:r>
          </a:p>
        </c:rich>
      </c:tx>
      <c:layout/>
      <c:overlay val="0"/>
    </c:title>
    <c:autoTitleDeleted val="0"/>
    <c:plotArea>
      <c:layout/>
      <c:barChart>
        <c:barDir val="col"/>
        <c:grouping val="clustered"/>
        <c:varyColors val="0"/>
        <c:ser>
          <c:idx val="0"/>
          <c:order val="0"/>
          <c:tx>
            <c:strRef>
              <c:f>Sheet1!$B$1</c:f>
              <c:strCache>
                <c:ptCount val="1"/>
                <c:pt idx="0">
                  <c:v>ضریب برآوردشده</c:v>
                </c:pt>
              </c:strCache>
            </c:strRef>
          </c:tx>
          <c:spPr>
            <a:solidFill>
              <a:srgbClr val="0E7C86"/>
            </a:solidFill>
            <a:effectLst/>
          </c:spPr>
          <c:invertIfNegative val="0"/>
          <c:dLbls>
            <c:numFmt formatCode="0.000" sourceLinked="0"/>
            <c:txPr>
              <a:bodyPr/>
              <a:lstStyle/>
              <a:p>
                <a:pPr>
                  <a:defRPr b="0" i="0" strike="noStrike" sz="1400" u="none">
                    <a:solidFill>
                      <a:srgbClr val="0B1F3A"/>
                    </a:solidFill>
                    <a:latin typeface="B Nazanin"/>
                  </a:defRPr>
                </a:pPr>
              </a:p>
            </c:txPr>
            <c:showLegendKey val="0"/>
            <c:showVal val="1"/>
            <c:showCatName val="0"/>
            <c:showSerName val="0"/>
            <c:showPercent val="0"/>
            <c:showBubbleSize val="0"/>
            <c:showLeaderLines val="0"/>
          </c:dLbls>
          <c:cat>
            <c:multiLvlStrRef>
              <c:f>Sheet1!$A$2:$A$6</c:f>
              <c:multiLvlStrCache>
                <c:ptCount val="5"/>
                <c:lvl>
                  <c:pt idx="0">
                    <c:v>فرضیه 1</c:v>
                  </c:pt>
                  <c:pt idx="1">
                    <c:v>فرضیه 2</c:v>
                  </c:pt>
                  <c:pt idx="2">
                    <c:v>فرضیه 3</c:v>
                  </c:pt>
                  <c:pt idx="3">
                    <c:v>فرضیه 4</c:v>
                  </c:pt>
                  <c:pt idx="4">
                    <c:v>فرضیه 5</c:v>
                  </c:pt>
                </c:lvl>
              </c:multiLvlStrCache>
            </c:multiLvlStrRef>
          </c:cat>
          <c:val>
            <c:numRef>
              <c:f>Sheet1!$B$2:$B$6</c:f>
              <c:numCache>
                <c:formatCode>General</c:formatCode>
                <c:ptCount val="5"/>
                <c:pt idx="0">
                  <c:v>-0.592</c:v>
                </c:pt>
                <c:pt idx="1">
                  <c:v>-0.296</c:v>
                </c:pt>
                <c:pt idx="2">
                  <c:v>-0.649</c:v>
                </c:pt>
                <c:pt idx="3">
                  <c:v>-0.24</c:v>
                </c:pt>
                <c:pt idx="4">
                  <c:v>0.027</c:v>
                </c:pt>
              </c:numCache>
            </c:numRef>
          </c:val>
        </c:ser>
        <c:dLbls>
          <c:numFmt formatCode="0.000" sourceLinked="0"/>
          <c:txPr>
            <a:bodyPr/>
            <a:lstStyle/>
            <a:p>
              <a:pPr>
                <a:defRPr b="0" i="0" strike="noStrike" sz="1400" u="none">
                  <a:solidFill>
                    <a:srgbClr val="0B1F3A"/>
                  </a:solidFill>
                  <a:latin typeface="B Nazanin"/>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F3A"/>
                </a:solidFill>
                <a:latin typeface="B Nazanin"/>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D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0B1F3A"/>
                </a:solidFill>
                <a:latin typeface="B Nazani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B1F3A"/>
                </a:solidFill>
                <a:latin typeface="B Nazanin"/>
              </a:defRPr>
            </a:pPr>
            <a:r>
              <a:rPr sz="1800" b="0" i="0" u="none" strike="noStrike">
                <a:solidFill>
                  <a:srgbClr val="0B1F3A"/>
                </a:solidFill>
                <a:latin typeface="B Nazanin"/>
              </a:rPr>
              <a:t>قدرت توضیحی مدل‌ها</a:t>
            </a:r>
          </a:p>
        </c:rich>
      </c:tx>
      <c:layout/>
      <c:overlay val="0"/>
    </c:title>
    <c:autoTitleDeleted val="0"/>
    <c:plotArea>
      <c:layout/>
      <c:barChart>
        <c:barDir val="col"/>
        <c:grouping val="clustered"/>
        <c:varyColors val="0"/>
        <c:ser>
          <c:idx val="0"/>
          <c:order val="0"/>
          <c:tx>
            <c:strRef>
              <c:f>Sheet1!$B$1</c:f>
              <c:strCache>
                <c:ptCount val="1"/>
                <c:pt idx="0">
                  <c:v>ضریب تعیین</c:v>
                </c:pt>
              </c:strCache>
            </c:strRef>
          </c:tx>
          <c:spPr>
            <a:solidFill>
              <a:srgbClr val="F2A541"/>
            </a:solidFill>
            <a:effectLst/>
          </c:spPr>
          <c:invertIfNegative val="0"/>
          <c:dLbls>
            <c:numFmt formatCode="0.000" sourceLinked="0"/>
            <c:txPr>
              <a:bodyPr/>
              <a:lstStyle/>
              <a:p>
                <a:pPr>
                  <a:defRPr b="0" i="0" strike="noStrike" sz="1400" u="none">
                    <a:solidFill>
                      <a:srgbClr val="0B1F3A"/>
                    </a:solidFill>
                    <a:latin typeface="B Nazanin"/>
                  </a:defRPr>
                </a:pPr>
              </a:p>
            </c:txPr>
            <c:showLegendKey val="0"/>
            <c:showVal val="1"/>
            <c:showCatName val="0"/>
            <c:showSerName val="0"/>
            <c:showPercent val="0"/>
            <c:showBubbleSize val="0"/>
            <c:showLeaderLines val="0"/>
          </c:dLbls>
          <c:cat>
            <c:multiLvlStrRef>
              <c:f>Sheet1!$A$2:$A$6</c:f>
              <c:multiLvlStrCache>
                <c:ptCount val="5"/>
                <c:lvl>
                  <c:pt idx="0">
                    <c:v>مدل 1</c:v>
                  </c:pt>
                  <c:pt idx="1">
                    <c:v>مدل 2</c:v>
                  </c:pt>
                  <c:pt idx="2">
                    <c:v>مدل 3</c:v>
                  </c:pt>
                  <c:pt idx="3">
                    <c:v>مدل 4</c:v>
                  </c:pt>
                  <c:pt idx="4">
                    <c:v>مدل 5</c:v>
                  </c:pt>
                </c:lvl>
              </c:multiLvlStrCache>
            </c:multiLvlStrRef>
          </c:cat>
          <c:val>
            <c:numRef>
              <c:f>Sheet1!$B$2:$B$6</c:f>
              <c:numCache>
                <c:formatCode>General</c:formatCode>
                <c:ptCount val="5"/>
                <c:pt idx="0">
                  <c:v>0.15</c:v>
                </c:pt>
                <c:pt idx="1">
                  <c:v>0.469</c:v>
                </c:pt>
                <c:pt idx="2">
                  <c:v>0.503</c:v>
                </c:pt>
                <c:pt idx="3">
                  <c:v>0.575</c:v>
                </c:pt>
                <c:pt idx="4">
                  <c:v>0.286</c:v>
                </c:pt>
              </c:numCache>
            </c:numRef>
          </c:val>
        </c:ser>
        <c:dLbls>
          <c:numFmt formatCode="0.000" sourceLinked="0"/>
          <c:txPr>
            <a:bodyPr/>
            <a:lstStyle/>
            <a:p>
              <a:pPr>
                <a:defRPr b="0" i="0" strike="noStrike" sz="1400" u="none">
                  <a:solidFill>
                    <a:srgbClr val="0B1F3A"/>
                  </a:solidFill>
                  <a:latin typeface="B Nazanin"/>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F3A"/>
                </a:solidFill>
                <a:latin typeface="B Nazanin"/>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5DD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0B1F3A"/>
                </a:solidFill>
                <a:latin typeface="B Nazani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315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3.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498080" y="-1097280"/>
            <a:ext cx="6400800" cy="6400800"/>
          </a:xfrm>
          <a:prstGeom prst="ellipse">
            <a:avLst/>
          </a:prstGeom>
          <a:solidFill>
            <a:srgbClr val="0E7C86"/>
          </a:solidFill>
          <a:ln/>
        </p:spPr>
      </p:sp>
      <p:sp>
        <p:nvSpPr>
          <p:cNvPr id="3" name="Shape 1"/>
          <p:cNvSpPr/>
          <p:nvPr/>
        </p:nvSpPr>
        <p:spPr>
          <a:xfrm>
            <a:off x="-1645920" y="4206240"/>
            <a:ext cx="4937760" cy="4937760"/>
          </a:xfrm>
          <a:prstGeom prst="ellipse">
            <a:avLst/>
          </a:prstGeom>
          <a:solidFill>
            <a:srgbClr val="F2A541"/>
          </a:solidFill>
          <a:ln/>
        </p:spPr>
      </p:sp>
      <p:sp>
        <p:nvSpPr>
          <p:cNvPr id="4" name="anim_1_1"/>
          <p:cNvSpPr txBox="1"/>
          <p:nvPr/>
        </p:nvSpPr>
        <p:spPr>
          <a:xfrm>
            <a:off x="822960" y="640080"/>
            <a:ext cx="10515600" cy="548640"/>
          </a:xfrm>
          <a:prstGeom prst="rect">
            <a:avLst/>
          </a:prstGeom>
          <a:noFill/>
          <a:ln/>
        </p:spPr>
        <p:txBody>
          <a:bodyPr wrap="square" lIns="0" tIns="0" rIns="0" bIns="0" rtlCol="0" anchor="t"/>
          <a:lstStyle/>
          <a:p>
            <a:pPr rtl="1" algn="r" indent="0" marL="0">
              <a:buNone/>
            </a:pPr>
            <a:r>
              <a:rPr lang="fa-IR" altLang="en-US" sz="2400" dirty="0">
                <a:solidFill>
                  <a:schemeClr val="accent2"/>
                </a:solidFill>
                <a:latin typeface="B Nazanin" pitchFamily="34" charset="0"/>
                <a:ea typeface="B Nazanin" pitchFamily="34" charset="-122"/>
                <a:cs typeface="B Nazanin" pitchFamily="34" charset="-120"/>
              </a:rPr>
              <a:t>دفاع از رسالهٔ دکتری حسابداری</a:t>
            </a:r>
            <a:endParaRPr lang="fa-IR" sz="2400" dirty="0"/>
          </a:p>
        </p:txBody>
      </p:sp>
      <p:sp>
        <p:nvSpPr>
          <p:cNvPr id="5" name="anim_2_2"/>
          <p:cNvSpPr txBox="1"/>
          <p:nvPr/>
        </p:nvSpPr>
        <p:spPr>
          <a:xfrm>
            <a:off x="822960" y="1554480"/>
            <a:ext cx="10515600" cy="1737360"/>
          </a:xfrm>
          <a:prstGeom prst="rect">
            <a:avLst/>
          </a:prstGeom>
          <a:noFill/>
          <a:ln/>
        </p:spPr>
        <p:txBody>
          <a:bodyPr wrap="square" lIns="0" tIns="0" rIns="0" bIns="0" rtlCol="0" anchor="t"/>
          <a:lstStyle/>
          <a:p>
            <a:pPr rtl="1" algn="r" indent="0" marL="0">
              <a:buNone/>
            </a:pPr>
            <a:r>
              <a:rPr lang="fa-IR" altLang="en-US" sz="4400" dirty="0">
                <a:solidFill>
                  <a:schemeClr val="bg1"/>
                </a:solidFill>
                <a:latin typeface="B Titr" pitchFamily="34" charset="0"/>
                <a:ea typeface="B Titr" pitchFamily="34" charset="-122"/>
                <a:cs typeface="B Titr" pitchFamily="34" charset="-120"/>
              </a:rPr>
              <a:t>بررسی هزینه‌های حسابرسی و ارائهٔ مدلی جهت پیش‌بینی آن</a:t>
            </a:r>
            <a:endParaRPr lang="fa-IR" sz="4400" dirty="0"/>
          </a:p>
        </p:txBody>
      </p:sp>
      <p:sp>
        <p:nvSpPr>
          <p:cNvPr id="6" name="anim_3_3"/>
          <p:cNvSpPr txBox="1"/>
          <p:nvPr/>
        </p:nvSpPr>
        <p:spPr>
          <a:xfrm>
            <a:off x="822960" y="3429000"/>
            <a:ext cx="10515600" cy="640080"/>
          </a:xfrm>
          <a:prstGeom prst="rect">
            <a:avLst/>
          </a:prstGeom>
          <a:noFill/>
          <a:ln/>
        </p:spPr>
        <p:txBody>
          <a:bodyPr wrap="square" lIns="0" tIns="0" rIns="0" bIns="0" rtlCol="0" anchor="t"/>
          <a:lstStyle/>
          <a:p>
            <a:pPr rtl="1" algn="r" indent="0" marL="0">
              <a:buNone/>
            </a:pPr>
            <a:r>
              <a:rPr lang="fa-IR" altLang="en-US" sz="2800" dirty="0">
                <a:solidFill>
                  <a:schemeClr val="bg2"/>
                </a:solidFill>
                <a:latin typeface="B Nazanin" pitchFamily="34" charset="0"/>
                <a:ea typeface="B Nazanin" pitchFamily="34" charset="-122"/>
                <a:cs typeface="B Nazanin" pitchFamily="34" charset="-120"/>
              </a:rPr>
              <a:t>عوامل تعیین‌کننده، ریکاوری و کیفیت حسابرسی آینده</a:t>
            </a:r>
            <a:endParaRPr lang="fa-IR" sz="2800" dirty="0"/>
          </a:p>
        </p:txBody>
      </p:sp>
      <p:sp>
        <p:nvSpPr>
          <p:cNvPr id="7" name="anim_4_4"/>
          <p:cNvSpPr/>
          <p:nvPr/>
        </p:nvSpPr>
        <p:spPr>
          <a:xfrm>
            <a:off x="7955280" y="4572000"/>
            <a:ext cx="3291840" cy="1417320"/>
          </a:xfrm>
          <a:prstGeom prst="roundRect">
            <a:avLst>
              <a:gd name="adj" fmla="val 7742"/>
            </a:avLst>
          </a:prstGeom>
          <a:solidFill>
            <a:schemeClr val="tx2"/>
          </a:solidFill>
          <a:ln/>
          <a:effectLst>
            <a:outerShdw sx="100000" sy="100000" kx="0" ky="0" algn="bl" rotWithShape="0" blurRad="101600" dist="25400" dir="5400000">
              <a:srgbClr val="000000">
                <a:alpha val="12000"/>
              </a:srgbClr>
            </a:outerShdw>
          </a:effectLst>
        </p:spPr>
      </p:sp>
      <p:sp>
        <p:nvSpPr>
          <p:cNvPr id="8" name="anim_4_5"/>
          <p:cNvSpPr txBox="1"/>
          <p:nvPr/>
        </p:nvSpPr>
        <p:spPr>
          <a:xfrm>
            <a:off x="7955280" y="4645152"/>
            <a:ext cx="3291840" cy="777240"/>
          </a:xfrm>
          <a:prstGeom prst="rect">
            <a:avLst/>
          </a:prstGeom>
          <a:noFill/>
          <a:ln/>
        </p:spPr>
        <p:txBody>
          <a:bodyPr wrap="square" lIns="0" tIns="0" rIns="0" bIns="0" rtlCol="0" anchor="ctr"/>
          <a:lstStyle/>
          <a:p>
            <a:pPr rtl="1" algn="ctr" indent="0" marL="0">
              <a:buNone/>
            </a:pPr>
            <a:r>
              <a:rPr lang="fa-IR" altLang="en-US" sz="3400" dirty="0">
                <a:solidFill>
                  <a:schemeClr val="accent2"/>
                </a:solidFill>
                <a:latin typeface="B Titr" pitchFamily="34" charset="0"/>
                <a:ea typeface="B Titr" pitchFamily="34" charset="-122"/>
                <a:cs typeface="B Titr" pitchFamily="34" charset="-120"/>
              </a:rPr>
              <a:t>137</a:t>
            </a:r>
            <a:endParaRPr lang="fa-IR" sz="3400" dirty="0"/>
          </a:p>
        </p:txBody>
      </p:sp>
      <p:sp>
        <p:nvSpPr>
          <p:cNvPr id="9" name="anim_4_6"/>
          <p:cNvSpPr txBox="1"/>
          <p:nvPr/>
        </p:nvSpPr>
        <p:spPr>
          <a:xfrm>
            <a:off x="7955280" y="5440680"/>
            <a:ext cx="3291840" cy="45720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شرکت بورسی</a:t>
            </a:r>
            <a:endParaRPr lang="fa-IR" sz="1800" dirty="0"/>
          </a:p>
        </p:txBody>
      </p:sp>
      <p:sp>
        <p:nvSpPr>
          <p:cNvPr id="10" name="anim_4_7"/>
          <p:cNvSpPr/>
          <p:nvPr/>
        </p:nvSpPr>
        <p:spPr>
          <a:xfrm>
            <a:off x="4389120" y="4572000"/>
            <a:ext cx="3291840" cy="1417320"/>
          </a:xfrm>
          <a:prstGeom prst="roundRect">
            <a:avLst>
              <a:gd name="adj" fmla="val 7742"/>
            </a:avLst>
          </a:prstGeom>
          <a:solidFill>
            <a:schemeClr val="tx2"/>
          </a:solidFill>
          <a:ln/>
          <a:effectLst>
            <a:outerShdw sx="100000" sy="100000" kx="0" ky="0" algn="bl" rotWithShape="0" blurRad="101600" dist="25400" dir="5400000">
              <a:srgbClr val="000000">
                <a:alpha val="12000"/>
              </a:srgbClr>
            </a:outerShdw>
          </a:effectLst>
        </p:spPr>
      </p:sp>
      <p:sp>
        <p:nvSpPr>
          <p:cNvPr id="11" name="anim_4_8"/>
          <p:cNvSpPr txBox="1"/>
          <p:nvPr/>
        </p:nvSpPr>
        <p:spPr>
          <a:xfrm>
            <a:off x="4389120" y="4645152"/>
            <a:ext cx="3291840" cy="777240"/>
          </a:xfrm>
          <a:prstGeom prst="rect">
            <a:avLst/>
          </a:prstGeom>
          <a:noFill/>
          <a:ln/>
        </p:spPr>
        <p:txBody>
          <a:bodyPr wrap="square" lIns="0" tIns="0" rIns="0" bIns="0" rtlCol="0" anchor="ctr"/>
          <a:lstStyle/>
          <a:p>
            <a:pPr rtl="1" algn="ctr" indent="0" marL="0">
              <a:buNone/>
            </a:pPr>
            <a:r>
              <a:rPr lang="fa-IR" altLang="en-US" sz="3400" dirty="0">
                <a:solidFill>
                  <a:schemeClr val="accent2"/>
                </a:solidFill>
                <a:latin typeface="B Titr" pitchFamily="34" charset="0"/>
                <a:ea typeface="B Titr" pitchFamily="34" charset="-122"/>
                <a:cs typeface="B Titr" pitchFamily="34" charset="-120"/>
              </a:rPr>
              <a:t>1396 تا 1402</a:t>
            </a:r>
            <a:endParaRPr lang="fa-IR" sz="3400" dirty="0"/>
          </a:p>
        </p:txBody>
      </p:sp>
      <p:sp>
        <p:nvSpPr>
          <p:cNvPr id="12" name="anim_4_9"/>
          <p:cNvSpPr txBox="1"/>
          <p:nvPr/>
        </p:nvSpPr>
        <p:spPr>
          <a:xfrm>
            <a:off x="4389120" y="5440680"/>
            <a:ext cx="3291840" cy="45720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دورهٔ پژوهش (هفت سال)</a:t>
            </a:r>
            <a:endParaRPr lang="fa-IR" sz="1800" dirty="0"/>
          </a:p>
        </p:txBody>
      </p:sp>
      <p:sp>
        <p:nvSpPr>
          <p:cNvPr id="13" name="anim_4_10"/>
          <p:cNvSpPr/>
          <p:nvPr/>
        </p:nvSpPr>
        <p:spPr>
          <a:xfrm>
            <a:off x="822960" y="4572000"/>
            <a:ext cx="3291840" cy="1417320"/>
          </a:xfrm>
          <a:prstGeom prst="roundRect">
            <a:avLst>
              <a:gd name="adj" fmla="val 7742"/>
            </a:avLst>
          </a:prstGeom>
          <a:solidFill>
            <a:schemeClr val="tx2"/>
          </a:solidFill>
          <a:ln/>
          <a:effectLst>
            <a:outerShdw sx="100000" sy="100000" kx="0" ky="0" algn="bl" rotWithShape="0" blurRad="101600" dist="25400" dir="5400000">
              <a:srgbClr val="000000">
                <a:alpha val="12000"/>
              </a:srgbClr>
            </a:outerShdw>
          </a:effectLst>
        </p:spPr>
      </p:sp>
      <p:sp>
        <p:nvSpPr>
          <p:cNvPr id="14" name="anim_4_11"/>
          <p:cNvSpPr txBox="1"/>
          <p:nvPr/>
        </p:nvSpPr>
        <p:spPr>
          <a:xfrm>
            <a:off x="822960" y="4645152"/>
            <a:ext cx="3291840" cy="777240"/>
          </a:xfrm>
          <a:prstGeom prst="rect">
            <a:avLst/>
          </a:prstGeom>
          <a:noFill/>
          <a:ln/>
        </p:spPr>
        <p:txBody>
          <a:bodyPr wrap="square" lIns="0" tIns="0" rIns="0" bIns="0" rtlCol="0" anchor="ctr"/>
          <a:lstStyle/>
          <a:p>
            <a:pPr rtl="1" algn="ctr" indent="0" marL="0">
              <a:buNone/>
            </a:pPr>
            <a:r>
              <a:rPr lang="fa-IR" altLang="en-US" sz="3400" dirty="0">
                <a:solidFill>
                  <a:schemeClr val="accent2"/>
                </a:solidFill>
                <a:latin typeface="B Titr" pitchFamily="34" charset="0"/>
                <a:ea typeface="B Titr" pitchFamily="34" charset="-122"/>
                <a:cs typeface="B Titr" pitchFamily="34" charset="-120"/>
              </a:rPr>
              <a:t>959</a:t>
            </a:r>
            <a:endParaRPr lang="fa-IR" sz="3400" dirty="0"/>
          </a:p>
        </p:txBody>
      </p:sp>
      <p:sp>
        <p:nvSpPr>
          <p:cNvPr id="15" name="anim_4_12"/>
          <p:cNvSpPr txBox="1"/>
          <p:nvPr/>
        </p:nvSpPr>
        <p:spPr>
          <a:xfrm>
            <a:off x="822960" y="5440680"/>
            <a:ext cx="3291840" cy="45720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مشاهدهٔ سال-شرکت</a:t>
            </a:r>
            <a:endParaRPr lang="fa-IR" sz="18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0"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childTnLst>
                                </p:cTn>
                              </p:par>
                              <p:par>
                                <p:cTn id="7" presetID="10" presetClass="entr" presetSubtype="0" fill="hold" nodeType="withEffect">
                                  <p:stCondLst>
                                    <p:cond delay="35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00"/>
                                        <p:tgtEl>
                                          <p:spTgt spid="5"/>
                                        </p:tgtEl>
                                      </p:cBhvr>
                                    </p:animEffect>
                                  </p:childTnLst>
                                </p:cTn>
                              </p:par>
                              <p:par>
                                <p:cTn id="10" presetID="10" presetClass="entr" presetSubtype="0" fill="hold" nodeType="withEffect">
                                  <p:stCondLst>
                                    <p:cond delay="7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00"/>
                                        <p:tgtEl>
                                          <p:spTgt spid="6"/>
                                        </p:tgtEl>
                                      </p:cBhvr>
                                    </p:animEffect>
                                  </p:childTnLst>
                                </p:cTn>
                              </p:par>
                              <p:par>
                                <p:cTn id="13" presetID="10" presetClass="entr" presetSubtype="0" fill="hold" nodeType="withEffect">
                                  <p:stCondLst>
                                    <p:cond delay="10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00"/>
                                        <p:tgtEl>
                                          <p:spTgt spid="7"/>
                                        </p:tgtEl>
                                      </p:cBhvr>
                                    </p:animEffect>
                                  </p:childTnLst>
                                </p:cTn>
                              </p:par>
                              <p:par>
                                <p:cTn id="16" presetID="10" presetClass="entr" presetSubtype="0" fill="hold" nodeType="withEffect">
                                  <p:stCondLst>
                                    <p:cond delay="105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00"/>
                                        <p:tgtEl>
                                          <p:spTgt spid="8"/>
                                        </p:tgtEl>
                                      </p:cBhvr>
                                    </p:animEffect>
                                  </p:childTnLst>
                                </p:cTn>
                              </p:par>
                              <p:par>
                                <p:cTn id="19" presetID="10" presetClass="entr" presetSubtype="0" fill="hold" nodeType="withEffect">
                                  <p:stCondLst>
                                    <p:cond delay="10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10" presetClass="entr" presetSubtype="0" fill="hold" nodeType="withEffect">
                                  <p:stCondLst>
                                    <p:cond delay="105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par>
                                <p:cTn id="25" presetID="10" presetClass="entr" presetSubtype="0" fill="hold" nodeType="withEffect">
                                  <p:stCondLst>
                                    <p:cond delay="10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nodeType="withEffect">
                                  <p:stCondLst>
                                    <p:cond delay="10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childTnLst>
                                </p:cTn>
                              </p:par>
                              <p:par>
                                <p:cTn id="31" presetID="10" presetClass="entr" presetSubtype="0" fill="hold" nodeType="withEffect">
                                  <p:stCondLst>
                                    <p:cond delay="105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p:tgtEl>
                                          <p:spTgt spid="13"/>
                                        </p:tgtEl>
                                      </p:cBhvr>
                                    </p:animEffect>
                                  </p:childTnLst>
                                </p:cTn>
                              </p:par>
                              <p:par>
                                <p:cTn id="34" presetID="10" presetClass="entr" presetSubtype="0" fill="hold" nodeType="withEffect">
                                  <p:stCondLst>
                                    <p:cond delay="105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00"/>
                                        <p:tgtEl>
                                          <p:spTgt spid="14"/>
                                        </p:tgtEl>
                                      </p:cBhvr>
                                    </p:animEffect>
                                  </p:childTnLst>
                                </p:cTn>
                              </p:par>
                              <p:par>
                                <p:cTn id="37" presetID="10" presetClass="entr" presetSubtype="0" fill="hold" nodeType="withEffect">
                                  <p:stCondLst>
                                    <p:cond delay="105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فهرست ارائه</a:t>
            </a:r>
            <a:endParaRPr lang="fa-IR" sz="3400" dirty="0"/>
          </a:p>
        </p:txBody>
      </p:sp>
      <p:sp>
        <p:nvSpPr>
          <p:cNvPr id="3" name="anim_1_13"/>
          <p:cNvSpPr/>
          <p:nvPr/>
        </p:nvSpPr>
        <p:spPr>
          <a:xfrm>
            <a:off x="6217920" y="1554480"/>
            <a:ext cx="539496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4" name="anim_1_14"/>
          <p:cNvSpPr/>
          <p:nvPr/>
        </p:nvSpPr>
        <p:spPr>
          <a:xfrm>
            <a:off x="10561320" y="1783080"/>
            <a:ext cx="868680" cy="868680"/>
          </a:xfrm>
          <a:prstGeom prst="ellipse">
            <a:avLst/>
          </a:prstGeom>
          <a:solidFill>
            <a:schemeClr val="accent1"/>
          </a:solidFill>
          <a:ln/>
        </p:spPr>
      </p:sp>
      <p:pic>
        <p:nvPicPr>
          <p:cNvPr id="5" name="anim_1_15" descr="preencoded.png">    </p:cNvPr>
          <p:cNvPicPr>
            <a:picLocks noChangeAspect="1"/>
          </p:cNvPicPr>
          <p:nvPr/>
        </p:nvPicPr>
        <p:blipFill>
          <a:blip r:embed="rId1"/>
          <a:stretch>
            <a:fillRect/>
          </a:stretch>
        </p:blipFill>
        <p:spPr>
          <a:xfrm>
            <a:off x="10769803" y="1991563"/>
            <a:ext cx="451714" cy="451714"/>
          </a:xfrm>
          <a:prstGeom prst="rect">
            <a:avLst/>
          </a:prstGeom>
        </p:spPr>
      </p:pic>
      <p:sp>
        <p:nvSpPr>
          <p:cNvPr id="6" name="anim_1_16"/>
          <p:cNvSpPr txBox="1"/>
          <p:nvPr/>
        </p:nvSpPr>
        <p:spPr>
          <a:xfrm>
            <a:off x="6400800" y="1719072"/>
            <a:ext cx="4069080" cy="502920"/>
          </a:xfrm>
          <a:prstGeom prst="rect">
            <a:avLst/>
          </a:prstGeom>
          <a:noFill/>
          <a:ln/>
        </p:spPr>
        <p:txBody>
          <a:bodyPr wrap="square" lIns="0" tIns="0" rIns="0" bIns="0" rtlCol="0" anchor="t"/>
          <a:lstStyle/>
          <a:p>
            <a:pPr rtl="1" algn="r" indent="0" marL="0">
              <a:buNone/>
            </a:pPr>
            <a:r>
              <a:rPr lang="fa-IR" altLang="en-US" sz="2200" dirty="0">
                <a:solidFill>
                  <a:schemeClr val="tx2"/>
                </a:solidFill>
                <a:latin typeface="B Titr" pitchFamily="34" charset="0"/>
                <a:ea typeface="B Titr" pitchFamily="34" charset="-122"/>
                <a:cs typeface="B Titr" pitchFamily="34" charset="-120"/>
              </a:rPr>
              <a:t>مقدمه و بیان مسئله</a:t>
            </a:r>
            <a:endParaRPr lang="fa-IR" sz="2200" dirty="0"/>
          </a:p>
        </p:txBody>
      </p:sp>
      <p:sp>
        <p:nvSpPr>
          <p:cNvPr id="7" name="anim_1_17"/>
          <p:cNvSpPr txBox="1"/>
          <p:nvPr/>
        </p:nvSpPr>
        <p:spPr>
          <a:xfrm>
            <a:off x="6400800" y="2267712"/>
            <a:ext cx="4069080" cy="5029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اهمیت، نظریه‌های رقیب، اهداف و نوآوری</a:t>
            </a:r>
            <a:endParaRPr lang="fa-IR" sz="1700" dirty="0"/>
          </a:p>
        </p:txBody>
      </p:sp>
      <p:sp>
        <p:nvSpPr>
          <p:cNvPr id="8" name="anim_2_18"/>
          <p:cNvSpPr/>
          <p:nvPr/>
        </p:nvSpPr>
        <p:spPr>
          <a:xfrm>
            <a:off x="548640" y="1554480"/>
            <a:ext cx="539496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9" name="anim_2_19"/>
          <p:cNvSpPr/>
          <p:nvPr/>
        </p:nvSpPr>
        <p:spPr>
          <a:xfrm>
            <a:off x="4892040" y="1783080"/>
            <a:ext cx="868680" cy="868680"/>
          </a:xfrm>
          <a:prstGeom prst="ellipse">
            <a:avLst/>
          </a:prstGeom>
          <a:solidFill>
            <a:schemeClr val="accent5"/>
          </a:solidFill>
          <a:ln/>
        </p:spPr>
      </p:sp>
      <p:pic>
        <p:nvPicPr>
          <p:cNvPr id="10" name="anim_2_20" descr="preencoded.png">    </p:cNvPr>
          <p:cNvPicPr>
            <a:picLocks noChangeAspect="1"/>
          </p:cNvPicPr>
          <p:nvPr/>
        </p:nvPicPr>
        <p:blipFill>
          <a:blip r:embed="rId2"/>
          <a:stretch>
            <a:fillRect/>
          </a:stretch>
        </p:blipFill>
        <p:spPr>
          <a:xfrm>
            <a:off x="5100523" y="1991563"/>
            <a:ext cx="451714" cy="451714"/>
          </a:xfrm>
          <a:prstGeom prst="rect">
            <a:avLst/>
          </a:prstGeom>
        </p:spPr>
      </p:pic>
      <p:sp>
        <p:nvSpPr>
          <p:cNvPr id="11" name="anim_2_21"/>
          <p:cNvSpPr txBox="1"/>
          <p:nvPr/>
        </p:nvSpPr>
        <p:spPr>
          <a:xfrm>
            <a:off x="731520" y="1719072"/>
            <a:ext cx="4069080" cy="502920"/>
          </a:xfrm>
          <a:prstGeom prst="rect">
            <a:avLst/>
          </a:prstGeom>
          <a:noFill/>
          <a:ln/>
        </p:spPr>
        <p:txBody>
          <a:bodyPr wrap="square" lIns="0" tIns="0" rIns="0" bIns="0" rtlCol="0" anchor="t"/>
          <a:lstStyle/>
          <a:p>
            <a:pPr rtl="1" algn="r" indent="0" marL="0">
              <a:buNone/>
            </a:pPr>
            <a:r>
              <a:rPr lang="fa-IR" altLang="en-US" sz="2200" dirty="0">
                <a:solidFill>
                  <a:schemeClr val="tx2"/>
                </a:solidFill>
                <a:latin typeface="B Titr" pitchFamily="34" charset="0"/>
                <a:ea typeface="B Titr" pitchFamily="34" charset="-122"/>
                <a:cs typeface="B Titr" pitchFamily="34" charset="-120"/>
              </a:rPr>
              <a:t>مبانی نظری و پیشینه</a:t>
            </a:r>
            <a:endParaRPr lang="fa-IR" sz="2200" dirty="0"/>
          </a:p>
        </p:txBody>
      </p:sp>
      <p:sp>
        <p:nvSpPr>
          <p:cNvPr id="12" name="anim_2_22"/>
          <p:cNvSpPr txBox="1"/>
          <p:nvPr/>
        </p:nvSpPr>
        <p:spPr>
          <a:xfrm>
            <a:off x="731520" y="2267712"/>
            <a:ext cx="4069080" cy="5029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نظریه‌های پشتیبان و پژوهش‌های داخلی و خارجی</a:t>
            </a:r>
            <a:endParaRPr lang="fa-IR" sz="1700" dirty="0"/>
          </a:p>
        </p:txBody>
      </p:sp>
      <p:sp>
        <p:nvSpPr>
          <p:cNvPr id="13" name="anim_3_23"/>
          <p:cNvSpPr/>
          <p:nvPr/>
        </p:nvSpPr>
        <p:spPr>
          <a:xfrm>
            <a:off x="6217920" y="3108960"/>
            <a:ext cx="539496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14" name="anim_3_24"/>
          <p:cNvSpPr/>
          <p:nvPr/>
        </p:nvSpPr>
        <p:spPr>
          <a:xfrm>
            <a:off x="10561320" y="3337560"/>
            <a:ext cx="868680" cy="868680"/>
          </a:xfrm>
          <a:prstGeom prst="ellipse">
            <a:avLst/>
          </a:prstGeom>
          <a:solidFill>
            <a:schemeClr val="accent2"/>
          </a:solidFill>
          <a:ln/>
        </p:spPr>
      </p:sp>
      <p:pic>
        <p:nvPicPr>
          <p:cNvPr id="15" name="anim_3_25" descr="preencoded.png">    </p:cNvPr>
          <p:cNvPicPr>
            <a:picLocks noChangeAspect="1"/>
          </p:cNvPicPr>
          <p:nvPr/>
        </p:nvPicPr>
        <p:blipFill>
          <a:blip r:embed="rId3"/>
          <a:stretch>
            <a:fillRect/>
          </a:stretch>
        </p:blipFill>
        <p:spPr>
          <a:xfrm>
            <a:off x="10769803" y="3546043"/>
            <a:ext cx="451714" cy="451714"/>
          </a:xfrm>
          <a:prstGeom prst="rect">
            <a:avLst/>
          </a:prstGeom>
        </p:spPr>
      </p:pic>
      <p:sp>
        <p:nvSpPr>
          <p:cNvPr id="16" name="anim_3_26"/>
          <p:cNvSpPr txBox="1"/>
          <p:nvPr/>
        </p:nvSpPr>
        <p:spPr>
          <a:xfrm>
            <a:off x="6400800" y="3273552"/>
            <a:ext cx="4069080" cy="502920"/>
          </a:xfrm>
          <a:prstGeom prst="rect">
            <a:avLst/>
          </a:prstGeom>
          <a:noFill/>
          <a:ln/>
        </p:spPr>
        <p:txBody>
          <a:bodyPr wrap="square" lIns="0" tIns="0" rIns="0" bIns="0" rtlCol="0" anchor="t"/>
          <a:lstStyle/>
          <a:p>
            <a:pPr rtl="1" algn="r" indent="0" marL="0">
              <a:buNone/>
            </a:pPr>
            <a:r>
              <a:rPr lang="fa-IR" altLang="en-US" sz="2200" dirty="0">
                <a:solidFill>
                  <a:schemeClr val="tx2"/>
                </a:solidFill>
                <a:latin typeface="B Titr" pitchFamily="34" charset="0"/>
                <a:ea typeface="B Titr" pitchFamily="34" charset="-122"/>
                <a:cs typeface="B Titr" pitchFamily="34" charset="-120"/>
              </a:rPr>
              <a:t>فرضیه‌ها و روش‌شناسی</a:t>
            </a:r>
            <a:endParaRPr lang="fa-IR" sz="2200" dirty="0"/>
          </a:p>
        </p:txBody>
      </p:sp>
      <p:sp>
        <p:nvSpPr>
          <p:cNvPr id="17" name="anim_3_27"/>
          <p:cNvSpPr txBox="1"/>
          <p:nvPr/>
        </p:nvSpPr>
        <p:spPr>
          <a:xfrm>
            <a:off x="6400800" y="3822192"/>
            <a:ext cx="4069080" cy="5029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پنج فرضیه، متغیرها، مدل‌ها و شیوهٔ آزمون</a:t>
            </a:r>
            <a:endParaRPr lang="fa-IR" sz="1700" dirty="0"/>
          </a:p>
        </p:txBody>
      </p:sp>
      <p:sp>
        <p:nvSpPr>
          <p:cNvPr id="18" name="anim_4_28"/>
          <p:cNvSpPr/>
          <p:nvPr/>
        </p:nvSpPr>
        <p:spPr>
          <a:xfrm>
            <a:off x="548640" y="3108960"/>
            <a:ext cx="539496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19" name="anim_4_29"/>
          <p:cNvSpPr/>
          <p:nvPr/>
        </p:nvSpPr>
        <p:spPr>
          <a:xfrm>
            <a:off x="4892040" y="3337560"/>
            <a:ext cx="868680" cy="868680"/>
          </a:xfrm>
          <a:prstGeom prst="ellipse">
            <a:avLst/>
          </a:prstGeom>
          <a:solidFill>
            <a:schemeClr val="accent1"/>
          </a:solidFill>
          <a:ln/>
        </p:spPr>
      </p:sp>
      <p:pic>
        <p:nvPicPr>
          <p:cNvPr id="20" name="anim_4_30" descr="preencoded.png">    </p:cNvPr>
          <p:cNvPicPr>
            <a:picLocks noChangeAspect="1"/>
          </p:cNvPicPr>
          <p:nvPr/>
        </p:nvPicPr>
        <p:blipFill>
          <a:blip r:embed="rId4"/>
          <a:stretch>
            <a:fillRect/>
          </a:stretch>
        </p:blipFill>
        <p:spPr>
          <a:xfrm>
            <a:off x="5100523" y="3546043"/>
            <a:ext cx="451714" cy="451714"/>
          </a:xfrm>
          <a:prstGeom prst="rect">
            <a:avLst/>
          </a:prstGeom>
        </p:spPr>
      </p:pic>
      <p:sp>
        <p:nvSpPr>
          <p:cNvPr id="21" name="anim_4_31"/>
          <p:cNvSpPr txBox="1"/>
          <p:nvPr/>
        </p:nvSpPr>
        <p:spPr>
          <a:xfrm>
            <a:off x="731520" y="3273552"/>
            <a:ext cx="4069080" cy="502920"/>
          </a:xfrm>
          <a:prstGeom prst="rect">
            <a:avLst/>
          </a:prstGeom>
          <a:noFill/>
          <a:ln/>
        </p:spPr>
        <p:txBody>
          <a:bodyPr wrap="square" lIns="0" tIns="0" rIns="0" bIns="0" rtlCol="0" anchor="t"/>
          <a:lstStyle/>
          <a:p>
            <a:pPr rtl="1" algn="r" indent="0" marL="0">
              <a:buNone/>
            </a:pPr>
            <a:r>
              <a:rPr lang="fa-IR" altLang="en-US" sz="2200" dirty="0">
                <a:solidFill>
                  <a:schemeClr val="tx2"/>
                </a:solidFill>
                <a:latin typeface="B Titr" pitchFamily="34" charset="0"/>
                <a:ea typeface="B Titr" pitchFamily="34" charset="-122"/>
                <a:cs typeface="B Titr" pitchFamily="34" charset="-120"/>
              </a:rPr>
              <a:t>تحلیل داده‌ها</a:t>
            </a:r>
            <a:endParaRPr lang="fa-IR" sz="2200" dirty="0"/>
          </a:p>
        </p:txBody>
      </p:sp>
      <p:sp>
        <p:nvSpPr>
          <p:cNvPr id="22" name="anim_4_32"/>
          <p:cNvSpPr txBox="1"/>
          <p:nvPr/>
        </p:nvSpPr>
        <p:spPr>
          <a:xfrm>
            <a:off x="731520" y="3822192"/>
            <a:ext cx="4069080" cy="5029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آمار توصیفی و آزمون‌های تشخیصی</a:t>
            </a:r>
            <a:endParaRPr lang="fa-IR" sz="1700" dirty="0"/>
          </a:p>
        </p:txBody>
      </p:sp>
      <p:sp>
        <p:nvSpPr>
          <p:cNvPr id="23" name="anim_5_33"/>
          <p:cNvSpPr/>
          <p:nvPr/>
        </p:nvSpPr>
        <p:spPr>
          <a:xfrm>
            <a:off x="6217920" y="4663440"/>
            <a:ext cx="539496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24" name="anim_5_34"/>
          <p:cNvSpPr/>
          <p:nvPr/>
        </p:nvSpPr>
        <p:spPr>
          <a:xfrm>
            <a:off x="10561320" y="4892040"/>
            <a:ext cx="868680" cy="868680"/>
          </a:xfrm>
          <a:prstGeom prst="ellipse">
            <a:avLst/>
          </a:prstGeom>
          <a:solidFill>
            <a:schemeClr val="accent4"/>
          </a:solidFill>
          <a:ln/>
        </p:spPr>
      </p:sp>
      <p:pic>
        <p:nvPicPr>
          <p:cNvPr id="25" name="anim_5_35" descr="preencoded.png">    </p:cNvPr>
          <p:cNvPicPr>
            <a:picLocks noChangeAspect="1"/>
          </p:cNvPicPr>
          <p:nvPr/>
        </p:nvPicPr>
        <p:blipFill>
          <a:blip r:embed="rId5"/>
          <a:stretch>
            <a:fillRect/>
          </a:stretch>
        </p:blipFill>
        <p:spPr>
          <a:xfrm>
            <a:off x="10769803" y="5100523"/>
            <a:ext cx="451714" cy="451714"/>
          </a:xfrm>
          <a:prstGeom prst="rect">
            <a:avLst/>
          </a:prstGeom>
        </p:spPr>
      </p:pic>
      <p:sp>
        <p:nvSpPr>
          <p:cNvPr id="26" name="anim_5_36"/>
          <p:cNvSpPr txBox="1"/>
          <p:nvPr/>
        </p:nvSpPr>
        <p:spPr>
          <a:xfrm>
            <a:off x="6400800" y="4828032"/>
            <a:ext cx="4069080" cy="502920"/>
          </a:xfrm>
          <a:prstGeom prst="rect">
            <a:avLst/>
          </a:prstGeom>
          <a:noFill/>
          <a:ln/>
        </p:spPr>
        <p:txBody>
          <a:bodyPr wrap="square" lIns="0" tIns="0" rIns="0" bIns="0" rtlCol="0" anchor="t"/>
          <a:lstStyle/>
          <a:p>
            <a:pPr rtl="1" algn="r" indent="0" marL="0">
              <a:buNone/>
            </a:pPr>
            <a:r>
              <a:rPr lang="fa-IR" altLang="en-US" sz="2200" dirty="0">
                <a:solidFill>
                  <a:schemeClr val="tx2"/>
                </a:solidFill>
                <a:latin typeface="B Titr" pitchFamily="34" charset="0"/>
                <a:ea typeface="B Titr" pitchFamily="34" charset="-122"/>
                <a:cs typeface="B Titr" pitchFamily="34" charset="-120"/>
              </a:rPr>
              <a:t>نتایج و بحث</a:t>
            </a:r>
            <a:endParaRPr lang="fa-IR" sz="2200" dirty="0"/>
          </a:p>
        </p:txBody>
      </p:sp>
      <p:sp>
        <p:nvSpPr>
          <p:cNvPr id="27" name="anim_5_37"/>
          <p:cNvSpPr txBox="1"/>
          <p:nvPr/>
        </p:nvSpPr>
        <p:spPr>
          <a:xfrm>
            <a:off x="6400800" y="5376672"/>
            <a:ext cx="4069080" cy="5029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آزمون فرضیه‌ها، تفسیر، انطباق و مغایرت با پیشینه</a:t>
            </a:r>
            <a:endParaRPr lang="fa-IR" sz="1700" dirty="0"/>
          </a:p>
        </p:txBody>
      </p:sp>
      <p:sp>
        <p:nvSpPr>
          <p:cNvPr id="28" name="anim_6_38"/>
          <p:cNvSpPr/>
          <p:nvPr/>
        </p:nvSpPr>
        <p:spPr>
          <a:xfrm>
            <a:off x="548640" y="4663440"/>
            <a:ext cx="539496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29" name="anim_6_39"/>
          <p:cNvSpPr/>
          <p:nvPr/>
        </p:nvSpPr>
        <p:spPr>
          <a:xfrm>
            <a:off x="4892040" y="4892040"/>
            <a:ext cx="868680" cy="868680"/>
          </a:xfrm>
          <a:prstGeom prst="ellipse">
            <a:avLst/>
          </a:prstGeom>
          <a:solidFill>
            <a:schemeClr val="accent3"/>
          </a:solidFill>
          <a:ln/>
        </p:spPr>
      </p:sp>
      <p:pic>
        <p:nvPicPr>
          <p:cNvPr id="30" name="anim_6_40" descr="preencoded.png">    </p:cNvPr>
          <p:cNvPicPr>
            <a:picLocks noChangeAspect="1"/>
          </p:cNvPicPr>
          <p:nvPr/>
        </p:nvPicPr>
        <p:blipFill>
          <a:blip r:embed="rId6"/>
          <a:stretch>
            <a:fillRect/>
          </a:stretch>
        </p:blipFill>
        <p:spPr>
          <a:xfrm>
            <a:off x="5100523" y="5100523"/>
            <a:ext cx="451714" cy="451714"/>
          </a:xfrm>
          <a:prstGeom prst="rect">
            <a:avLst/>
          </a:prstGeom>
        </p:spPr>
      </p:pic>
      <p:sp>
        <p:nvSpPr>
          <p:cNvPr id="31" name="anim_6_41"/>
          <p:cNvSpPr txBox="1"/>
          <p:nvPr/>
        </p:nvSpPr>
        <p:spPr>
          <a:xfrm>
            <a:off x="731520" y="4828032"/>
            <a:ext cx="4069080" cy="502920"/>
          </a:xfrm>
          <a:prstGeom prst="rect">
            <a:avLst/>
          </a:prstGeom>
          <a:noFill/>
          <a:ln/>
        </p:spPr>
        <p:txBody>
          <a:bodyPr wrap="square" lIns="0" tIns="0" rIns="0" bIns="0" rtlCol="0" anchor="t"/>
          <a:lstStyle/>
          <a:p>
            <a:pPr rtl="1" algn="r" indent="0" marL="0">
              <a:buNone/>
            </a:pPr>
            <a:r>
              <a:rPr lang="fa-IR" altLang="en-US" sz="2200" dirty="0">
                <a:solidFill>
                  <a:schemeClr val="tx2"/>
                </a:solidFill>
                <a:latin typeface="B Titr" pitchFamily="34" charset="0"/>
                <a:ea typeface="B Titr" pitchFamily="34" charset="-122"/>
                <a:cs typeface="B Titr" pitchFamily="34" charset="-120"/>
              </a:rPr>
              <a:t>جمع‌بندی</a:t>
            </a:r>
            <a:endParaRPr lang="fa-IR" sz="2200" dirty="0"/>
          </a:p>
        </p:txBody>
      </p:sp>
      <p:sp>
        <p:nvSpPr>
          <p:cNvPr id="32" name="anim_6_42"/>
          <p:cNvSpPr txBox="1"/>
          <p:nvPr/>
        </p:nvSpPr>
        <p:spPr>
          <a:xfrm>
            <a:off x="731520" y="5376672"/>
            <a:ext cx="4069080" cy="5029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دکترین، پیشنهادها و محدودیت‌ها</a:t>
            </a:r>
            <a:endParaRPr lang="fa-IR" sz="17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7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7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0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0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0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0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14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14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14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140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14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17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17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17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17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17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اهمیت و ضرورت پژوهش</a:t>
            </a:r>
            <a:endParaRPr lang="fa-IR" sz="3400" dirty="0"/>
          </a:p>
        </p:txBody>
      </p:sp>
      <p:sp>
        <p:nvSpPr>
          <p:cNvPr id="3" name="anim_1_43"/>
          <p:cNvSpPr/>
          <p:nvPr/>
        </p:nvSpPr>
        <p:spPr>
          <a:xfrm>
            <a:off x="6675120" y="1463040"/>
            <a:ext cx="4965192" cy="4572000"/>
          </a:xfrm>
          <a:prstGeom prst="roundRect">
            <a:avLst>
              <a:gd name="adj" fmla="val 2400"/>
            </a:avLst>
          </a:prstGeom>
          <a:solidFill>
            <a:schemeClr val="tx2"/>
          </a:solidFill>
          <a:ln/>
          <a:effectLst>
            <a:outerShdw sx="100000" sy="100000" kx="0" ky="0" algn="bl" rotWithShape="0" blurRad="101600" dist="25400" dir="5400000">
              <a:srgbClr val="000000">
                <a:alpha val="12000"/>
              </a:srgbClr>
            </a:outerShdw>
          </a:effectLst>
        </p:spPr>
      </p:sp>
      <p:sp>
        <p:nvSpPr>
          <p:cNvPr id="4" name="anim_1_44"/>
          <p:cNvSpPr txBox="1"/>
          <p:nvPr/>
        </p:nvSpPr>
        <p:spPr>
          <a:xfrm>
            <a:off x="6949440" y="1691640"/>
            <a:ext cx="4434840" cy="1371600"/>
          </a:xfrm>
          <a:prstGeom prst="rect">
            <a:avLst/>
          </a:prstGeom>
          <a:noFill/>
          <a:ln/>
        </p:spPr>
        <p:txBody>
          <a:bodyPr wrap="square" lIns="0" tIns="0" rIns="0" bIns="0" rtlCol="0" anchor="t"/>
          <a:lstStyle/>
          <a:p>
            <a:pPr rtl="1" algn="r" indent="0" marL="0">
              <a:buNone/>
            </a:pPr>
            <a:r>
              <a:rPr lang="fa-IR" altLang="en-US" sz="2500" dirty="0">
                <a:solidFill>
                  <a:schemeClr val="bg1"/>
                </a:solidFill>
                <a:latin typeface="B Titr" pitchFamily="34" charset="0"/>
                <a:ea typeface="B Titr" pitchFamily="34" charset="-122"/>
                <a:cs typeface="B Titr" pitchFamily="34" charset="-120"/>
              </a:rPr>
              <a:t>حسابرسی؛ پاسخ به عدم تقارن اطلاعاتی میان مدیران و مالکان</a:t>
            </a:r>
            <a:endParaRPr lang="fa-IR" sz="2500" dirty="0"/>
          </a:p>
        </p:txBody>
      </p:sp>
      <p:sp>
        <p:nvSpPr>
          <p:cNvPr id="5" name="anim_1_45"/>
          <p:cNvSpPr txBox="1"/>
          <p:nvPr/>
        </p:nvSpPr>
        <p:spPr>
          <a:xfrm>
            <a:off x="6949440" y="3154680"/>
            <a:ext cx="4434840" cy="2743200"/>
          </a:xfrm>
          <a:prstGeom prst="rect">
            <a:avLst/>
          </a:prstGeom>
          <a:noFill/>
          <a:ln/>
        </p:spPr>
        <p:txBody>
          <a:bodyPr wrap="square" lIns="0" tIns="0" rIns="0" bIns="0" rtlCol="0" anchor="t"/>
          <a:lstStyle/>
          <a:p>
            <a:pPr rtl="1" algn="r" indent="0" marL="0">
              <a:buNone/>
            </a:pPr>
            <a:r>
              <a:rPr lang="fa-IR" altLang="en-US" sz="1900" dirty="0">
                <a:solidFill>
                  <a:schemeClr val="bg2"/>
                </a:solidFill>
                <a:latin typeface="B Nazanin" pitchFamily="34" charset="0"/>
                <a:ea typeface="B Nazanin" pitchFamily="34" charset="-122"/>
                <a:cs typeface="B Nazanin" pitchFamily="34" charset="-120"/>
              </a:rPr>
              <a:t>حق‌الزحمهٔ حسابرسی هم هزینهٔ شرکت و هم درآمد مؤسسه است. رفتار قیمت‌گذاری آن، به‌ویژه کاهش اولیه و بازیابی بعدی، می‌تواند بر استقلال و کیفیت حسابرسی اثر بگذارد؛ بنابراین هم برای تنظیم‌کنندگان و هم برای کمیته‌های حسابرسی و سرمایه‌گذاران اهمیت دارد.</a:t>
            </a:r>
            <a:endParaRPr lang="fa-IR" sz="1900" dirty="0"/>
          </a:p>
        </p:txBody>
      </p:sp>
      <p:sp>
        <p:nvSpPr>
          <p:cNvPr id="6" name="anim_2_46"/>
          <p:cNvSpPr/>
          <p:nvPr/>
        </p:nvSpPr>
        <p:spPr>
          <a:xfrm>
            <a:off x="548640" y="1463040"/>
            <a:ext cx="5852160" cy="1417320"/>
          </a:xfrm>
          <a:prstGeom prst="roundRect">
            <a:avLst>
              <a:gd name="adj" fmla="val 7742"/>
            </a:avLst>
          </a:prstGeom>
          <a:solidFill>
            <a:schemeClr val="bg2"/>
          </a:solidFill>
          <a:ln/>
          <a:effectLst>
            <a:outerShdw sx="100000" sy="100000" kx="0" ky="0" algn="bl" rotWithShape="0" blurRad="101600" dist="25400" dir="5400000">
              <a:srgbClr val="000000">
                <a:alpha val="12000"/>
              </a:srgbClr>
            </a:outerShdw>
          </a:effectLst>
        </p:spPr>
      </p:sp>
      <p:sp>
        <p:nvSpPr>
          <p:cNvPr id="7" name="anim_2_47"/>
          <p:cNvSpPr/>
          <p:nvPr/>
        </p:nvSpPr>
        <p:spPr>
          <a:xfrm>
            <a:off x="5440680" y="1719072"/>
            <a:ext cx="777240" cy="777240"/>
          </a:xfrm>
          <a:prstGeom prst="ellipse">
            <a:avLst/>
          </a:prstGeom>
          <a:solidFill>
            <a:schemeClr val="accent1"/>
          </a:solidFill>
          <a:ln/>
        </p:spPr>
      </p:sp>
      <p:pic>
        <p:nvPicPr>
          <p:cNvPr id="8" name="anim_2_48" descr="preencoded.png">    </p:cNvPr>
          <p:cNvPicPr>
            <a:picLocks noChangeAspect="1"/>
          </p:cNvPicPr>
          <p:nvPr/>
        </p:nvPicPr>
        <p:blipFill>
          <a:blip r:embed="rId1"/>
          <a:stretch>
            <a:fillRect/>
          </a:stretch>
        </p:blipFill>
        <p:spPr>
          <a:xfrm>
            <a:off x="5627218" y="1905610"/>
            <a:ext cx="404165" cy="404165"/>
          </a:xfrm>
          <a:prstGeom prst="rect">
            <a:avLst/>
          </a:prstGeom>
        </p:spPr>
      </p:pic>
      <p:sp>
        <p:nvSpPr>
          <p:cNvPr id="9" name="anim_2_49"/>
          <p:cNvSpPr txBox="1"/>
          <p:nvPr/>
        </p:nvSpPr>
        <p:spPr>
          <a:xfrm>
            <a:off x="685800" y="1554480"/>
            <a:ext cx="4572000" cy="457200"/>
          </a:xfrm>
          <a:prstGeom prst="rect">
            <a:avLst/>
          </a:prstGeom>
          <a:noFill/>
          <a:ln/>
        </p:spPr>
        <p:txBody>
          <a:bodyPr wrap="square" lIns="0" tIns="0" rIns="0" bIns="0" rtlCol="0" anchor="t"/>
          <a:lstStyle/>
          <a:p>
            <a:pPr rtl="1" algn="r" indent="0" marL="0">
              <a:buNone/>
            </a:pPr>
            <a:r>
              <a:rPr lang="fa-IR" altLang="en-US" sz="2000" dirty="0">
                <a:solidFill>
                  <a:schemeClr val="tx2"/>
                </a:solidFill>
                <a:latin typeface="B Titr" pitchFamily="34" charset="0"/>
                <a:ea typeface="B Titr" pitchFamily="34" charset="-122"/>
                <a:cs typeface="B Titr" pitchFamily="34" charset="-120"/>
              </a:rPr>
              <a:t>پدیدهٔ کاهش اولیهٔ حق‌الزحمه</a:t>
            </a:r>
            <a:endParaRPr lang="fa-IR" sz="2000" dirty="0"/>
          </a:p>
        </p:txBody>
      </p:sp>
      <p:sp>
        <p:nvSpPr>
          <p:cNvPr id="10" name="anim_2_50"/>
          <p:cNvSpPr txBox="1"/>
          <p:nvPr/>
        </p:nvSpPr>
        <p:spPr>
          <a:xfrm>
            <a:off x="685800" y="2029968"/>
            <a:ext cx="4572000" cy="822960"/>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رقابت شدید مؤسسات بر سر تصاحب کار، نرخ‌شکنی در سال نخست را رایج کرده است.</a:t>
            </a:r>
            <a:endParaRPr lang="fa-IR" sz="1600" dirty="0"/>
          </a:p>
        </p:txBody>
      </p:sp>
      <p:sp>
        <p:nvSpPr>
          <p:cNvPr id="11" name="anim_3_51"/>
          <p:cNvSpPr/>
          <p:nvPr/>
        </p:nvSpPr>
        <p:spPr>
          <a:xfrm>
            <a:off x="548640" y="3035808"/>
            <a:ext cx="5852160" cy="1417320"/>
          </a:xfrm>
          <a:prstGeom prst="roundRect">
            <a:avLst>
              <a:gd name="adj" fmla="val 7742"/>
            </a:avLst>
          </a:prstGeom>
          <a:solidFill>
            <a:schemeClr val="bg2"/>
          </a:solidFill>
          <a:ln/>
          <a:effectLst>
            <a:outerShdw sx="100000" sy="100000" kx="0" ky="0" algn="bl" rotWithShape="0" blurRad="101600" dist="25400" dir="5400000">
              <a:srgbClr val="000000">
                <a:alpha val="12000"/>
              </a:srgbClr>
            </a:outerShdw>
          </a:effectLst>
        </p:spPr>
      </p:sp>
      <p:sp>
        <p:nvSpPr>
          <p:cNvPr id="12" name="anim_3_52"/>
          <p:cNvSpPr/>
          <p:nvPr/>
        </p:nvSpPr>
        <p:spPr>
          <a:xfrm>
            <a:off x="5440680" y="3291840"/>
            <a:ext cx="777240" cy="777240"/>
          </a:xfrm>
          <a:prstGeom prst="ellipse">
            <a:avLst/>
          </a:prstGeom>
          <a:solidFill>
            <a:schemeClr val="accent2"/>
          </a:solidFill>
          <a:ln/>
        </p:spPr>
      </p:sp>
      <p:pic>
        <p:nvPicPr>
          <p:cNvPr id="13" name="anim_3_53" descr="preencoded.png">    </p:cNvPr>
          <p:cNvPicPr>
            <a:picLocks noChangeAspect="1"/>
          </p:cNvPicPr>
          <p:nvPr/>
        </p:nvPicPr>
        <p:blipFill>
          <a:blip r:embed="rId2"/>
          <a:stretch>
            <a:fillRect/>
          </a:stretch>
        </p:blipFill>
        <p:spPr>
          <a:xfrm>
            <a:off x="5627218" y="3478378"/>
            <a:ext cx="404165" cy="404165"/>
          </a:xfrm>
          <a:prstGeom prst="rect">
            <a:avLst/>
          </a:prstGeom>
        </p:spPr>
      </p:pic>
      <p:sp>
        <p:nvSpPr>
          <p:cNvPr id="14" name="anim_3_54"/>
          <p:cNvSpPr txBox="1"/>
          <p:nvPr/>
        </p:nvSpPr>
        <p:spPr>
          <a:xfrm>
            <a:off x="685800" y="3127248"/>
            <a:ext cx="4572000" cy="457200"/>
          </a:xfrm>
          <a:prstGeom prst="rect">
            <a:avLst/>
          </a:prstGeom>
          <a:noFill/>
          <a:ln/>
        </p:spPr>
        <p:txBody>
          <a:bodyPr wrap="square" lIns="0" tIns="0" rIns="0" bIns="0" rtlCol="0" anchor="t"/>
          <a:lstStyle/>
          <a:p>
            <a:pPr rtl="1" algn="r" indent="0" marL="0">
              <a:buNone/>
            </a:pPr>
            <a:r>
              <a:rPr lang="fa-IR" altLang="en-US" sz="2000" dirty="0">
                <a:solidFill>
                  <a:schemeClr val="tx2"/>
                </a:solidFill>
                <a:latin typeface="B Titr" pitchFamily="34" charset="0"/>
                <a:ea typeface="B Titr" pitchFamily="34" charset="-122"/>
                <a:cs typeface="B Titr" pitchFamily="34" charset="-120"/>
              </a:rPr>
              <a:t>بازیابی در سال‌های بعد</a:t>
            </a:r>
            <a:endParaRPr lang="fa-IR" sz="2000" dirty="0"/>
          </a:p>
        </p:txBody>
      </p:sp>
      <p:sp>
        <p:nvSpPr>
          <p:cNvPr id="15" name="anim_3_55"/>
          <p:cNvSpPr txBox="1"/>
          <p:nvPr/>
        </p:nvSpPr>
        <p:spPr>
          <a:xfrm>
            <a:off x="685800" y="3602736"/>
            <a:ext cx="4572000" cy="822960"/>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مؤسسات ممکن است تخفیف اولیه را از طریق افزایش حق‌الزحمهٔ حسابرسی یا خدمات غیرحسابرسی جبران کنند.</a:t>
            </a:r>
            <a:endParaRPr lang="fa-IR" sz="1600" dirty="0"/>
          </a:p>
        </p:txBody>
      </p:sp>
      <p:sp>
        <p:nvSpPr>
          <p:cNvPr id="16" name="anim_4_56"/>
          <p:cNvSpPr/>
          <p:nvPr/>
        </p:nvSpPr>
        <p:spPr>
          <a:xfrm>
            <a:off x="548640" y="4608576"/>
            <a:ext cx="5852160" cy="1417320"/>
          </a:xfrm>
          <a:prstGeom prst="roundRect">
            <a:avLst>
              <a:gd name="adj" fmla="val 7742"/>
            </a:avLst>
          </a:prstGeom>
          <a:solidFill>
            <a:schemeClr val="bg2"/>
          </a:solidFill>
          <a:ln/>
          <a:effectLst>
            <a:outerShdw sx="100000" sy="100000" kx="0" ky="0" algn="bl" rotWithShape="0" blurRad="101600" dist="25400" dir="5400000">
              <a:srgbClr val="000000">
                <a:alpha val="12000"/>
              </a:srgbClr>
            </a:outerShdw>
          </a:effectLst>
        </p:spPr>
      </p:sp>
      <p:sp>
        <p:nvSpPr>
          <p:cNvPr id="17" name="anim_4_57"/>
          <p:cNvSpPr/>
          <p:nvPr/>
        </p:nvSpPr>
        <p:spPr>
          <a:xfrm>
            <a:off x="5440680" y="4864608"/>
            <a:ext cx="777240" cy="777240"/>
          </a:xfrm>
          <a:prstGeom prst="ellipse">
            <a:avLst/>
          </a:prstGeom>
          <a:solidFill>
            <a:schemeClr val="accent3"/>
          </a:solidFill>
          <a:ln/>
        </p:spPr>
      </p:sp>
      <p:pic>
        <p:nvPicPr>
          <p:cNvPr id="18" name="anim_4_58" descr="preencoded.png">    </p:cNvPr>
          <p:cNvPicPr>
            <a:picLocks noChangeAspect="1"/>
          </p:cNvPicPr>
          <p:nvPr/>
        </p:nvPicPr>
        <p:blipFill>
          <a:blip r:embed="rId3"/>
          <a:stretch>
            <a:fillRect/>
          </a:stretch>
        </p:blipFill>
        <p:spPr>
          <a:xfrm>
            <a:off x="5627218" y="5051146"/>
            <a:ext cx="404165" cy="404165"/>
          </a:xfrm>
          <a:prstGeom prst="rect">
            <a:avLst/>
          </a:prstGeom>
        </p:spPr>
      </p:pic>
      <p:sp>
        <p:nvSpPr>
          <p:cNvPr id="19" name="anim_4_59"/>
          <p:cNvSpPr txBox="1"/>
          <p:nvPr/>
        </p:nvSpPr>
        <p:spPr>
          <a:xfrm>
            <a:off x="685800" y="4700016"/>
            <a:ext cx="4572000" cy="457200"/>
          </a:xfrm>
          <a:prstGeom prst="rect">
            <a:avLst/>
          </a:prstGeom>
          <a:noFill/>
          <a:ln/>
        </p:spPr>
        <p:txBody>
          <a:bodyPr wrap="square" lIns="0" tIns="0" rIns="0" bIns="0" rtlCol="0" anchor="t"/>
          <a:lstStyle/>
          <a:p>
            <a:pPr rtl="1" algn="r" indent="0" marL="0">
              <a:buNone/>
            </a:pPr>
            <a:r>
              <a:rPr lang="fa-IR" altLang="en-US" sz="2000" dirty="0">
                <a:solidFill>
                  <a:schemeClr val="tx2"/>
                </a:solidFill>
                <a:latin typeface="B Titr" pitchFamily="34" charset="0"/>
                <a:ea typeface="B Titr" pitchFamily="34" charset="-122"/>
                <a:cs typeface="B Titr" pitchFamily="34" charset="-120"/>
              </a:rPr>
              <a:t>نگرانی ناظران</a:t>
            </a:r>
            <a:endParaRPr lang="fa-IR" sz="2000" dirty="0"/>
          </a:p>
        </p:txBody>
      </p:sp>
      <p:sp>
        <p:nvSpPr>
          <p:cNvPr id="20" name="anim_4_60"/>
          <p:cNvSpPr txBox="1"/>
          <p:nvPr/>
        </p:nvSpPr>
        <p:spPr>
          <a:xfrm>
            <a:off x="685800" y="5175504"/>
            <a:ext cx="4572000" cy="822960"/>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پرسش اصلی تنظیم‌کنندگان: آیا این الگو، کیفیت حسابرسی آینده را تهدید می‌کند؟</a:t>
            </a:r>
            <a:endParaRPr lang="fa-IR" sz="16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8"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3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7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7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10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10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0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0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بیان مسئله: دو نظریهٔ رقیب قیمت‌گذاری حسابرسی نخستین</a:t>
            </a:r>
            <a:endParaRPr lang="fa-IR" sz="3400" dirty="0"/>
          </a:p>
        </p:txBody>
      </p:sp>
      <p:sp>
        <p:nvSpPr>
          <p:cNvPr id="3" name="anim_1_61"/>
          <p:cNvSpPr/>
          <p:nvPr/>
        </p:nvSpPr>
        <p:spPr>
          <a:xfrm>
            <a:off x="6263640" y="1417320"/>
            <a:ext cx="5440680" cy="3794760"/>
          </a:xfrm>
          <a:prstGeom prst="roundRect">
            <a:avLst>
              <a:gd name="adj" fmla="val 2892"/>
            </a:avLst>
          </a:prstGeom>
          <a:solidFill>
            <a:schemeClr val="bg2"/>
          </a:solidFill>
          <a:ln/>
          <a:effectLst>
            <a:outerShdw sx="100000" sy="100000" kx="0" ky="0" algn="bl" rotWithShape="0" blurRad="101600" dist="25400" dir="5400000">
              <a:srgbClr val="000000">
                <a:alpha val="12000"/>
              </a:srgbClr>
            </a:outerShdw>
          </a:effectLst>
        </p:spPr>
      </p:sp>
      <p:sp>
        <p:nvSpPr>
          <p:cNvPr id="4" name="anim_1_62"/>
          <p:cNvSpPr/>
          <p:nvPr/>
        </p:nvSpPr>
        <p:spPr>
          <a:xfrm>
            <a:off x="6537960" y="1645920"/>
            <a:ext cx="4892040" cy="685800"/>
          </a:xfrm>
          <a:prstGeom prst="roundRect">
            <a:avLst>
              <a:gd name="adj" fmla="val 13333"/>
            </a:avLst>
          </a:prstGeom>
          <a:solidFill>
            <a:schemeClr val="accent1"/>
          </a:solidFill>
          <a:ln/>
        </p:spPr>
      </p:sp>
      <p:sp>
        <p:nvSpPr>
          <p:cNvPr id="5" name="anim_1_63"/>
          <p:cNvSpPr txBox="1"/>
          <p:nvPr/>
        </p:nvSpPr>
        <p:spPr>
          <a:xfrm>
            <a:off x="6537960" y="1645920"/>
            <a:ext cx="4892040" cy="685800"/>
          </a:xfrm>
          <a:prstGeom prst="rect">
            <a:avLst/>
          </a:prstGeom>
          <a:noFill/>
          <a:ln/>
        </p:spPr>
        <p:txBody>
          <a:bodyPr wrap="square" lIns="0" tIns="0" rIns="0" bIns="0" rtlCol="0" anchor="ctr"/>
          <a:lstStyle/>
          <a:p>
            <a:pPr rtl="1" algn="ctr" indent="0" marL="0">
              <a:buNone/>
            </a:pPr>
            <a:r>
              <a:rPr lang="fa-IR" altLang="en-US" sz="2000" dirty="0">
                <a:solidFill>
                  <a:schemeClr val="bg1"/>
                </a:solidFill>
                <a:latin typeface="B Titr" pitchFamily="34" charset="0"/>
                <a:ea typeface="B Titr" pitchFamily="34" charset="-122"/>
                <a:cs typeface="B Titr" pitchFamily="34" charset="-120"/>
              </a:rPr>
              <a:t>دی‌آنجلو (1981) | نرخ‌شکنی</a:t>
            </a:r>
            <a:endParaRPr lang="fa-IR" sz="2000" dirty="0"/>
          </a:p>
        </p:txBody>
      </p:sp>
      <p:sp>
        <p:nvSpPr>
          <p:cNvPr id="6" name="anim_1_64"/>
          <p:cNvSpPr txBox="1"/>
          <p:nvPr/>
        </p:nvSpPr>
        <p:spPr>
          <a:xfrm>
            <a:off x="6583680" y="2514600"/>
            <a:ext cx="4846320" cy="2560320"/>
          </a:xfrm>
          <a:prstGeom prst="rect">
            <a:avLst/>
          </a:prstGeom>
          <a:noFill/>
          <a:ln/>
        </p:spPr>
        <p:txBody>
          <a:bodyPr wrap="square" lIns="0" tIns="0" rIns="0" bIns="0" rtlCol="0" anchor="t"/>
          <a:lstStyle/>
          <a:p>
            <a:pPr algn="r" marL="342900" indent="-342900">
              <a:spcAft>
                <a:spcPts val="1000"/>
              </a:spcAft>
              <a:buSzPct val="100000"/>
              <a:buChar char="•"/>
            </a:pPr>
            <a:r>
              <a:rPr lang="fa-IR" altLang="en-US" sz="1900" dirty="0">
                <a:solidFill>
                  <a:schemeClr val="tx1"/>
                </a:solidFill>
                <a:latin typeface="B Nazanin" pitchFamily="34" charset="0"/>
                <a:ea typeface="B Nazanin" pitchFamily="34" charset="-122"/>
                <a:cs typeface="B Nazanin" pitchFamily="34" charset="-120"/>
              </a:rPr>
              <a:t>هزینه‌های بالای تغییر حسابرس، مزیت رقابتی ایجاد می‌کند</a:t>
            </a:r>
            <a:endParaRPr lang="fa-IR" sz="1900" dirty="0"/>
          </a:p>
          <a:p>
            <a:pPr algn="r" marL="342900" indent="-342900">
              <a:spcAft>
                <a:spcPts val="1000"/>
              </a:spcAft>
              <a:buSzPct val="100000"/>
              <a:buChar char="•"/>
            </a:pPr>
            <a:r>
              <a:rPr lang="fa-IR" altLang="en-US" sz="1900" dirty="0">
                <a:solidFill>
                  <a:schemeClr val="tx1"/>
                </a:solidFill>
                <a:latin typeface="B Nazanin" pitchFamily="34" charset="0"/>
                <a:ea typeface="B Nazanin" pitchFamily="34" charset="-122"/>
                <a:cs typeface="B Nazanin" pitchFamily="34" charset="-120"/>
              </a:rPr>
              <a:t>حسابرس برای جذب کار، حق‌الزحمهٔ سال اول را تخفیف می‌دهد</a:t>
            </a:r>
            <a:endParaRPr lang="fa-IR" sz="1900" dirty="0"/>
          </a:p>
          <a:p>
            <a:pPr algn="r" marL="342900" indent="-342900">
              <a:spcAft>
                <a:spcPts val="1000"/>
              </a:spcAft>
              <a:buSzPct val="100000"/>
              <a:buChar char="•"/>
            </a:pPr>
            <a:r>
              <a:rPr lang="fa-IR" altLang="en-US" sz="1900" dirty="0">
                <a:solidFill>
                  <a:schemeClr val="tx1"/>
                </a:solidFill>
                <a:latin typeface="B Nazanin" pitchFamily="34" charset="0"/>
                <a:ea typeface="B Nazanin" pitchFamily="34" charset="-122"/>
                <a:cs typeface="B Nazanin" pitchFamily="34" charset="-120"/>
              </a:rPr>
              <a:t>حق‌الزحمهٔ سال اول کمتر از سال‌های بعد است؛ زیان با شبه‌منافع آتی جبران می‌شود</a:t>
            </a:r>
            <a:endParaRPr lang="fa-IR" sz="1900" dirty="0"/>
          </a:p>
        </p:txBody>
      </p:sp>
      <p:sp>
        <p:nvSpPr>
          <p:cNvPr id="7" name="anim_2_65"/>
          <p:cNvSpPr/>
          <p:nvPr/>
        </p:nvSpPr>
        <p:spPr>
          <a:xfrm>
            <a:off x="548640" y="1417320"/>
            <a:ext cx="5440680" cy="3794760"/>
          </a:xfrm>
          <a:prstGeom prst="roundRect">
            <a:avLst>
              <a:gd name="adj" fmla="val 2892"/>
            </a:avLst>
          </a:prstGeom>
          <a:solidFill>
            <a:schemeClr val="bg2"/>
          </a:solidFill>
          <a:ln/>
          <a:effectLst>
            <a:outerShdw sx="100000" sy="100000" kx="0" ky="0" algn="bl" rotWithShape="0" blurRad="101600" dist="25400" dir="5400000">
              <a:srgbClr val="000000">
                <a:alpha val="12000"/>
              </a:srgbClr>
            </a:outerShdw>
          </a:effectLst>
        </p:spPr>
      </p:sp>
      <p:sp>
        <p:nvSpPr>
          <p:cNvPr id="8" name="anim_2_66"/>
          <p:cNvSpPr/>
          <p:nvPr/>
        </p:nvSpPr>
        <p:spPr>
          <a:xfrm>
            <a:off x="822960" y="1645920"/>
            <a:ext cx="4892040" cy="685800"/>
          </a:xfrm>
          <a:prstGeom prst="roundRect">
            <a:avLst>
              <a:gd name="adj" fmla="val 13333"/>
            </a:avLst>
          </a:prstGeom>
          <a:solidFill>
            <a:schemeClr val="accent2"/>
          </a:solidFill>
          <a:ln/>
        </p:spPr>
      </p:sp>
      <p:sp>
        <p:nvSpPr>
          <p:cNvPr id="9" name="anim_2_67"/>
          <p:cNvSpPr txBox="1"/>
          <p:nvPr/>
        </p:nvSpPr>
        <p:spPr>
          <a:xfrm>
            <a:off x="822960" y="1645920"/>
            <a:ext cx="4892040" cy="685800"/>
          </a:xfrm>
          <a:prstGeom prst="rect">
            <a:avLst/>
          </a:prstGeom>
          <a:noFill/>
          <a:ln/>
        </p:spPr>
        <p:txBody>
          <a:bodyPr wrap="square" lIns="0" tIns="0" rIns="0" bIns="0" rtlCol="0" anchor="ctr"/>
          <a:lstStyle/>
          <a:p>
            <a:pPr rtl="1" algn="ctr" indent="0" marL="0">
              <a:buNone/>
            </a:pPr>
            <a:r>
              <a:rPr lang="fa-IR" altLang="en-US" sz="2000" dirty="0">
                <a:solidFill>
                  <a:schemeClr val="bg1"/>
                </a:solidFill>
                <a:latin typeface="B Titr" pitchFamily="34" charset="0"/>
                <a:ea typeface="B Titr" pitchFamily="34" charset="-122"/>
                <a:cs typeface="B Titr" pitchFamily="34" charset="-120"/>
              </a:rPr>
              <a:t>دای (1991) | قدرت چانه‌زنی و افشا</a:t>
            </a:r>
            <a:endParaRPr lang="fa-IR" sz="2000" dirty="0"/>
          </a:p>
        </p:txBody>
      </p:sp>
      <p:sp>
        <p:nvSpPr>
          <p:cNvPr id="10" name="anim_2_68"/>
          <p:cNvSpPr txBox="1"/>
          <p:nvPr/>
        </p:nvSpPr>
        <p:spPr>
          <a:xfrm>
            <a:off x="868680" y="2514600"/>
            <a:ext cx="4846320" cy="2560320"/>
          </a:xfrm>
          <a:prstGeom prst="rect">
            <a:avLst/>
          </a:prstGeom>
          <a:noFill/>
          <a:ln/>
        </p:spPr>
        <p:txBody>
          <a:bodyPr wrap="square" lIns="0" tIns="0" rIns="0" bIns="0" rtlCol="0" anchor="t"/>
          <a:lstStyle/>
          <a:p>
            <a:pPr algn="r" marL="342900" indent="-342900">
              <a:spcAft>
                <a:spcPts val="1000"/>
              </a:spcAft>
              <a:buSzPct val="100000"/>
              <a:buChar char="•"/>
            </a:pPr>
            <a:r>
              <a:rPr lang="fa-IR" altLang="en-US" sz="1900" dirty="0">
                <a:solidFill>
                  <a:schemeClr val="tx1"/>
                </a:solidFill>
                <a:latin typeface="B Nazanin" pitchFamily="34" charset="0"/>
                <a:ea typeface="B Nazanin" pitchFamily="34" charset="-122"/>
                <a:cs typeface="B Nazanin" pitchFamily="34" charset="-120"/>
              </a:rPr>
              <a:t>تخفیف تابع قدرت چانه‌زنی صاحبکار است</a:t>
            </a:r>
            <a:endParaRPr lang="fa-IR" sz="1900" dirty="0"/>
          </a:p>
          <a:p>
            <a:pPr algn="r" marL="342900" indent="-342900">
              <a:spcAft>
                <a:spcPts val="1000"/>
              </a:spcAft>
              <a:buSzPct val="100000"/>
              <a:buChar char="•"/>
            </a:pPr>
            <a:r>
              <a:rPr lang="fa-IR" altLang="en-US" sz="1900" dirty="0">
                <a:solidFill>
                  <a:schemeClr val="tx1"/>
                </a:solidFill>
                <a:latin typeface="B Nazanin" pitchFamily="34" charset="0"/>
                <a:ea typeface="B Nazanin" pitchFamily="34" charset="-122"/>
                <a:cs typeface="B Nazanin" pitchFamily="34" charset="-120"/>
              </a:rPr>
              <a:t>افشای حق‌الزحمه شبه‌منافع را حذف می‌کند</a:t>
            </a:r>
            <a:endParaRPr lang="fa-IR" sz="1900" dirty="0"/>
          </a:p>
          <a:p>
            <a:pPr algn="r" marL="342900" indent="-342900">
              <a:spcAft>
                <a:spcPts val="1000"/>
              </a:spcAft>
              <a:buSzPct val="100000"/>
              <a:buChar char="•"/>
            </a:pPr>
            <a:r>
              <a:rPr lang="fa-IR" altLang="en-US" sz="1900" dirty="0">
                <a:solidFill>
                  <a:schemeClr val="tx1"/>
                </a:solidFill>
                <a:latin typeface="B Nazanin" pitchFamily="34" charset="0"/>
                <a:ea typeface="B Nazanin" pitchFamily="34" charset="-122"/>
                <a:cs typeface="B Nazanin" pitchFamily="34" charset="-120"/>
              </a:rPr>
              <a:t>حسابرس در سال اول زمان بیشتری صرف می‌کند؛ حق‌الزحمهٔ سال اول بیشتر است</a:t>
            </a:r>
            <a:endParaRPr lang="fa-IR" sz="1900" dirty="0"/>
          </a:p>
        </p:txBody>
      </p:sp>
      <p:sp>
        <p:nvSpPr>
          <p:cNvPr id="11" name="anim_3_69"/>
          <p:cNvSpPr/>
          <p:nvPr/>
        </p:nvSpPr>
        <p:spPr>
          <a:xfrm>
            <a:off x="548640" y="5394960"/>
            <a:ext cx="11091672" cy="868680"/>
          </a:xfrm>
          <a:prstGeom prst="roundRect">
            <a:avLst>
              <a:gd name="adj" fmla="val 12632"/>
            </a:avLst>
          </a:prstGeom>
          <a:solidFill>
            <a:schemeClr val="tx2"/>
          </a:solidFill>
          <a:ln/>
          <a:effectLst>
            <a:outerShdw sx="100000" sy="100000" kx="0" ky="0" algn="bl" rotWithShape="0" blurRad="101600" dist="25400" dir="5400000">
              <a:srgbClr val="000000">
                <a:alpha val="12000"/>
              </a:srgbClr>
            </a:outerShdw>
          </a:effectLst>
        </p:spPr>
      </p:sp>
      <p:sp>
        <p:nvSpPr>
          <p:cNvPr id="12" name="anim_3_70"/>
          <p:cNvSpPr txBox="1"/>
          <p:nvPr/>
        </p:nvSpPr>
        <p:spPr>
          <a:xfrm>
            <a:off x="822960" y="5440680"/>
            <a:ext cx="10543032" cy="777240"/>
          </a:xfrm>
          <a:prstGeom prst="rect">
            <a:avLst/>
          </a:prstGeom>
          <a:noFill/>
          <a:ln/>
        </p:spPr>
        <p:txBody>
          <a:bodyPr wrap="square" lIns="0" tIns="0" rIns="0" bIns="0" rtlCol="0" anchor="ctr"/>
          <a:lstStyle/>
          <a:p>
            <a:pPr rtl="1" algn="r" indent="0" marL="0">
              <a:buNone/>
            </a:pPr>
            <a:r>
              <a:rPr lang="fa-IR" altLang="en-US" sz="2000" dirty="0">
                <a:solidFill>
                  <a:schemeClr val="bg1"/>
                </a:solidFill>
                <a:latin typeface="B Nazanin" pitchFamily="34" charset="0"/>
                <a:ea typeface="B Nazanin" pitchFamily="34" charset="-122"/>
                <a:cs typeface="B Nazanin" pitchFamily="34" charset="-120"/>
              </a:rPr>
              <a:t>در ایران حق‌الزحمه در صورت‌های مالی افشا می‌شود؛ بنابراین هر دو نظریه باید همزمان و با شواهد تجربی آزموده شوند.</a:t>
            </a:r>
            <a:endParaRPr lang="fa-IR" sz="20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7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7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شکاف پژوهشی و پرسش اصلی</a:t>
            </a:r>
            <a:endParaRPr lang="fa-IR" sz="3400" dirty="0"/>
          </a:p>
        </p:txBody>
      </p:sp>
      <p:sp>
        <p:nvSpPr>
          <p:cNvPr id="3" name="anim_1_71"/>
          <p:cNvSpPr/>
          <p:nvPr/>
        </p:nvSpPr>
        <p:spPr>
          <a:xfrm>
            <a:off x="548640" y="1417320"/>
            <a:ext cx="11091672" cy="1554480"/>
          </a:xfrm>
          <a:prstGeom prst="roundRect">
            <a:avLst>
              <a:gd name="adj" fmla="val 7059"/>
            </a:avLst>
          </a:prstGeom>
          <a:solidFill>
            <a:schemeClr val="tx2"/>
          </a:solidFill>
          <a:ln/>
          <a:effectLst>
            <a:outerShdw sx="100000" sy="100000" kx="0" ky="0" algn="bl" rotWithShape="0" blurRad="101600" dist="25400" dir="5400000">
              <a:srgbClr val="000000">
                <a:alpha val="12000"/>
              </a:srgbClr>
            </a:outerShdw>
          </a:effectLst>
        </p:spPr>
      </p:sp>
      <p:sp>
        <p:nvSpPr>
          <p:cNvPr id="4" name="anim_1_72"/>
          <p:cNvSpPr txBox="1"/>
          <p:nvPr/>
        </p:nvSpPr>
        <p:spPr>
          <a:xfrm>
            <a:off x="822960" y="1463040"/>
            <a:ext cx="10543032" cy="1463040"/>
          </a:xfrm>
          <a:prstGeom prst="rect">
            <a:avLst/>
          </a:prstGeom>
          <a:noFill/>
          <a:ln/>
        </p:spPr>
        <p:txBody>
          <a:bodyPr wrap="square" lIns="0" tIns="0" rIns="0" bIns="0" rtlCol="0" anchor="ctr"/>
          <a:lstStyle/>
          <a:p>
            <a:pPr rtl="1" algn="r" indent="0" marL="0">
              <a:buNone/>
            </a:pPr>
            <a:r>
              <a:rPr lang="fa-IR" altLang="en-US" sz="2200" dirty="0">
                <a:solidFill>
                  <a:schemeClr val="bg1"/>
                </a:solidFill>
                <a:latin typeface="B Nazanin" pitchFamily="34" charset="0"/>
                <a:ea typeface="B Nazanin" pitchFamily="34" charset="-122"/>
                <a:cs typeface="B Nazanin" pitchFamily="34" charset="-120"/>
              </a:rPr>
              <a:t>پژوهش‌های پیشین بیشتر بر «وجود» نرخ‌شکنی تمرکز کرده‌اند و کمتر به کانال‌های بازیابی و پیامد آن برای کیفیت حسابرسی پرداخته‌اند (دفوند و ژانگ، 2014).</a:t>
            </a:r>
            <a:endParaRPr lang="fa-IR" sz="2200" dirty="0"/>
          </a:p>
        </p:txBody>
      </p:sp>
      <p:sp>
        <p:nvSpPr>
          <p:cNvPr id="5" name="anim_2_73"/>
          <p:cNvSpPr txBox="1"/>
          <p:nvPr/>
        </p:nvSpPr>
        <p:spPr>
          <a:xfrm>
            <a:off x="548640" y="3200400"/>
            <a:ext cx="11091672" cy="457200"/>
          </a:xfrm>
          <a:prstGeom prst="rect">
            <a:avLst/>
          </a:prstGeom>
          <a:noFill/>
          <a:ln/>
        </p:spPr>
        <p:txBody>
          <a:bodyPr wrap="square" lIns="0" tIns="0" rIns="0" bIns="0" rtlCol="0" anchor="t"/>
          <a:lstStyle/>
          <a:p>
            <a:pPr rtl="1" algn="r" indent="0" marL="0">
              <a:buNone/>
            </a:pPr>
            <a:r>
              <a:rPr lang="fa-IR" altLang="en-US" sz="2400" dirty="0">
                <a:solidFill>
                  <a:schemeClr val="accent1"/>
                </a:solidFill>
                <a:latin typeface="B Titr" pitchFamily="34" charset="0"/>
                <a:ea typeface="B Titr" pitchFamily="34" charset="-122"/>
                <a:cs typeface="B Titr" pitchFamily="34" charset="-120"/>
              </a:rPr>
              <a:t>پرسش اصلی پژوهش</a:t>
            </a:r>
            <a:endParaRPr lang="fa-IR" sz="2400" dirty="0"/>
          </a:p>
        </p:txBody>
      </p:sp>
      <p:sp>
        <p:nvSpPr>
          <p:cNvPr id="6" name="anim_2_74"/>
          <p:cNvSpPr txBox="1"/>
          <p:nvPr/>
        </p:nvSpPr>
        <p:spPr>
          <a:xfrm>
            <a:off x="548640" y="3703320"/>
            <a:ext cx="11091672" cy="914400"/>
          </a:xfrm>
          <a:prstGeom prst="rect">
            <a:avLst/>
          </a:prstGeom>
          <a:noFill/>
          <a:ln/>
        </p:spPr>
        <p:txBody>
          <a:bodyPr wrap="square" lIns="0" tIns="0" rIns="0" bIns="0" rtlCol="0" anchor="t"/>
          <a:lstStyle/>
          <a:p>
            <a:pPr rtl="1" algn="r" indent="0" marL="0">
              <a:buNone/>
            </a:pPr>
            <a:r>
              <a:rPr lang="fa-IR" altLang="en-US" sz="2200" dirty="0">
                <a:solidFill>
                  <a:schemeClr val="tx1"/>
                </a:solidFill>
                <a:latin typeface="B Nazanin" pitchFamily="34" charset="0"/>
                <a:ea typeface="B Nazanin" pitchFamily="34" charset="-122"/>
                <a:cs typeface="B Nazanin" pitchFamily="34" charset="-120"/>
              </a:rPr>
              <a:t>آیا کاهش اولیهٔ حق‌الزحمه در بازار حسابرسی ایران وجود دارد؟ از چه مجرایی بازیابی می‌شود؟ و آیا کیفیت حسابرسی آینده را تهدید می‌کند؟</a:t>
            </a:r>
            <a:endParaRPr lang="fa-IR" sz="2200" dirty="0"/>
          </a:p>
        </p:txBody>
      </p:sp>
      <p:sp>
        <p:nvSpPr>
          <p:cNvPr id="7" name="anim_3_75"/>
          <p:cNvSpPr/>
          <p:nvPr/>
        </p:nvSpPr>
        <p:spPr>
          <a:xfrm>
            <a:off x="8138160" y="4846320"/>
            <a:ext cx="3566160" cy="1188720"/>
          </a:xfrm>
          <a:prstGeom prst="roundRect">
            <a:avLst>
              <a:gd name="adj" fmla="val 9231"/>
            </a:avLst>
          </a:prstGeom>
          <a:solidFill>
            <a:schemeClr val="bg2"/>
          </a:solidFill>
          <a:ln/>
          <a:effectLst>
            <a:outerShdw sx="100000" sy="100000" kx="0" ky="0" algn="bl" rotWithShape="0" blurRad="101600" dist="25400" dir="5400000">
              <a:srgbClr val="000000">
                <a:alpha val="12000"/>
              </a:srgbClr>
            </a:outerShdw>
          </a:effectLst>
        </p:spPr>
      </p:sp>
      <p:sp>
        <p:nvSpPr>
          <p:cNvPr id="8" name="anim_3_76"/>
          <p:cNvSpPr/>
          <p:nvPr/>
        </p:nvSpPr>
        <p:spPr>
          <a:xfrm>
            <a:off x="10835640" y="5074920"/>
            <a:ext cx="731520" cy="731520"/>
          </a:xfrm>
          <a:prstGeom prst="ellipse">
            <a:avLst/>
          </a:prstGeom>
          <a:solidFill>
            <a:schemeClr val="accent1"/>
          </a:solidFill>
          <a:ln/>
        </p:spPr>
      </p:sp>
      <p:sp>
        <p:nvSpPr>
          <p:cNvPr id="9" name="anim_3_77"/>
          <p:cNvSpPr txBox="1"/>
          <p:nvPr/>
        </p:nvSpPr>
        <p:spPr>
          <a:xfrm>
            <a:off x="10835640" y="507492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1</a:t>
            </a:r>
            <a:endParaRPr lang="fa-IR" sz="2000" dirty="0"/>
          </a:p>
        </p:txBody>
      </p:sp>
      <p:sp>
        <p:nvSpPr>
          <p:cNvPr id="10" name="anim_3_78"/>
          <p:cNvSpPr txBox="1"/>
          <p:nvPr/>
        </p:nvSpPr>
        <p:spPr>
          <a:xfrm>
            <a:off x="8275320" y="4937760"/>
            <a:ext cx="2377440" cy="1005840"/>
          </a:xfrm>
          <a:prstGeom prst="rect">
            <a:avLst/>
          </a:prstGeom>
          <a:noFill/>
          <a:ln/>
        </p:spPr>
        <p:txBody>
          <a:bodyPr wrap="square" lIns="0" tIns="0" rIns="0" bIns="0" rtlCol="0" anchor="ctr"/>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نقش خدمات غیرحسابرسی</a:t>
            </a:r>
            <a:endParaRPr lang="fa-IR" sz="1900" dirty="0"/>
          </a:p>
        </p:txBody>
      </p:sp>
      <p:sp>
        <p:nvSpPr>
          <p:cNvPr id="11" name="anim_4_79"/>
          <p:cNvSpPr/>
          <p:nvPr/>
        </p:nvSpPr>
        <p:spPr>
          <a:xfrm>
            <a:off x="4343400" y="4846320"/>
            <a:ext cx="3566160" cy="1188720"/>
          </a:xfrm>
          <a:prstGeom prst="roundRect">
            <a:avLst>
              <a:gd name="adj" fmla="val 9231"/>
            </a:avLst>
          </a:prstGeom>
          <a:solidFill>
            <a:schemeClr val="bg2"/>
          </a:solidFill>
          <a:ln/>
          <a:effectLst>
            <a:outerShdw sx="100000" sy="100000" kx="0" ky="0" algn="bl" rotWithShape="0" blurRad="101600" dist="25400" dir="5400000">
              <a:srgbClr val="000000">
                <a:alpha val="12000"/>
              </a:srgbClr>
            </a:outerShdw>
          </a:effectLst>
        </p:spPr>
      </p:sp>
      <p:sp>
        <p:nvSpPr>
          <p:cNvPr id="12" name="anim_4_80"/>
          <p:cNvSpPr/>
          <p:nvPr/>
        </p:nvSpPr>
        <p:spPr>
          <a:xfrm>
            <a:off x="7040880" y="5074920"/>
            <a:ext cx="731520" cy="731520"/>
          </a:xfrm>
          <a:prstGeom prst="ellipse">
            <a:avLst/>
          </a:prstGeom>
          <a:solidFill>
            <a:schemeClr val="accent2"/>
          </a:solidFill>
          <a:ln/>
        </p:spPr>
      </p:sp>
      <p:sp>
        <p:nvSpPr>
          <p:cNvPr id="13" name="anim_4_81"/>
          <p:cNvSpPr txBox="1"/>
          <p:nvPr/>
        </p:nvSpPr>
        <p:spPr>
          <a:xfrm>
            <a:off x="7040880" y="507492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2</a:t>
            </a:r>
            <a:endParaRPr lang="fa-IR" sz="2000" dirty="0"/>
          </a:p>
        </p:txBody>
      </p:sp>
      <p:sp>
        <p:nvSpPr>
          <p:cNvPr id="14" name="anim_4_82"/>
          <p:cNvSpPr txBox="1"/>
          <p:nvPr/>
        </p:nvSpPr>
        <p:spPr>
          <a:xfrm>
            <a:off x="4480560" y="4937760"/>
            <a:ext cx="2377440" cy="1005840"/>
          </a:xfrm>
          <a:prstGeom prst="rect">
            <a:avLst/>
          </a:prstGeom>
          <a:noFill/>
          <a:ln/>
        </p:spPr>
        <p:txBody>
          <a:bodyPr wrap="square" lIns="0" tIns="0" rIns="0" bIns="0" rtlCol="0" anchor="ctr"/>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نقش اهمیت مشتری و اندازهٔ مؤسسه</a:t>
            </a:r>
            <a:endParaRPr lang="fa-IR" sz="1900" dirty="0"/>
          </a:p>
        </p:txBody>
      </p:sp>
      <p:sp>
        <p:nvSpPr>
          <p:cNvPr id="15" name="anim_5_83"/>
          <p:cNvSpPr/>
          <p:nvPr/>
        </p:nvSpPr>
        <p:spPr>
          <a:xfrm>
            <a:off x="548640" y="4846320"/>
            <a:ext cx="3566160" cy="1188720"/>
          </a:xfrm>
          <a:prstGeom prst="roundRect">
            <a:avLst>
              <a:gd name="adj" fmla="val 9231"/>
            </a:avLst>
          </a:prstGeom>
          <a:solidFill>
            <a:schemeClr val="bg2"/>
          </a:solidFill>
          <a:ln/>
          <a:effectLst>
            <a:outerShdw sx="100000" sy="100000" kx="0" ky="0" algn="bl" rotWithShape="0" blurRad="101600" dist="25400" dir="5400000">
              <a:srgbClr val="000000">
                <a:alpha val="12000"/>
              </a:srgbClr>
            </a:outerShdw>
          </a:effectLst>
        </p:spPr>
      </p:sp>
      <p:sp>
        <p:nvSpPr>
          <p:cNvPr id="16" name="anim_5_84"/>
          <p:cNvSpPr/>
          <p:nvPr/>
        </p:nvSpPr>
        <p:spPr>
          <a:xfrm>
            <a:off x="3246120" y="5074920"/>
            <a:ext cx="731520" cy="731520"/>
          </a:xfrm>
          <a:prstGeom prst="ellipse">
            <a:avLst/>
          </a:prstGeom>
          <a:solidFill>
            <a:schemeClr val="accent3"/>
          </a:solidFill>
          <a:ln/>
        </p:spPr>
      </p:sp>
      <p:sp>
        <p:nvSpPr>
          <p:cNvPr id="17" name="anim_5_85"/>
          <p:cNvSpPr txBox="1"/>
          <p:nvPr/>
        </p:nvSpPr>
        <p:spPr>
          <a:xfrm>
            <a:off x="3246120" y="507492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3</a:t>
            </a:r>
            <a:endParaRPr lang="fa-IR" sz="2000" dirty="0"/>
          </a:p>
        </p:txBody>
      </p:sp>
      <p:sp>
        <p:nvSpPr>
          <p:cNvPr id="18" name="anim_5_86"/>
          <p:cNvSpPr txBox="1"/>
          <p:nvPr/>
        </p:nvSpPr>
        <p:spPr>
          <a:xfrm>
            <a:off x="685800" y="4937760"/>
            <a:ext cx="2377440" cy="1005840"/>
          </a:xfrm>
          <a:prstGeom prst="rect">
            <a:avLst/>
          </a:prstGeom>
          <a:noFill/>
          <a:ln/>
        </p:spPr>
        <p:txBody>
          <a:bodyPr wrap="square" lIns="0" tIns="0" rIns="0" bIns="0" rtlCol="0" anchor="ctr"/>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الگوی ریکاوری و کیفیت آینده</a:t>
            </a:r>
            <a:endParaRPr lang="fa-IR" sz="19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5</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3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7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7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70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7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10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10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10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10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14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14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14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40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اهداف پژوهش</a:t>
            </a:r>
            <a:endParaRPr lang="fa-IR" sz="3400" dirty="0"/>
          </a:p>
        </p:txBody>
      </p:sp>
      <p:sp>
        <p:nvSpPr>
          <p:cNvPr id="3" name="anim_1_87"/>
          <p:cNvSpPr/>
          <p:nvPr/>
        </p:nvSpPr>
        <p:spPr>
          <a:xfrm>
            <a:off x="548640" y="1417320"/>
            <a:ext cx="11091672" cy="850392"/>
          </a:xfrm>
          <a:prstGeom prst="roundRect">
            <a:avLst>
              <a:gd name="adj" fmla="val 12903"/>
            </a:avLst>
          </a:prstGeom>
          <a:solidFill>
            <a:schemeClr val="bg2"/>
          </a:solidFill>
          <a:ln/>
          <a:effectLst>
            <a:outerShdw sx="100000" sy="100000" kx="0" ky="0" algn="bl" rotWithShape="0" blurRad="101600" dist="25400" dir="5400000">
              <a:srgbClr val="000000">
                <a:alpha val="12000"/>
              </a:srgbClr>
            </a:outerShdw>
          </a:effectLst>
        </p:spPr>
      </p:sp>
      <p:sp>
        <p:nvSpPr>
          <p:cNvPr id="4" name="anim_1_88"/>
          <p:cNvSpPr/>
          <p:nvPr/>
        </p:nvSpPr>
        <p:spPr>
          <a:xfrm>
            <a:off x="10863072" y="1499616"/>
            <a:ext cx="685800" cy="685800"/>
          </a:xfrm>
          <a:prstGeom prst="ellipse">
            <a:avLst/>
          </a:prstGeom>
          <a:solidFill>
            <a:schemeClr val="accent1"/>
          </a:solidFill>
          <a:ln/>
        </p:spPr>
      </p:sp>
      <p:sp>
        <p:nvSpPr>
          <p:cNvPr id="5" name="anim_1_89"/>
          <p:cNvSpPr txBox="1"/>
          <p:nvPr/>
        </p:nvSpPr>
        <p:spPr>
          <a:xfrm>
            <a:off x="10863072" y="1499616"/>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1</a:t>
            </a:r>
            <a:endParaRPr lang="fa-IR" sz="2000" dirty="0"/>
          </a:p>
        </p:txBody>
      </p:sp>
      <p:sp>
        <p:nvSpPr>
          <p:cNvPr id="6" name="anim_1_90"/>
          <p:cNvSpPr txBox="1"/>
          <p:nvPr/>
        </p:nvSpPr>
        <p:spPr>
          <a:xfrm>
            <a:off x="777240" y="1463040"/>
            <a:ext cx="9811512" cy="758952"/>
          </a:xfrm>
          <a:prstGeom prst="rect">
            <a:avLst/>
          </a:prstGeom>
          <a:noFill/>
          <a:ln/>
        </p:spPr>
        <p:txBody>
          <a:bodyPr wrap="square" lIns="0" tIns="0" rIns="0" bIns="0" rtlCol="0" anchor="ctr"/>
          <a:lstStyle/>
          <a:p>
            <a:pPr rtl="1" algn="r" indent="0" marL="0">
              <a:buNone/>
            </a:pPr>
            <a:r>
              <a:rPr lang="fa-IR" altLang="en-US" sz="2100" dirty="0">
                <a:solidFill>
                  <a:schemeClr val="tx1"/>
                </a:solidFill>
                <a:latin typeface="B Nazanin" pitchFamily="34" charset="0"/>
                <a:ea typeface="B Nazanin" pitchFamily="34" charset="-122"/>
                <a:cs typeface="B Nazanin" pitchFamily="34" charset="-120"/>
              </a:rPr>
              <a:t>تعیین رابطهٔ سطح حق‌الزحمه‌های غیرحسابرسی با کاهش هزینهٔ حسابرسی در سال اول</a:t>
            </a:r>
            <a:endParaRPr lang="fa-IR" sz="2100" dirty="0"/>
          </a:p>
        </p:txBody>
      </p:sp>
      <p:sp>
        <p:nvSpPr>
          <p:cNvPr id="7" name="anim_2_91"/>
          <p:cNvSpPr/>
          <p:nvPr/>
        </p:nvSpPr>
        <p:spPr>
          <a:xfrm>
            <a:off x="548640" y="2395728"/>
            <a:ext cx="11091672" cy="850392"/>
          </a:xfrm>
          <a:prstGeom prst="roundRect">
            <a:avLst>
              <a:gd name="adj" fmla="val 12903"/>
            </a:avLst>
          </a:prstGeom>
          <a:solidFill>
            <a:schemeClr val="bg2"/>
          </a:solidFill>
          <a:ln/>
          <a:effectLst>
            <a:outerShdw sx="100000" sy="100000" kx="0" ky="0" algn="bl" rotWithShape="0" blurRad="101600" dist="25400" dir="5400000">
              <a:srgbClr val="000000">
                <a:alpha val="12000"/>
              </a:srgbClr>
            </a:outerShdw>
          </a:effectLst>
        </p:spPr>
      </p:sp>
      <p:sp>
        <p:nvSpPr>
          <p:cNvPr id="8" name="anim_2_92"/>
          <p:cNvSpPr/>
          <p:nvPr/>
        </p:nvSpPr>
        <p:spPr>
          <a:xfrm>
            <a:off x="10863072" y="2478024"/>
            <a:ext cx="685800" cy="685800"/>
          </a:xfrm>
          <a:prstGeom prst="ellipse">
            <a:avLst/>
          </a:prstGeom>
          <a:solidFill>
            <a:schemeClr val="accent5"/>
          </a:solidFill>
          <a:ln/>
        </p:spPr>
      </p:sp>
      <p:sp>
        <p:nvSpPr>
          <p:cNvPr id="9" name="anim_2_93"/>
          <p:cNvSpPr txBox="1"/>
          <p:nvPr/>
        </p:nvSpPr>
        <p:spPr>
          <a:xfrm>
            <a:off x="10863072" y="2478024"/>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2</a:t>
            </a:r>
            <a:endParaRPr lang="fa-IR" sz="2000" dirty="0"/>
          </a:p>
        </p:txBody>
      </p:sp>
      <p:sp>
        <p:nvSpPr>
          <p:cNvPr id="10" name="anim_2_94"/>
          <p:cNvSpPr txBox="1"/>
          <p:nvPr/>
        </p:nvSpPr>
        <p:spPr>
          <a:xfrm>
            <a:off x="777240" y="2441448"/>
            <a:ext cx="9811512" cy="758952"/>
          </a:xfrm>
          <a:prstGeom prst="rect">
            <a:avLst/>
          </a:prstGeom>
          <a:noFill/>
          <a:ln/>
        </p:spPr>
        <p:txBody>
          <a:bodyPr wrap="square" lIns="0" tIns="0" rIns="0" bIns="0" rtlCol="0" anchor="ctr"/>
          <a:lstStyle/>
          <a:p>
            <a:pPr rtl="1" algn="r" indent="0" marL="0">
              <a:buNone/>
            </a:pPr>
            <a:r>
              <a:rPr lang="fa-IR" altLang="en-US" sz="2100" dirty="0">
                <a:solidFill>
                  <a:schemeClr val="tx1"/>
                </a:solidFill>
                <a:latin typeface="B Nazanin" pitchFamily="34" charset="0"/>
                <a:ea typeface="B Nazanin" pitchFamily="34" charset="-122"/>
                <a:cs typeface="B Nazanin" pitchFamily="34" charset="-120"/>
              </a:rPr>
              <a:t>تعیین اثر اهمیت مشتری بر کاهش هزینه در مؤسسات حسابرسی کوچک و بزرگ و مقایسهٔ آن‌ها</a:t>
            </a:r>
            <a:endParaRPr lang="fa-IR" sz="2100" dirty="0"/>
          </a:p>
        </p:txBody>
      </p:sp>
      <p:sp>
        <p:nvSpPr>
          <p:cNvPr id="11" name="anim_3_95"/>
          <p:cNvSpPr/>
          <p:nvPr/>
        </p:nvSpPr>
        <p:spPr>
          <a:xfrm>
            <a:off x="548640" y="3374136"/>
            <a:ext cx="11091672" cy="850392"/>
          </a:xfrm>
          <a:prstGeom prst="roundRect">
            <a:avLst>
              <a:gd name="adj" fmla="val 12903"/>
            </a:avLst>
          </a:prstGeom>
          <a:solidFill>
            <a:schemeClr val="bg2"/>
          </a:solidFill>
          <a:ln/>
          <a:effectLst>
            <a:outerShdw sx="100000" sy="100000" kx="0" ky="0" algn="bl" rotWithShape="0" blurRad="101600" dist="25400" dir="5400000">
              <a:srgbClr val="000000">
                <a:alpha val="12000"/>
              </a:srgbClr>
            </a:outerShdw>
          </a:effectLst>
        </p:spPr>
      </p:sp>
      <p:sp>
        <p:nvSpPr>
          <p:cNvPr id="12" name="anim_3_96"/>
          <p:cNvSpPr/>
          <p:nvPr/>
        </p:nvSpPr>
        <p:spPr>
          <a:xfrm>
            <a:off x="10863072" y="3456432"/>
            <a:ext cx="685800" cy="685800"/>
          </a:xfrm>
          <a:prstGeom prst="ellipse">
            <a:avLst/>
          </a:prstGeom>
          <a:solidFill>
            <a:schemeClr val="accent2"/>
          </a:solidFill>
          <a:ln/>
        </p:spPr>
      </p:sp>
      <p:sp>
        <p:nvSpPr>
          <p:cNvPr id="13" name="anim_3_97"/>
          <p:cNvSpPr txBox="1"/>
          <p:nvPr/>
        </p:nvSpPr>
        <p:spPr>
          <a:xfrm>
            <a:off x="10863072" y="3456432"/>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3</a:t>
            </a:r>
            <a:endParaRPr lang="fa-IR" sz="2000" dirty="0"/>
          </a:p>
        </p:txBody>
      </p:sp>
      <p:sp>
        <p:nvSpPr>
          <p:cNvPr id="14" name="anim_3_98"/>
          <p:cNvSpPr txBox="1"/>
          <p:nvPr/>
        </p:nvSpPr>
        <p:spPr>
          <a:xfrm>
            <a:off x="777240" y="3419856"/>
            <a:ext cx="9811512" cy="758952"/>
          </a:xfrm>
          <a:prstGeom prst="rect">
            <a:avLst/>
          </a:prstGeom>
          <a:noFill/>
          <a:ln/>
        </p:spPr>
        <p:txBody>
          <a:bodyPr wrap="square" lIns="0" tIns="0" rIns="0" bIns="0" rtlCol="0" anchor="ctr"/>
          <a:lstStyle/>
          <a:p>
            <a:pPr rtl="1" algn="r" indent="0" marL="0">
              <a:buNone/>
            </a:pPr>
            <a:r>
              <a:rPr lang="fa-IR" altLang="en-US" sz="2100" dirty="0">
                <a:solidFill>
                  <a:schemeClr val="tx1"/>
                </a:solidFill>
                <a:latin typeface="B Nazanin" pitchFamily="34" charset="0"/>
                <a:ea typeface="B Nazanin" pitchFamily="34" charset="-122"/>
                <a:cs typeface="B Nazanin" pitchFamily="34" charset="-120"/>
              </a:rPr>
              <a:t>مقایسهٔ افزایش حق‌الزحمهٔ سال‌های بعد در مؤسسات کم‌هزینه و پرهزینه</a:t>
            </a:r>
            <a:endParaRPr lang="fa-IR" sz="2100" dirty="0"/>
          </a:p>
        </p:txBody>
      </p:sp>
      <p:sp>
        <p:nvSpPr>
          <p:cNvPr id="15" name="anim_4_99"/>
          <p:cNvSpPr/>
          <p:nvPr/>
        </p:nvSpPr>
        <p:spPr>
          <a:xfrm>
            <a:off x="548640" y="4352544"/>
            <a:ext cx="11091672" cy="850392"/>
          </a:xfrm>
          <a:prstGeom prst="roundRect">
            <a:avLst>
              <a:gd name="adj" fmla="val 12903"/>
            </a:avLst>
          </a:prstGeom>
          <a:solidFill>
            <a:schemeClr val="bg2"/>
          </a:solidFill>
          <a:ln/>
          <a:effectLst>
            <a:outerShdw sx="100000" sy="100000" kx="0" ky="0" algn="bl" rotWithShape="0" blurRad="101600" dist="25400" dir="5400000">
              <a:srgbClr val="000000">
                <a:alpha val="12000"/>
              </a:srgbClr>
            </a:outerShdw>
          </a:effectLst>
        </p:spPr>
      </p:sp>
      <p:sp>
        <p:nvSpPr>
          <p:cNvPr id="16" name="anim_4_100"/>
          <p:cNvSpPr/>
          <p:nvPr/>
        </p:nvSpPr>
        <p:spPr>
          <a:xfrm>
            <a:off x="10863072" y="4434840"/>
            <a:ext cx="685800" cy="685800"/>
          </a:xfrm>
          <a:prstGeom prst="ellipse">
            <a:avLst/>
          </a:prstGeom>
          <a:solidFill>
            <a:schemeClr val="accent4"/>
          </a:solidFill>
          <a:ln/>
        </p:spPr>
      </p:sp>
      <p:sp>
        <p:nvSpPr>
          <p:cNvPr id="17" name="anim_4_101"/>
          <p:cNvSpPr txBox="1"/>
          <p:nvPr/>
        </p:nvSpPr>
        <p:spPr>
          <a:xfrm>
            <a:off x="10863072" y="4434840"/>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4</a:t>
            </a:r>
            <a:endParaRPr lang="fa-IR" sz="2000" dirty="0"/>
          </a:p>
        </p:txBody>
      </p:sp>
      <p:sp>
        <p:nvSpPr>
          <p:cNvPr id="18" name="anim_4_102"/>
          <p:cNvSpPr txBox="1"/>
          <p:nvPr/>
        </p:nvSpPr>
        <p:spPr>
          <a:xfrm>
            <a:off x="777240" y="4398264"/>
            <a:ext cx="9811512" cy="758952"/>
          </a:xfrm>
          <a:prstGeom prst="rect">
            <a:avLst/>
          </a:prstGeom>
          <a:noFill/>
          <a:ln/>
        </p:spPr>
        <p:txBody>
          <a:bodyPr wrap="square" lIns="0" tIns="0" rIns="0" bIns="0" rtlCol="0" anchor="ctr"/>
          <a:lstStyle/>
          <a:p>
            <a:pPr rtl="1" algn="r" indent="0" marL="0">
              <a:buNone/>
            </a:pPr>
            <a:r>
              <a:rPr lang="fa-IR" altLang="en-US" sz="2100" dirty="0">
                <a:solidFill>
                  <a:schemeClr val="tx1"/>
                </a:solidFill>
                <a:latin typeface="B Nazanin" pitchFamily="34" charset="0"/>
                <a:ea typeface="B Nazanin" pitchFamily="34" charset="-122"/>
                <a:cs typeface="B Nazanin" pitchFamily="34" charset="-120"/>
              </a:rPr>
              <a:t>بررسی افزایش حق‌الزحمه‌های غیرحسابرسی در سال‌های بعد در مؤسسات کم‌هزینه</a:t>
            </a:r>
            <a:endParaRPr lang="fa-IR" sz="2100" dirty="0"/>
          </a:p>
        </p:txBody>
      </p:sp>
      <p:sp>
        <p:nvSpPr>
          <p:cNvPr id="19" name="anim_5_103"/>
          <p:cNvSpPr/>
          <p:nvPr/>
        </p:nvSpPr>
        <p:spPr>
          <a:xfrm>
            <a:off x="548640" y="5330952"/>
            <a:ext cx="11091672" cy="850392"/>
          </a:xfrm>
          <a:prstGeom prst="roundRect">
            <a:avLst>
              <a:gd name="adj" fmla="val 12903"/>
            </a:avLst>
          </a:prstGeom>
          <a:solidFill>
            <a:schemeClr val="bg2"/>
          </a:solidFill>
          <a:ln/>
          <a:effectLst>
            <a:outerShdw sx="100000" sy="100000" kx="0" ky="0" algn="bl" rotWithShape="0" blurRad="101600" dist="25400" dir="5400000">
              <a:srgbClr val="000000">
                <a:alpha val="12000"/>
              </a:srgbClr>
            </a:outerShdw>
          </a:effectLst>
        </p:spPr>
      </p:sp>
      <p:sp>
        <p:nvSpPr>
          <p:cNvPr id="20" name="anim_5_104"/>
          <p:cNvSpPr/>
          <p:nvPr/>
        </p:nvSpPr>
        <p:spPr>
          <a:xfrm>
            <a:off x="10863072" y="5413248"/>
            <a:ext cx="685800" cy="685800"/>
          </a:xfrm>
          <a:prstGeom prst="ellipse">
            <a:avLst/>
          </a:prstGeom>
          <a:solidFill>
            <a:schemeClr val="accent3"/>
          </a:solidFill>
          <a:ln/>
        </p:spPr>
      </p:sp>
      <p:sp>
        <p:nvSpPr>
          <p:cNvPr id="21" name="anim_5_105"/>
          <p:cNvSpPr txBox="1"/>
          <p:nvPr/>
        </p:nvSpPr>
        <p:spPr>
          <a:xfrm>
            <a:off x="10863072" y="5413248"/>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5</a:t>
            </a:r>
            <a:endParaRPr lang="fa-IR" sz="2000" dirty="0"/>
          </a:p>
        </p:txBody>
      </p:sp>
      <p:sp>
        <p:nvSpPr>
          <p:cNvPr id="22" name="anim_5_106"/>
          <p:cNvSpPr txBox="1"/>
          <p:nvPr/>
        </p:nvSpPr>
        <p:spPr>
          <a:xfrm>
            <a:off x="777240" y="5376672"/>
            <a:ext cx="9811512" cy="758952"/>
          </a:xfrm>
          <a:prstGeom prst="rect">
            <a:avLst/>
          </a:prstGeom>
          <a:noFill/>
          <a:ln/>
        </p:spPr>
        <p:txBody>
          <a:bodyPr wrap="square" lIns="0" tIns="0" rIns="0" bIns="0" rtlCol="0" anchor="ctr"/>
          <a:lstStyle/>
          <a:p>
            <a:pPr rtl="1" algn="r" indent="0" marL="0">
              <a:buNone/>
            </a:pPr>
            <a:r>
              <a:rPr lang="fa-IR" altLang="en-US" sz="2100" dirty="0">
                <a:solidFill>
                  <a:schemeClr val="tx1"/>
                </a:solidFill>
                <a:latin typeface="B Nazanin" pitchFamily="34" charset="0"/>
                <a:ea typeface="B Nazanin" pitchFamily="34" charset="-122"/>
                <a:cs typeface="B Nazanin" pitchFamily="34" charset="-120"/>
              </a:rPr>
              <a:t>بررسی کیفیت حسابرسی آینده و میزان بازیابی حق‌الزحمه در مؤسسات کم‌هزینه</a:t>
            </a:r>
            <a:endParaRPr lang="fa-IR" sz="21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6</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7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7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10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10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10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40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4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40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40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نوآوری و کاربرد پژوهش</a:t>
            </a:r>
            <a:endParaRPr lang="fa-IR" sz="3400" dirty="0"/>
          </a:p>
        </p:txBody>
      </p:sp>
      <p:sp>
        <p:nvSpPr>
          <p:cNvPr id="3" name="anim_1_107"/>
          <p:cNvSpPr/>
          <p:nvPr/>
        </p:nvSpPr>
        <p:spPr>
          <a:xfrm>
            <a:off x="6263640" y="1417320"/>
            <a:ext cx="5440680" cy="4709160"/>
          </a:xfrm>
          <a:prstGeom prst="roundRect">
            <a:avLst>
              <a:gd name="adj" fmla="val 2330"/>
            </a:avLst>
          </a:prstGeom>
          <a:solidFill>
            <a:schemeClr val="bg2"/>
          </a:solidFill>
          <a:ln/>
          <a:effectLst>
            <a:outerShdw sx="100000" sy="100000" kx="0" ky="0" algn="bl" rotWithShape="0" blurRad="101600" dist="25400" dir="5400000">
              <a:srgbClr val="000000">
                <a:alpha val="12000"/>
              </a:srgbClr>
            </a:outerShdw>
          </a:effectLst>
        </p:spPr>
      </p:sp>
      <p:sp>
        <p:nvSpPr>
          <p:cNvPr id="4" name="anim_1_108"/>
          <p:cNvSpPr/>
          <p:nvPr/>
        </p:nvSpPr>
        <p:spPr>
          <a:xfrm>
            <a:off x="10607040" y="1600200"/>
            <a:ext cx="868680" cy="868680"/>
          </a:xfrm>
          <a:prstGeom prst="ellipse">
            <a:avLst/>
          </a:prstGeom>
          <a:solidFill>
            <a:schemeClr val="accent1"/>
          </a:solidFill>
          <a:ln/>
        </p:spPr>
      </p:sp>
      <p:pic>
        <p:nvPicPr>
          <p:cNvPr id="5" name="anim_1_109" descr="preencoded.png">    </p:cNvPr>
          <p:cNvPicPr>
            <a:picLocks noChangeAspect="1"/>
          </p:cNvPicPr>
          <p:nvPr/>
        </p:nvPicPr>
        <p:blipFill>
          <a:blip r:embed="rId1"/>
          <a:stretch>
            <a:fillRect/>
          </a:stretch>
        </p:blipFill>
        <p:spPr>
          <a:xfrm>
            <a:off x="10815523" y="1808683"/>
            <a:ext cx="451714" cy="451714"/>
          </a:xfrm>
          <a:prstGeom prst="rect">
            <a:avLst/>
          </a:prstGeom>
        </p:spPr>
      </p:pic>
      <p:sp>
        <p:nvSpPr>
          <p:cNvPr id="6" name="anim_1_110"/>
          <p:cNvSpPr txBox="1"/>
          <p:nvPr/>
        </p:nvSpPr>
        <p:spPr>
          <a:xfrm>
            <a:off x="6492240" y="1691640"/>
            <a:ext cx="3931920" cy="685800"/>
          </a:xfrm>
          <a:prstGeom prst="rect">
            <a:avLst/>
          </a:prstGeom>
          <a:noFill/>
          <a:ln/>
        </p:spPr>
        <p:txBody>
          <a:bodyPr wrap="square" lIns="0" tIns="0" rIns="0" bIns="0" rtlCol="0" anchor="ctr"/>
          <a:lstStyle/>
          <a:p>
            <a:pPr rtl="1" algn="r" indent="0" marL="0">
              <a:buNone/>
            </a:pPr>
            <a:r>
              <a:rPr lang="fa-IR" altLang="en-US" sz="2400" dirty="0">
                <a:solidFill>
                  <a:schemeClr val="tx2"/>
                </a:solidFill>
                <a:latin typeface="B Titr" pitchFamily="34" charset="0"/>
                <a:ea typeface="B Titr" pitchFamily="34" charset="-122"/>
                <a:cs typeface="B Titr" pitchFamily="34" charset="-120"/>
              </a:rPr>
              <a:t>جنبه‌های نوآوری</a:t>
            </a:r>
            <a:endParaRPr lang="fa-IR" sz="2400" dirty="0"/>
          </a:p>
        </p:txBody>
      </p:sp>
      <p:sp>
        <p:nvSpPr>
          <p:cNvPr id="7" name="anim_1_111"/>
          <p:cNvSpPr txBox="1"/>
          <p:nvPr/>
        </p:nvSpPr>
        <p:spPr>
          <a:xfrm>
            <a:off x="6537960" y="2651760"/>
            <a:ext cx="4937760" cy="3291840"/>
          </a:xfrm>
          <a:prstGeom prst="rect">
            <a:avLst/>
          </a:prstGeom>
          <a:noFill/>
          <a:ln/>
        </p:spPr>
        <p:txBody>
          <a:bodyPr wrap="square" lIns="0" tIns="0" rIns="0" bIns="0" rtlCol="0" anchor="t"/>
          <a:lstStyle/>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مدل هزینهٔ حسابرسی سال اول و سنجش فشار هزینه‌ای حسابرس</a:t>
            </a:r>
            <a:endParaRPr lang="fa-IR" sz="2000" dirty="0"/>
          </a:p>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چارچوب کمّی یکپارچه: تعیین‌کننده‌ها، ریکاوری و کیفیت آینده</a:t>
            </a:r>
            <a:endParaRPr lang="fa-IR" sz="2000" dirty="0"/>
          </a:p>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تفکیک مؤسسات کوچک و بزرگ در اثر اهمیت مشتری</a:t>
            </a:r>
            <a:endParaRPr lang="fa-IR" sz="2000" dirty="0"/>
          </a:p>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آزمون همزمان دو نظریهٔ رقیب با داده‌های ایران</a:t>
            </a:r>
            <a:endParaRPr lang="fa-IR" sz="2000" dirty="0"/>
          </a:p>
        </p:txBody>
      </p:sp>
      <p:sp>
        <p:nvSpPr>
          <p:cNvPr id="8" name="anim_2_112"/>
          <p:cNvSpPr/>
          <p:nvPr/>
        </p:nvSpPr>
        <p:spPr>
          <a:xfrm>
            <a:off x="548640" y="1417320"/>
            <a:ext cx="5440680" cy="4709160"/>
          </a:xfrm>
          <a:prstGeom prst="roundRect">
            <a:avLst>
              <a:gd name="adj" fmla="val 2330"/>
            </a:avLst>
          </a:prstGeom>
          <a:solidFill>
            <a:schemeClr val="bg2"/>
          </a:solidFill>
          <a:ln/>
          <a:effectLst>
            <a:outerShdw sx="100000" sy="100000" kx="0" ky="0" algn="bl" rotWithShape="0" blurRad="101600" dist="25400" dir="5400000">
              <a:srgbClr val="000000">
                <a:alpha val="12000"/>
              </a:srgbClr>
            </a:outerShdw>
          </a:effectLst>
        </p:spPr>
      </p:sp>
      <p:sp>
        <p:nvSpPr>
          <p:cNvPr id="9" name="anim_2_113"/>
          <p:cNvSpPr/>
          <p:nvPr/>
        </p:nvSpPr>
        <p:spPr>
          <a:xfrm>
            <a:off x="4892040" y="1600200"/>
            <a:ext cx="868680" cy="868680"/>
          </a:xfrm>
          <a:prstGeom prst="ellipse">
            <a:avLst/>
          </a:prstGeom>
          <a:solidFill>
            <a:schemeClr val="accent2"/>
          </a:solidFill>
          <a:ln/>
        </p:spPr>
      </p:sp>
      <p:pic>
        <p:nvPicPr>
          <p:cNvPr id="10" name="anim_2_114" descr="preencoded.png">    </p:cNvPr>
          <p:cNvPicPr>
            <a:picLocks noChangeAspect="1"/>
          </p:cNvPicPr>
          <p:nvPr/>
        </p:nvPicPr>
        <p:blipFill>
          <a:blip r:embed="rId2"/>
          <a:stretch>
            <a:fillRect/>
          </a:stretch>
        </p:blipFill>
        <p:spPr>
          <a:xfrm>
            <a:off x="5100523" y="1808683"/>
            <a:ext cx="451714" cy="451714"/>
          </a:xfrm>
          <a:prstGeom prst="rect">
            <a:avLst/>
          </a:prstGeom>
        </p:spPr>
      </p:pic>
      <p:sp>
        <p:nvSpPr>
          <p:cNvPr id="11" name="anim_2_115"/>
          <p:cNvSpPr txBox="1"/>
          <p:nvPr/>
        </p:nvSpPr>
        <p:spPr>
          <a:xfrm>
            <a:off x="777240" y="1691640"/>
            <a:ext cx="3931920" cy="685800"/>
          </a:xfrm>
          <a:prstGeom prst="rect">
            <a:avLst/>
          </a:prstGeom>
          <a:noFill/>
          <a:ln/>
        </p:spPr>
        <p:txBody>
          <a:bodyPr wrap="square" lIns="0" tIns="0" rIns="0" bIns="0" rtlCol="0" anchor="ctr"/>
          <a:lstStyle/>
          <a:p>
            <a:pPr rtl="1" algn="r" indent="0" marL="0">
              <a:buNone/>
            </a:pPr>
            <a:r>
              <a:rPr lang="fa-IR" altLang="en-US" sz="2400" dirty="0">
                <a:solidFill>
                  <a:schemeClr val="tx2"/>
                </a:solidFill>
                <a:latin typeface="B Titr" pitchFamily="34" charset="0"/>
                <a:ea typeface="B Titr" pitchFamily="34" charset="-122"/>
                <a:cs typeface="B Titr" pitchFamily="34" charset="-120"/>
              </a:rPr>
              <a:t>کاربران نتایج</a:t>
            </a:r>
            <a:endParaRPr lang="fa-IR" sz="2400" dirty="0"/>
          </a:p>
        </p:txBody>
      </p:sp>
      <p:sp>
        <p:nvSpPr>
          <p:cNvPr id="12" name="anim_2_116"/>
          <p:cNvSpPr txBox="1"/>
          <p:nvPr/>
        </p:nvSpPr>
        <p:spPr>
          <a:xfrm>
            <a:off x="822960" y="2651760"/>
            <a:ext cx="4937760" cy="3291840"/>
          </a:xfrm>
          <a:prstGeom prst="rect">
            <a:avLst/>
          </a:prstGeom>
          <a:noFill/>
          <a:ln/>
        </p:spPr>
        <p:txBody>
          <a:bodyPr wrap="square" lIns="0" tIns="0" rIns="0" bIns="0" rtlCol="0" anchor="t"/>
          <a:lstStyle/>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سازمان بورس و جامعهٔ حسابداران رسمی: سیاست‌گذاری و نظارت</a:t>
            </a:r>
            <a:endParaRPr lang="fa-IR" sz="2000" dirty="0"/>
          </a:p>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کمیته‌های حسابرسی: انتخاب و ارزیابی حسابرس</a:t>
            </a:r>
            <a:endParaRPr lang="fa-IR" sz="2000" dirty="0"/>
          </a:p>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سرمایه‌گذاران و اعتباردهندگان: ارزیابی کیفیت اطلاعات</a:t>
            </a:r>
            <a:endParaRPr lang="fa-IR" sz="2000" dirty="0"/>
          </a:p>
          <a:p>
            <a:pPr algn="r" marL="342900" indent="-342900">
              <a:spcAft>
                <a:spcPts val="1200"/>
              </a:spcAft>
              <a:buSzPct val="100000"/>
              <a:buChar char="•"/>
            </a:pPr>
            <a:r>
              <a:rPr lang="fa-IR" altLang="en-US" sz="2000" dirty="0">
                <a:solidFill>
                  <a:schemeClr val="tx1"/>
                </a:solidFill>
                <a:latin typeface="B Nazanin" pitchFamily="34" charset="0"/>
                <a:ea typeface="B Nazanin" pitchFamily="34" charset="-122"/>
                <a:cs typeface="B Nazanin" pitchFamily="34" charset="-120"/>
              </a:rPr>
              <a:t>پژوهشگران و دانشجویان حسابداری</a:t>
            </a:r>
            <a:endParaRPr lang="fa-IR" sz="20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7</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چارچوب مفهومی پژوهش</a:t>
            </a:r>
            <a:endParaRPr lang="fa-IR" sz="3400" dirty="0"/>
          </a:p>
        </p:txBody>
      </p:sp>
      <p:sp>
        <p:nvSpPr>
          <p:cNvPr id="3" name="anim_1_117"/>
          <p:cNvSpPr/>
          <p:nvPr/>
        </p:nvSpPr>
        <p:spPr>
          <a:xfrm>
            <a:off x="9125712" y="1600200"/>
            <a:ext cx="2514600" cy="3017520"/>
          </a:xfrm>
          <a:prstGeom prst="roundRect">
            <a:avLst>
              <a:gd name="adj" fmla="val 4364"/>
            </a:avLst>
          </a:prstGeom>
          <a:solidFill>
            <a:schemeClr val="tx2"/>
          </a:solidFill>
          <a:ln/>
          <a:effectLst>
            <a:outerShdw sx="100000" sy="100000" kx="0" ky="0" algn="bl" rotWithShape="0" blurRad="101600" dist="25400" dir="5400000">
              <a:srgbClr val="000000">
                <a:alpha val="12000"/>
              </a:srgbClr>
            </a:outerShdw>
          </a:effectLst>
        </p:spPr>
      </p:sp>
      <p:sp>
        <p:nvSpPr>
          <p:cNvPr id="4" name="anim_1_118"/>
          <p:cNvSpPr txBox="1"/>
          <p:nvPr/>
        </p:nvSpPr>
        <p:spPr>
          <a:xfrm>
            <a:off x="9217152" y="1783080"/>
            <a:ext cx="2331720" cy="777240"/>
          </a:xfrm>
          <a:prstGeom prst="rect">
            <a:avLst/>
          </a:prstGeom>
          <a:noFill/>
          <a:ln/>
        </p:spPr>
        <p:txBody>
          <a:bodyPr wrap="square" lIns="0" tIns="0" rIns="0" bIns="0" rtlCol="0" anchor="ctr"/>
          <a:lstStyle/>
          <a:p>
            <a:pPr rtl="1" algn="ctr" indent="0" marL="0">
              <a:buNone/>
            </a:pPr>
            <a:r>
              <a:rPr lang="fa-IR" altLang="en-US" sz="2100" dirty="0">
                <a:solidFill>
                  <a:schemeClr val="bg1"/>
                </a:solidFill>
                <a:latin typeface="B Titr" pitchFamily="34" charset="0"/>
                <a:ea typeface="B Titr" pitchFamily="34" charset="-122"/>
                <a:cs typeface="B Titr" pitchFamily="34" charset="-120"/>
              </a:rPr>
              <a:t>عوامل تعیین‌کننده</a:t>
            </a:r>
            <a:endParaRPr lang="fa-IR" sz="2100" dirty="0"/>
          </a:p>
        </p:txBody>
      </p:sp>
      <p:sp>
        <p:nvSpPr>
          <p:cNvPr id="5" name="anim_1_119"/>
          <p:cNvSpPr txBox="1"/>
          <p:nvPr/>
        </p:nvSpPr>
        <p:spPr>
          <a:xfrm>
            <a:off x="9262872" y="2606040"/>
            <a:ext cx="2240280" cy="118872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خدمات غیرحسابرسی، اهمیت مشتری و اندازهٔ مؤسسه</a:t>
            </a:r>
            <a:endParaRPr lang="fa-IR" sz="1800" dirty="0"/>
          </a:p>
        </p:txBody>
      </p:sp>
      <p:sp>
        <p:nvSpPr>
          <p:cNvPr id="6" name="anim_1_120"/>
          <p:cNvSpPr/>
          <p:nvPr/>
        </p:nvSpPr>
        <p:spPr>
          <a:xfrm>
            <a:off x="9235440" y="3886200"/>
            <a:ext cx="742493" cy="347472"/>
          </a:xfrm>
          <a:prstGeom prst="roundRect">
            <a:avLst>
              <a:gd name="adj" fmla="val 15789"/>
            </a:avLst>
          </a:prstGeom>
          <a:solidFill>
            <a:schemeClr val="accent2"/>
          </a:solidFill>
          <a:ln/>
        </p:spPr>
      </p:sp>
      <p:sp>
        <p:nvSpPr>
          <p:cNvPr id="7" name="anim_1_121"/>
          <p:cNvSpPr txBox="1"/>
          <p:nvPr/>
        </p:nvSpPr>
        <p:spPr>
          <a:xfrm>
            <a:off x="9235440" y="3886200"/>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NASR</a:t>
            </a:r>
            <a:endParaRPr lang="en-US" sz="1300" dirty="0"/>
          </a:p>
        </p:txBody>
      </p:sp>
      <p:sp>
        <p:nvSpPr>
          <p:cNvPr id="8" name="anim_1_122"/>
          <p:cNvSpPr/>
          <p:nvPr/>
        </p:nvSpPr>
        <p:spPr>
          <a:xfrm>
            <a:off x="10032797" y="3886200"/>
            <a:ext cx="1066190" cy="347472"/>
          </a:xfrm>
          <a:prstGeom prst="roundRect">
            <a:avLst>
              <a:gd name="adj" fmla="val 15789"/>
            </a:avLst>
          </a:prstGeom>
          <a:solidFill>
            <a:schemeClr val="accent2"/>
          </a:solidFill>
          <a:ln/>
        </p:spPr>
      </p:sp>
      <p:sp>
        <p:nvSpPr>
          <p:cNvPr id="9" name="anim_1_123"/>
          <p:cNvSpPr txBox="1"/>
          <p:nvPr/>
        </p:nvSpPr>
        <p:spPr>
          <a:xfrm>
            <a:off x="10032797" y="3886200"/>
            <a:ext cx="106619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COMPLEX</a:t>
            </a:r>
            <a:endParaRPr lang="en-US" sz="1300" dirty="0"/>
          </a:p>
        </p:txBody>
      </p:sp>
      <p:sp>
        <p:nvSpPr>
          <p:cNvPr id="10" name="anim_1_124"/>
          <p:cNvSpPr/>
          <p:nvPr/>
        </p:nvSpPr>
        <p:spPr>
          <a:xfrm>
            <a:off x="9235440" y="4270248"/>
            <a:ext cx="742493" cy="347472"/>
          </a:xfrm>
          <a:prstGeom prst="roundRect">
            <a:avLst>
              <a:gd name="adj" fmla="val 15789"/>
            </a:avLst>
          </a:prstGeom>
          <a:solidFill>
            <a:schemeClr val="accent2"/>
          </a:solidFill>
          <a:ln/>
        </p:spPr>
      </p:sp>
      <p:sp>
        <p:nvSpPr>
          <p:cNvPr id="11" name="anim_1_125"/>
          <p:cNvSpPr txBox="1"/>
          <p:nvPr/>
        </p:nvSpPr>
        <p:spPr>
          <a:xfrm>
            <a:off x="9235440" y="4270248"/>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BIG4</a:t>
            </a:r>
            <a:endParaRPr lang="en-US" sz="1300" dirty="0"/>
          </a:p>
        </p:txBody>
      </p:sp>
      <p:sp>
        <p:nvSpPr>
          <p:cNvPr id="12" name="anim_2_126"/>
          <p:cNvSpPr/>
          <p:nvPr/>
        </p:nvSpPr>
        <p:spPr>
          <a:xfrm>
            <a:off x="6245352" y="1600200"/>
            <a:ext cx="2514600" cy="3017520"/>
          </a:xfrm>
          <a:prstGeom prst="roundRect">
            <a:avLst>
              <a:gd name="adj" fmla="val 4364"/>
            </a:avLst>
          </a:prstGeom>
          <a:solidFill>
            <a:schemeClr val="accent1"/>
          </a:solidFill>
          <a:ln/>
          <a:effectLst>
            <a:outerShdw sx="100000" sy="100000" kx="0" ky="0" algn="bl" rotWithShape="0" blurRad="101600" dist="25400" dir="5400000">
              <a:srgbClr val="000000">
                <a:alpha val="12000"/>
              </a:srgbClr>
            </a:outerShdw>
          </a:effectLst>
        </p:spPr>
      </p:sp>
      <p:sp>
        <p:nvSpPr>
          <p:cNvPr id="13" name="anim_2_127"/>
          <p:cNvSpPr txBox="1"/>
          <p:nvPr/>
        </p:nvSpPr>
        <p:spPr>
          <a:xfrm>
            <a:off x="6336792" y="1783080"/>
            <a:ext cx="2331720" cy="777240"/>
          </a:xfrm>
          <a:prstGeom prst="rect">
            <a:avLst/>
          </a:prstGeom>
          <a:noFill/>
          <a:ln/>
        </p:spPr>
        <p:txBody>
          <a:bodyPr wrap="square" lIns="0" tIns="0" rIns="0" bIns="0" rtlCol="0" anchor="ctr"/>
          <a:lstStyle/>
          <a:p>
            <a:pPr rtl="1" algn="ctr" indent="0" marL="0">
              <a:buNone/>
            </a:pPr>
            <a:r>
              <a:rPr lang="fa-IR" altLang="en-US" sz="2100" dirty="0">
                <a:solidFill>
                  <a:schemeClr val="bg1"/>
                </a:solidFill>
                <a:latin typeface="B Titr" pitchFamily="34" charset="0"/>
                <a:ea typeface="B Titr" pitchFamily="34" charset="-122"/>
                <a:cs typeface="B Titr" pitchFamily="34" charset="-120"/>
              </a:rPr>
              <a:t>کاهش اولیهٔ هزینه</a:t>
            </a:r>
            <a:endParaRPr lang="fa-IR" sz="2100" dirty="0"/>
          </a:p>
        </p:txBody>
      </p:sp>
      <p:sp>
        <p:nvSpPr>
          <p:cNvPr id="14" name="anim_2_128"/>
          <p:cNvSpPr txBox="1"/>
          <p:nvPr/>
        </p:nvSpPr>
        <p:spPr>
          <a:xfrm>
            <a:off x="6382512" y="2606040"/>
            <a:ext cx="2240280" cy="118872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حق‌الزحمهٔ سال اول نسبت به سطح انتظاری</a:t>
            </a:r>
            <a:endParaRPr lang="fa-IR" sz="1800" dirty="0"/>
          </a:p>
        </p:txBody>
      </p:sp>
      <p:sp>
        <p:nvSpPr>
          <p:cNvPr id="15" name="anim_2_129"/>
          <p:cNvSpPr/>
          <p:nvPr/>
        </p:nvSpPr>
        <p:spPr>
          <a:xfrm>
            <a:off x="6570878" y="3977640"/>
            <a:ext cx="850392" cy="347472"/>
          </a:xfrm>
          <a:prstGeom prst="roundRect">
            <a:avLst>
              <a:gd name="adj" fmla="val 15789"/>
            </a:avLst>
          </a:prstGeom>
          <a:solidFill>
            <a:schemeClr val="accent2"/>
          </a:solidFill>
          <a:ln/>
        </p:spPr>
      </p:sp>
      <p:sp>
        <p:nvSpPr>
          <p:cNvPr id="16" name="anim_2_130"/>
          <p:cNvSpPr txBox="1"/>
          <p:nvPr/>
        </p:nvSpPr>
        <p:spPr>
          <a:xfrm>
            <a:off x="6570878" y="3977640"/>
            <a:ext cx="850392"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COSTP</a:t>
            </a:r>
            <a:endParaRPr lang="en-US" sz="1300" dirty="0"/>
          </a:p>
        </p:txBody>
      </p:sp>
      <p:sp>
        <p:nvSpPr>
          <p:cNvPr id="17" name="anim_2_131"/>
          <p:cNvSpPr/>
          <p:nvPr/>
        </p:nvSpPr>
        <p:spPr>
          <a:xfrm>
            <a:off x="7476134" y="3977640"/>
            <a:ext cx="958291" cy="347472"/>
          </a:xfrm>
          <a:prstGeom prst="roundRect">
            <a:avLst>
              <a:gd name="adj" fmla="val 15789"/>
            </a:avLst>
          </a:prstGeom>
          <a:solidFill>
            <a:schemeClr val="accent2"/>
          </a:solidFill>
          <a:ln/>
        </p:spPr>
      </p:sp>
      <p:sp>
        <p:nvSpPr>
          <p:cNvPr id="18" name="anim_2_132"/>
          <p:cNvSpPr txBox="1"/>
          <p:nvPr/>
        </p:nvSpPr>
        <p:spPr>
          <a:xfrm>
            <a:off x="7476134" y="3977640"/>
            <a:ext cx="958291"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TENURE</a:t>
            </a:r>
            <a:endParaRPr lang="en-US" sz="1300" dirty="0"/>
          </a:p>
        </p:txBody>
      </p:sp>
      <p:sp>
        <p:nvSpPr>
          <p:cNvPr id="19" name="anim_3_133"/>
          <p:cNvSpPr/>
          <p:nvPr/>
        </p:nvSpPr>
        <p:spPr>
          <a:xfrm>
            <a:off x="3364992" y="1600200"/>
            <a:ext cx="2514600" cy="3017520"/>
          </a:xfrm>
          <a:prstGeom prst="roundRect">
            <a:avLst>
              <a:gd name="adj" fmla="val 4364"/>
            </a:avLst>
          </a:prstGeom>
          <a:solidFill>
            <a:schemeClr val="accent5"/>
          </a:solidFill>
          <a:ln/>
          <a:effectLst>
            <a:outerShdw sx="100000" sy="100000" kx="0" ky="0" algn="bl" rotWithShape="0" blurRad="101600" dist="25400" dir="5400000">
              <a:srgbClr val="000000">
                <a:alpha val="12000"/>
              </a:srgbClr>
            </a:outerShdw>
          </a:effectLst>
        </p:spPr>
      </p:sp>
      <p:sp>
        <p:nvSpPr>
          <p:cNvPr id="20" name="anim_3_134"/>
          <p:cNvSpPr txBox="1"/>
          <p:nvPr/>
        </p:nvSpPr>
        <p:spPr>
          <a:xfrm>
            <a:off x="3456432" y="1783080"/>
            <a:ext cx="2331720" cy="777240"/>
          </a:xfrm>
          <a:prstGeom prst="rect">
            <a:avLst/>
          </a:prstGeom>
          <a:noFill/>
          <a:ln/>
        </p:spPr>
        <p:txBody>
          <a:bodyPr wrap="square" lIns="0" tIns="0" rIns="0" bIns="0" rtlCol="0" anchor="ctr"/>
          <a:lstStyle/>
          <a:p>
            <a:pPr rtl="1" algn="ctr" indent="0" marL="0">
              <a:buNone/>
            </a:pPr>
            <a:r>
              <a:rPr lang="fa-IR" altLang="en-US" sz="2100" dirty="0">
                <a:solidFill>
                  <a:schemeClr val="bg1"/>
                </a:solidFill>
                <a:latin typeface="B Titr" pitchFamily="34" charset="0"/>
                <a:ea typeface="B Titr" pitchFamily="34" charset="-122"/>
                <a:cs typeface="B Titr" pitchFamily="34" charset="-120"/>
              </a:rPr>
              <a:t>بازیابی حق‌الزحمه</a:t>
            </a:r>
            <a:endParaRPr lang="fa-IR" sz="2100" dirty="0"/>
          </a:p>
        </p:txBody>
      </p:sp>
      <p:sp>
        <p:nvSpPr>
          <p:cNvPr id="21" name="anim_3_135"/>
          <p:cNvSpPr txBox="1"/>
          <p:nvPr/>
        </p:nvSpPr>
        <p:spPr>
          <a:xfrm>
            <a:off x="3502152" y="2606040"/>
            <a:ext cx="2240280" cy="118872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افزایش حق‌الزحمهٔ حسابرسی و غیرحسابرسی در سال‌های بعد</a:t>
            </a:r>
            <a:endParaRPr lang="fa-IR" sz="1800" dirty="0"/>
          </a:p>
        </p:txBody>
      </p:sp>
      <p:sp>
        <p:nvSpPr>
          <p:cNvPr id="22" name="anim_3_136"/>
          <p:cNvSpPr/>
          <p:nvPr/>
        </p:nvSpPr>
        <p:spPr>
          <a:xfrm>
            <a:off x="3906317" y="3977640"/>
            <a:ext cx="634594" cy="347472"/>
          </a:xfrm>
          <a:prstGeom prst="roundRect">
            <a:avLst>
              <a:gd name="adj" fmla="val 15789"/>
            </a:avLst>
          </a:prstGeom>
          <a:solidFill>
            <a:schemeClr val="accent2"/>
          </a:solidFill>
          <a:ln/>
        </p:spPr>
      </p:sp>
      <p:sp>
        <p:nvSpPr>
          <p:cNvPr id="23" name="anim_3_137"/>
          <p:cNvSpPr txBox="1"/>
          <p:nvPr/>
        </p:nvSpPr>
        <p:spPr>
          <a:xfrm>
            <a:off x="3906317" y="3977640"/>
            <a:ext cx="634594"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ΔAF</a:t>
            </a:r>
            <a:endParaRPr lang="en-US" sz="1300" dirty="0"/>
          </a:p>
        </p:txBody>
      </p:sp>
      <p:sp>
        <p:nvSpPr>
          <p:cNvPr id="24" name="anim_3_138"/>
          <p:cNvSpPr/>
          <p:nvPr/>
        </p:nvSpPr>
        <p:spPr>
          <a:xfrm>
            <a:off x="4595774" y="3977640"/>
            <a:ext cx="742493" cy="347472"/>
          </a:xfrm>
          <a:prstGeom prst="roundRect">
            <a:avLst>
              <a:gd name="adj" fmla="val 15789"/>
            </a:avLst>
          </a:prstGeom>
          <a:solidFill>
            <a:schemeClr val="accent2"/>
          </a:solidFill>
          <a:ln/>
        </p:spPr>
      </p:sp>
      <p:sp>
        <p:nvSpPr>
          <p:cNvPr id="25" name="anim_3_139"/>
          <p:cNvSpPr txBox="1"/>
          <p:nvPr/>
        </p:nvSpPr>
        <p:spPr>
          <a:xfrm>
            <a:off x="4595774" y="3977640"/>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NASR</a:t>
            </a:r>
            <a:endParaRPr lang="en-US" sz="1300" dirty="0"/>
          </a:p>
        </p:txBody>
      </p:sp>
      <p:sp>
        <p:nvSpPr>
          <p:cNvPr id="26" name="anim_4_140"/>
          <p:cNvSpPr/>
          <p:nvPr/>
        </p:nvSpPr>
        <p:spPr>
          <a:xfrm>
            <a:off x="484632" y="1600200"/>
            <a:ext cx="2514600" cy="3017520"/>
          </a:xfrm>
          <a:prstGeom prst="roundRect">
            <a:avLst>
              <a:gd name="adj" fmla="val 4364"/>
            </a:avLst>
          </a:prstGeom>
          <a:solidFill>
            <a:schemeClr val="accent4"/>
          </a:solidFill>
          <a:ln/>
          <a:effectLst>
            <a:outerShdw sx="100000" sy="100000" kx="0" ky="0" algn="bl" rotWithShape="0" blurRad="101600" dist="25400" dir="5400000">
              <a:srgbClr val="000000">
                <a:alpha val="12000"/>
              </a:srgbClr>
            </a:outerShdw>
          </a:effectLst>
        </p:spPr>
      </p:sp>
      <p:sp>
        <p:nvSpPr>
          <p:cNvPr id="27" name="anim_4_141"/>
          <p:cNvSpPr txBox="1"/>
          <p:nvPr/>
        </p:nvSpPr>
        <p:spPr>
          <a:xfrm>
            <a:off x="576072" y="1783080"/>
            <a:ext cx="2331720" cy="777240"/>
          </a:xfrm>
          <a:prstGeom prst="rect">
            <a:avLst/>
          </a:prstGeom>
          <a:noFill/>
          <a:ln/>
        </p:spPr>
        <p:txBody>
          <a:bodyPr wrap="square" lIns="0" tIns="0" rIns="0" bIns="0" rtlCol="0" anchor="ctr"/>
          <a:lstStyle/>
          <a:p>
            <a:pPr rtl="1" algn="ctr" indent="0" marL="0">
              <a:buNone/>
            </a:pPr>
            <a:r>
              <a:rPr lang="fa-IR" altLang="en-US" sz="2100" dirty="0">
                <a:solidFill>
                  <a:schemeClr val="bg1"/>
                </a:solidFill>
                <a:latin typeface="B Titr" pitchFamily="34" charset="0"/>
                <a:ea typeface="B Titr" pitchFamily="34" charset="-122"/>
                <a:cs typeface="B Titr" pitchFamily="34" charset="-120"/>
              </a:rPr>
              <a:t>کیفیت حسابرسی آینده</a:t>
            </a:r>
            <a:endParaRPr lang="fa-IR" sz="2100" dirty="0"/>
          </a:p>
        </p:txBody>
      </p:sp>
      <p:sp>
        <p:nvSpPr>
          <p:cNvPr id="28" name="anim_4_142"/>
          <p:cNvSpPr txBox="1"/>
          <p:nvPr/>
        </p:nvSpPr>
        <p:spPr>
          <a:xfrm>
            <a:off x="621792" y="2606040"/>
            <a:ext cx="2240280" cy="118872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اقلام تعهدی اختیاری</a:t>
            </a:r>
            <a:endParaRPr lang="fa-IR" sz="1800" dirty="0"/>
          </a:p>
        </p:txBody>
      </p:sp>
      <p:sp>
        <p:nvSpPr>
          <p:cNvPr id="29" name="anim_4_143"/>
          <p:cNvSpPr/>
          <p:nvPr/>
        </p:nvSpPr>
        <p:spPr>
          <a:xfrm>
            <a:off x="1424635" y="3977640"/>
            <a:ext cx="634594" cy="347472"/>
          </a:xfrm>
          <a:prstGeom prst="roundRect">
            <a:avLst>
              <a:gd name="adj" fmla="val 15789"/>
            </a:avLst>
          </a:prstGeom>
          <a:solidFill>
            <a:schemeClr val="accent2"/>
          </a:solidFill>
          <a:ln/>
        </p:spPr>
      </p:sp>
      <p:sp>
        <p:nvSpPr>
          <p:cNvPr id="30" name="anim_4_144"/>
          <p:cNvSpPr txBox="1"/>
          <p:nvPr/>
        </p:nvSpPr>
        <p:spPr>
          <a:xfrm>
            <a:off x="1424635" y="3977640"/>
            <a:ext cx="634594"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AFQ</a:t>
            </a:r>
            <a:endParaRPr lang="en-US" sz="1300" dirty="0"/>
          </a:p>
        </p:txBody>
      </p:sp>
      <p:sp>
        <p:nvSpPr>
          <p:cNvPr id="31" name="anim_5_145"/>
          <p:cNvSpPr/>
          <p:nvPr/>
        </p:nvSpPr>
        <p:spPr>
          <a:xfrm>
            <a:off x="8759952" y="2880360"/>
            <a:ext cx="365760" cy="548640"/>
          </a:xfrm>
          <a:prstGeom prst="leftArrow">
            <a:avLst/>
          </a:prstGeom>
          <a:solidFill>
            <a:srgbClr val="F2A541"/>
          </a:solidFill>
          <a:ln/>
        </p:spPr>
      </p:sp>
      <p:sp>
        <p:nvSpPr>
          <p:cNvPr id="32" name="anim_5_146"/>
          <p:cNvSpPr txBox="1"/>
          <p:nvPr/>
        </p:nvSpPr>
        <p:spPr>
          <a:xfrm>
            <a:off x="7936992" y="4754880"/>
            <a:ext cx="2011680" cy="457200"/>
          </a:xfrm>
          <a:prstGeom prst="rect">
            <a:avLst/>
          </a:prstGeom>
          <a:noFill/>
          <a:ln/>
        </p:spPr>
        <p:txBody>
          <a:bodyPr wrap="square" lIns="0" tIns="0" rIns="0" bIns="0" rtlCol="0" anchor="t"/>
          <a:lstStyle/>
          <a:p>
            <a:pPr rtl="1" algn="ctr" indent="0" marL="0">
              <a:buNone/>
            </a:pPr>
            <a:r>
              <a:rPr lang="fa-IR" altLang="en-US" sz="1800" b="1" dirty="0">
                <a:solidFill>
                  <a:schemeClr val="accent3"/>
                </a:solidFill>
                <a:latin typeface="B Nazanin" pitchFamily="34" charset="0"/>
                <a:ea typeface="B Nazanin" pitchFamily="34" charset="-122"/>
                <a:cs typeface="B Nazanin" pitchFamily="34" charset="-120"/>
              </a:rPr>
              <a:t>فرضیه‌های 1 و 2</a:t>
            </a:r>
            <a:endParaRPr lang="fa-IR" sz="1800" dirty="0"/>
          </a:p>
        </p:txBody>
      </p:sp>
      <p:sp>
        <p:nvSpPr>
          <p:cNvPr id="33" name="anim_6_147"/>
          <p:cNvSpPr/>
          <p:nvPr/>
        </p:nvSpPr>
        <p:spPr>
          <a:xfrm>
            <a:off x="5879592" y="2880360"/>
            <a:ext cx="365760" cy="548640"/>
          </a:xfrm>
          <a:prstGeom prst="leftArrow">
            <a:avLst/>
          </a:prstGeom>
          <a:solidFill>
            <a:srgbClr val="F2A541"/>
          </a:solidFill>
          <a:ln/>
        </p:spPr>
      </p:sp>
      <p:sp>
        <p:nvSpPr>
          <p:cNvPr id="34" name="anim_6_148"/>
          <p:cNvSpPr txBox="1"/>
          <p:nvPr/>
        </p:nvSpPr>
        <p:spPr>
          <a:xfrm>
            <a:off x="5056632" y="4754880"/>
            <a:ext cx="2011680" cy="457200"/>
          </a:xfrm>
          <a:prstGeom prst="rect">
            <a:avLst/>
          </a:prstGeom>
          <a:noFill/>
          <a:ln/>
        </p:spPr>
        <p:txBody>
          <a:bodyPr wrap="square" lIns="0" tIns="0" rIns="0" bIns="0" rtlCol="0" anchor="t"/>
          <a:lstStyle/>
          <a:p>
            <a:pPr rtl="1" algn="ctr" indent="0" marL="0">
              <a:buNone/>
            </a:pPr>
            <a:r>
              <a:rPr lang="fa-IR" altLang="en-US" sz="1800" b="1" dirty="0">
                <a:solidFill>
                  <a:schemeClr val="accent3"/>
                </a:solidFill>
                <a:latin typeface="B Nazanin" pitchFamily="34" charset="0"/>
                <a:ea typeface="B Nazanin" pitchFamily="34" charset="-122"/>
                <a:cs typeface="B Nazanin" pitchFamily="34" charset="-120"/>
              </a:rPr>
              <a:t>فرضیه‌های 3 و 4</a:t>
            </a:r>
            <a:endParaRPr lang="fa-IR" sz="1800" dirty="0"/>
          </a:p>
        </p:txBody>
      </p:sp>
      <p:sp>
        <p:nvSpPr>
          <p:cNvPr id="35" name="anim_7_149"/>
          <p:cNvSpPr/>
          <p:nvPr/>
        </p:nvSpPr>
        <p:spPr>
          <a:xfrm>
            <a:off x="2999232" y="2880360"/>
            <a:ext cx="365760" cy="548640"/>
          </a:xfrm>
          <a:prstGeom prst="leftArrow">
            <a:avLst/>
          </a:prstGeom>
          <a:solidFill>
            <a:srgbClr val="F2A541"/>
          </a:solidFill>
          <a:ln/>
        </p:spPr>
      </p:sp>
      <p:sp>
        <p:nvSpPr>
          <p:cNvPr id="36" name="anim_7_150"/>
          <p:cNvSpPr txBox="1"/>
          <p:nvPr/>
        </p:nvSpPr>
        <p:spPr>
          <a:xfrm>
            <a:off x="2176272" y="4754880"/>
            <a:ext cx="2011680" cy="457200"/>
          </a:xfrm>
          <a:prstGeom prst="rect">
            <a:avLst/>
          </a:prstGeom>
          <a:noFill/>
          <a:ln/>
        </p:spPr>
        <p:txBody>
          <a:bodyPr wrap="square" lIns="0" tIns="0" rIns="0" bIns="0" rtlCol="0" anchor="t"/>
          <a:lstStyle/>
          <a:p>
            <a:pPr rtl="1" algn="ctr" indent="0" marL="0">
              <a:buNone/>
            </a:pPr>
            <a:r>
              <a:rPr lang="fa-IR" altLang="en-US" sz="1800" b="1" dirty="0">
                <a:solidFill>
                  <a:schemeClr val="accent3"/>
                </a:solidFill>
                <a:latin typeface="B Nazanin" pitchFamily="34" charset="0"/>
                <a:ea typeface="B Nazanin" pitchFamily="34" charset="-122"/>
                <a:cs typeface="B Nazanin" pitchFamily="34" charset="-120"/>
              </a:rPr>
              <a:t>فرضیهٔ 5</a:t>
            </a:r>
            <a:endParaRPr lang="fa-IR" sz="1800" dirty="0"/>
          </a:p>
        </p:txBody>
      </p:sp>
      <p:sp>
        <p:nvSpPr>
          <p:cNvPr id="37" name="anim_8_151"/>
          <p:cNvSpPr txBox="1"/>
          <p:nvPr/>
        </p:nvSpPr>
        <p:spPr>
          <a:xfrm>
            <a:off x="548640" y="5394960"/>
            <a:ext cx="11091672" cy="868680"/>
          </a:xfrm>
          <a:prstGeom prst="rect">
            <a:avLst/>
          </a:prstGeom>
          <a:noFill/>
          <a:ln/>
        </p:spPr>
        <p:txBody>
          <a:bodyPr wrap="square" lIns="0" tIns="0" rIns="0" bIns="0" rtlCol="0" anchor="t"/>
          <a:lstStyle/>
          <a:p>
            <a:pPr rtl="1" algn="ctr" indent="0" marL="0">
              <a:buNone/>
            </a:pPr>
            <a:r>
              <a:rPr lang="fa-IR" altLang="en-US" sz="2000" dirty="0">
                <a:solidFill>
                  <a:schemeClr val="tx2"/>
                </a:solidFill>
                <a:latin typeface="B Nazanin" pitchFamily="34" charset="0"/>
                <a:ea typeface="B Nazanin" pitchFamily="34" charset="-122"/>
                <a:cs typeface="B Nazanin" pitchFamily="34" charset="-120"/>
              </a:rPr>
              <a:t>هر مربع کوچک، نماد یکی از متغیرهای پژوهش است. جریان منطقی: از تعیین‌کننده‌های تخفیف اولیه، به بازیابی آن و در نهایت به پیامد برای کیفیت حسابرسی.</a:t>
            </a:r>
            <a:endParaRPr lang="fa-IR" sz="20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9"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3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3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3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3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3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70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7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70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70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7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7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7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105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10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10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10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10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140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140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17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175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210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210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245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نظریه‌های پشتیبان پژوهش</a:t>
            </a:r>
            <a:endParaRPr lang="fa-IR" sz="3400" dirty="0"/>
          </a:p>
        </p:txBody>
      </p:sp>
      <p:sp>
        <p:nvSpPr>
          <p:cNvPr id="3" name="anim_1_152"/>
          <p:cNvSpPr/>
          <p:nvPr/>
        </p:nvSpPr>
        <p:spPr>
          <a:xfrm>
            <a:off x="8046720" y="1463040"/>
            <a:ext cx="36118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4" name="anim_1_153"/>
          <p:cNvSpPr/>
          <p:nvPr/>
        </p:nvSpPr>
        <p:spPr>
          <a:xfrm>
            <a:off x="10789920" y="1600200"/>
            <a:ext cx="685800" cy="685800"/>
          </a:xfrm>
          <a:prstGeom prst="ellipse">
            <a:avLst/>
          </a:prstGeom>
          <a:solidFill>
            <a:schemeClr val="accent1"/>
          </a:solidFill>
          <a:ln/>
        </p:spPr>
      </p:sp>
      <p:pic>
        <p:nvPicPr>
          <p:cNvPr id="5" name="anim_1_154" descr="preencoded.png">    </p:cNvPr>
          <p:cNvPicPr>
            <a:picLocks noChangeAspect="1"/>
          </p:cNvPicPr>
          <p:nvPr/>
        </p:nvPicPr>
        <p:blipFill>
          <a:blip r:embed="rId1"/>
          <a:stretch>
            <a:fillRect/>
          </a:stretch>
        </p:blipFill>
        <p:spPr>
          <a:xfrm>
            <a:off x="10954512" y="1764792"/>
            <a:ext cx="356616" cy="356616"/>
          </a:xfrm>
          <a:prstGeom prst="rect">
            <a:avLst/>
          </a:prstGeom>
        </p:spPr>
      </p:pic>
      <p:sp>
        <p:nvSpPr>
          <p:cNvPr id="6" name="anim_1_155"/>
          <p:cNvSpPr txBox="1"/>
          <p:nvPr/>
        </p:nvSpPr>
        <p:spPr>
          <a:xfrm>
            <a:off x="8138160" y="1645920"/>
            <a:ext cx="256032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نظریهٔ نمایندگی</a:t>
            </a:r>
            <a:endParaRPr lang="fa-IR" sz="1900" dirty="0"/>
          </a:p>
        </p:txBody>
      </p:sp>
      <p:sp>
        <p:nvSpPr>
          <p:cNvPr id="7" name="anim_1_156"/>
          <p:cNvSpPr txBox="1"/>
          <p:nvPr/>
        </p:nvSpPr>
        <p:spPr>
          <a:xfrm>
            <a:off x="8183880" y="2377440"/>
            <a:ext cx="3337560" cy="123444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جنسن و مک‌لینگ (1976): حسابرسی سازوکار کاهش هزینه‌های نمایندگی میان مدیر و مالک است.</a:t>
            </a:r>
            <a:endParaRPr lang="fa-IR" sz="1700" dirty="0"/>
          </a:p>
        </p:txBody>
      </p:sp>
      <p:sp>
        <p:nvSpPr>
          <p:cNvPr id="8" name="anim_2_157"/>
          <p:cNvSpPr/>
          <p:nvPr/>
        </p:nvSpPr>
        <p:spPr>
          <a:xfrm>
            <a:off x="4297680" y="1463040"/>
            <a:ext cx="36118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9" name="anim_2_158"/>
          <p:cNvSpPr/>
          <p:nvPr/>
        </p:nvSpPr>
        <p:spPr>
          <a:xfrm>
            <a:off x="7040880" y="1600200"/>
            <a:ext cx="685800" cy="685800"/>
          </a:xfrm>
          <a:prstGeom prst="ellipse">
            <a:avLst/>
          </a:prstGeom>
          <a:solidFill>
            <a:schemeClr val="accent5"/>
          </a:solidFill>
          <a:ln/>
        </p:spPr>
      </p:sp>
      <p:pic>
        <p:nvPicPr>
          <p:cNvPr id="10" name="anim_2_159" descr="preencoded.png">    </p:cNvPr>
          <p:cNvPicPr>
            <a:picLocks noChangeAspect="1"/>
          </p:cNvPicPr>
          <p:nvPr/>
        </p:nvPicPr>
        <p:blipFill>
          <a:blip r:embed="rId2"/>
          <a:stretch>
            <a:fillRect/>
          </a:stretch>
        </p:blipFill>
        <p:spPr>
          <a:xfrm>
            <a:off x="7205472" y="1764792"/>
            <a:ext cx="356616" cy="356616"/>
          </a:xfrm>
          <a:prstGeom prst="rect">
            <a:avLst/>
          </a:prstGeom>
        </p:spPr>
      </p:pic>
      <p:sp>
        <p:nvSpPr>
          <p:cNvPr id="11" name="anim_2_160"/>
          <p:cNvSpPr txBox="1"/>
          <p:nvPr/>
        </p:nvSpPr>
        <p:spPr>
          <a:xfrm>
            <a:off x="4389120" y="1645920"/>
            <a:ext cx="256032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وابستگی اقتصادی و منبع</a:t>
            </a:r>
            <a:endParaRPr lang="fa-IR" sz="1900" dirty="0"/>
          </a:p>
        </p:txBody>
      </p:sp>
      <p:sp>
        <p:nvSpPr>
          <p:cNvPr id="12" name="anim_2_161"/>
          <p:cNvSpPr txBox="1"/>
          <p:nvPr/>
        </p:nvSpPr>
        <p:spPr>
          <a:xfrm>
            <a:off x="4434840" y="2377440"/>
            <a:ext cx="3337560" cy="123444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پفر و سالانسیک (1978): وابستگی به مشتری مهم، قدرت چانه‌زنی او را بالا می‌برد.</a:t>
            </a:r>
            <a:endParaRPr lang="fa-IR" sz="1700" dirty="0"/>
          </a:p>
        </p:txBody>
      </p:sp>
      <p:sp>
        <p:nvSpPr>
          <p:cNvPr id="13" name="anim_3_162"/>
          <p:cNvSpPr/>
          <p:nvPr/>
        </p:nvSpPr>
        <p:spPr>
          <a:xfrm>
            <a:off x="548640" y="1463040"/>
            <a:ext cx="36118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14" name="anim_3_163"/>
          <p:cNvSpPr/>
          <p:nvPr/>
        </p:nvSpPr>
        <p:spPr>
          <a:xfrm>
            <a:off x="3291840" y="1600200"/>
            <a:ext cx="685800" cy="685800"/>
          </a:xfrm>
          <a:prstGeom prst="ellipse">
            <a:avLst/>
          </a:prstGeom>
          <a:solidFill>
            <a:schemeClr val="accent2"/>
          </a:solidFill>
          <a:ln/>
        </p:spPr>
      </p:sp>
      <p:pic>
        <p:nvPicPr>
          <p:cNvPr id="15" name="anim_3_164" descr="preencoded.png">    </p:cNvPr>
          <p:cNvPicPr>
            <a:picLocks noChangeAspect="1"/>
          </p:cNvPicPr>
          <p:nvPr/>
        </p:nvPicPr>
        <p:blipFill>
          <a:blip r:embed="rId3"/>
          <a:stretch>
            <a:fillRect/>
          </a:stretch>
        </p:blipFill>
        <p:spPr>
          <a:xfrm>
            <a:off x="3456432" y="1764792"/>
            <a:ext cx="356616" cy="356616"/>
          </a:xfrm>
          <a:prstGeom prst="rect">
            <a:avLst/>
          </a:prstGeom>
        </p:spPr>
      </p:pic>
      <p:sp>
        <p:nvSpPr>
          <p:cNvPr id="16" name="anim_3_165"/>
          <p:cNvSpPr txBox="1"/>
          <p:nvPr/>
        </p:nvSpPr>
        <p:spPr>
          <a:xfrm>
            <a:off x="640080" y="1645920"/>
            <a:ext cx="256032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رقابت در بازار حسابرسی</a:t>
            </a:r>
            <a:endParaRPr lang="fa-IR" sz="1900" dirty="0"/>
          </a:p>
        </p:txBody>
      </p:sp>
      <p:sp>
        <p:nvSpPr>
          <p:cNvPr id="17" name="anim_3_166"/>
          <p:cNvSpPr txBox="1"/>
          <p:nvPr/>
        </p:nvSpPr>
        <p:spPr>
          <a:xfrm>
            <a:off x="685800" y="2377440"/>
            <a:ext cx="3337560" cy="123444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پورتر (1980): رقابت قیمتی، مؤسسات را به کاهش اولیهٔ قیمت می‌کشاند.</a:t>
            </a:r>
            <a:endParaRPr lang="fa-IR" sz="1700" dirty="0"/>
          </a:p>
        </p:txBody>
      </p:sp>
      <p:sp>
        <p:nvSpPr>
          <p:cNvPr id="18" name="anim_4_167"/>
          <p:cNvSpPr/>
          <p:nvPr/>
        </p:nvSpPr>
        <p:spPr>
          <a:xfrm>
            <a:off x="6172200" y="3886200"/>
            <a:ext cx="36118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19" name="anim_4_168"/>
          <p:cNvSpPr/>
          <p:nvPr/>
        </p:nvSpPr>
        <p:spPr>
          <a:xfrm>
            <a:off x="8915400" y="4023360"/>
            <a:ext cx="685800" cy="685800"/>
          </a:xfrm>
          <a:prstGeom prst="ellipse">
            <a:avLst/>
          </a:prstGeom>
          <a:solidFill>
            <a:schemeClr val="accent4"/>
          </a:solidFill>
          <a:ln/>
        </p:spPr>
      </p:sp>
      <p:pic>
        <p:nvPicPr>
          <p:cNvPr id="20" name="anim_4_169" descr="preencoded.png">    </p:cNvPr>
          <p:cNvPicPr>
            <a:picLocks noChangeAspect="1"/>
          </p:cNvPicPr>
          <p:nvPr/>
        </p:nvPicPr>
        <p:blipFill>
          <a:blip r:embed="rId4"/>
          <a:stretch>
            <a:fillRect/>
          </a:stretch>
        </p:blipFill>
        <p:spPr>
          <a:xfrm>
            <a:off x="9079992" y="4187952"/>
            <a:ext cx="356616" cy="356616"/>
          </a:xfrm>
          <a:prstGeom prst="rect">
            <a:avLst/>
          </a:prstGeom>
        </p:spPr>
      </p:pic>
      <p:sp>
        <p:nvSpPr>
          <p:cNvPr id="21" name="anim_4_170"/>
          <p:cNvSpPr txBox="1"/>
          <p:nvPr/>
        </p:nvSpPr>
        <p:spPr>
          <a:xfrm>
            <a:off x="6263640" y="4069080"/>
            <a:ext cx="256032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سرمایهٔ انسانی</a:t>
            </a:r>
            <a:endParaRPr lang="fa-IR" sz="1900" dirty="0"/>
          </a:p>
        </p:txBody>
      </p:sp>
      <p:sp>
        <p:nvSpPr>
          <p:cNvPr id="22" name="anim_4_171"/>
          <p:cNvSpPr txBox="1"/>
          <p:nvPr/>
        </p:nvSpPr>
        <p:spPr>
          <a:xfrm>
            <a:off x="6309360" y="4800600"/>
            <a:ext cx="3337560" cy="123444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بکر (1964): کیفیت تابع تخصص و منابع انسانی است نه صرفاً قیمت قرارداد.</a:t>
            </a:r>
            <a:endParaRPr lang="fa-IR" sz="1700" dirty="0"/>
          </a:p>
        </p:txBody>
      </p:sp>
      <p:sp>
        <p:nvSpPr>
          <p:cNvPr id="23" name="anim_5_172"/>
          <p:cNvSpPr/>
          <p:nvPr/>
        </p:nvSpPr>
        <p:spPr>
          <a:xfrm>
            <a:off x="2423160" y="3886200"/>
            <a:ext cx="36118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24" name="anim_5_173"/>
          <p:cNvSpPr/>
          <p:nvPr/>
        </p:nvSpPr>
        <p:spPr>
          <a:xfrm>
            <a:off x="5166360" y="4023360"/>
            <a:ext cx="685800" cy="685800"/>
          </a:xfrm>
          <a:prstGeom prst="ellipse">
            <a:avLst/>
          </a:prstGeom>
          <a:solidFill>
            <a:schemeClr val="accent3"/>
          </a:solidFill>
          <a:ln/>
        </p:spPr>
      </p:sp>
      <p:pic>
        <p:nvPicPr>
          <p:cNvPr id="25" name="anim_5_174" descr="preencoded.png">    </p:cNvPr>
          <p:cNvPicPr>
            <a:picLocks noChangeAspect="1"/>
          </p:cNvPicPr>
          <p:nvPr/>
        </p:nvPicPr>
        <p:blipFill>
          <a:blip r:embed="rId5"/>
          <a:stretch>
            <a:fillRect/>
          </a:stretch>
        </p:blipFill>
        <p:spPr>
          <a:xfrm>
            <a:off x="5330952" y="4187952"/>
            <a:ext cx="356616" cy="356616"/>
          </a:xfrm>
          <a:prstGeom prst="rect">
            <a:avLst/>
          </a:prstGeom>
        </p:spPr>
      </p:pic>
      <p:sp>
        <p:nvSpPr>
          <p:cNvPr id="26" name="anim_5_175"/>
          <p:cNvSpPr txBox="1"/>
          <p:nvPr/>
        </p:nvSpPr>
        <p:spPr>
          <a:xfrm>
            <a:off x="2514600" y="4069080"/>
            <a:ext cx="256032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اقتصاد اطلاعات</a:t>
            </a:r>
            <a:endParaRPr lang="fa-IR" sz="1900" dirty="0"/>
          </a:p>
        </p:txBody>
      </p:sp>
      <p:sp>
        <p:nvSpPr>
          <p:cNvPr id="27" name="anim_5_176"/>
          <p:cNvSpPr txBox="1"/>
          <p:nvPr/>
        </p:nvSpPr>
        <p:spPr>
          <a:xfrm>
            <a:off x="2560320" y="4800600"/>
            <a:ext cx="3337560" cy="123444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آکرلوف (1970) و اسپنس (1973): قیمت و کیفیت در شرایط عدم تقارن اطلاعاتی.</a:t>
            </a:r>
            <a:endParaRPr lang="fa-IR" sz="17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9</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9"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7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7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0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0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0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0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14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14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14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140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14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پیشینهٔ داخلی (از جدید به قدیم)</a:t>
            </a:r>
            <a:endParaRPr lang="fa-IR" sz="3400" dirty="0"/>
          </a:p>
        </p:txBody>
      </p:sp>
      <p:sp>
        <p:nvSpPr>
          <p:cNvPr id="3" name="anim_1_177"/>
          <p:cNvSpPr/>
          <p:nvPr/>
        </p:nvSpPr>
        <p:spPr>
          <a:xfrm>
            <a:off x="548640" y="1417320"/>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4" name="anim_1_178"/>
          <p:cNvSpPr/>
          <p:nvPr/>
        </p:nvSpPr>
        <p:spPr>
          <a:xfrm>
            <a:off x="10405872" y="1527048"/>
            <a:ext cx="1097280" cy="649224"/>
          </a:xfrm>
          <a:prstGeom prst="roundRect">
            <a:avLst>
              <a:gd name="adj" fmla="val 14085"/>
            </a:avLst>
          </a:prstGeom>
          <a:solidFill>
            <a:schemeClr val="accent3"/>
          </a:solidFill>
          <a:ln/>
        </p:spPr>
      </p:sp>
      <p:sp>
        <p:nvSpPr>
          <p:cNvPr id="5" name="anim_1_179"/>
          <p:cNvSpPr txBox="1"/>
          <p:nvPr/>
        </p:nvSpPr>
        <p:spPr>
          <a:xfrm>
            <a:off x="10405872" y="1527048"/>
            <a:ext cx="1097280" cy="649224"/>
          </a:xfrm>
          <a:prstGeom prst="rect">
            <a:avLst/>
          </a:prstGeom>
          <a:noFill/>
          <a:ln/>
        </p:spPr>
        <p:txBody>
          <a:bodyPr wrap="square" lIns="0" tIns="0" rIns="0" bIns="0" rtlCol="0" anchor="ctr"/>
          <a:lstStyle/>
          <a:p>
            <a:pPr rtl="1" algn="ctr" indent="0" marL="0">
              <a:buNone/>
            </a:pPr>
            <a:r>
              <a:rPr lang="fa-IR" altLang="en-US" sz="2200" dirty="0">
                <a:solidFill>
                  <a:schemeClr val="bg1"/>
                </a:solidFill>
                <a:latin typeface="B Titr" pitchFamily="34" charset="0"/>
                <a:ea typeface="B Titr" pitchFamily="34" charset="-122"/>
                <a:cs typeface="B Titr" pitchFamily="34" charset="-120"/>
              </a:rPr>
              <a:t>1403</a:t>
            </a:r>
            <a:endParaRPr lang="fa-IR" sz="2200" dirty="0"/>
          </a:p>
        </p:txBody>
      </p:sp>
      <p:sp>
        <p:nvSpPr>
          <p:cNvPr id="6" name="anim_1_180"/>
          <p:cNvSpPr txBox="1"/>
          <p:nvPr/>
        </p:nvSpPr>
        <p:spPr>
          <a:xfrm>
            <a:off x="7479792" y="1490472"/>
            <a:ext cx="2743200" cy="731520"/>
          </a:xfrm>
          <a:prstGeom prst="rect">
            <a:avLst/>
          </a:prstGeom>
          <a:noFill/>
          <a:ln/>
        </p:spPr>
        <p:txBody>
          <a:bodyPr wrap="square" lIns="0" tIns="0" rIns="0" bIns="0" rtlCol="0" anchor="ctr"/>
          <a:lstStyle/>
          <a:p>
            <a:pPr rtl="1" algn="r" indent="0" marL="0">
              <a:buNone/>
            </a:pPr>
            <a:r>
              <a:rPr lang="fa-IR" altLang="en-US" sz="1600" dirty="0">
                <a:solidFill>
                  <a:schemeClr val="tx2"/>
                </a:solidFill>
                <a:latin typeface="B Titr" pitchFamily="34" charset="0"/>
                <a:ea typeface="B Titr" pitchFamily="34" charset="-122"/>
                <a:cs typeface="B Titr" pitchFamily="34" charset="-120"/>
              </a:rPr>
              <a:t>رشیدی و حاجی‌زاده</a:t>
            </a:r>
            <a:endParaRPr lang="fa-IR" sz="1600" dirty="0"/>
          </a:p>
        </p:txBody>
      </p:sp>
      <p:sp>
        <p:nvSpPr>
          <p:cNvPr id="7" name="anim_1_181"/>
          <p:cNvSpPr txBox="1"/>
          <p:nvPr/>
        </p:nvSpPr>
        <p:spPr>
          <a:xfrm>
            <a:off x="731520" y="1463040"/>
            <a:ext cx="6400800" cy="777240"/>
          </a:xfrm>
          <a:prstGeom prst="rect">
            <a:avLst/>
          </a:prstGeom>
          <a:noFill/>
          <a:ln/>
        </p:spPr>
        <p:txBody>
          <a:bodyPr wrap="square" lIns="0" tIns="0" rIns="0" bIns="0" rtlCol="0" anchor="ctr"/>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اهمیت صاحبکار بر نرخ‌شکنی اثر مثبت دارد؛ اندازهٔ مؤسسه رابطه را تعدیل می‌کند</a:t>
            </a:r>
            <a:endParaRPr lang="fa-IR" sz="1700" dirty="0"/>
          </a:p>
        </p:txBody>
      </p:sp>
      <p:sp>
        <p:nvSpPr>
          <p:cNvPr id="8" name="anim_2_182"/>
          <p:cNvSpPr/>
          <p:nvPr/>
        </p:nvSpPr>
        <p:spPr>
          <a:xfrm>
            <a:off x="548640" y="2395728"/>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9" name="anim_2_183"/>
          <p:cNvSpPr/>
          <p:nvPr/>
        </p:nvSpPr>
        <p:spPr>
          <a:xfrm>
            <a:off x="10405872" y="2505456"/>
            <a:ext cx="1097280" cy="649224"/>
          </a:xfrm>
          <a:prstGeom prst="roundRect">
            <a:avLst>
              <a:gd name="adj" fmla="val 14085"/>
            </a:avLst>
          </a:prstGeom>
          <a:solidFill>
            <a:schemeClr val="accent4"/>
          </a:solidFill>
          <a:ln/>
        </p:spPr>
      </p:sp>
      <p:sp>
        <p:nvSpPr>
          <p:cNvPr id="10" name="anim_2_184"/>
          <p:cNvSpPr txBox="1"/>
          <p:nvPr/>
        </p:nvSpPr>
        <p:spPr>
          <a:xfrm>
            <a:off x="10405872" y="2505456"/>
            <a:ext cx="1097280" cy="649224"/>
          </a:xfrm>
          <a:prstGeom prst="rect">
            <a:avLst/>
          </a:prstGeom>
          <a:noFill/>
          <a:ln/>
        </p:spPr>
        <p:txBody>
          <a:bodyPr wrap="square" lIns="0" tIns="0" rIns="0" bIns="0" rtlCol="0" anchor="ctr"/>
          <a:lstStyle/>
          <a:p>
            <a:pPr rtl="1" algn="ctr" indent="0" marL="0">
              <a:buNone/>
            </a:pPr>
            <a:r>
              <a:rPr lang="fa-IR" altLang="en-US" sz="2200" dirty="0">
                <a:solidFill>
                  <a:schemeClr val="bg1"/>
                </a:solidFill>
                <a:latin typeface="B Titr" pitchFamily="34" charset="0"/>
                <a:ea typeface="B Titr" pitchFamily="34" charset="-122"/>
                <a:cs typeface="B Titr" pitchFamily="34" charset="-120"/>
              </a:rPr>
              <a:t>1400</a:t>
            </a:r>
            <a:endParaRPr lang="fa-IR" sz="2200" dirty="0"/>
          </a:p>
        </p:txBody>
      </p:sp>
      <p:sp>
        <p:nvSpPr>
          <p:cNvPr id="11" name="anim_2_185"/>
          <p:cNvSpPr txBox="1"/>
          <p:nvPr/>
        </p:nvSpPr>
        <p:spPr>
          <a:xfrm>
            <a:off x="7479792" y="2468880"/>
            <a:ext cx="2743200" cy="731520"/>
          </a:xfrm>
          <a:prstGeom prst="rect">
            <a:avLst/>
          </a:prstGeom>
          <a:noFill/>
          <a:ln/>
        </p:spPr>
        <p:txBody>
          <a:bodyPr wrap="square" lIns="0" tIns="0" rIns="0" bIns="0" rtlCol="0" anchor="ctr"/>
          <a:lstStyle/>
          <a:p>
            <a:pPr rtl="1" algn="r" indent="0" marL="0">
              <a:buNone/>
            </a:pPr>
            <a:r>
              <a:rPr lang="fa-IR" altLang="en-US" sz="1600" dirty="0">
                <a:solidFill>
                  <a:schemeClr val="tx2"/>
                </a:solidFill>
                <a:latin typeface="B Titr" pitchFamily="34" charset="0"/>
                <a:ea typeface="B Titr" pitchFamily="34" charset="-122"/>
                <a:cs typeface="B Titr" pitchFamily="34" charset="-120"/>
              </a:rPr>
              <a:t>سلیمانی و شکریان</a:t>
            </a:r>
            <a:endParaRPr lang="fa-IR" sz="1600" dirty="0"/>
          </a:p>
        </p:txBody>
      </p:sp>
      <p:sp>
        <p:nvSpPr>
          <p:cNvPr id="12" name="anim_2_186"/>
          <p:cNvSpPr txBox="1"/>
          <p:nvPr/>
        </p:nvSpPr>
        <p:spPr>
          <a:xfrm>
            <a:off x="731520" y="2441448"/>
            <a:ext cx="6400800" cy="777240"/>
          </a:xfrm>
          <a:prstGeom prst="rect">
            <a:avLst/>
          </a:prstGeom>
          <a:noFill/>
          <a:ln/>
        </p:spPr>
        <p:txBody>
          <a:bodyPr wrap="square" lIns="0" tIns="0" rIns="0" bIns="0" rtlCol="0" anchor="ctr"/>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تخفیف حق‌الزحمه، افشای تحریف را کاهش و احتمال تقلب را افزایش می‌دهد</a:t>
            </a:r>
            <a:endParaRPr lang="fa-IR" sz="1700" dirty="0"/>
          </a:p>
        </p:txBody>
      </p:sp>
      <p:sp>
        <p:nvSpPr>
          <p:cNvPr id="13" name="anim_3_187"/>
          <p:cNvSpPr/>
          <p:nvPr/>
        </p:nvSpPr>
        <p:spPr>
          <a:xfrm>
            <a:off x="548640" y="3374136"/>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14" name="anim_3_188"/>
          <p:cNvSpPr/>
          <p:nvPr/>
        </p:nvSpPr>
        <p:spPr>
          <a:xfrm>
            <a:off x="10405872" y="3483864"/>
            <a:ext cx="1097280" cy="649224"/>
          </a:xfrm>
          <a:prstGeom prst="roundRect">
            <a:avLst>
              <a:gd name="adj" fmla="val 14085"/>
            </a:avLst>
          </a:prstGeom>
          <a:solidFill>
            <a:schemeClr val="accent2"/>
          </a:solidFill>
          <a:ln/>
        </p:spPr>
      </p:sp>
      <p:sp>
        <p:nvSpPr>
          <p:cNvPr id="15" name="anim_3_189"/>
          <p:cNvSpPr txBox="1"/>
          <p:nvPr/>
        </p:nvSpPr>
        <p:spPr>
          <a:xfrm>
            <a:off x="10405872" y="3483864"/>
            <a:ext cx="1097280" cy="649224"/>
          </a:xfrm>
          <a:prstGeom prst="rect">
            <a:avLst/>
          </a:prstGeom>
          <a:noFill/>
          <a:ln/>
        </p:spPr>
        <p:txBody>
          <a:bodyPr wrap="square" lIns="0" tIns="0" rIns="0" bIns="0" rtlCol="0" anchor="ctr"/>
          <a:lstStyle/>
          <a:p>
            <a:pPr rtl="1" algn="ctr" indent="0" marL="0">
              <a:buNone/>
            </a:pPr>
            <a:r>
              <a:rPr lang="fa-IR" altLang="en-US" sz="2200" dirty="0">
                <a:solidFill>
                  <a:schemeClr val="bg1"/>
                </a:solidFill>
                <a:latin typeface="B Titr" pitchFamily="34" charset="0"/>
                <a:ea typeface="B Titr" pitchFamily="34" charset="-122"/>
                <a:cs typeface="B Titr" pitchFamily="34" charset="-120"/>
              </a:rPr>
              <a:t>1395</a:t>
            </a:r>
            <a:endParaRPr lang="fa-IR" sz="2200" dirty="0"/>
          </a:p>
        </p:txBody>
      </p:sp>
      <p:sp>
        <p:nvSpPr>
          <p:cNvPr id="16" name="anim_3_190"/>
          <p:cNvSpPr txBox="1"/>
          <p:nvPr/>
        </p:nvSpPr>
        <p:spPr>
          <a:xfrm>
            <a:off x="7479792" y="3447288"/>
            <a:ext cx="2743200" cy="731520"/>
          </a:xfrm>
          <a:prstGeom prst="rect">
            <a:avLst/>
          </a:prstGeom>
          <a:noFill/>
          <a:ln/>
        </p:spPr>
        <p:txBody>
          <a:bodyPr wrap="square" lIns="0" tIns="0" rIns="0" bIns="0" rtlCol="0" anchor="ctr"/>
          <a:lstStyle/>
          <a:p>
            <a:pPr rtl="1" algn="r" indent="0" marL="0">
              <a:buNone/>
            </a:pPr>
            <a:r>
              <a:rPr lang="fa-IR" altLang="en-US" sz="1600" dirty="0">
                <a:solidFill>
                  <a:schemeClr val="tx2"/>
                </a:solidFill>
                <a:latin typeface="B Titr" pitchFamily="34" charset="0"/>
                <a:ea typeface="B Titr" pitchFamily="34" charset="-122"/>
                <a:cs typeface="B Titr" pitchFamily="34" charset="-120"/>
              </a:rPr>
              <a:t>حیدرپور و جعفری؛ مشایخی و همکاران</a:t>
            </a:r>
            <a:endParaRPr lang="fa-IR" sz="1600" dirty="0"/>
          </a:p>
        </p:txBody>
      </p:sp>
      <p:sp>
        <p:nvSpPr>
          <p:cNvPr id="17" name="anim_3_191"/>
          <p:cNvSpPr txBox="1"/>
          <p:nvPr/>
        </p:nvSpPr>
        <p:spPr>
          <a:xfrm>
            <a:off x="731520" y="3419856"/>
            <a:ext cx="6400800" cy="777240"/>
          </a:xfrm>
          <a:prstGeom prst="rect">
            <a:avLst/>
          </a:prstGeom>
          <a:noFill/>
          <a:ln/>
        </p:spPr>
        <p:txBody>
          <a:bodyPr wrap="square" lIns="0" tIns="0" rIns="0" bIns="0" rtlCol="0" anchor="ctr"/>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ساختار بازار و مالکیت بر هزینهٔ حسابرسی اثر دارد؛ کیفیت حسابرسی داخلی اثری بر حق‌الزحمهٔ مستقل ندارد</a:t>
            </a:r>
            <a:endParaRPr lang="fa-IR" sz="1700" dirty="0"/>
          </a:p>
        </p:txBody>
      </p:sp>
      <p:sp>
        <p:nvSpPr>
          <p:cNvPr id="18" name="anim_4_192"/>
          <p:cNvSpPr/>
          <p:nvPr/>
        </p:nvSpPr>
        <p:spPr>
          <a:xfrm>
            <a:off x="548640" y="4352544"/>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19" name="anim_4_193"/>
          <p:cNvSpPr/>
          <p:nvPr/>
        </p:nvSpPr>
        <p:spPr>
          <a:xfrm>
            <a:off x="10405872" y="4462272"/>
            <a:ext cx="1097280" cy="649224"/>
          </a:xfrm>
          <a:prstGeom prst="roundRect">
            <a:avLst>
              <a:gd name="adj" fmla="val 14085"/>
            </a:avLst>
          </a:prstGeom>
          <a:solidFill>
            <a:schemeClr val="accent5"/>
          </a:solidFill>
          <a:ln/>
        </p:spPr>
      </p:sp>
      <p:sp>
        <p:nvSpPr>
          <p:cNvPr id="20" name="anim_4_194"/>
          <p:cNvSpPr txBox="1"/>
          <p:nvPr/>
        </p:nvSpPr>
        <p:spPr>
          <a:xfrm>
            <a:off x="10405872" y="4462272"/>
            <a:ext cx="1097280" cy="649224"/>
          </a:xfrm>
          <a:prstGeom prst="rect">
            <a:avLst/>
          </a:prstGeom>
          <a:noFill/>
          <a:ln/>
        </p:spPr>
        <p:txBody>
          <a:bodyPr wrap="square" lIns="0" tIns="0" rIns="0" bIns="0" rtlCol="0" anchor="ctr"/>
          <a:lstStyle/>
          <a:p>
            <a:pPr rtl="1" algn="ctr" indent="0" marL="0">
              <a:buNone/>
            </a:pPr>
            <a:r>
              <a:rPr lang="fa-IR" altLang="en-US" sz="2200" dirty="0">
                <a:solidFill>
                  <a:schemeClr val="bg1"/>
                </a:solidFill>
                <a:latin typeface="B Titr" pitchFamily="34" charset="0"/>
                <a:ea typeface="B Titr" pitchFamily="34" charset="-122"/>
                <a:cs typeface="B Titr" pitchFamily="34" charset="-120"/>
              </a:rPr>
              <a:t>1394</a:t>
            </a:r>
            <a:endParaRPr lang="fa-IR" sz="2200" dirty="0"/>
          </a:p>
        </p:txBody>
      </p:sp>
      <p:sp>
        <p:nvSpPr>
          <p:cNvPr id="21" name="anim_4_195"/>
          <p:cNvSpPr txBox="1"/>
          <p:nvPr/>
        </p:nvSpPr>
        <p:spPr>
          <a:xfrm>
            <a:off x="7479792" y="4425696"/>
            <a:ext cx="2743200" cy="731520"/>
          </a:xfrm>
          <a:prstGeom prst="rect">
            <a:avLst/>
          </a:prstGeom>
          <a:noFill/>
          <a:ln/>
        </p:spPr>
        <p:txBody>
          <a:bodyPr wrap="square" lIns="0" tIns="0" rIns="0" bIns="0" rtlCol="0" anchor="ctr"/>
          <a:lstStyle/>
          <a:p>
            <a:pPr rtl="1" algn="r" indent="0" marL="0">
              <a:buNone/>
            </a:pPr>
            <a:r>
              <a:rPr lang="fa-IR" altLang="en-US" sz="1600" dirty="0">
                <a:solidFill>
                  <a:schemeClr val="tx2"/>
                </a:solidFill>
                <a:latin typeface="B Titr" pitchFamily="34" charset="0"/>
                <a:ea typeface="B Titr" pitchFamily="34" charset="-122"/>
                <a:cs typeface="B Titr" pitchFamily="34" charset="-120"/>
              </a:rPr>
              <a:t>دیانتی‌دیلمی و بیاتی</a:t>
            </a:r>
            <a:endParaRPr lang="fa-IR" sz="1600" dirty="0"/>
          </a:p>
        </p:txBody>
      </p:sp>
      <p:sp>
        <p:nvSpPr>
          <p:cNvPr id="22" name="anim_4_196"/>
          <p:cNvSpPr txBox="1"/>
          <p:nvPr/>
        </p:nvSpPr>
        <p:spPr>
          <a:xfrm>
            <a:off x="731520" y="4398264"/>
            <a:ext cx="6400800" cy="777240"/>
          </a:xfrm>
          <a:prstGeom prst="rect">
            <a:avLst/>
          </a:prstGeom>
          <a:noFill/>
          <a:ln/>
        </p:spPr>
        <p:txBody>
          <a:bodyPr wrap="square" lIns="0" tIns="0" rIns="0" bIns="0" rtlCol="0" anchor="ctr"/>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رقابت بازار محصول بر حق‌الزحمهٔ حسابرس اثر معنادار دارد</a:t>
            </a:r>
            <a:endParaRPr lang="fa-IR" sz="1700" dirty="0"/>
          </a:p>
        </p:txBody>
      </p:sp>
      <p:sp>
        <p:nvSpPr>
          <p:cNvPr id="23" name="anim_5_197"/>
          <p:cNvSpPr/>
          <p:nvPr/>
        </p:nvSpPr>
        <p:spPr>
          <a:xfrm>
            <a:off x="548640" y="5330952"/>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24" name="anim_5_198"/>
          <p:cNvSpPr/>
          <p:nvPr/>
        </p:nvSpPr>
        <p:spPr>
          <a:xfrm>
            <a:off x="10405872" y="5440680"/>
            <a:ext cx="1097280" cy="649224"/>
          </a:xfrm>
          <a:prstGeom prst="roundRect">
            <a:avLst>
              <a:gd name="adj" fmla="val 14085"/>
            </a:avLst>
          </a:prstGeom>
          <a:solidFill>
            <a:schemeClr val="accent1"/>
          </a:solidFill>
          <a:ln/>
        </p:spPr>
      </p:sp>
      <p:sp>
        <p:nvSpPr>
          <p:cNvPr id="25" name="anim_5_199"/>
          <p:cNvSpPr txBox="1"/>
          <p:nvPr/>
        </p:nvSpPr>
        <p:spPr>
          <a:xfrm>
            <a:off x="10405872" y="5440680"/>
            <a:ext cx="1097280" cy="649224"/>
          </a:xfrm>
          <a:prstGeom prst="rect">
            <a:avLst/>
          </a:prstGeom>
          <a:noFill/>
          <a:ln/>
        </p:spPr>
        <p:txBody>
          <a:bodyPr wrap="square" lIns="0" tIns="0" rIns="0" bIns="0" rtlCol="0" anchor="ctr"/>
          <a:lstStyle/>
          <a:p>
            <a:pPr rtl="1" algn="ctr" indent="0" marL="0">
              <a:buNone/>
            </a:pPr>
            <a:r>
              <a:rPr lang="fa-IR" altLang="en-US" sz="2200" dirty="0">
                <a:solidFill>
                  <a:schemeClr val="bg1"/>
                </a:solidFill>
                <a:latin typeface="B Titr" pitchFamily="34" charset="0"/>
                <a:ea typeface="B Titr" pitchFamily="34" charset="-122"/>
                <a:cs typeface="B Titr" pitchFamily="34" charset="-120"/>
              </a:rPr>
              <a:t>1392</a:t>
            </a:r>
            <a:endParaRPr lang="fa-IR" sz="2200" dirty="0"/>
          </a:p>
        </p:txBody>
      </p:sp>
      <p:sp>
        <p:nvSpPr>
          <p:cNvPr id="26" name="anim_5_200"/>
          <p:cNvSpPr txBox="1"/>
          <p:nvPr/>
        </p:nvSpPr>
        <p:spPr>
          <a:xfrm>
            <a:off x="7479792" y="5404104"/>
            <a:ext cx="2743200" cy="731520"/>
          </a:xfrm>
          <a:prstGeom prst="rect">
            <a:avLst/>
          </a:prstGeom>
          <a:noFill/>
          <a:ln/>
        </p:spPr>
        <p:txBody>
          <a:bodyPr wrap="square" lIns="0" tIns="0" rIns="0" bIns="0" rtlCol="0" anchor="ctr"/>
          <a:lstStyle/>
          <a:p>
            <a:pPr rtl="1" algn="r" indent="0" marL="0">
              <a:buNone/>
            </a:pPr>
            <a:r>
              <a:rPr lang="fa-IR" altLang="en-US" sz="1600" dirty="0">
                <a:solidFill>
                  <a:schemeClr val="tx2"/>
                </a:solidFill>
                <a:latin typeface="B Titr" pitchFamily="34" charset="0"/>
                <a:ea typeface="B Titr" pitchFamily="34" charset="-122"/>
                <a:cs typeface="B Titr" pitchFamily="34" charset="-120"/>
              </a:rPr>
              <a:t>عزیزخانی و آقابیگی</a:t>
            </a:r>
            <a:endParaRPr lang="fa-IR" sz="1600" dirty="0"/>
          </a:p>
        </p:txBody>
      </p:sp>
      <p:sp>
        <p:nvSpPr>
          <p:cNvPr id="27" name="anim_5_201"/>
          <p:cNvSpPr txBox="1"/>
          <p:nvPr/>
        </p:nvSpPr>
        <p:spPr>
          <a:xfrm>
            <a:off x="731520" y="5376672"/>
            <a:ext cx="6400800" cy="777240"/>
          </a:xfrm>
          <a:prstGeom prst="rect">
            <a:avLst/>
          </a:prstGeom>
          <a:noFill/>
          <a:ln/>
        </p:spPr>
        <p:txBody>
          <a:bodyPr wrap="square" lIns="0" tIns="0" rIns="0" bIns="0" rtlCol="0" anchor="ctr"/>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حق‌الزحمهٔ نخستین بالاتر از سنوات بعد؛ رابطهٔ معنادار با سنوات تصدی نیست</a:t>
            </a:r>
            <a:endParaRPr lang="fa-IR" sz="17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9"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7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7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0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0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0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0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14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14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14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140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14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پیشینهٔ خارجی (منتخب، از جدید به قدیم)</a:t>
            </a:r>
            <a:endParaRPr lang="fa-IR" sz="3400" dirty="0"/>
          </a:p>
        </p:txBody>
      </p:sp>
      <p:sp>
        <p:nvSpPr>
          <p:cNvPr id="3" name="anim_1_202"/>
          <p:cNvSpPr/>
          <p:nvPr/>
        </p:nvSpPr>
        <p:spPr>
          <a:xfrm>
            <a:off x="6263640" y="14173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4" name="anim_1_203"/>
          <p:cNvSpPr/>
          <p:nvPr/>
        </p:nvSpPr>
        <p:spPr>
          <a:xfrm>
            <a:off x="10287000" y="1554480"/>
            <a:ext cx="1280160" cy="502920"/>
          </a:xfrm>
          <a:prstGeom prst="roundRect">
            <a:avLst>
              <a:gd name="adj" fmla="val 18182"/>
            </a:avLst>
          </a:prstGeom>
          <a:solidFill>
            <a:schemeClr val="accent6"/>
          </a:solidFill>
          <a:ln/>
        </p:spPr>
      </p:sp>
      <p:sp>
        <p:nvSpPr>
          <p:cNvPr id="5" name="anim_1_204"/>
          <p:cNvSpPr txBox="1"/>
          <p:nvPr/>
        </p:nvSpPr>
        <p:spPr>
          <a:xfrm>
            <a:off x="10287000" y="1554480"/>
            <a:ext cx="1280160" cy="50292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2025–2026</a:t>
            </a:r>
            <a:endParaRPr lang="fa-IR" sz="1700" dirty="0"/>
          </a:p>
        </p:txBody>
      </p:sp>
      <p:sp>
        <p:nvSpPr>
          <p:cNvPr id="6" name="anim_1_205"/>
          <p:cNvSpPr txBox="1"/>
          <p:nvPr/>
        </p:nvSpPr>
        <p:spPr>
          <a:xfrm>
            <a:off x="6400800" y="1527048"/>
            <a:ext cx="3749040" cy="548640"/>
          </a:xfrm>
          <a:prstGeom prst="rect">
            <a:avLst/>
          </a:prstGeom>
          <a:noFill/>
          <a:ln/>
        </p:spPr>
        <p:txBody>
          <a:bodyPr wrap="square" lIns="0" tIns="0" rIns="0" bIns="0" rtlCol="0" anchor="ctr"/>
          <a:lstStyle/>
          <a:p>
            <a:pPr rtl="1" algn="r" indent="0" marL="0">
              <a:buNone/>
            </a:pPr>
            <a:r>
              <a:rPr lang="fa-IR" altLang="en-US" sz="1700" dirty="0">
                <a:solidFill>
                  <a:schemeClr val="tx2"/>
                </a:solidFill>
                <a:latin typeface="B Titr" pitchFamily="34" charset="0"/>
                <a:ea typeface="B Titr" pitchFamily="34" charset="-122"/>
                <a:cs typeface="B Titr" pitchFamily="34" charset="-120"/>
              </a:rPr>
              <a:t>امر و یوآن؛ محمدرضایی و همکاران</a:t>
            </a:r>
            <a:endParaRPr lang="fa-IR" sz="1700" dirty="0"/>
          </a:p>
        </p:txBody>
      </p:sp>
      <p:sp>
        <p:nvSpPr>
          <p:cNvPr id="7" name="anim_1_206"/>
          <p:cNvSpPr txBox="1"/>
          <p:nvPr/>
        </p:nvSpPr>
        <p:spPr>
          <a:xfrm>
            <a:off x="6400800" y="2103120"/>
            <a:ext cx="5166360" cy="7315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تخفیف در رقابت بیشتر؛ در ایران پس از رتبه‌بندی مؤسسات تخفیف‌ها کاهش یافته است</a:t>
            </a:r>
            <a:endParaRPr lang="fa-IR" sz="1700" dirty="0"/>
          </a:p>
        </p:txBody>
      </p:sp>
      <p:sp>
        <p:nvSpPr>
          <p:cNvPr id="8" name="anim_2_207"/>
          <p:cNvSpPr/>
          <p:nvPr/>
        </p:nvSpPr>
        <p:spPr>
          <a:xfrm>
            <a:off x="548640" y="14173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9" name="anim_2_208"/>
          <p:cNvSpPr/>
          <p:nvPr/>
        </p:nvSpPr>
        <p:spPr>
          <a:xfrm>
            <a:off x="4572000" y="1554480"/>
            <a:ext cx="1280160" cy="502920"/>
          </a:xfrm>
          <a:prstGeom prst="roundRect">
            <a:avLst>
              <a:gd name="adj" fmla="val 18182"/>
            </a:avLst>
          </a:prstGeom>
          <a:solidFill>
            <a:schemeClr val="accent3"/>
          </a:solidFill>
          <a:ln/>
        </p:spPr>
      </p:sp>
      <p:sp>
        <p:nvSpPr>
          <p:cNvPr id="10" name="anim_2_209"/>
          <p:cNvSpPr txBox="1"/>
          <p:nvPr/>
        </p:nvSpPr>
        <p:spPr>
          <a:xfrm>
            <a:off x="4572000" y="1554480"/>
            <a:ext cx="1280160" cy="50292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2023</a:t>
            </a:r>
            <a:endParaRPr lang="fa-IR" sz="1700" dirty="0"/>
          </a:p>
        </p:txBody>
      </p:sp>
      <p:sp>
        <p:nvSpPr>
          <p:cNvPr id="11" name="anim_2_210"/>
          <p:cNvSpPr txBox="1"/>
          <p:nvPr/>
        </p:nvSpPr>
        <p:spPr>
          <a:xfrm>
            <a:off x="685800" y="1527048"/>
            <a:ext cx="3749040" cy="548640"/>
          </a:xfrm>
          <a:prstGeom prst="rect">
            <a:avLst/>
          </a:prstGeom>
          <a:noFill/>
          <a:ln/>
        </p:spPr>
        <p:txBody>
          <a:bodyPr wrap="square" lIns="0" tIns="0" rIns="0" bIns="0" rtlCol="0" anchor="ctr"/>
          <a:lstStyle/>
          <a:p>
            <a:pPr rtl="1" algn="r" indent="0" marL="0">
              <a:buNone/>
            </a:pPr>
            <a:r>
              <a:rPr lang="fa-IR" altLang="en-US" sz="1700" dirty="0">
                <a:solidFill>
                  <a:schemeClr val="tx2"/>
                </a:solidFill>
                <a:latin typeface="B Titr" pitchFamily="34" charset="0"/>
                <a:ea typeface="B Titr" pitchFamily="34" charset="-122"/>
                <a:cs typeface="B Titr" pitchFamily="34" charset="-120"/>
              </a:rPr>
              <a:t>نواک و نچل</a:t>
            </a:r>
            <a:endParaRPr lang="fa-IR" sz="1700" dirty="0"/>
          </a:p>
        </p:txBody>
      </p:sp>
      <p:sp>
        <p:nvSpPr>
          <p:cNvPr id="12" name="anim_2_211"/>
          <p:cNvSpPr txBox="1"/>
          <p:nvPr/>
        </p:nvSpPr>
        <p:spPr>
          <a:xfrm>
            <a:off x="685800" y="2103120"/>
            <a:ext cx="5166360" cy="7315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حاشیهٔ مشارکت قراردادهای جدید مثبت است؛ تخفیف لزوماً نرخ‌شکنی نیست</a:t>
            </a:r>
            <a:endParaRPr lang="fa-IR" sz="1700" dirty="0"/>
          </a:p>
        </p:txBody>
      </p:sp>
      <p:sp>
        <p:nvSpPr>
          <p:cNvPr id="13" name="anim_3_212"/>
          <p:cNvSpPr/>
          <p:nvPr/>
        </p:nvSpPr>
        <p:spPr>
          <a:xfrm>
            <a:off x="6263640" y="30175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14" name="anim_3_213"/>
          <p:cNvSpPr/>
          <p:nvPr/>
        </p:nvSpPr>
        <p:spPr>
          <a:xfrm>
            <a:off x="10287000" y="3154680"/>
            <a:ext cx="1280160" cy="502920"/>
          </a:xfrm>
          <a:prstGeom prst="roundRect">
            <a:avLst>
              <a:gd name="adj" fmla="val 18182"/>
            </a:avLst>
          </a:prstGeom>
          <a:solidFill>
            <a:schemeClr val="accent4"/>
          </a:solidFill>
          <a:ln/>
        </p:spPr>
      </p:sp>
      <p:sp>
        <p:nvSpPr>
          <p:cNvPr id="15" name="anim_3_214"/>
          <p:cNvSpPr txBox="1"/>
          <p:nvPr/>
        </p:nvSpPr>
        <p:spPr>
          <a:xfrm>
            <a:off x="10287000" y="3154680"/>
            <a:ext cx="1280160" cy="50292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2020</a:t>
            </a:r>
            <a:endParaRPr lang="fa-IR" sz="1700" dirty="0"/>
          </a:p>
        </p:txBody>
      </p:sp>
      <p:sp>
        <p:nvSpPr>
          <p:cNvPr id="16" name="anim_3_215"/>
          <p:cNvSpPr txBox="1"/>
          <p:nvPr/>
        </p:nvSpPr>
        <p:spPr>
          <a:xfrm>
            <a:off x="6400800" y="3127248"/>
            <a:ext cx="3749040" cy="548640"/>
          </a:xfrm>
          <a:prstGeom prst="rect">
            <a:avLst/>
          </a:prstGeom>
          <a:noFill/>
          <a:ln/>
        </p:spPr>
        <p:txBody>
          <a:bodyPr wrap="square" lIns="0" tIns="0" rIns="0" bIns="0" rtlCol="0" anchor="ctr"/>
          <a:lstStyle/>
          <a:p>
            <a:pPr rtl="1" algn="r" indent="0" marL="0">
              <a:buNone/>
            </a:pPr>
            <a:r>
              <a:rPr lang="fa-IR" altLang="en-US" sz="1700" dirty="0">
                <a:solidFill>
                  <a:schemeClr val="tx2"/>
                </a:solidFill>
                <a:latin typeface="B Titr" pitchFamily="34" charset="0"/>
                <a:ea typeface="B Titr" pitchFamily="34" charset="-122"/>
                <a:cs typeface="B Titr" pitchFamily="34" charset="-120"/>
              </a:rPr>
              <a:t>چو، کوان و کریشنان</a:t>
            </a:r>
            <a:endParaRPr lang="fa-IR" sz="1700" dirty="0"/>
          </a:p>
        </p:txBody>
      </p:sp>
      <p:sp>
        <p:nvSpPr>
          <p:cNvPr id="17" name="anim_3_216"/>
          <p:cNvSpPr txBox="1"/>
          <p:nvPr/>
        </p:nvSpPr>
        <p:spPr>
          <a:xfrm>
            <a:off x="6400800" y="3703320"/>
            <a:ext cx="5166360" cy="7315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نرخ‌شکنی بازیابی می‌شود، ولی بازیابی با کیفیت آینده رابطه ندارد</a:t>
            </a:r>
            <a:endParaRPr lang="fa-IR" sz="1700" dirty="0"/>
          </a:p>
        </p:txBody>
      </p:sp>
      <p:sp>
        <p:nvSpPr>
          <p:cNvPr id="18" name="anim_4_217"/>
          <p:cNvSpPr/>
          <p:nvPr/>
        </p:nvSpPr>
        <p:spPr>
          <a:xfrm>
            <a:off x="548640" y="30175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19" name="anim_4_218"/>
          <p:cNvSpPr/>
          <p:nvPr/>
        </p:nvSpPr>
        <p:spPr>
          <a:xfrm>
            <a:off x="4572000" y="3154680"/>
            <a:ext cx="1280160" cy="502920"/>
          </a:xfrm>
          <a:prstGeom prst="roundRect">
            <a:avLst>
              <a:gd name="adj" fmla="val 18182"/>
            </a:avLst>
          </a:prstGeom>
          <a:solidFill>
            <a:schemeClr val="accent2"/>
          </a:solidFill>
          <a:ln/>
        </p:spPr>
      </p:sp>
      <p:sp>
        <p:nvSpPr>
          <p:cNvPr id="20" name="anim_4_219"/>
          <p:cNvSpPr txBox="1"/>
          <p:nvPr/>
        </p:nvSpPr>
        <p:spPr>
          <a:xfrm>
            <a:off x="4572000" y="3154680"/>
            <a:ext cx="1280160" cy="50292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2016</a:t>
            </a:r>
            <a:endParaRPr lang="fa-IR" sz="1700" dirty="0"/>
          </a:p>
        </p:txBody>
      </p:sp>
      <p:sp>
        <p:nvSpPr>
          <p:cNvPr id="21" name="anim_4_220"/>
          <p:cNvSpPr txBox="1"/>
          <p:nvPr/>
        </p:nvSpPr>
        <p:spPr>
          <a:xfrm>
            <a:off x="685800" y="3127248"/>
            <a:ext cx="3749040" cy="548640"/>
          </a:xfrm>
          <a:prstGeom prst="rect">
            <a:avLst/>
          </a:prstGeom>
          <a:noFill/>
          <a:ln/>
        </p:spPr>
        <p:txBody>
          <a:bodyPr wrap="square" lIns="0" tIns="0" rIns="0" bIns="0" rtlCol="0" anchor="ctr"/>
          <a:lstStyle/>
          <a:p>
            <a:pPr rtl="1" algn="r" indent="0" marL="0">
              <a:buNone/>
            </a:pPr>
            <a:r>
              <a:rPr lang="fa-IR" altLang="en-US" sz="1700" dirty="0">
                <a:solidFill>
                  <a:schemeClr val="tx2"/>
                </a:solidFill>
                <a:latin typeface="B Titr" pitchFamily="34" charset="0"/>
                <a:ea typeface="B Titr" pitchFamily="34" charset="-122"/>
                <a:cs typeface="B Titr" pitchFamily="34" charset="-120"/>
              </a:rPr>
              <a:t>کاچر و ویلسون</a:t>
            </a:r>
            <a:endParaRPr lang="fa-IR" sz="1700" dirty="0"/>
          </a:p>
        </p:txBody>
      </p:sp>
      <p:sp>
        <p:nvSpPr>
          <p:cNvPr id="22" name="anim_4_221"/>
          <p:cNvSpPr txBox="1"/>
          <p:nvPr/>
        </p:nvSpPr>
        <p:spPr>
          <a:xfrm>
            <a:off x="685800" y="3703320"/>
            <a:ext cx="5166360" cy="7315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تخفیف به کوتاه‌کردن کار نمی‌انجامد؛ حق‌الزحمه طی حدود 5 سال عادی می‌شود</a:t>
            </a:r>
            <a:endParaRPr lang="fa-IR" sz="1700" dirty="0"/>
          </a:p>
        </p:txBody>
      </p:sp>
      <p:sp>
        <p:nvSpPr>
          <p:cNvPr id="23" name="anim_5_222"/>
          <p:cNvSpPr/>
          <p:nvPr/>
        </p:nvSpPr>
        <p:spPr>
          <a:xfrm>
            <a:off x="6263640" y="46177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24" name="anim_5_223"/>
          <p:cNvSpPr/>
          <p:nvPr/>
        </p:nvSpPr>
        <p:spPr>
          <a:xfrm>
            <a:off x="10287000" y="4754880"/>
            <a:ext cx="1280160" cy="502920"/>
          </a:xfrm>
          <a:prstGeom prst="roundRect">
            <a:avLst>
              <a:gd name="adj" fmla="val 18182"/>
            </a:avLst>
          </a:prstGeom>
          <a:solidFill>
            <a:schemeClr val="accent5"/>
          </a:solidFill>
          <a:ln/>
        </p:spPr>
      </p:sp>
      <p:sp>
        <p:nvSpPr>
          <p:cNvPr id="25" name="anim_5_224"/>
          <p:cNvSpPr txBox="1"/>
          <p:nvPr/>
        </p:nvSpPr>
        <p:spPr>
          <a:xfrm>
            <a:off x="10287000" y="4754880"/>
            <a:ext cx="1280160" cy="50292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2014</a:t>
            </a:r>
            <a:endParaRPr lang="fa-IR" sz="1700" dirty="0"/>
          </a:p>
        </p:txBody>
      </p:sp>
      <p:sp>
        <p:nvSpPr>
          <p:cNvPr id="26" name="anim_5_225"/>
          <p:cNvSpPr txBox="1"/>
          <p:nvPr/>
        </p:nvSpPr>
        <p:spPr>
          <a:xfrm>
            <a:off x="6400800" y="4727448"/>
            <a:ext cx="3749040" cy="548640"/>
          </a:xfrm>
          <a:prstGeom prst="rect">
            <a:avLst/>
          </a:prstGeom>
          <a:noFill/>
          <a:ln/>
        </p:spPr>
        <p:txBody>
          <a:bodyPr wrap="square" lIns="0" tIns="0" rIns="0" bIns="0" rtlCol="0" anchor="ctr"/>
          <a:lstStyle/>
          <a:p>
            <a:pPr rtl="1" algn="r" indent="0" marL="0">
              <a:buNone/>
            </a:pPr>
            <a:r>
              <a:rPr lang="fa-IR" altLang="en-US" sz="1700" dirty="0">
                <a:solidFill>
                  <a:schemeClr val="tx2"/>
                </a:solidFill>
                <a:latin typeface="B Titr" pitchFamily="34" charset="0"/>
                <a:ea typeface="B Titr" pitchFamily="34" charset="-122"/>
                <a:cs typeface="B Titr" pitchFamily="34" charset="-120"/>
              </a:rPr>
              <a:t>کروب و همکاران</a:t>
            </a:r>
            <a:endParaRPr lang="fa-IR" sz="1700" dirty="0"/>
          </a:p>
        </p:txBody>
      </p:sp>
      <p:sp>
        <p:nvSpPr>
          <p:cNvPr id="27" name="anim_5_226"/>
          <p:cNvSpPr txBox="1"/>
          <p:nvPr/>
        </p:nvSpPr>
        <p:spPr>
          <a:xfrm>
            <a:off x="6400800" y="5303520"/>
            <a:ext cx="5166360" cy="7315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نرخ‌شکنی سیستماتیک در آلمان؛ بدون تفاوت در کیفیت</a:t>
            </a:r>
            <a:endParaRPr lang="fa-IR" sz="1700" dirty="0"/>
          </a:p>
        </p:txBody>
      </p:sp>
      <p:sp>
        <p:nvSpPr>
          <p:cNvPr id="28" name="anim_6_227"/>
          <p:cNvSpPr/>
          <p:nvPr/>
        </p:nvSpPr>
        <p:spPr>
          <a:xfrm>
            <a:off x="548640" y="46177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29" name="anim_6_228"/>
          <p:cNvSpPr/>
          <p:nvPr/>
        </p:nvSpPr>
        <p:spPr>
          <a:xfrm>
            <a:off x="4572000" y="4754880"/>
            <a:ext cx="1280160" cy="502920"/>
          </a:xfrm>
          <a:prstGeom prst="roundRect">
            <a:avLst>
              <a:gd name="adj" fmla="val 18182"/>
            </a:avLst>
          </a:prstGeom>
          <a:solidFill>
            <a:schemeClr val="accent1"/>
          </a:solidFill>
          <a:ln/>
        </p:spPr>
      </p:sp>
      <p:sp>
        <p:nvSpPr>
          <p:cNvPr id="30" name="anim_6_229"/>
          <p:cNvSpPr txBox="1"/>
          <p:nvPr/>
        </p:nvSpPr>
        <p:spPr>
          <a:xfrm>
            <a:off x="4572000" y="4754880"/>
            <a:ext cx="1280160" cy="50292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2004</a:t>
            </a:r>
            <a:endParaRPr lang="fa-IR" sz="1700" dirty="0"/>
          </a:p>
        </p:txBody>
      </p:sp>
      <p:sp>
        <p:nvSpPr>
          <p:cNvPr id="31" name="anim_6_230"/>
          <p:cNvSpPr txBox="1"/>
          <p:nvPr/>
        </p:nvSpPr>
        <p:spPr>
          <a:xfrm>
            <a:off x="685800" y="4727448"/>
            <a:ext cx="3749040" cy="548640"/>
          </a:xfrm>
          <a:prstGeom prst="rect">
            <a:avLst/>
          </a:prstGeom>
          <a:noFill/>
          <a:ln/>
        </p:spPr>
        <p:txBody>
          <a:bodyPr wrap="square" lIns="0" tIns="0" rIns="0" bIns="0" rtlCol="0" anchor="ctr"/>
          <a:lstStyle/>
          <a:p>
            <a:pPr rtl="1" algn="r" indent="0" marL="0">
              <a:buNone/>
            </a:pPr>
            <a:r>
              <a:rPr lang="fa-IR" altLang="en-US" sz="1700" dirty="0">
                <a:solidFill>
                  <a:schemeClr val="tx2"/>
                </a:solidFill>
                <a:latin typeface="B Titr" pitchFamily="34" charset="0"/>
                <a:ea typeface="B Titr" pitchFamily="34" charset="-122"/>
                <a:cs typeface="B Titr" pitchFamily="34" charset="-120"/>
              </a:rPr>
              <a:t>جانستون و همکاران</a:t>
            </a:r>
            <a:endParaRPr lang="fa-IR" sz="1700" dirty="0"/>
          </a:p>
        </p:txBody>
      </p:sp>
      <p:sp>
        <p:nvSpPr>
          <p:cNvPr id="32" name="anim_6_231"/>
          <p:cNvSpPr txBox="1"/>
          <p:nvPr/>
        </p:nvSpPr>
        <p:spPr>
          <a:xfrm>
            <a:off x="685800" y="5303520"/>
            <a:ext cx="5166360" cy="731520"/>
          </a:xfrm>
          <a:prstGeom prst="rect">
            <a:avLst/>
          </a:prstGeom>
          <a:noFill/>
          <a:ln/>
        </p:spPr>
        <p:txBody>
          <a:bodyPr wrap="square" lIns="0" tIns="0" rIns="0" bIns="0" rtlCol="0" anchor="t"/>
          <a:lstStyle/>
          <a:p>
            <a:pPr rtl="1" algn="r" indent="0" marL="0">
              <a:buNone/>
            </a:pPr>
            <a:r>
              <a:rPr lang="fa-IR" altLang="en-US" sz="1700" dirty="0">
                <a:solidFill>
                  <a:schemeClr val="tx1"/>
                </a:solidFill>
                <a:latin typeface="B Nazanin" pitchFamily="34" charset="0"/>
                <a:ea typeface="B Nazanin" pitchFamily="34" charset="-122"/>
                <a:cs typeface="B Nazanin" pitchFamily="34" charset="-120"/>
              </a:rPr>
              <a:t>در فضای رقابتی، حق‌الزحمه کمتر و تلاش برنامه‌ریزی‌شده بیشتر است</a:t>
            </a:r>
            <a:endParaRPr lang="fa-IR" sz="17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11</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7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7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0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0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0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0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14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14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14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140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14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17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17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17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17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17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فرضیه‌های پژوهش</a:t>
            </a:r>
            <a:endParaRPr lang="fa-IR" sz="3400" dirty="0"/>
          </a:p>
        </p:txBody>
      </p:sp>
      <p:sp>
        <p:nvSpPr>
          <p:cNvPr id="3" name="anim_1_232"/>
          <p:cNvSpPr/>
          <p:nvPr/>
        </p:nvSpPr>
        <p:spPr>
          <a:xfrm>
            <a:off x="548640" y="1417320"/>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4" name="anim_1_233"/>
          <p:cNvSpPr/>
          <p:nvPr/>
        </p:nvSpPr>
        <p:spPr>
          <a:xfrm>
            <a:off x="10863072" y="1508760"/>
            <a:ext cx="685800" cy="685800"/>
          </a:xfrm>
          <a:prstGeom prst="ellipse">
            <a:avLst/>
          </a:prstGeom>
          <a:solidFill>
            <a:schemeClr val="accent1"/>
          </a:solidFill>
          <a:ln/>
        </p:spPr>
      </p:sp>
      <p:sp>
        <p:nvSpPr>
          <p:cNvPr id="5" name="anim_1_234"/>
          <p:cNvSpPr txBox="1"/>
          <p:nvPr/>
        </p:nvSpPr>
        <p:spPr>
          <a:xfrm>
            <a:off x="10863072" y="1508760"/>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1</a:t>
            </a:r>
            <a:endParaRPr lang="fa-IR" sz="2000" dirty="0"/>
          </a:p>
        </p:txBody>
      </p:sp>
      <p:sp>
        <p:nvSpPr>
          <p:cNvPr id="6" name="anim_1_235"/>
          <p:cNvSpPr txBox="1"/>
          <p:nvPr/>
        </p:nvSpPr>
        <p:spPr>
          <a:xfrm>
            <a:off x="777240" y="1444752"/>
            <a:ext cx="9811512" cy="813816"/>
          </a:xfrm>
          <a:prstGeom prst="rect">
            <a:avLst/>
          </a:prstGeom>
          <a:noFill/>
          <a:ln/>
        </p:spPr>
        <p:txBody>
          <a:bodyPr wrap="square" lIns="0" tIns="0" rIns="0" bIns="0" rtlCol="0" anchor="ctr"/>
          <a:lstStyle/>
          <a:p>
            <a:pPr rtl="1" algn="r" indent="0" marL="0">
              <a:buNone/>
            </a:pPr>
            <a:r>
              <a:rPr lang="fa-IR" altLang="en-US" sz="2000" dirty="0">
                <a:solidFill>
                  <a:schemeClr val="tx1"/>
                </a:solidFill>
                <a:latin typeface="B Nazanin" pitchFamily="34" charset="0"/>
                <a:ea typeface="B Nazanin" pitchFamily="34" charset="-122"/>
                <a:cs typeface="B Nazanin" pitchFamily="34" charset="-120"/>
              </a:rPr>
              <a:t>فرضیهٔ 1: کاهش هزینهٔ حسابرسی در سال اول با سطح حق‌الزحمه‌های غیرحسابرسی رابطهٔ معناداری ندارد</a:t>
            </a:r>
            <a:endParaRPr lang="fa-IR" sz="2000" dirty="0"/>
          </a:p>
        </p:txBody>
      </p:sp>
      <p:sp>
        <p:nvSpPr>
          <p:cNvPr id="7" name="anim_2_236"/>
          <p:cNvSpPr/>
          <p:nvPr/>
        </p:nvSpPr>
        <p:spPr>
          <a:xfrm>
            <a:off x="548640" y="2395728"/>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8" name="anim_2_237"/>
          <p:cNvSpPr/>
          <p:nvPr/>
        </p:nvSpPr>
        <p:spPr>
          <a:xfrm>
            <a:off x="10863072" y="2487168"/>
            <a:ext cx="685800" cy="685800"/>
          </a:xfrm>
          <a:prstGeom prst="ellipse">
            <a:avLst/>
          </a:prstGeom>
          <a:solidFill>
            <a:schemeClr val="accent5"/>
          </a:solidFill>
          <a:ln/>
        </p:spPr>
      </p:sp>
      <p:sp>
        <p:nvSpPr>
          <p:cNvPr id="9" name="anim_2_238"/>
          <p:cNvSpPr txBox="1"/>
          <p:nvPr/>
        </p:nvSpPr>
        <p:spPr>
          <a:xfrm>
            <a:off x="10863072" y="2487168"/>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2</a:t>
            </a:r>
            <a:endParaRPr lang="fa-IR" sz="2000" dirty="0"/>
          </a:p>
        </p:txBody>
      </p:sp>
      <p:sp>
        <p:nvSpPr>
          <p:cNvPr id="10" name="anim_2_239"/>
          <p:cNvSpPr txBox="1"/>
          <p:nvPr/>
        </p:nvSpPr>
        <p:spPr>
          <a:xfrm>
            <a:off x="777240" y="2423160"/>
            <a:ext cx="9811512" cy="813816"/>
          </a:xfrm>
          <a:prstGeom prst="rect">
            <a:avLst/>
          </a:prstGeom>
          <a:noFill/>
          <a:ln/>
        </p:spPr>
        <p:txBody>
          <a:bodyPr wrap="square" lIns="0" tIns="0" rIns="0" bIns="0" rtlCol="0" anchor="ctr"/>
          <a:lstStyle/>
          <a:p>
            <a:pPr rtl="1" algn="r" indent="0" marL="0">
              <a:buNone/>
            </a:pPr>
            <a:r>
              <a:rPr lang="fa-IR" altLang="en-US" sz="2000" dirty="0">
                <a:solidFill>
                  <a:schemeClr val="tx1"/>
                </a:solidFill>
                <a:latin typeface="B Nazanin" pitchFamily="34" charset="0"/>
                <a:ea typeface="B Nazanin" pitchFamily="34" charset="-122"/>
                <a:cs typeface="B Nazanin" pitchFamily="34" charset="-120"/>
              </a:rPr>
              <a:t>فرضیهٔ 2: اهمیت مشتری در مؤسسات کوچک با کاهش هزینه رابطهٔ مثبت و معنادار دارد؛ در مؤسسات بزرگ معنادار نیست</a:t>
            </a:r>
            <a:endParaRPr lang="fa-IR" sz="2000" dirty="0"/>
          </a:p>
        </p:txBody>
      </p:sp>
      <p:sp>
        <p:nvSpPr>
          <p:cNvPr id="11" name="anim_3_240"/>
          <p:cNvSpPr/>
          <p:nvPr/>
        </p:nvSpPr>
        <p:spPr>
          <a:xfrm>
            <a:off x="548640" y="3374136"/>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12" name="anim_3_241"/>
          <p:cNvSpPr/>
          <p:nvPr/>
        </p:nvSpPr>
        <p:spPr>
          <a:xfrm>
            <a:off x="10863072" y="3465576"/>
            <a:ext cx="685800" cy="685800"/>
          </a:xfrm>
          <a:prstGeom prst="ellipse">
            <a:avLst/>
          </a:prstGeom>
          <a:solidFill>
            <a:schemeClr val="accent2"/>
          </a:solidFill>
          <a:ln/>
        </p:spPr>
      </p:sp>
      <p:sp>
        <p:nvSpPr>
          <p:cNvPr id="13" name="anim_3_242"/>
          <p:cNvSpPr txBox="1"/>
          <p:nvPr/>
        </p:nvSpPr>
        <p:spPr>
          <a:xfrm>
            <a:off x="10863072" y="3465576"/>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3</a:t>
            </a:r>
            <a:endParaRPr lang="fa-IR" sz="2000" dirty="0"/>
          </a:p>
        </p:txBody>
      </p:sp>
      <p:sp>
        <p:nvSpPr>
          <p:cNvPr id="14" name="anim_3_243"/>
          <p:cNvSpPr txBox="1"/>
          <p:nvPr/>
        </p:nvSpPr>
        <p:spPr>
          <a:xfrm>
            <a:off x="777240" y="3401568"/>
            <a:ext cx="9811512" cy="813816"/>
          </a:xfrm>
          <a:prstGeom prst="rect">
            <a:avLst/>
          </a:prstGeom>
          <a:noFill/>
          <a:ln/>
        </p:spPr>
        <p:txBody>
          <a:bodyPr wrap="square" lIns="0" tIns="0" rIns="0" bIns="0" rtlCol="0" anchor="ctr"/>
          <a:lstStyle/>
          <a:p>
            <a:pPr rtl="1" algn="r" indent="0" marL="0">
              <a:buNone/>
            </a:pPr>
            <a:r>
              <a:rPr lang="fa-IR" altLang="en-US" sz="2000" dirty="0">
                <a:solidFill>
                  <a:schemeClr val="tx1"/>
                </a:solidFill>
                <a:latin typeface="B Nazanin" pitchFamily="34" charset="0"/>
                <a:ea typeface="B Nazanin" pitchFamily="34" charset="-122"/>
                <a:cs typeface="B Nazanin" pitchFamily="34" charset="-120"/>
              </a:rPr>
              <a:t>فرضیهٔ 3: افزایش حق‌الزحمهٔ بعدی در مؤسسات با هزینهٔ اولیهٔ پایین، معناداراً بیشتر است</a:t>
            </a:r>
            <a:endParaRPr lang="fa-IR" sz="2000" dirty="0"/>
          </a:p>
        </p:txBody>
      </p:sp>
      <p:sp>
        <p:nvSpPr>
          <p:cNvPr id="15" name="anim_4_244"/>
          <p:cNvSpPr/>
          <p:nvPr/>
        </p:nvSpPr>
        <p:spPr>
          <a:xfrm>
            <a:off x="548640" y="4352544"/>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16" name="anim_4_245"/>
          <p:cNvSpPr/>
          <p:nvPr/>
        </p:nvSpPr>
        <p:spPr>
          <a:xfrm>
            <a:off x="10863072" y="4443984"/>
            <a:ext cx="685800" cy="685800"/>
          </a:xfrm>
          <a:prstGeom prst="ellipse">
            <a:avLst/>
          </a:prstGeom>
          <a:solidFill>
            <a:schemeClr val="accent4"/>
          </a:solidFill>
          <a:ln/>
        </p:spPr>
      </p:sp>
      <p:sp>
        <p:nvSpPr>
          <p:cNvPr id="17" name="anim_4_246"/>
          <p:cNvSpPr txBox="1"/>
          <p:nvPr/>
        </p:nvSpPr>
        <p:spPr>
          <a:xfrm>
            <a:off x="10863072" y="4443984"/>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4</a:t>
            </a:r>
            <a:endParaRPr lang="fa-IR" sz="2000" dirty="0"/>
          </a:p>
        </p:txBody>
      </p:sp>
      <p:sp>
        <p:nvSpPr>
          <p:cNvPr id="18" name="anim_4_247"/>
          <p:cNvSpPr txBox="1"/>
          <p:nvPr/>
        </p:nvSpPr>
        <p:spPr>
          <a:xfrm>
            <a:off x="777240" y="4379976"/>
            <a:ext cx="9811512" cy="813816"/>
          </a:xfrm>
          <a:prstGeom prst="rect">
            <a:avLst/>
          </a:prstGeom>
          <a:noFill/>
          <a:ln/>
        </p:spPr>
        <p:txBody>
          <a:bodyPr wrap="square" lIns="0" tIns="0" rIns="0" bIns="0" rtlCol="0" anchor="ctr"/>
          <a:lstStyle/>
          <a:p>
            <a:pPr rtl="1" algn="r" indent="0" marL="0">
              <a:buNone/>
            </a:pPr>
            <a:r>
              <a:rPr lang="fa-IR" altLang="en-US" sz="2000" dirty="0">
                <a:solidFill>
                  <a:schemeClr val="tx1"/>
                </a:solidFill>
                <a:latin typeface="B Nazanin" pitchFamily="34" charset="0"/>
                <a:ea typeface="B Nazanin" pitchFamily="34" charset="-122"/>
                <a:cs typeface="B Nazanin" pitchFamily="34" charset="-120"/>
              </a:rPr>
              <a:t>فرضیهٔ 4: افزایش حق‌الزحمه‌های غیرحسابرسی بعدی در مؤسسات با هزینهٔ اولیهٔ پایین، معناداراً بیشتر نیست</a:t>
            </a:r>
            <a:endParaRPr lang="fa-IR" sz="2000" dirty="0"/>
          </a:p>
        </p:txBody>
      </p:sp>
      <p:sp>
        <p:nvSpPr>
          <p:cNvPr id="19" name="anim_5_248"/>
          <p:cNvSpPr/>
          <p:nvPr/>
        </p:nvSpPr>
        <p:spPr>
          <a:xfrm>
            <a:off x="548640" y="5330952"/>
            <a:ext cx="11091672"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20" name="anim_5_249"/>
          <p:cNvSpPr/>
          <p:nvPr/>
        </p:nvSpPr>
        <p:spPr>
          <a:xfrm>
            <a:off x="10863072" y="5422392"/>
            <a:ext cx="685800" cy="685800"/>
          </a:xfrm>
          <a:prstGeom prst="ellipse">
            <a:avLst/>
          </a:prstGeom>
          <a:solidFill>
            <a:schemeClr val="accent3"/>
          </a:solidFill>
          <a:ln/>
        </p:spPr>
      </p:sp>
      <p:sp>
        <p:nvSpPr>
          <p:cNvPr id="21" name="anim_5_250"/>
          <p:cNvSpPr txBox="1"/>
          <p:nvPr/>
        </p:nvSpPr>
        <p:spPr>
          <a:xfrm>
            <a:off x="10863072" y="5422392"/>
            <a:ext cx="685800" cy="68580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5</a:t>
            </a:r>
            <a:endParaRPr lang="fa-IR" sz="2000" dirty="0"/>
          </a:p>
        </p:txBody>
      </p:sp>
      <p:sp>
        <p:nvSpPr>
          <p:cNvPr id="22" name="anim_5_251"/>
          <p:cNvSpPr txBox="1"/>
          <p:nvPr/>
        </p:nvSpPr>
        <p:spPr>
          <a:xfrm>
            <a:off x="777240" y="5358384"/>
            <a:ext cx="9811512" cy="813816"/>
          </a:xfrm>
          <a:prstGeom prst="rect">
            <a:avLst/>
          </a:prstGeom>
          <a:noFill/>
          <a:ln/>
        </p:spPr>
        <p:txBody>
          <a:bodyPr wrap="square" lIns="0" tIns="0" rIns="0" bIns="0" rtlCol="0" anchor="ctr"/>
          <a:lstStyle/>
          <a:p>
            <a:pPr rtl="1" algn="r" indent="0" marL="0">
              <a:buNone/>
            </a:pPr>
            <a:r>
              <a:rPr lang="fa-IR" altLang="en-US" sz="2000" dirty="0">
                <a:solidFill>
                  <a:schemeClr val="tx1"/>
                </a:solidFill>
                <a:latin typeface="B Nazanin" pitchFamily="34" charset="0"/>
                <a:ea typeface="B Nazanin" pitchFamily="34" charset="-122"/>
                <a:cs typeface="B Nazanin" pitchFamily="34" charset="-120"/>
              </a:rPr>
              <a:t>فرضیهٔ 5: کیفیت حسابرسی در دوره‌های بعد به میزان بازیابی حق‌الزحمه وابسته نیست</a:t>
            </a:r>
            <a:endParaRPr lang="fa-IR" sz="20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12</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7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7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10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10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10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40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4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40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40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نوع پژوهش، جامعه و نمونه</a:t>
            </a:r>
            <a:endParaRPr lang="fa-IR" sz="3400" dirty="0"/>
          </a:p>
        </p:txBody>
      </p:sp>
      <p:sp>
        <p:nvSpPr>
          <p:cNvPr id="3" name="anim_1_252"/>
          <p:cNvSpPr/>
          <p:nvPr/>
        </p:nvSpPr>
        <p:spPr>
          <a:xfrm>
            <a:off x="6858000" y="1417320"/>
            <a:ext cx="4782312" cy="4754880"/>
          </a:xfrm>
          <a:prstGeom prst="roundRect">
            <a:avLst>
              <a:gd name="adj" fmla="val 2308"/>
            </a:avLst>
          </a:prstGeom>
          <a:solidFill>
            <a:schemeClr val="bg2"/>
          </a:solidFill>
          <a:ln/>
          <a:effectLst>
            <a:outerShdw sx="100000" sy="100000" kx="0" ky="0" algn="bl" rotWithShape="0" blurRad="101600" dist="25400" dir="5400000">
              <a:srgbClr val="000000">
                <a:alpha val="12000"/>
              </a:srgbClr>
            </a:outerShdw>
          </a:effectLst>
        </p:spPr>
      </p:sp>
      <p:sp>
        <p:nvSpPr>
          <p:cNvPr id="4" name="anim_1_253"/>
          <p:cNvSpPr txBox="1"/>
          <p:nvPr/>
        </p:nvSpPr>
        <p:spPr>
          <a:xfrm>
            <a:off x="7086600" y="1737360"/>
            <a:ext cx="4343400" cy="4297680"/>
          </a:xfrm>
          <a:prstGeom prst="rect">
            <a:avLst/>
          </a:prstGeom>
          <a:noFill/>
          <a:ln/>
        </p:spPr>
        <p:txBody>
          <a:bodyPr wrap="square" lIns="0" tIns="0" rIns="0" bIns="0" rtlCol="0" anchor="t"/>
          <a:lstStyle/>
          <a:p>
            <a:pPr algn="r" marL="342900" indent="-342900">
              <a:spcAft>
                <a:spcPts val="1600"/>
              </a:spcAft>
              <a:buSzPct val="100000"/>
              <a:buChar char="•"/>
            </a:pPr>
            <a:r>
              <a:rPr lang="fa-IR" altLang="en-US" sz="2100" dirty="0">
                <a:solidFill>
                  <a:schemeClr val="tx1"/>
                </a:solidFill>
                <a:latin typeface="B Nazanin" pitchFamily="34" charset="0"/>
                <a:ea typeface="B Nazanin" pitchFamily="34" charset="-122"/>
                <a:cs typeface="B Nazanin" pitchFamily="34" charset="-120"/>
              </a:rPr>
              <a:t>کاربردی از نظر هدف</a:t>
            </a:r>
            <a:endParaRPr lang="fa-IR" sz="2100" dirty="0"/>
          </a:p>
          <a:p>
            <a:pPr algn="r" marL="342900" indent="-342900">
              <a:spcAft>
                <a:spcPts val="1600"/>
              </a:spcAft>
              <a:buSzPct val="100000"/>
              <a:buChar char="•"/>
            </a:pPr>
            <a:r>
              <a:rPr lang="fa-IR" altLang="en-US" sz="2100" dirty="0">
                <a:solidFill>
                  <a:schemeClr val="tx1"/>
                </a:solidFill>
                <a:latin typeface="B Nazanin" pitchFamily="34" charset="0"/>
                <a:ea typeface="B Nazanin" pitchFamily="34" charset="-122"/>
                <a:cs typeface="B Nazanin" pitchFamily="34" charset="-120"/>
              </a:rPr>
              <a:t>توصیفی-همبستگی، پس‌رویدادی</a:t>
            </a:r>
            <a:endParaRPr lang="fa-IR" sz="2100" dirty="0"/>
          </a:p>
          <a:p>
            <a:pPr algn="r" marL="342900" indent="-342900">
              <a:spcAft>
                <a:spcPts val="1600"/>
              </a:spcAft>
              <a:buSzPct val="100000"/>
              <a:buChar char="•"/>
            </a:pPr>
            <a:r>
              <a:rPr lang="fa-IR" altLang="en-US" sz="2100" dirty="0">
                <a:solidFill>
                  <a:schemeClr val="tx1"/>
                </a:solidFill>
                <a:latin typeface="B Nazanin" pitchFamily="34" charset="0"/>
                <a:ea typeface="B Nazanin" pitchFamily="34" charset="-122"/>
                <a:cs typeface="B Nazanin" pitchFamily="34" charset="-120"/>
              </a:rPr>
              <a:t>رویکرد کمّی، منطق قیاسی-استقرایی</a:t>
            </a:r>
            <a:endParaRPr lang="fa-IR" sz="2100" dirty="0"/>
          </a:p>
          <a:p>
            <a:pPr algn="r" marL="342900" indent="-342900">
              <a:spcAft>
                <a:spcPts val="1600"/>
              </a:spcAft>
              <a:buSzPct val="100000"/>
              <a:buChar char="•"/>
            </a:pPr>
            <a:r>
              <a:rPr lang="fa-IR" altLang="en-US" sz="2100" dirty="0">
                <a:solidFill>
                  <a:schemeClr val="tx1"/>
                </a:solidFill>
                <a:latin typeface="B Nazanin" pitchFamily="34" charset="0"/>
                <a:ea typeface="B Nazanin" pitchFamily="34" charset="-122"/>
                <a:cs typeface="B Nazanin" pitchFamily="34" charset="-120"/>
              </a:rPr>
              <a:t>داده‌های تابلویی (پانل) 1396 تا 1402</a:t>
            </a:r>
            <a:endParaRPr lang="fa-IR" sz="2100" dirty="0"/>
          </a:p>
          <a:p>
            <a:pPr algn="r" marL="342900" indent="-342900">
              <a:spcAft>
                <a:spcPts val="1600"/>
              </a:spcAft>
              <a:buSzPct val="100000"/>
              <a:buChar char="•"/>
            </a:pPr>
            <a:r>
              <a:rPr lang="fa-IR" altLang="en-US" sz="2100" dirty="0">
                <a:solidFill>
                  <a:schemeClr val="tx1"/>
                </a:solidFill>
                <a:latin typeface="B Nazanin" pitchFamily="34" charset="0"/>
                <a:ea typeface="B Nazanin" pitchFamily="34" charset="-122"/>
                <a:cs typeface="B Nazanin" pitchFamily="34" charset="-120"/>
              </a:rPr>
              <a:t>منابع داده: کدال، سازمان بورس، رهاورد نوین و تدبیرپرداز</a:t>
            </a:r>
            <a:endParaRPr lang="fa-IR" sz="2100" dirty="0"/>
          </a:p>
        </p:txBody>
      </p:sp>
      <p:sp>
        <p:nvSpPr>
          <p:cNvPr id="5" name="anim_2_254"/>
          <p:cNvSpPr/>
          <p:nvPr/>
        </p:nvSpPr>
        <p:spPr>
          <a:xfrm>
            <a:off x="4846320" y="1417320"/>
            <a:ext cx="1965960" cy="1325880"/>
          </a:xfrm>
          <a:prstGeom prst="roundRect">
            <a:avLst>
              <a:gd name="adj" fmla="val 8276"/>
            </a:avLst>
          </a:prstGeom>
          <a:solidFill>
            <a:schemeClr val="tx2"/>
          </a:solidFill>
          <a:ln/>
          <a:effectLst>
            <a:outerShdw sx="100000" sy="100000" kx="0" ky="0" algn="bl" rotWithShape="0" blurRad="101600" dist="25400" dir="5400000">
              <a:srgbClr val="000000">
                <a:alpha val="12000"/>
              </a:srgbClr>
            </a:outerShdw>
          </a:effectLst>
        </p:spPr>
      </p:sp>
      <p:sp>
        <p:nvSpPr>
          <p:cNvPr id="6" name="anim_2_255"/>
          <p:cNvSpPr txBox="1"/>
          <p:nvPr/>
        </p:nvSpPr>
        <p:spPr>
          <a:xfrm>
            <a:off x="4846320" y="1463040"/>
            <a:ext cx="1965960" cy="731520"/>
          </a:xfrm>
          <a:prstGeom prst="rect">
            <a:avLst/>
          </a:prstGeom>
          <a:noFill/>
          <a:ln/>
        </p:spPr>
        <p:txBody>
          <a:bodyPr wrap="square" lIns="0" tIns="0" rIns="0" bIns="0" rtlCol="0" anchor="ctr"/>
          <a:lstStyle/>
          <a:p>
            <a:pPr rtl="1" algn="ctr" indent="0" marL="0">
              <a:buNone/>
            </a:pPr>
            <a:r>
              <a:rPr lang="fa-IR" altLang="en-US" sz="3400" dirty="0">
                <a:solidFill>
                  <a:schemeClr val="accent2"/>
                </a:solidFill>
                <a:latin typeface="B Titr" pitchFamily="34" charset="0"/>
                <a:ea typeface="B Titr" pitchFamily="34" charset="-122"/>
                <a:cs typeface="B Titr" pitchFamily="34" charset="-120"/>
              </a:rPr>
              <a:t>137</a:t>
            </a:r>
            <a:endParaRPr lang="fa-IR" sz="3400" dirty="0"/>
          </a:p>
        </p:txBody>
      </p:sp>
      <p:sp>
        <p:nvSpPr>
          <p:cNvPr id="7" name="anim_2_256"/>
          <p:cNvSpPr txBox="1"/>
          <p:nvPr/>
        </p:nvSpPr>
        <p:spPr>
          <a:xfrm>
            <a:off x="4846320" y="2194560"/>
            <a:ext cx="1965960" cy="45720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شرکت</a:t>
            </a:r>
            <a:endParaRPr lang="fa-IR" sz="1800" dirty="0"/>
          </a:p>
        </p:txBody>
      </p:sp>
      <p:sp>
        <p:nvSpPr>
          <p:cNvPr id="8" name="anim_3_257"/>
          <p:cNvSpPr/>
          <p:nvPr/>
        </p:nvSpPr>
        <p:spPr>
          <a:xfrm>
            <a:off x="2697480" y="1417320"/>
            <a:ext cx="1965960" cy="1325880"/>
          </a:xfrm>
          <a:prstGeom prst="roundRect">
            <a:avLst>
              <a:gd name="adj" fmla="val 8276"/>
            </a:avLst>
          </a:prstGeom>
          <a:solidFill>
            <a:schemeClr val="tx2"/>
          </a:solidFill>
          <a:ln/>
          <a:effectLst>
            <a:outerShdw sx="100000" sy="100000" kx="0" ky="0" algn="bl" rotWithShape="0" blurRad="101600" dist="25400" dir="5400000">
              <a:srgbClr val="000000">
                <a:alpha val="12000"/>
              </a:srgbClr>
            </a:outerShdw>
          </a:effectLst>
        </p:spPr>
      </p:sp>
      <p:sp>
        <p:nvSpPr>
          <p:cNvPr id="9" name="anim_3_258"/>
          <p:cNvSpPr txBox="1"/>
          <p:nvPr/>
        </p:nvSpPr>
        <p:spPr>
          <a:xfrm>
            <a:off x="2697480" y="1463040"/>
            <a:ext cx="1965960" cy="731520"/>
          </a:xfrm>
          <a:prstGeom prst="rect">
            <a:avLst/>
          </a:prstGeom>
          <a:noFill/>
          <a:ln/>
        </p:spPr>
        <p:txBody>
          <a:bodyPr wrap="square" lIns="0" tIns="0" rIns="0" bIns="0" rtlCol="0" anchor="ctr"/>
          <a:lstStyle/>
          <a:p>
            <a:pPr rtl="1" algn="ctr" indent="0" marL="0">
              <a:buNone/>
            </a:pPr>
            <a:r>
              <a:rPr lang="fa-IR" altLang="en-US" sz="3400" dirty="0">
                <a:solidFill>
                  <a:schemeClr val="accent2"/>
                </a:solidFill>
                <a:latin typeface="B Titr" pitchFamily="34" charset="0"/>
                <a:ea typeface="B Titr" pitchFamily="34" charset="-122"/>
                <a:cs typeface="B Titr" pitchFamily="34" charset="-120"/>
              </a:rPr>
              <a:t>7</a:t>
            </a:r>
            <a:endParaRPr lang="fa-IR" sz="3400" dirty="0"/>
          </a:p>
        </p:txBody>
      </p:sp>
      <p:sp>
        <p:nvSpPr>
          <p:cNvPr id="10" name="anim_3_259"/>
          <p:cNvSpPr txBox="1"/>
          <p:nvPr/>
        </p:nvSpPr>
        <p:spPr>
          <a:xfrm>
            <a:off x="2697480" y="2194560"/>
            <a:ext cx="1965960" cy="45720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سال</a:t>
            </a:r>
            <a:endParaRPr lang="fa-IR" sz="1800" dirty="0"/>
          </a:p>
        </p:txBody>
      </p:sp>
      <p:sp>
        <p:nvSpPr>
          <p:cNvPr id="11" name="anim_4_260"/>
          <p:cNvSpPr/>
          <p:nvPr/>
        </p:nvSpPr>
        <p:spPr>
          <a:xfrm>
            <a:off x="548640" y="1417320"/>
            <a:ext cx="1965960" cy="1325880"/>
          </a:xfrm>
          <a:prstGeom prst="roundRect">
            <a:avLst>
              <a:gd name="adj" fmla="val 8276"/>
            </a:avLst>
          </a:prstGeom>
          <a:solidFill>
            <a:schemeClr val="tx2"/>
          </a:solidFill>
          <a:ln/>
          <a:effectLst>
            <a:outerShdw sx="100000" sy="100000" kx="0" ky="0" algn="bl" rotWithShape="0" blurRad="101600" dist="25400" dir="5400000">
              <a:srgbClr val="000000">
                <a:alpha val="12000"/>
              </a:srgbClr>
            </a:outerShdw>
          </a:effectLst>
        </p:spPr>
      </p:sp>
      <p:sp>
        <p:nvSpPr>
          <p:cNvPr id="12" name="anim_4_261"/>
          <p:cNvSpPr txBox="1"/>
          <p:nvPr/>
        </p:nvSpPr>
        <p:spPr>
          <a:xfrm>
            <a:off x="548640" y="1463040"/>
            <a:ext cx="1965960" cy="731520"/>
          </a:xfrm>
          <a:prstGeom prst="rect">
            <a:avLst/>
          </a:prstGeom>
          <a:noFill/>
          <a:ln/>
        </p:spPr>
        <p:txBody>
          <a:bodyPr wrap="square" lIns="0" tIns="0" rIns="0" bIns="0" rtlCol="0" anchor="ctr"/>
          <a:lstStyle/>
          <a:p>
            <a:pPr rtl="1" algn="ctr" indent="0" marL="0">
              <a:buNone/>
            </a:pPr>
            <a:r>
              <a:rPr lang="fa-IR" altLang="en-US" sz="3400" dirty="0">
                <a:solidFill>
                  <a:schemeClr val="accent2"/>
                </a:solidFill>
                <a:latin typeface="B Titr" pitchFamily="34" charset="0"/>
                <a:ea typeface="B Titr" pitchFamily="34" charset="-122"/>
                <a:cs typeface="B Titr" pitchFamily="34" charset="-120"/>
              </a:rPr>
              <a:t>959</a:t>
            </a:r>
            <a:endParaRPr lang="fa-IR" sz="3400" dirty="0"/>
          </a:p>
        </p:txBody>
      </p:sp>
      <p:sp>
        <p:nvSpPr>
          <p:cNvPr id="13" name="anim_4_262"/>
          <p:cNvSpPr txBox="1"/>
          <p:nvPr/>
        </p:nvSpPr>
        <p:spPr>
          <a:xfrm>
            <a:off x="548640" y="2194560"/>
            <a:ext cx="1965960" cy="457200"/>
          </a:xfrm>
          <a:prstGeom prst="rect">
            <a:avLst/>
          </a:prstGeom>
          <a:noFill/>
          <a:ln/>
        </p:spPr>
        <p:txBody>
          <a:bodyPr wrap="square" lIns="0" tIns="0" rIns="0" bIns="0" rtlCol="0" anchor="t"/>
          <a:lstStyle/>
          <a:p>
            <a:pPr rtl="1" algn="ctr" indent="0" marL="0">
              <a:buNone/>
            </a:pPr>
            <a:r>
              <a:rPr lang="fa-IR" altLang="en-US" sz="1800" dirty="0">
                <a:solidFill>
                  <a:schemeClr val="bg1"/>
                </a:solidFill>
                <a:latin typeface="B Nazanin" pitchFamily="34" charset="0"/>
                <a:ea typeface="B Nazanin" pitchFamily="34" charset="-122"/>
                <a:cs typeface="B Nazanin" pitchFamily="34" charset="-120"/>
              </a:rPr>
              <a:t>مشاهده</a:t>
            </a:r>
            <a:endParaRPr lang="fa-IR" sz="1800" dirty="0"/>
          </a:p>
        </p:txBody>
      </p:sp>
      <p:graphicFrame>
        <p:nvGraphicFramePr>
          <p:cNvPr id="14" name="anim_5_263" descr=""/>
          <p:cNvGraphicFramePr/>
          <p:nvPr/>
        </p:nvGraphicFramePr>
        <p:xfrm>
          <a:off x="548640" y="2926080"/>
          <a:ext cx="6126480" cy="32461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13</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0"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3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7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70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7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10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10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10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14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متغیرهای پژوهش و پشتوانهٔ علمی</a:t>
            </a:r>
            <a:endParaRPr lang="fa-IR" sz="3400" dirty="0"/>
          </a:p>
        </p:txBody>
      </p:sp>
      <p:sp>
        <p:nvSpPr>
          <p:cNvPr id="3" name="anim_1_264"/>
          <p:cNvSpPr/>
          <p:nvPr/>
        </p:nvSpPr>
        <p:spPr>
          <a:xfrm>
            <a:off x="9537192" y="1325880"/>
            <a:ext cx="2103120" cy="512064"/>
          </a:xfrm>
          <a:prstGeom prst="rect">
            <a:avLst/>
          </a:prstGeom>
          <a:solidFill>
            <a:schemeClr val="tx2"/>
          </a:solidFill>
          <a:ln w="9525">
            <a:solidFill>
              <a:srgbClr val="C9D3DF"/>
            </a:solidFill>
            <a:prstDash val="solid"/>
          </a:ln>
        </p:spPr>
      </p:sp>
      <p:sp>
        <p:nvSpPr>
          <p:cNvPr id="4" name="anim_1_265"/>
          <p:cNvSpPr txBox="1"/>
          <p:nvPr/>
        </p:nvSpPr>
        <p:spPr>
          <a:xfrm>
            <a:off x="9573768" y="1325880"/>
            <a:ext cx="2029968" cy="512064"/>
          </a:xfrm>
          <a:prstGeom prst="rect">
            <a:avLst/>
          </a:prstGeom>
          <a:noFill/>
          <a:ln/>
        </p:spPr>
        <p:txBody>
          <a:bodyPr wrap="square" lIns="254" tIns="254" rIns="254" bIns="254" rtlCol="0" anchor="ctr"/>
          <a:lstStyle/>
          <a:p>
            <a:pPr rtl="1" algn="ctr" indent="0" marL="0">
              <a:buNone/>
            </a:pPr>
            <a:r>
              <a:rPr lang="fa-IR" altLang="en-US" sz="1500" b="1" dirty="0">
                <a:solidFill>
                  <a:schemeClr val="bg1"/>
                </a:solidFill>
                <a:latin typeface="B Nazanin" pitchFamily="34" charset="0"/>
                <a:ea typeface="B Nazanin" pitchFamily="34" charset="-122"/>
                <a:cs typeface="B Nazanin" pitchFamily="34" charset="-120"/>
              </a:rPr>
              <a:t>نماد</a:t>
            </a:r>
            <a:endParaRPr lang="fa-IR" sz="1500" dirty="0"/>
          </a:p>
        </p:txBody>
      </p:sp>
      <p:sp>
        <p:nvSpPr>
          <p:cNvPr id="5" name="anim_1_266"/>
          <p:cNvSpPr/>
          <p:nvPr/>
        </p:nvSpPr>
        <p:spPr>
          <a:xfrm>
            <a:off x="8257032" y="1325880"/>
            <a:ext cx="1280160" cy="512064"/>
          </a:xfrm>
          <a:prstGeom prst="rect">
            <a:avLst/>
          </a:prstGeom>
          <a:solidFill>
            <a:schemeClr val="tx2"/>
          </a:solidFill>
          <a:ln w="9525">
            <a:solidFill>
              <a:srgbClr val="C9D3DF"/>
            </a:solidFill>
            <a:prstDash val="solid"/>
          </a:ln>
        </p:spPr>
      </p:sp>
      <p:sp>
        <p:nvSpPr>
          <p:cNvPr id="6" name="anim_1_267"/>
          <p:cNvSpPr txBox="1"/>
          <p:nvPr/>
        </p:nvSpPr>
        <p:spPr>
          <a:xfrm>
            <a:off x="8293608" y="1325880"/>
            <a:ext cx="1207008" cy="512064"/>
          </a:xfrm>
          <a:prstGeom prst="rect">
            <a:avLst/>
          </a:prstGeom>
          <a:noFill/>
          <a:ln/>
        </p:spPr>
        <p:txBody>
          <a:bodyPr wrap="square" lIns="254" tIns="254" rIns="254" bIns="254" rtlCol="0" anchor="ctr"/>
          <a:lstStyle/>
          <a:p>
            <a:pPr rtl="1" algn="ctr" indent="0" marL="0">
              <a:buNone/>
            </a:pPr>
            <a:r>
              <a:rPr lang="fa-IR" altLang="en-US" sz="1500" b="1" dirty="0">
                <a:solidFill>
                  <a:schemeClr val="bg1"/>
                </a:solidFill>
                <a:latin typeface="B Nazanin" pitchFamily="34" charset="0"/>
                <a:ea typeface="B Nazanin" pitchFamily="34" charset="-122"/>
                <a:cs typeface="B Nazanin" pitchFamily="34" charset="-120"/>
              </a:rPr>
              <a:t>نقش</a:t>
            </a:r>
            <a:endParaRPr lang="fa-IR" sz="1500" dirty="0"/>
          </a:p>
        </p:txBody>
      </p:sp>
      <p:sp>
        <p:nvSpPr>
          <p:cNvPr id="7" name="anim_1_268"/>
          <p:cNvSpPr/>
          <p:nvPr/>
        </p:nvSpPr>
        <p:spPr>
          <a:xfrm>
            <a:off x="4325112" y="1325880"/>
            <a:ext cx="3931920" cy="512064"/>
          </a:xfrm>
          <a:prstGeom prst="rect">
            <a:avLst/>
          </a:prstGeom>
          <a:solidFill>
            <a:schemeClr val="tx2"/>
          </a:solidFill>
          <a:ln w="9525">
            <a:solidFill>
              <a:srgbClr val="C9D3DF"/>
            </a:solidFill>
            <a:prstDash val="solid"/>
          </a:ln>
        </p:spPr>
      </p:sp>
      <p:sp>
        <p:nvSpPr>
          <p:cNvPr id="8" name="anim_1_269"/>
          <p:cNvSpPr txBox="1"/>
          <p:nvPr/>
        </p:nvSpPr>
        <p:spPr>
          <a:xfrm>
            <a:off x="4361688" y="1325880"/>
            <a:ext cx="3858768" cy="512064"/>
          </a:xfrm>
          <a:prstGeom prst="rect">
            <a:avLst/>
          </a:prstGeom>
          <a:noFill/>
          <a:ln/>
        </p:spPr>
        <p:txBody>
          <a:bodyPr wrap="square" lIns="254" tIns="254" rIns="254" bIns="254" rtlCol="0" anchor="ctr"/>
          <a:lstStyle/>
          <a:p>
            <a:pPr rtl="1" algn="r" indent="0" marL="0">
              <a:buNone/>
            </a:pPr>
            <a:r>
              <a:rPr lang="fa-IR" altLang="en-US" sz="1500" b="1" dirty="0">
                <a:solidFill>
                  <a:schemeClr val="bg1"/>
                </a:solidFill>
                <a:latin typeface="B Nazanin" pitchFamily="34" charset="0"/>
                <a:ea typeface="B Nazanin" pitchFamily="34" charset="-122"/>
                <a:cs typeface="B Nazanin" pitchFamily="34" charset="-120"/>
              </a:rPr>
              <a:t>نحوهٔ اندازه‌گیری</a:t>
            </a:r>
            <a:endParaRPr lang="fa-IR" sz="1500" dirty="0"/>
          </a:p>
        </p:txBody>
      </p:sp>
      <p:sp>
        <p:nvSpPr>
          <p:cNvPr id="9" name="anim_1_270"/>
          <p:cNvSpPr/>
          <p:nvPr/>
        </p:nvSpPr>
        <p:spPr>
          <a:xfrm>
            <a:off x="548640" y="1325880"/>
            <a:ext cx="3776472" cy="512064"/>
          </a:xfrm>
          <a:prstGeom prst="rect">
            <a:avLst/>
          </a:prstGeom>
          <a:solidFill>
            <a:schemeClr val="tx2"/>
          </a:solidFill>
          <a:ln w="9525">
            <a:solidFill>
              <a:srgbClr val="C9D3DF"/>
            </a:solidFill>
            <a:prstDash val="solid"/>
          </a:ln>
        </p:spPr>
      </p:sp>
      <p:sp>
        <p:nvSpPr>
          <p:cNvPr id="10" name="anim_1_271"/>
          <p:cNvSpPr txBox="1"/>
          <p:nvPr/>
        </p:nvSpPr>
        <p:spPr>
          <a:xfrm>
            <a:off x="585216" y="1325880"/>
            <a:ext cx="3703320" cy="512064"/>
          </a:xfrm>
          <a:prstGeom prst="rect">
            <a:avLst/>
          </a:prstGeom>
          <a:noFill/>
          <a:ln/>
        </p:spPr>
        <p:txBody>
          <a:bodyPr wrap="square" lIns="254" tIns="254" rIns="254" bIns="254" rtlCol="0" anchor="ctr"/>
          <a:lstStyle/>
          <a:p>
            <a:pPr rtl="1" algn="r" indent="0" marL="0">
              <a:buNone/>
            </a:pPr>
            <a:r>
              <a:rPr lang="fa-IR" altLang="en-US" sz="1500" b="1" dirty="0">
                <a:solidFill>
                  <a:schemeClr val="bg1"/>
                </a:solidFill>
                <a:latin typeface="B Nazanin" pitchFamily="34" charset="0"/>
                <a:ea typeface="B Nazanin" pitchFamily="34" charset="-122"/>
                <a:cs typeface="B Nazanin" pitchFamily="34" charset="-120"/>
              </a:rPr>
              <a:t>پشتوانه</a:t>
            </a:r>
            <a:endParaRPr lang="fa-IR" sz="1500" dirty="0"/>
          </a:p>
        </p:txBody>
      </p:sp>
      <p:sp>
        <p:nvSpPr>
          <p:cNvPr id="11" name="anim_1_272"/>
          <p:cNvSpPr/>
          <p:nvPr/>
        </p:nvSpPr>
        <p:spPr>
          <a:xfrm>
            <a:off x="9537192" y="1837944"/>
            <a:ext cx="2103120" cy="512064"/>
          </a:xfrm>
          <a:prstGeom prst="rect">
            <a:avLst/>
          </a:prstGeom>
          <a:solidFill>
            <a:srgbClr val="FFFFFF"/>
          </a:solidFill>
          <a:ln w="9525">
            <a:solidFill>
              <a:srgbClr val="C9D3DF"/>
            </a:solidFill>
            <a:prstDash val="solid"/>
          </a:ln>
        </p:spPr>
      </p:sp>
      <p:sp>
        <p:nvSpPr>
          <p:cNvPr id="12" name="anim_1_273"/>
          <p:cNvSpPr/>
          <p:nvPr/>
        </p:nvSpPr>
        <p:spPr>
          <a:xfrm>
            <a:off x="10305288" y="1920240"/>
            <a:ext cx="566928" cy="347472"/>
          </a:xfrm>
          <a:prstGeom prst="roundRect">
            <a:avLst>
              <a:gd name="adj" fmla="val 15789"/>
            </a:avLst>
          </a:prstGeom>
          <a:solidFill>
            <a:schemeClr val="accent1"/>
          </a:solidFill>
          <a:ln/>
        </p:spPr>
      </p:sp>
      <p:sp>
        <p:nvSpPr>
          <p:cNvPr id="13" name="anim_1_274"/>
          <p:cNvSpPr txBox="1"/>
          <p:nvPr/>
        </p:nvSpPr>
        <p:spPr>
          <a:xfrm>
            <a:off x="10305288" y="1920240"/>
            <a:ext cx="566928"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AF</a:t>
            </a:r>
            <a:endParaRPr lang="en-US" sz="1300" dirty="0"/>
          </a:p>
        </p:txBody>
      </p:sp>
      <p:sp>
        <p:nvSpPr>
          <p:cNvPr id="14" name="anim_1_275"/>
          <p:cNvSpPr/>
          <p:nvPr/>
        </p:nvSpPr>
        <p:spPr>
          <a:xfrm>
            <a:off x="8257032" y="1837944"/>
            <a:ext cx="1280160" cy="512064"/>
          </a:xfrm>
          <a:prstGeom prst="rect">
            <a:avLst/>
          </a:prstGeom>
          <a:solidFill>
            <a:srgbClr val="FFFFFF"/>
          </a:solidFill>
          <a:ln w="9525">
            <a:solidFill>
              <a:srgbClr val="C9D3DF"/>
            </a:solidFill>
            <a:prstDash val="solid"/>
          </a:ln>
        </p:spPr>
      </p:sp>
      <p:sp>
        <p:nvSpPr>
          <p:cNvPr id="15" name="anim_1_276"/>
          <p:cNvSpPr txBox="1"/>
          <p:nvPr/>
        </p:nvSpPr>
        <p:spPr>
          <a:xfrm>
            <a:off x="8293608" y="1837944"/>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وابسته</a:t>
            </a:r>
            <a:endParaRPr lang="fa-IR" sz="1500" dirty="0"/>
          </a:p>
        </p:txBody>
      </p:sp>
      <p:sp>
        <p:nvSpPr>
          <p:cNvPr id="16" name="anim_1_277"/>
          <p:cNvSpPr/>
          <p:nvPr/>
        </p:nvSpPr>
        <p:spPr>
          <a:xfrm>
            <a:off x="4325112" y="1837944"/>
            <a:ext cx="3931920" cy="512064"/>
          </a:xfrm>
          <a:prstGeom prst="rect">
            <a:avLst/>
          </a:prstGeom>
          <a:solidFill>
            <a:srgbClr val="FFFFFF"/>
          </a:solidFill>
          <a:ln w="9525">
            <a:solidFill>
              <a:srgbClr val="C9D3DF"/>
            </a:solidFill>
            <a:prstDash val="solid"/>
          </a:ln>
        </p:spPr>
      </p:sp>
      <p:sp>
        <p:nvSpPr>
          <p:cNvPr id="17" name="anim_1_278"/>
          <p:cNvSpPr txBox="1"/>
          <p:nvPr/>
        </p:nvSpPr>
        <p:spPr>
          <a:xfrm>
            <a:off x="4361688" y="1837944"/>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لگاریتم حق‌الزحمهٔ حسابرسی</a:t>
            </a:r>
            <a:endParaRPr lang="fa-IR" sz="1500" dirty="0"/>
          </a:p>
        </p:txBody>
      </p:sp>
      <p:sp>
        <p:nvSpPr>
          <p:cNvPr id="18" name="anim_1_279"/>
          <p:cNvSpPr/>
          <p:nvPr/>
        </p:nvSpPr>
        <p:spPr>
          <a:xfrm>
            <a:off x="548640" y="1837944"/>
            <a:ext cx="3776472" cy="512064"/>
          </a:xfrm>
          <a:prstGeom prst="rect">
            <a:avLst/>
          </a:prstGeom>
          <a:solidFill>
            <a:srgbClr val="FFFFFF"/>
          </a:solidFill>
          <a:ln w="9525">
            <a:solidFill>
              <a:srgbClr val="C9D3DF"/>
            </a:solidFill>
            <a:prstDash val="solid"/>
          </a:ln>
        </p:spPr>
      </p:sp>
      <p:sp>
        <p:nvSpPr>
          <p:cNvPr id="19" name="anim_1_280"/>
          <p:cNvSpPr txBox="1"/>
          <p:nvPr/>
        </p:nvSpPr>
        <p:spPr>
          <a:xfrm>
            <a:off x="585216" y="1837944"/>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سیمونیک (1980)؛ هی و همکاران (2006)</a:t>
            </a:r>
            <a:endParaRPr lang="fa-IR" sz="1500" dirty="0"/>
          </a:p>
        </p:txBody>
      </p:sp>
      <p:sp>
        <p:nvSpPr>
          <p:cNvPr id="20" name="anim_1_281"/>
          <p:cNvSpPr/>
          <p:nvPr/>
        </p:nvSpPr>
        <p:spPr>
          <a:xfrm>
            <a:off x="9537192" y="2350008"/>
            <a:ext cx="2103120" cy="512064"/>
          </a:xfrm>
          <a:prstGeom prst="rect">
            <a:avLst/>
          </a:prstGeom>
          <a:solidFill>
            <a:srgbClr val="EEF3F8"/>
          </a:solidFill>
          <a:ln w="9525">
            <a:solidFill>
              <a:srgbClr val="C9D3DF"/>
            </a:solidFill>
            <a:prstDash val="solid"/>
          </a:ln>
        </p:spPr>
      </p:sp>
      <p:sp>
        <p:nvSpPr>
          <p:cNvPr id="21" name="anim_1_282"/>
          <p:cNvSpPr/>
          <p:nvPr/>
        </p:nvSpPr>
        <p:spPr>
          <a:xfrm>
            <a:off x="10271455" y="2432304"/>
            <a:ext cx="634594" cy="347472"/>
          </a:xfrm>
          <a:prstGeom prst="roundRect">
            <a:avLst>
              <a:gd name="adj" fmla="val 15789"/>
            </a:avLst>
          </a:prstGeom>
          <a:solidFill>
            <a:schemeClr val="accent1"/>
          </a:solidFill>
          <a:ln/>
        </p:spPr>
      </p:sp>
      <p:sp>
        <p:nvSpPr>
          <p:cNvPr id="22" name="anim_1_283"/>
          <p:cNvSpPr txBox="1"/>
          <p:nvPr/>
        </p:nvSpPr>
        <p:spPr>
          <a:xfrm>
            <a:off x="10271455" y="2432304"/>
            <a:ext cx="634594"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ΔAF</a:t>
            </a:r>
            <a:endParaRPr lang="en-US" sz="1300" dirty="0"/>
          </a:p>
        </p:txBody>
      </p:sp>
      <p:sp>
        <p:nvSpPr>
          <p:cNvPr id="23" name="anim_1_284"/>
          <p:cNvSpPr/>
          <p:nvPr/>
        </p:nvSpPr>
        <p:spPr>
          <a:xfrm>
            <a:off x="8257032" y="2350008"/>
            <a:ext cx="1280160" cy="512064"/>
          </a:xfrm>
          <a:prstGeom prst="rect">
            <a:avLst/>
          </a:prstGeom>
          <a:solidFill>
            <a:srgbClr val="EEF3F8"/>
          </a:solidFill>
          <a:ln w="9525">
            <a:solidFill>
              <a:srgbClr val="C9D3DF"/>
            </a:solidFill>
            <a:prstDash val="solid"/>
          </a:ln>
        </p:spPr>
      </p:sp>
      <p:sp>
        <p:nvSpPr>
          <p:cNvPr id="24" name="anim_1_285"/>
          <p:cNvSpPr txBox="1"/>
          <p:nvPr/>
        </p:nvSpPr>
        <p:spPr>
          <a:xfrm>
            <a:off x="8293608" y="2350008"/>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وابسته</a:t>
            </a:r>
            <a:endParaRPr lang="fa-IR" sz="1500" dirty="0"/>
          </a:p>
        </p:txBody>
      </p:sp>
      <p:sp>
        <p:nvSpPr>
          <p:cNvPr id="25" name="anim_1_286"/>
          <p:cNvSpPr/>
          <p:nvPr/>
        </p:nvSpPr>
        <p:spPr>
          <a:xfrm>
            <a:off x="4325112" y="2350008"/>
            <a:ext cx="3931920" cy="512064"/>
          </a:xfrm>
          <a:prstGeom prst="rect">
            <a:avLst/>
          </a:prstGeom>
          <a:solidFill>
            <a:srgbClr val="EEF3F8"/>
          </a:solidFill>
          <a:ln w="9525">
            <a:solidFill>
              <a:srgbClr val="C9D3DF"/>
            </a:solidFill>
            <a:prstDash val="solid"/>
          </a:ln>
        </p:spPr>
      </p:sp>
      <p:sp>
        <p:nvSpPr>
          <p:cNvPr id="26" name="anim_1_287"/>
          <p:cNvSpPr txBox="1"/>
          <p:nvPr/>
        </p:nvSpPr>
        <p:spPr>
          <a:xfrm>
            <a:off x="4361688" y="2350008"/>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تغییر لگاریتم حق‌الزحمه نسبت به سال قبل</a:t>
            </a:r>
            <a:endParaRPr lang="fa-IR" sz="1500" dirty="0"/>
          </a:p>
        </p:txBody>
      </p:sp>
      <p:sp>
        <p:nvSpPr>
          <p:cNvPr id="27" name="anim_1_288"/>
          <p:cNvSpPr/>
          <p:nvPr/>
        </p:nvSpPr>
        <p:spPr>
          <a:xfrm>
            <a:off x="548640" y="2350008"/>
            <a:ext cx="3776472" cy="512064"/>
          </a:xfrm>
          <a:prstGeom prst="rect">
            <a:avLst/>
          </a:prstGeom>
          <a:solidFill>
            <a:srgbClr val="EEF3F8"/>
          </a:solidFill>
          <a:ln w="9525">
            <a:solidFill>
              <a:srgbClr val="C9D3DF"/>
            </a:solidFill>
            <a:prstDash val="solid"/>
          </a:ln>
        </p:spPr>
      </p:sp>
      <p:sp>
        <p:nvSpPr>
          <p:cNvPr id="28" name="anim_1_289"/>
          <p:cNvSpPr txBox="1"/>
          <p:nvPr/>
        </p:nvSpPr>
        <p:spPr>
          <a:xfrm>
            <a:off x="585216" y="2350008"/>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سیمون و فرانسیس (1988)</a:t>
            </a:r>
            <a:endParaRPr lang="fa-IR" sz="1500" dirty="0"/>
          </a:p>
        </p:txBody>
      </p:sp>
      <p:sp>
        <p:nvSpPr>
          <p:cNvPr id="29" name="anim_1_290"/>
          <p:cNvSpPr/>
          <p:nvPr/>
        </p:nvSpPr>
        <p:spPr>
          <a:xfrm>
            <a:off x="9537192" y="2862072"/>
            <a:ext cx="2103120" cy="512064"/>
          </a:xfrm>
          <a:prstGeom prst="rect">
            <a:avLst/>
          </a:prstGeom>
          <a:solidFill>
            <a:srgbClr val="FFFFFF"/>
          </a:solidFill>
          <a:ln w="9525">
            <a:solidFill>
              <a:srgbClr val="C9D3DF"/>
            </a:solidFill>
            <a:prstDash val="solid"/>
          </a:ln>
        </p:spPr>
      </p:sp>
      <p:sp>
        <p:nvSpPr>
          <p:cNvPr id="30" name="anim_1_291"/>
          <p:cNvSpPr/>
          <p:nvPr/>
        </p:nvSpPr>
        <p:spPr>
          <a:xfrm>
            <a:off x="10217506" y="2944368"/>
            <a:ext cx="742493" cy="347472"/>
          </a:xfrm>
          <a:prstGeom prst="roundRect">
            <a:avLst>
              <a:gd name="adj" fmla="val 15789"/>
            </a:avLst>
          </a:prstGeom>
          <a:solidFill>
            <a:schemeClr val="accent1"/>
          </a:solidFill>
          <a:ln/>
        </p:spPr>
      </p:sp>
      <p:sp>
        <p:nvSpPr>
          <p:cNvPr id="31" name="anim_1_292"/>
          <p:cNvSpPr txBox="1"/>
          <p:nvPr/>
        </p:nvSpPr>
        <p:spPr>
          <a:xfrm>
            <a:off x="10217506" y="2944368"/>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NASR</a:t>
            </a:r>
            <a:endParaRPr lang="en-US" sz="1300" dirty="0"/>
          </a:p>
        </p:txBody>
      </p:sp>
      <p:sp>
        <p:nvSpPr>
          <p:cNvPr id="32" name="anim_1_293"/>
          <p:cNvSpPr/>
          <p:nvPr/>
        </p:nvSpPr>
        <p:spPr>
          <a:xfrm>
            <a:off x="8257032" y="2862072"/>
            <a:ext cx="1280160" cy="512064"/>
          </a:xfrm>
          <a:prstGeom prst="rect">
            <a:avLst/>
          </a:prstGeom>
          <a:solidFill>
            <a:srgbClr val="FFFFFF"/>
          </a:solidFill>
          <a:ln w="9525">
            <a:solidFill>
              <a:srgbClr val="C9D3DF"/>
            </a:solidFill>
            <a:prstDash val="solid"/>
          </a:ln>
        </p:spPr>
      </p:sp>
      <p:sp>
        <p:nvSpPr>
          <p:cNvPr id="33" name="anim_1_294"/>
          <p:cNvSpPr txBox="1"/>
          <p:nvPr/>
        </p:nvSpPr>
        <p:spPr>
          <a:xfrm>
            <a:off x="8293608" y="2862072"/>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مستقل/وابسته</a:t>
            </a:r>
            <a:endParaRPr lang="fa-IR" sz="1500" dirty="0"/>
          </a:p>
        </p:txBody>
      </p:sp>
      <p:sp>
        <p:nvSpPr>
          <p:cNvPr id="34" name="anim_1_295"/>
          <p:cNvSpPr/>
          <p:nvPr/>
        </p:nvSpPr>
        <p:spPr>
          <a:xfrm>
            <a:off x="4325112" y="2862072"/>
            <a:ext cx="3931920" cy="512064"/>
          </a:xfrm>
          <a:prstGeom prst="rect">
            <a:avLst/>
          </a:prstGeom>
          <a:solidFill>
            <a:srgbClr val="FFFFFF"/>
          </a:solidFill>
          <a:ln w="9525">
            <a:solidFill>
              <a:srgbClr val="C9D3DF"/>
            </a:solidFill>
            <a:prstDash val="solid"/>
          </a:ln>
        </p:spPr>
      </p:sp>
      <p:sp>
        <p:nvSpPr>
          <p:cNvPr id="35" name="anim_1_296"/>
          <p:cNvSpPr txBox="1"/>
          <p:nvPr/>
        </p:nvSpPr>
        <p:spPr>
          <a:xfrm>
            <a:off x="4361688" y="2862072"/>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سهم حق‌الزحمهٔ غیرحسابرسی از کل حق‌الزحمه</a:t>
            </a:r>
            <a:endParaRPr lang="fa-IR" sz="1500" dirty="0"/>
          </a:p>
        </p:txBody>
      </p:sp>
      <p:sp>
        <p:nvSpPr>
          <p:cNvPr id="36" name="anim_1_297"/>
          <p:cNvSpPr/>
          <p:nvPr/>
        </p:nvSpPr>
        <p:spPr>
          <a:xfrm>
            <a:off x="548640" y="2862072"/>
            <a:ext cx="3776472" cy="512064"/>
          </a:xfrm>
          <a:prstGeom prst="rect">
            <a:avLst/>
          </a:prstGeom>
          <a:solidFill>
            <a:srgbClr val="FFFFFF"/>
          </a:solidFill>
          <a:ln w="9525">
            <a:solidFill>
              <a:srgbClr val="C9D3DF"/>
            </a:solidFill>
            <a:prstDash val="solid"/>
          </a:ln>
        </p:spPr>
      </p:sp>
      <p:sp>
        <p:nvSpPr>
          <p:cNvPr id="37" name="anim_1_298"/>
          <p:cNvSpPr txBox="1"/>
          <p:nvPr/>
        </p:nvSpPr>
        <p:spPr>
          <a:xfrm>
            <a:off x="585216" y="2862072"/>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سیمونیک (1984)؛ فرانکل و همکاران (2002)</a:t>
            </a:r>
            <a:endParaRPr lang="fa-IR" sz="1500" dirty="0"/>
          </a:p>
        </p:txBody>
      </p:sp>
      <p:sp>
        <p:nvSpPr>
          <p:cNvPr id="38" name="anim_1_299"/>
          <p:cNvSpPr/>
          <p:nvPr/>
        </p:nvSpPr>
        <p:spPr>
          <a:xfrm>
            <a:off x="9537192" y="3374136"/>
            <a:ext cx="2103120" cy="512064"/>
          </a:xfrm>
          <a:prstGeom prst="rect">
            <a:avLst/>
          </a:prstGeom>
          <a:solidFill>
            <a:srgbClr val="EEF3F8"/>
          </a:solidFill>
          <a:ln w="9525">
            <a:solidFill>
              <a:srgbClr val="C9D3DF"/>
            </a:solidFill>
            <a:prstDash val="solid"/>
          </a:ln>
        </p:spPr>
      </p:sp>
      <p:sp>
        <p:nvSpPr>
          <p:cNvPr id="39" name="anim_1_300"/>
          <p:cNvSpPr/>
          <p:nvPr/>
        </p:nvSpPr>
        <p:spPr>
          <a:xfrm>
            <a:off x="10271455" y="3456432"/>
            <a:ext cx="634594" cy="347472"/>
          </a:xfrm>
          <a:prstGeom prst="roundRect">
            <a:avLst>
              <a:gd name="adj" fmla="val 15789"/>
            </a:avLst>
          </a:prstGeom>
          <a:solidFill>
            <a:schemeClr val="accent1"/>
          </a:solidFill>
          <a:ln/>
        </p:spPr>
      </p:sp>
      <p:sp>
        <p:nvSpPr>
          <p:cNvPr id="40" name="anim_1_301"/>
          <p:cNvSpPr txBox="1"/>
          <p:nvPr/>
        </p:nvSpPr>
        <p:spPr>
          <a:xfrm>
            <a:off x="10271455" y="3456432"/>
            <a:ext cx="634594"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AFQ</a:t>
            </a:r>
            <a:endParaRPr lang="en-US" sz="1300" dirty="0"/>
          </a:p>
        </p:txBody>
      </p:sp>
      <p:sp>
        <p:nvSpPr>
          <p:cNvPr id="41" name="anim_1_302"/>
          <p:cNvSpPr/>
          <p:nvPr/>
        </p:nvSpPr>
        <p:spPr>
          <a:xfrm>
            <a:off x="8257032" y="3374136"/>
            <a:ext cx="1280160" cy="512064"/>
          </a:xfrm>
          <a:prstGeom prst="rect">
            <a:avLst/>
          </a:prstGeom>
          <a:solidFill>
            <a:srgbClr val="EEF3F8"/>
          </a:solidFill>
          <a:ln w="9525">
            <a:solidFill>
              <a:srgbClr val="C9D3DF"/>
            </a:solidFill>
            <a:prstDash val="solid"/>
          </a:ln>
        </p:spPr>
      </p:sp>
      <p:sp>
        <p:nvSpPr>
          <p:cNvPr id="42" name="anim_1_303"/>
          <p:cNvSpPr txBox="1"/>
          <p:nvPr/>
        </p:nvSpPr>
        <p:spPr>
          <a:xfrm>
            <a:off x="8293608" y="3374136"/>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وابسته</a:t>
            </a:r>
            <a:endParaRPr lang="fa-IR" sz="1500" dirty="0"/>
          </a:p>
        </p:txBody>
      </p:sp>
      <p:sp>
        <p:nvSpPr>
          <p:cNvPr id="43" name="anim_1_304"/>
          <p:cNvSpPr/>
          <p:nvPr/>
        </p:nvSpPr>
        <p:spPr>
          <a:xfrm>
            <a:off x="4325112" y="3374136"/>
            <a:ext cx="3931920" cy="512064"/>
          </a:xfrm>
          <a:prstGeom prst="rect">
            <a:avLst/>
          </a:prstGeom>
          <a:solidFill>
            <a:srgbClr val="EEF3F8"/>
          </a:solidFill>
          <a:ln w="9525">
            <a:solidFill>
              <a:srgbClr val="C9D3DF"/>
            </a:solidFill>
            <a:prstDash val="solid"/>
          </a:ln>
        </p:spPr>
      </p:sp>
      <p:sp>
        <p:nvSpPr>
          <p:cNvPr id="44" name="anim_1_305"/>
          <p:cNvSpPr txBox="1"/>
          <p:nvPr/>
        </p:nvSpPr>
        <p:spPr>
          <a:xfrm>
            <a:off x="4361688" y="3374136"/>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قدر مطلق اقلام تعهدی اختیاری (جونز تعدیل‌شده)</a:t>
            </a:r>
            <a:endParaRPr lang="fa-IR" sz="1500" dirty="0"/>
          </a:p>
        </p:txBody>
      </p:sp>
      <p:sp>
        <p:nvSpPr>
          <p:cNvPr id="45" name="anim_1_306"/>
          <p:cNvSpPr/>
          <p:nvPr/>
        </p:nvSpPr>
        <p:spPr>
          <a:xfrm>
            <a:off x="548640" y="3374136"/>
            <a:ext cx="3776472" cy="512064"/>
          </a:xfrm>
          <a:prstGeom prst="rect">
            <a:avLst/>
          </a:prstGeom>
          <a:solidFill>
            <a:srgbClr val="EEF3F8"/>
          </a:solidFill>
          <a:ln w="9525">
            <a:solidFill>
              <a:srgbClr val="C9D3DF"/>
            </a:solidFill>
            <a:prstDash val="solid"/>
          </a:ln>
        </p:spPr>
      </p:sp>
      <p:sp>
        <p:nvSpPr>
          <p:cNvPr id="46" name="anim_1_307"/>
          <p:cNvSpPr txBox="1"/>
          <p:nvPr/>
        </p:nvSpPr>
        <p:spPr>
          <a:xfrm>
            <a:off x="585216" y="3374136"/>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دچاو و همکاران (1995)؛ کوتاری (2005)</a:t>
            </a:r>
            <a:endParaRPr lang="fa-IR" sz="1500" dirty="0"/>
          </a:p>
        </p:txBody>
      </p:sp>
      <p:sp>
        <p:nvSpPr>
          <p:cNvPr id="47" name="anim_1_308"/>
          <p:cNvSpPr/>
          <p:nvPr/>
        </p:nvSpPr>
        <p:spPr>
          <a:xfrm>
            <a:off x="9537192" y="3886200"/>
            <a:ext cx="2103120" cy="512064"/>
          </a:xfrm>
          <a:prstGeom prst="rect">
            <a:avLst/>
          </a:prstGeom>
          <a:solidFill>
            <a:srgbClr val="FFFFFF"/>
          </a:solidFill>
          <a:ln w="9525">
            <a:solidFill>
              <a:srgbClr val="C9D3DF"/>
            </a:solidFill>
            <a:prstDash val="solid"/>
          </a:ln>
        </p:spPr>
      </p:sp>
      <p:sp>
        <p:nvSpPr>
          <p:cNvPr id="48" name="anim_1_309"/>
          <p:cNvSpPr/>
          <p:nvPr/>
        </p:nvSpPr>
        <p:spPr>
          <a:xfrm>
            <a:off x="10055657" y="3968496"/>
            <a:ext cx="1066190" cy="347472"/>
          </a:xfrm>
          <a:prstGeom prst="roundRect">
            <a:avLst>
              <a:gd name="adj" fmla="val 15789"/>
            </a:avLst>
          </a:prstGeom>
          <a:solidFill>
            <a:schemeClr val="accent1"/>
          </a:solidFill>
          <a:ln/>
        </p:spPr>
      </p:sp>
      <p:sp>
        <p:nvSpPr>
          <p:cNvPr id="49" name="anim_1_310"/>
          <p:cNvSpPr txBox="1"/>
          <p:nvPr/>
        </p:nvSpPr>
        <p:spPr>
          <a:xfrm>
            <a:off x="10055657" y="3968496"/>
            <a:ext cx="106619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COMPLEX</a:t>
            </a:r>
            <a:endParaRPr lang="en-US" sz="1300" dirty="0"/>
          </a:p>
        </p:txBody>
      </p:sp>
      <p:sp>
        <p:nvSpPr>
          <p:cNvPr id="50" name="anim_1_311"/>
          <p:cNvSpPr/>
          <p:nvPr/>
        </p:nvSpPr>
        <p:spPr>
          <a:xfrm>
            <a:off x="8257032" y="3886200"/>
            <a:ext cx="1280160" cy="512064"/>
          </a:xfrm>
          <a:prstGeom prst="rect">
            <a:avLst/>
          </a:prstGeom>
          <a:solidFill>
            <a:srgbClr val="FFFFFF"/>
          </a:solidFill>
          <a:ln w="9525">
            <a:solidFill>
              <a:srgbClr val="C9D3DF"/>
            </a:solidFill>
            <a:prstDash val="solid"/>
          </a:ln>
        </p:spPr>
      </p:sp>
      <p:sp>
        <p:nvSpPr>
          <p:cNvPr id="51" name="anim_1_312"/>
          <p:cNvSpPr txBox="1"/>
          <p:nvPr/>
        </p:nvSpPr>
        <p:spPr>
          <a:xfrm>
            <a:off x="8293608" y="3886200"/>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مستقل</a:t>
            </a:r>
            <a:endParaRPr lang="fa-IR" sz="1500" dirty="0"/>
          </a:p>
        </p:txBody>
      </p:sp>
      <p:sp>
        <p:nvSpPr>
          <p:cNvPr id="52" name="anim_1_313"/>
          <p:cNvSpPr/>
          <p:nvPr/>
        </p:nvSpPr>
        <p:spPr>
          <a:xfrm>
            <a:off x="4325112" y="3886200"/>
            <a:ext cx="3931920" cy="512064"/>
          </a:xfrm>
          <a:prstGeom prst="rect">
            <a:avLst/>
          </a:prstGeom>
          <a:solidFill>
            <a:srgbClr val="FFFFFF"/>
          </a:solidFill>
          <a:ln w="9525">
            <a:solidFill>
              <a:srgbClr val="C9D3DF"/>
            </a:solidFill>
            <a:prstDash val="solid"/>
          </a:ln>
        </p:spPr>
      </p:sp>
      <p:sp>
        <p:nvSpPr>
          <p:cNvPr id="53" name="anim_1_314"/>
          <p:cNvSpPr txBox="1"/>
          <p:nvPr/>
        </p:nvSpPr>
        <p:spPr>
          <a:xfrm>
            <a:off x="4361688" y="3886200"/>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شاخص اندازهٔ نسبی صاحبکار (اهمیت مشتری)</a:t>
            </a:r>
            <a:endParaRPr lang="fa-IR" sz="1500" dirty="0"/>
          </a:p>
        </p:txBody>
      </p:sp>
      <p:sp>
        <p:nvSpPr>
          <p:cNvPr id="54" name="anim_1_315"/>
          <p:cNvSpPr/>
          <p:nvPr/>
        </p:nvSpPr>
        <p:spPr>
          <a:xfrm>
            <a:off x="548640" y="3886200"/>
            <a:ext cx="3776472" cy="512064"/>
          </a:xfrm>
          <a:prstGeom prst="rect">
            <a:avLst/>
          </a:prstGeom>
          <a:solidFill>
            <a:srgbClr val="FFFFFF"/>
          </a:solidFill>
          <a:ln w="9525">
            <a:solidFill>
              <a:srgbClr val="C9D3DF"/>
            </a:solidFill>
            <a:prstDash val="solid"/>
          </a:ln>
        </p:spPr>
      </p:sp>
      <p:sp>
        <p:nvSpPr>
          <p:cNvPr id="55" name="anim_1_316"/>
          <p:cNvSpPr txBox="1"/>
          <p:nvPr/>
        </p:nvSpPr>
        <p:spPr>
          <a:xfrm>
            <a:off x="585216" y="3886200"/>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چانگ و کالاپور (2003)؛ لی (2009)</a:t>
            </a:r>
            <a:endParaRPr lang="fa-IR" sz="1500" dirty="0"/>
          </a:p>
        </p:txBody>
      </p:sp>
      <p:sp>
        <p:nvSpPr>
          <p:cNvPr id="56" name="anim_1_317"/>
          <p:cNvSpPr/>
          <p:nvPr/>
        </p:nvSpPr>
        <p:spPr>
          <a:xfrm>
            <a:off x="9537192" y="4398264"/>
            <a:ext cx="2103120" cy="512064"/>
          </a:xfrm>
          <a:prstGeom prst="rect">
            <a:avLst/>
          </a:prstGeom>
          <a:solidFill>
            <a:srgbClr val="EEF3F8"/>
          </a:solidFill>
          <a:ln w="9525">
            <a:solidFill>
              <a:srgbClr val="C9D3DF"/>
            </a:solidFill>
            <a:prstDash val="solid"/>
          </a:ln>
        </p:spPr>
      </p:sp>
      <p:sp>
        <p:nvSpPr>
          <p:cNvPr id="57" name="anim_1_318"/>
          <p:cNvSpPr/>
          <p:nvPr/>
        </p:nvSpPr>
        <p:spPr>
          <a:xfrm>
            <a:off x="10163556" y="4480560"/>
            <a:ext cx="850392" cy="347472"/>
          </a:xfrm>
          <a:prstGeom prst="roundRect">
            <a:avLst>
              <a:gd name="adj" fmla="val 15789"/>
            </a:avLst>
          </a:prstGeom>
          <a:solidFill>
            <a:schemeClr val="accent1"/>
          </a:solidFill>
          <a:ln/>
        </p:spPr>
      </p:sp>
      <p:sp>
        <p:nvSpPr>
          <p:cNvPr id="58" name="anim_1_319"/>
          <p:cNvSpPr txBox="1"/>
          <p:nvPr/>
        </p:nvSpPr>
        <p:spPr>
          <a:xfrm>
            <a:off x="10163556" y="4480560"/>
            <a:ext cx="850392"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COSTP</a:t>
            </a:r>
            <a:endParaRPr lang="en-US" sz="1300" dirty="0"/>
          </a:p>
        </p:txBody>
      </p:sp>
      <p:sp>
        <p:nvSpPr>
          <p:cNvPr id="59" name="anim_1_320"/>
          <p:cNvSpPr/>
          <p:nvPr/>
        </p:nvSpPr>
        <p:spPr>
          <a:xfrm>
            <a:off x="8257032" y="4398264"/>
            <a:ext cx="1280160" cy="512064"/>
          </a:xfrm>
          <a:prstGeom prst="rect">
            <a:avLst/>
          </a:prstGeom>
          <a:solidFill>
            <a:srgbClr val="EEF3F8"/>
          </a:solidFill>
          <a:ln w="9525">
            <a:solidFill>
              <a:srgbClr val="C9D3DF"/>
            </a:solidFill>
            <a:prstDash val="solid"/>
          </a:ln>
        </p:spPr>
      </p:sp>
      <p:sp>
        <p:nvSpPr>
          <p:cNvPr id="60" name="anim_1_321"/>
          <p:cNvSpPr txBox="1"/>
          <p:nvPr/>
        </p:nvSpPr>
        <p:spPr>
          <a:xfrm>
            <a:off x="8293608" y="4398264"/>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مستقل</a:t>
            </a:r>
            <a:endParaRPr lang="fa-IR" sz="1500" dirty="0"/>
          </a:p>
        </p:txBody>
      </p:sp>
      <p:sp>
        <p:nvSpPr>
          <p:cNvPr id="61" name="anim_1_322"/>
          <p:cNvSpPr/>
          <p:nvPr/>
        </p:nvSpPr>
        <p:spPr>
          <a:xfrm>
            <a:off x="4325112" y="4398264"/>
            <a:ext cx="3931920" cy="512064"/>
          </a:xfrm>
          <a:prstGeom prst="rect">
            <a:avLst/>
          </a:prstGeom>
          <a:solidFill>
            <a:srgbClr val="EEF3F8"/>
          </a:solidFill>
          <a:ln w="9525">
            <a:solidFill>
              <a:srgbClr val="C9D3DF"/>
            </a:solidFill>
            <a:prstDash val="solid"/>
          </a:ln>
        </p:spPr>
      </p:sp>
      <p:sp>
        <p:nvSpPr>
          <p:cNvPr id="62" name="anim_1_323"/>
          <p:cNvSpPr txBox="1"/>
          <p:nvPr/>
        </p:nvSpPr>
        <p:spPr>
          <a:xfrm>
            <a:off x="4361688" y="4398264"/>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باقیماندهٔ مدل هزینهٔ سال اول</a:t>
            </a:r>
            <a:endParaRPr lang="fa-IR" sz="1500" dirty="0"/>
          </a:p>
        </p:txBody>
      </p:sp>
      <p:sp>
        <p:nvSpPr>
          <p:cNvPr id="63" name="anim_1_324"/>
          <p:cNvSpPr/>
          <p:nvPr/>
        </p:nvSpPr>
        <p:spPr>
          <a:xfrm>
            <a:off x="548640" y="4398264"/>
            <a:ext cx="3776472" cy="512064"/>
          </a:xfrm>
          <a:prstGeom prst="rect">
            <a:avLst/>
          </a:prstGeom>
          <a:solidFill>
            <a:srgbClr val="EEF3F8"/>
          </a:solidFill>
          <a:ln w="9525">
            <a:solidFill>
              <a:srgbClr val="C9D3DF"/>
            </a:solidFill>
            <a:prstDash val="solid"/>
          </a:ln>
        </p:spPr>
      </p:sp>
      <p:sp>
        <p:nvSpPr>
          <p:cNvPr id="64" name="anim_1_325"/>
          <p:cNvSpPr txBox="1"/>
          <p:nvPr/>
        </p:nvSpPr>
        <p:spPr>
          <a:xfrm>
            <a:off x="585216" y="4398264"/>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چو و همکاران (2020)</a:t>
            </a:r>
            <a:endParaRPr lang="fa-IR" sz="1500" dirty="0"/>
          </a:p>
        </p:txBody>
      </p:sp>
      <p:sp>
        <p:nvSpPr>
          <p:cNvPr id="65" name="anim_1_326"/>
          <p:cNvSpPr/>
          <p:nvPr/>
        </p:nvSpPr>
        <p:spPr>
          <a:xfrm>
            <a:off x="9537192" y="4910328"/>
            <a:ext cx="2103120" cy="512064"/>
          </a:xfrm>
          <a:prstGeom prst="rect">
            <a:avLst/>
          </a:prstGeom>
          <a:solidFill>
            <a:srgbClr val="FFFFFF"/>
          </a:solidFill>
          <a:ln w="9525">
            <a:solidFill>
              <a:srgbClr val="C9D3DF"/>
            </a:solidFill>
            <a:prstDash val="solid"/>
          </a:ln>
        </p:spPr>
      </p:sp>
      <p:sp>
        <p:nvSpPr>
          <p:cNvPr id="66" name="anim_1_327"/>
          <p:cNvSpPr/>
          <p:nvPr/>
        </p:nvSpPr>
        <p:spPr>
          <a:xfrm>
            <a:off x="9710928" y="4992624"/>
            <a:ext cx="742493" cy="347472"/>
          </a:xfrm>
          <a:prstGeom prst="roundRect">
            <a:avLst>
              <a:gd name="adj" fmla="val 15789"/>
            </a:avLst>
          </a:prstGeom>
          <a:solidFill>
            <a:schemeClr val="accent5"/>
          </a:solidFill>
          <a:ln/>
        </p:spPr>
      </p:sp>
      <p:sp>
        <p:nvSpPr>
          <p:cNvPr id="67" name="anim_1_328"/>
          <p:cNvSpPr txBox="1"/>
          <p:nvPr/>
        </p:nvSpPr>
        <p:spPr>
          <a:xfrm>
            <a:off x="9710928" y="4992624"/>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BIG4</a:t>
            </a:r>
            <a:endParaRPr lang="en-US" sz="1300" dirty="0"/>
          </a:p>
        </p:txBody>
      </p:sp>
      <p:sp>
        <p:nvSpPr>
          <p:cNvPr id="68" name="anim_1_329"/>
          <p:cNvSpPr/>
          <p:nvPr/>
        </p:nvSpPr>
        <p:spPr>
          <a:xfrm>
            <a:off x="10508285" y="4992624"/>
            <a:ext cx="958291" cy="347472"/>
          </a:xfrm>
          <a:prstGeom prst="roundRect">
            <a:avLst>
              <a:gd name="adj" fmla="val 15789"/>
            </a:avLst>
          </a:prstGeom>
          <a:solidFill>
            <a:schemeClr val="accent5"/>
          </a:solidFill>
          <a:ln/>
        </p:spPr>
      </p:sp>
      <p:sp>
        <p:nvSpPr>
          <p:cNvPr id="69" name="anim_1_330"/>
          <p:cNvSpPr txBox="1"/>
          <p:nvPr/>
        </p:nvSpPr>
        <p:spPr>
          <a:xfrm>
            <a:off x="10508285" y="4992624"/>
            <a:ext cx="958291"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TENURE</a:t>
            </a:r>
            <a:endParaRPr lang="en-US" sz="1300" dirty="0"/>
          </a:p>
        </p:txBody>
      </p:sp>
      <p:sp>
        <p:nvSpPr>
          <p:cNvPr id="70" name="anim_1_331"/>
          <p:cNvSpPr/>
          <p:nvPr/>
        </p:nvSpPr>
        <p:spPr>
          <a:xfrm>
            <a:off x="8257032" y="4910328"/>
            <a:ext cx="1280160" cy="512064"/>
          </a:xfrm>
          <a:prstGeom prst="rect">
            <a:avLst/>
          </a:prstGeom>
          <a:solidFill>
            <a:srgbClr val="FFFFFF"/>
          </a:solidFill>
          <a:ln w="9525">
            <a:solidFill>
              <a:srgbClr val="C9D3DF"/>
            </a:solidFill>
            <a:prstDash val="solid"/>
          </a:ln>
        </p:spPr>
      </p:sp>
      <p:sp>
        <p:nvSpPr>
          <p:cNvPr id="71" name="anim_1_332"/>
          <p:cNvSpPr txBox="1"/>
          <p:nvPr/>
        </p:nvSpPr>
        <p:spPr>
          <a:xfrm>
            <a:off x="8293608" y="4910328"/>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کنترل</a:t>
            </a:r>
            <a:endParaRPr lang="fa-IR" sz="1500" dirty="0"/>
          </a:p>
        </p:txBody>
      </p:sp>
      <p:sp>
        <p:nvSpPr>
          <p:cNvPr id="72" name="anim_1_333"/>
          <p:cNvSpPr/>
          <p:nvPr/>
        </p:nvSpPr>
        <p:spPr>
          <a:xfrm>
            <a:off x="4325112" y="4910328"/>
            <a:ext cx="3931920" cy="512064"/>
          </a:xfrm>
          <a:prstGeom prst="rect">
            <a:avLst/>
          </a:prstGeom>
          <a:solidFill>
            <a:srgbClr val="FFFFFF"/>
          </a:solidFill>
          <a:ln w="9525">
            <a:solidFill>
              <a:srgbClr val="C9D3DF"/>
            </a:solidFill>
            <a:prstDash val="solid"/>
          </a:ln>
        </p:spPr>
      </p:sp>
      <p:sp>
        <p:nvSpPr>
          <p:cNvPr id="73" name="anim_1_334"/>
          <p:cNvSpPr txBox="1"/>
          <p:nvPr/>
        </p:nvSpPr>
        <p:spPr>
          <a:xfrm>
            <a:off x="4361688" y="4910328"/>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سازمان حسابرسی؛ سال اول رابطهٔ حسابرسی</a:t>
            </a:r>
            <a:endParaRPr lang="fa-IR" sz="1500" dirty="0"/>
          </a:p>
        </p:txBody>
      </p:sp>
      <p:sp>
        <p:nvSpPr>
          <p:cNvPr id="74" name="anim_1_335"/>
          <p:cNvSpPr/>
          <p:nvPr/>
        </p:nvSpPr>
        <p:spPr>
          <a:xfrm>
            <a:off x="548640" y="4910328"/>
            <a:ext cx="3776472" cy="512064"/>
          </a:xfrm>
          <a:prstGeom prst="rect">
            <a:avLst/>
          </a:prstGeom>
          <a:solidFill>
            <a:srgbClr val="FFFFFF"/>
          </a:solidFill>
          <a:ln w="9525">
            <a:solidFill>
              <a:srgbClr val="C9D3DF"/>
            </a:solidFill>
            <a:prstDash val="solid"/>
          </a:ln>
        </p:spPr>
      </p:sp>
      <p:sp>
        <p:nvSpPr>
          <p:cNvPr id="75" name="anim_1_336"/>
          <p:cNvSpPr txBox="1"/>
          <p:nvPr/>
        </p:nvSpPr>
        <p:spPr>
          <a:xfrm>
            <a:off x="585216" y="4910328"/>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دی‌آنجلو (1981)؛ چوی و همکاران (2008)</a:t>
            </a:r>
            <a:endParaRPr lang="fa-IR" sz="1500" dirty="0"/>
          </a:p>
        </p:txBody>
      </p:sp>
      <p:sp>
        <p:nvSpPr>
          <p:cNvPr id="76" name="anim_1_337"/>
          <p:cNvSpPr/>
          <p:nvPr/>
        </p:nvSpPr>
        <p:spPr>
          <a:xfrm>
            <a:off x="9537192" y="5422392"/>
            <a:ext cx="2103120" cy="512064"/>
          </a:xfrm>
          <a:prstGeom prst="rect">
            <a:avLst/>
          </a:prstGeom>
          <a:solidFill>
            <a:srgbClr val="EEF3F8"/>
          </a:solidFill>
          <a:ln w="9525">
            <a:solidFill>
              <a:srgbClr val="C9D3DF"/>
            </a:solidFill>
            <a:prstDash val="solid"/>
          </a:ln>
        </p:spPr>
      </p:sp>
      <p:sp>
        <p:nvSpPr>
          <p:cNvPr id="77" name="anim_1_338"/>
          <p:cNvSpPr/>
          <p:nvPr/>
        </p:nvSpPr>
        <p:spPr>
          <a:xfrm>
            <a:off x="9528048" y="5504688"/>
            <a:ext cx="742493" cy="347472"/>
          </a:xfrm>
          <a:prstGeom prst="roundRect">
            <a:avLst>
              <a:gd name="adj" fmla="val 15789"/>
            </a:avLst>
          </a:prstGeom>
          <a:solidFill>
            <a:schemeClr val="accent5"/>
          </a:solidFill>
          <a:ln/>
        </p:spPr>
      </p:sp>
      <p:sp>
        <p:nvSpPr>
          <p:cNvPr id="78" name="anim_1_339"/>
          <p:cNvSpPr txBox="1"/>
          <p:nvPr/>
        </p:nvSpPr>
        <p:spPr>
          <a:xfrm>
            <a:off x="9528048" y="5504688"/>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SIZE</a:t>
            </a:r>
            <a:endParaRPr lang="en-US" sz="1300" dirty="0"/>
          </a:p>
        </p:txBody>
      </p:sp>
      <p:sp>
        <p:nvSpPr>
          <p:cNvPr id="79" name="anim_1_340"/>
          <p:cNvSpPr/>
          <p:nvPr/>
        </p:nvSpPr>
        <p:spPr>
          <a:xfrm>
            <a:off x="10325405" y="5504688"/>
            <a:ext cx="634594" cy="347472"/>
          </a:xfrm>
          <a:prstGeom prst="roundRect">
            <a:avLst>
              <a:gd name="adj" fmla="val 15789"/>
            </a:avLst>
          </a:prstGeom>
          <a:solidFill>
            <a:schemeClr val="accent5"/>
          </a:solidFill>
          <a:ln/>
        </p:spPr>
      </p:sp>
      <p:sp>
        <p:nvSpPr>
          <p:cNvPr id="80" name="anim_1_341"/>
          <p:cNvSpPr txBox="1"/>
          <p:nvPr/>
        </p:nvSpPr>
        <p:spPr>
          <a:xfrm>
            <a:off x="10325405" y="5504688"/>
            <a:ext cx="634594"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ROA</a:t>
            </a:r>
            <a:endParaRPr lang="en-US" sz="1300" dirty="0"/>
          </a:p>
        </p:txBody>
      </p:sp>
      <p:sp>
        <p:nvSpPr>
          <p:cNvPr id="81" name="anim_1_342"/>
          <p:cNvSpPr/>
          <p:nvPr/>
        </p:nvSpPr>
        <p:spPr>
          <a:xfrm>
            <a:off x="11014862" y="5504688"/>
            <a:ext cx="634594" cy="347472"/>
          </a:xfrm>
          <a:prstGeom prst="roundRect">
            <a:avLst>
              <a:gd name="adj" fmla="val 15789"/>
            </a:avLst>
          </a:prstGeom>
          <a:solidFill>
            <a:schemeClr val="accent5"/>
          </a:solidFill>
          <a:ln/>
        </p:spPr>
      </p:sp>
      <p:sp>
        <p:nvSpPr>
          <p:cNvPr id="82" name="anim_1_343"/>
          <p:cNvSpPr txBox="1"/>
          <p:nvPr/>
        </p:nvSpPr>
        <p:spPr>
          <a:xfrm>
            <a:off x="11014862" y="5504688"/>
            <a:ext cx="634594"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LEV</a:t>
            </a:r>
            <a:endParaRPr lang="en-US" sz="1300" dirty="0"/>
          </a:p>
        </p:txBody>
      </p:sp>
      <p:sp>
        <p:nvSpPr>
          <p:cNvPr id="83" name="anim_1_344"/>
          <p:cNvSpPr/>
          <p:nvPr/>
        </p:nvSpPr>
        <p:spPr>
          <a:xfrm>
            <a:off x="8257032" y="5422392"/>
            <a:ext cx="1280160" cy="512064"/>
          </a:xfrm>
          <a:prstGeom prst="rect">
            <a:avLst/>
          </a:prstGeom>
          <a:solidFill>
            <a:srgbClr val="EEF3F8"/>
          </a:solidFill>
          <a:ln w="9525">
            <a:solidFill>
              <a:srgbClr val="C9D3DF"/>
            </a:solidFill>
            <a:prstDash val="solid"/>
          </a:ln>
        </p:spPr>
      </p:sp>
      <p:sp>
        <p:nvSpPr>
          <p:cNvPr id="84" name="anim_1_345"/>
          <p:cNvSpPr txBox="1"/>
          <p:nvPr/>
        </p:nvSpPr>
        <p:spPr>
          <a:xfrm>
            <a:off x="8293608" y="5422392"/>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کنترل</a:t>
            </a:r>
            <a:endParaRPr lang="fa-IR" sz="1500" dirty="0"/>
          </a:p>
        </p:txBody>
      </p:sp>
      <p:sp>
        <p:nvSpPr>
          <p:cNvPr id="85" name="anim_1_346"/>
          <p:cNvSpPr/>
          <p:nvPr/>
        </p:nvSpPr>
        <p:spPr>
          <a:xfrm>
            <a:off x="4325112" y="5422392"/>
            <a:ext cx="3931920" cy="512064"/>
          </a:xfrm>
          <a:prstGeom prst="rect">
            <a:avLst/>
          </a:prstGeom>
          <a:solidFill>
            <a:srgbClr val="EEF3F8"/>
          </a:solidFill>
          <a:ln w="9525">
            <a:solidFill>
              <a:srgbClr val="C9D3DF"/>
            </a:solidFill>
            <a:prstDash val="solid"/>
          </a:ln>
        </p:spPr>
      </p:sp>
      <p:sp>
        <p:nvSpPr>
          <p:cNvPr id="86" name="anim_1_347"/>
          <p:cNvSpPr txBox="1"/>
          <p:nvPr/>
        </p:nvSpPr>
        <p:spPr>
          <a:xfrm>
            <a:off x="4361688" y="5422392"/>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اندازه (لگاریتم دارایی)، سودآوری، اهرم</a:t>
            </a:r>
            <a:endParaRPr lang="fa-IR" sz="1500" dirty="0"/>
          </a:p>
        </p:txBody>
      </p:sp>
      <p:sp>
        <p:nvSpPr>
          <p:cNvPr id="87" name="anim_1_348"/>
          <p:cNvSpPr/>
          <p:nvPr/>
        </p:nvSpPr>
        <p:spPr>
          <a:xfrm>
            <a:off x="548640" y="5422392"/>
            <a:ext cx="3776472" cy="512064"/>
          </a:xfrm>
          <a:prstGeom prst="rect">
            <a:avLst/>
          </a:prstGeom>
          <a:solidFill>
            <a:srgbClr val="EEF3F8"/>
          </a:solidFill>
          <a:ln w="9525">
            <a:solidFill>
              <a:srgbClr val="C9D3DF"/>
            </a:solidFill>
            <a:prstDash val="solid"/>
          </a:ln>
        </p:spPr>
      </p:sp>
      <p:sp>
        <p:nvSpPr>
          <p:cNvPr id="88" name="anim_1_349"/>
          <p:cNvSpPr txBox="1"/>
          <p:nvPr/>
        </p:nvSpPr>
        <p:spPr>
          <a:xfrm>
            <a:off x="585216" y="5422392"/>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سیمونیک (1980)؛ کراسول و همکاران (1995)</a:t>
            </a:r>
            <a:endParaRPr lang="fa-IR" sz="1500" dirty="0"/>
          </a:p>
        </p:txBody>
      </p:sp>
      <p:sp>
        <p:nvSpPr>
          <p:cNvPr id="89" name="anim_1_350"/>
          <p:cNvSpPr/>
          <p:nvPr/>
        </p:nvSpPr>
        <p:spPr>
          <a:xfrm>
            <a:off x="9537192" y="5934456"/>
            <a:ext cx="2103120" cy="512064"/>
          </a:xfrm>
          <a:prstGeom prst="rect">
            <a:avLst/>
          </a:prstGeom>
          <a:solidFill>
            <a:srgbClr val="FFFFFF"/>
          </a:solidFill>
          <a:ln w="9525">
            <a:solidFill>
              <a:srgbClr val="C9D3DF"/>
            </a:solidFill>
            <a:prstDash val="solid"/>
          </a:ln>
        </p:spPr>
      </p:sp>
      <p:sp>
        <p:nvSpPr>
          <p:cNvPr id="90" name="anim_1_351"/>
          <p:cNvSpPr/>
          <p:nvPr/>
        </p:nvSpPr>
        <p:spPr>
          <a:xfrm>
            <a:off x="9710928" y="6016752"/>
            <a:ext cx="958291" cy="347472"/>
          </a:xfrm>
          <a:prstGeom prst="roundRect">
            <a:avLst>
              <a:gd name="adj" fmla="val 15789"/>
            </a:avLst>
          </a:prstGeom>
          <a:solidFill>
            <a:schemeClr val="accent5"/>
          </a:solidFill>
          <a:ln/>
        </p:spPr>
      </p:sp>
      <p:sp>
        <p:nvSpPr>
          <p:cNvPr id="91" name="anim_1_352"/>
          <p:cNvSpPr txBox="1"/>
          <p:nvPr/>
        </p:nvSpPr>
        <p:spPr>
          <a:xfrm>
            <a:off x="9710928" y="6016752"/>
            <a:ext cx="958291"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GROWTH</a:t>
            </a:r>
            <a:endParaRPr lang="en-US" sz="1300" dirty="0"/>
          </a:p>
        </p:txBody>
      </p:sp>
      <p:sp>
        <p:nvSpPr>
          <p:cNvPr id="92" name="anim_1_353"/>
          <p:cNvSpPr/>
          <p:nvPr/>
        </p:nvSpPr>
        <p:spPr>
          <a:xfrm>
            <a:off x="10724083" y="6016752"/>
            <a:ext cx="742493" cy="347472"/>
          </a:xfrm>
          <a:prstGeom prst="roundRect">
            <a:avLst>
              <a:gd name="adj" fmla="val 15789"/>
            </a:avLst>
          </a:prstGeom>
          <a:solidFill>
            <a:schemeClr val="accent5"/>
          </a:solidFill>
          <a:ln/>
        </p:spPr>
      </p:sp>
      <p:sp>
        <p:nvSpPr>
          <p:cNvPr id="93" name="anim_1_354"/>
          <p:cNvSpPr txBox="1"/>
          <p:nvPr/>
        </p:nvSpPr>
        <p:spPr>
          <a:xfrm>
            <a:off x="10724083" y="6016752"/>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RISK</a:t>
            </a:r>
            <a:endParaRPr lang="en-US" sz="1300" dirty="0"/>
          </a:p>
        </p:txBody>
      </p:sp>
      <p:sp>
        <p:nvSpPr>
          <p:cNvPr id="94" name="anim_1_355"/>
          <p:cNvSpPr/>
          <p:nvPr/>
        </p:nvSpPr>
        <p:spPr>
          <a:xfrm>
            <a:off x="8257032" y="5934456"/>
            <a:ext cx="1280160" cy="512064"/>
          </a:xfrm>
          <a:prstGeom prst="rect">
            <a:avLst/>
          </a:prstGeom>
          <a:solidFill>
            <a:srgbClr val="FFFFFF"/>
          </a:solidFill>
          <a:ln w="9525">
            <a:solidFill>
              <a:srgbClr val="C9D3DF"/>
            </a:solidFill>
            <a:prstDash val="solid"/>
          </a:ln>
        </p:spPr>
      </p:sp>
      <p:sp>
        <p:nvSpPr>
          <p:cNvPr id="95" name="anim_1_356"/>
          <p:cNvSpPr txBox="1"/>
          <p:nvPr/>
        </p:nvSpPr>
        <p:spPr>
          <a:xfrm>
            <a:off x="8293608" y="5934456"/>
            <a:ext cx="1207008" cy="512064"/>
          </a:xfrm>
          <a:prstGeom prst="rect">
            <a:avLst/>
          </a:prstGeom>
          <a:noFill/>
          <a:ln/>
        </p:spPr>
        <p:txBody>
          <a:bodyPr wrap="square" lIns="254" tIns="254" rIns="254" bIns="254" rtlCol="0" anchor="ctr"/>
          <a:lstStyle/>
          <a:p>
            <a:pPr rtl="1" algn="ctr" indent="0" marL="0">
              <a:buNone/>
            </a:pPr>
            <a:r>
              <a:rPr lang="fa-IR" altLang="en-US" sz="1500" dirty="0">
                <a:solidFill>
                  <a:schemeClr val="tx1"/>
                </a:solidFill>
                <a:latin typeface="B Nazanin" pitchFamily="34" charset="0"/>
                <a:ea typeface="B Nazanin" pitchFamily="34" charset="-122"/>
                <a:cs typeface="B Nazanin" pitchFamily="34" charset="-120"/>
              </a:rPr>
              <a:t>کنترل</a:t>
            </a:r>
            <a:endParaRPr lang="fa-IR" sz="1500" dirty="0"/>
          </a:p>
        </p:txBody>
      </p:sp>
      <p:sp>
        <p:nvSpPr>
          <p:cNvPr id="96" name="anim_1_357"/>
          <p:cNvSpPr/>
          <p:nvPr/>
        </p:nvSpPr>
        <p:spPr>
          <a:xfrm>
            <a:off x="4325112" y="5934456"/>
            <a:ext cx="3931920" cy="512064"/>
          </a:xfrm>
          <a:prstGeom prst="rect">
            <a:avLst/>
          </a:prstGeom>
          <a:solidFill>
            <a:srgbClr val="FFFFFF"/>
          </a:solidFill>
          <a:ln w="9525">
            <a:solidFill>
              <a:srgbClr val="C9D3DF"/>
            </a:solidFill>
            <a:prstDash val="solid"/>
          </a:ln>
        </p:spPr>
      </p:sp>
      <p:sp>
        <p:nvSpPr>
          <p:cNvPr id="97" name="anim_1_358"/>
          <p:cNvSpPr txBox="1"/>
          <p:nvPr/>
        </p:nvSpPr>
        <p:spPr>
          <a:xfrm>
            <a:off x="4361688" y="5934456"/>
            <a:ext cx="3858768"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رشد دارایی‌ها و نوسان بازده دارایی‌ها</a:t>
            </a:r>
            <a:endParaRPr lang="fa-IR" sz="1500" dirty="0"/>
          </a:p>
        </p:txBody>
      </p:sp>
      <p:sp>
        <p:nvSpPr>
          <p:cNvPr id="98" name="anim_1_359"/>
          <p:cNvSpPr/>
          <p:nvPr/>
        </p:nvSpPr>
        <p:spPr>
          <a:xfrm>
            <a:off x="548640" y="5934456"/>
            <a:ext cx="3776472" cy="512064"/>
          </a:xfrm>
          <a:prstGeom prst="rect">
            <a:avLst/>
          </a:prstGeom>
          <a:solidFill>
            <a:srgbClr val="FFFFFF"/>
          </a:solidFill>
          <a:ln w="9525">
            <a:solidFill>
              <a:srgbClr val="C9D3DF"/>
            </a:solidFill>
            <a:prstDash val="solid"/>
          </a:ln>
        </p:spPr>
      </p:sp>
      <p:sp>
        <p:nvSpPr>
          <p:cNvPr id="99" name="anim_1_360"/>
          <p:cNvSpPr txBox="1"/>
          <p:nvPr/>
        </p:nvSpPr>
        <p:spPr>
          <a:xfrm>
            <a:off x="585216" y="5934456"/>
            <a:ext cx="3703320" cy="512064"/>
          </a:xfrm>
          <a:prstGeom prst="rect">
            <a:avLst/>
          </a:prstGeom>
          <a:noFill/>
          <a:ln/>
        </p:spPr>
        <p:txBody>
          <a:bodyPr wrap="square" lIns="254" tIns="254" rIns="254" bIns="254" rtlCol="0" anchor="ctr"/>
          <a:lstStyle/>
          <a:p>
            <a:pPr rtl="1" algn="r" indent="0" marL="0">
              <a:buNone/>
            </a:pPr>
            <a:r>
              <a:rPr lang="fa-IR" altLang="en-US" sz="1500" dirty="0">
                <a:solidFill>
                  <a:schemeClr val="tx1"/>
                </a:solidFill>
                <a:latin typeface="B Nazanin" pitchFamily="34" charset="0"/>
                <a:ea typeface="B Nazanin" pitchFamily="34" charset="-122"/>
                <a:cs typeface="B Nazanin" pitchFamily="34" charset="-120"/>
              </a:rPr>
              <a:t>هی و همکاران (2006)؛ بل و همکاران (2001)</a:t>
            </a:r>
            <a:endParaRPr lang="fa-IR" sz="15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95"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مدل هزینهٔ سال اول و مدل‌های فرضیه‌های اول و دوم</a:t>
            </a:r>
            <a:endParaRPr lang="fa-IR" sz="3400" dirty="0"/>
          </a:p>
        </p:txBody>
      </p:sp>
      <p:sp>
        <p:nvSpPr>
          <p:cNvPr id="3" name="anim_1_361"/>
          <p:cNvSpPr/>
          <p:nvPr/>
        </p:nvSpPr>
        <p:spPr>
          <a:xfrm>
            <a:off x="548640" y="1280160"/>
            <a:ext cx="11091672" cy="1828800"/>
          </a:xfrm>
          <a:prstGeom prst="roundRect">
            <a:avLst>
              <a:gd name="adj" fmla="val 6000"/>
            </a:avLst>
          </a:prstGeom>
          <a:solidFill>
            <a:schemeClr val="bg2"/>
          </a:solidFill>
          <a:ln/>
          <a:effectLst>
            <a:outerShdw sx="100000" sy="100000" kx="0" ky="0" algn="bl" rotWithShape="0" blurRad="101600" dist="25400" dir="5400000">
              <a:srgbClr val="000000">
                <a:alpha val="12000"/>
              </a:srgbClr>
            </a:outerShdw>
          </a:effectLst>
        </p:spPr>
      </p:sp>
      <p:sp>
        <p:nvSpPr>
          <p:cNvPr id="4" name="anim_1_362"/>
          <p:cNvSpPr/>
          <p:nvPr/>
        </p:nvSpPr>
        <p:spPr>
          <a:xfrm>
            <a:off x="8348472" y="1371600"/>
            <a:ext cx="3154680" cy="457200"/>
          </a:xfrm>
          <a:prstGeom prst="roundRect">
            <a:avLst>
              <a:gd name="adj" fmla="val 20000"/>
            </a:avLst>
          </a:prstGeom>
          <a:solidFill>
            <a:schemeClr val="accent1"/>
          </a:solidFill>
          <a:ln/>
        </p:spPr>
      </p:sp>
      <p:sp>
        <p:nvSpPr>
          <p:cNvPr id="5" name="anim_1_363"/>
          <p:cNvSpPr txBox="1"/>
          <p:nvPr/>
        </p:nvSpPr>
        <p:spPr>
          <a:xfrm>
            <a:off x="8348472" y="1371600"/>
            <a:ext cx="3154680" cy="457200"/>
          </a:xfrm>
          <a:prstGeom prst="rect">
            <a:avLst/>
          </a:prstGeom>
          <a:noFill/>
          <a:ln/>
        </p:spPr>
        <p:txBody>
          <a:bodyPr wrap="square" lIns="0" tIns="0" rIns="0" bIns="0" rtlCol="0" anchor="ctr"/>
          <a:lstStyle/>
          <a:p>
            <a:pPr rtl="1" algn="ctr" indent="0" marL="0">
              <a:buNone/>
            </a:pPr>
            <a:r>
              <a:rPr lang="fa-IR" altLang="en-US" sz="1500" dirty="0">
                <a:solidFill>
                  <a:schemeClr val="bg1"/>
                </a:solidFill>
                <a:latin typeface="B Titr" pitchFamily="34" charset="0"/>
                <a:ea typeface="B Titr" pitchFamily="34" charset="-122"/>
                <a:cs typeface="B Titr" pitchFamily="34" charset="-120"/>
              </a:rPr>
              <a:t>مدل هزینهٔ سال اول (مبنای COSTP)</a:t>
            </a:r>
            <a:endParaRPr lang="fa-IR" sz="1500" dirty="0"/>
          </a:p>
        </p:txBody>
      </p:sp>
      <p:sp>
        <p:nvSpPr>
          <p:cNvPr id="6" name="anim_1_364"/>
          <p:cNvSpPr txBox="1"/>
          <p:nvPr/>
        </p:nvSpPr>
        <p:spPr>
          <a:xfrm>
            <a:off x="731520" y="1371600"/>
            <a:ext cx="7434072" cy="457200"/>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B Nazanin" pitchFamily="34" charset="0"/>
                <a:ea typeface="B Nazanin" pitchFamily="34" charset="-122"/>
                <a:cs typeface="B Nazanin" pitchFamily="34" charset="-120"/>
              </a:rPr>
              <a:t>باقیماندهٔ این مدل (COSTP) تفاوت حق‌الزحمهٔ واقعی با انتظاری است؛ مقدار منفی یعنی تخفیف.</a:t>
            </a:r>
            <a:endParaRPr lang="fa-IR" sz="1600" dirty="0"/>
          </a:p>
        </p:txBody>
      </p:sp>
      <p:sp>
        <p:nvSpPr>
          <p:cNvPr id="7" name="anim_1_365"/>
          <p:cNvSpPr/>
          <p:nvPr/>
        </p:nvSpPr>
        <p:spPr>
          <a:xfrm>
            <a:off x="831190" y="1920240"/>
            <a:ext cx="566928" cy="365760"/>
          </a:xfrm>
          <a:prstGeom prst="roundRect">
            <a:avLst>
              <a:gd name="adj" fmla="val 15000"/>
            </a:avLst>
          </a:prstGeom>
          <a:solidFill>
            <a:schemeClr val="accent1"/>
          </a:solidFill>
          <a:ln/>
        </p:spPr>
      </p:sp>
      <p:sp>
        <p:nvSpPr>
          <p:cNvPr id="8" name="anim_1_366"/>
          <p:cNvSpPr txBox="1"/>
          <p:nvPr/>
        </p:nvSpPr>
        <p:spPr>
          <a:xfrm>
            <a:off x="831190" y="1920240"/>
            <a:ext cx="566928"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AF</a:t>
            </a:r>
            <a:endParaRPr lang="en-US" sz="1400" dirty="0"/>
          </a:p>
        </p:txBody>
      </p:sp>
      <p:sp>
        <p:nvSpPr>
          <p:cNvPr id="9" name="anim_1_367"/>
          <p:cNvSpPr txBox="1"/>
          <p:nvPr/>
        </p:nvSpPr>
        <p:spPr>
          <a:xfrm>
            <a:off x="1471270" y="1874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10" name="anim_1_368"/>
          <p:cNvSpPr txBox="1"/>
          <p:nvPr/>
        </p:nvSpPr>
        <p:spPr>
          <a:xfrm>
            <a:off x="1782166" y="1874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γ0</a:t>
            </a:r>
            <a:endParaRPr lang="en-US" sz="2000" dirty="0"/>
          </a:p>
        </p:txBody>
      </p:sp>
      <p:sp>
        <p:nvSpPr>
          <p:cNvPr id="11" name="anim_1_369"/>
          <p:cNvSpPr txBox="1"/>
          <p:nvPr/>
        </p:nvSpPr>
        <p:spPr>
          <a:xfrm>
            <a:off x="2184502" y="1874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12" name="anim_1_370"/>
          <p:cNvSpPr txBox="1"/>
          <p:nvPr/>
        </p:nvSpPr>
        <p:spPr>
          <a:xfrm>
            <a:off x="2495398" y="1874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γ1</a:t>
            </a:r>
            <a:endParaRPr lang="en-US" sz="2000" dirty="0"/>
          </a:p>
        </p:txBody>
      </p:sp>
      <p:sp>
        <p:nvSpPr>
          <p:cNvPr id="13" name="anim_1_371"/>
          <p:cNvSpPr/>
          <p:nvPr/>
        </p:nvSpPr>
        <p:spPr>
          <a:xfrm>
            <a:off x="2897734" y="1920240"/>
            <a:ext cx="742493" cy="365760"/>
          </a:xfrm>
          <a:prstGeom prst="roundRect">
            <a:avLst>
              <a:gd name="adj" fmla="val 15000"/>
            </a:avLst>
          </a:prstGeom>
          <a:solidFill>
            <a:schemeClr val="accent1"/>
          </a:solidFill>
          <a:ln/>
        </p:spPr>
      </p:sp>
      <p:sp>
        <p:nvSpPr>
          <p:cNvPr id="14" name="anim_1_372"/>
          <p:cNvSpPr txBox="1"/>
          <p:nvPr/>
        </p:nvSpPr>
        <p:spPr>
          <a:xfrm>
            <a:off x="2897734" y="192024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SIZE</a:t>
            </a:r>
            <a:endParaRPr lang="en-US" sz="1400" dirty="0"/>
          </a:p>
        </p:txBody>
      </p:sp>
      <p:sp>
        <p:nvSpPr>
          <p:cNvPr id="15" name="anim_1_373"/>
          <p:cNvSpPr txBox="1"/>
          <p:nvPr/>
        </p:nvSpPr>
        <p:spPr>
          <a:xfrm>
            <a:off x="3713378" y="1874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16" name="anim_1_374"/>
          <p:cNvSpPr txBox="1"/>
          <p:nvPr/>
        </p:nvSpPr>
        <p:spPr>
          <a:xfrm>
            <a:off x="4024274" y="1874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γ2</a:t>
            </a:r>
            <a:endParaRPr lang="en-US" sz="2000" dirty="0"/>
          </a:p>
        </p:txBody>
      </p:sp>
      <p:sp>
        <p:nvSpPr>
          <p:cNvPr id="17" name="anim_1_375"/>
          <p:cNvSpPr/>
          <p:nvPr/>
        </p:nvSpPr>
        <p:spPr>
          <a:xfrm>
            <a:off x="4426610" y="1920240"/>
            <a:ext cx="634594" cy="365760"/>
          </a:xfrm>
          <a:prstGeom prst="roundRect">
            <a:avLst>
              <a:gd name="adj" fmla="val 15000"/>
            </a:avLst>
          </a:prstGeom>
          <a:solidFill>
            <a:schemeClr val="accent1"/>
          </a:solidFill>
          <a:ln/>
        </p:spPr>
      </p:sp>
      <p:sp>
        <p:nvSpPr>
          <p:cNvPr id="18" name="anim_1_376"/>
          <p:cNvSpPr txBox="1"/>
          <p:nvPr/>
        </p:nvSpPr>
        <p:spPr>
          <a:xfrm>
            <a:off x="4426610" y="192024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LEV</a:t>
            </a:r>
            <a:endParaRPr lang="en-US" sz="1400" dirty="0"/>
          </a:p>
        </p:txBody>
      </p:sp>
      <p:sp>
        <p:nvSpPr>
          <p:cNvPr id="19" name="anim_1_377"/>
          <p:cNvSpPr txBox="1"/>
          <p:nvPr/>
        </p:nvSpPr>
        <p:spPr>
          <a:xfrm>
            <a:off x="5134356" y="1874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20" name="anim_1_378"/>
          <p:cNvSpPr txBox="1"/>
          <p:nvPr/>
        </p:nvSpPr>
        <p:spPr>
          <a:xfrm>
            <a:off x="5445252" y="1874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γ3</a:t>
            </a:r>
            <a:endParaRPr lang="en-US" sz="2000" dirty="0"/>
          </a:p>
        </p:txBody>
      </p:sp>
      <p:sp>
        <p:nvSpPr>
          <p:cNvPr id="21" name="anim_1_379"/>
          <p:cNvSpPr/>
          <p:nvPr/>
        </p:nvSpPr>
        <p:spPr>
          <a:xfrm>
            <a:off x="5847588" y="1920240"/>
            <a:ext cx="634594" cy="365760"/>
          </a:xfrm>
          <a:prstGeom prst="roundRect">
            <a:avLst>
              <a:gd name="adj" fmla="val 15000"/>
            </a:avLst>
          </a:prstGeom>
          <a:solidFill>
            <a:schemeClr val="accent1"/>
          </a:solidFill>
          <a:ln/>
        </p:spPr>
      </p:sp>
      <p:sp>
        <p:nvSpPr>
          <p:cNvPr id="22" name="anim_1_380"/>
          <p:cNvSpPr txBox="1"/>
          <p:nvPr/>
        </p:nvSpPr>
        <p:spPr>
          <a:xfrm>
            <a:off x="5847588" y="192024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ROA</a:t>
            </a:r>
            <a:endParaRPr lang="en-US" sz="1400" dirty="0"/>
          </a:p>
        </p:txBody>
      </p:sp>
      <p:sp>
        <p:nvSpPr>
          <p:cNvPr id="23" name="anim_1_381"/>
          <p:cNvSpPr txBox="1"/>
          <p:nvPr/>
        </p:nvSpPr>
        <p:spPr>
          <a:xfrm>
            <a:off x="6555334" y="1874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24" name="anim_1_382"/>
          <p:cNvSpPr txBox="1"/>
          <p:nvPr/>
        </p:nvSpPr>
        <p:spPr>
          <a:xfrm>
            <a:off x="6866230" y="1874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γ4</a:t>
            </a:r>
            <a:endParaRPr lang="en-US" sz="2000" dirty="0"/>
          </a:p>
        </p:txBody>
      </p:sp>
      <p:sp>
        <p:nvSpPr>
          <p:cNvPr id="25" name="anim_1_383"/>
          <p:cNvSpPr/>
          <p:nvPr/>
        </p:nvSpPr>
        <p:spPr>
          <a:xfrm>
            <a:off x="7268566" y="1920240"/>
            <a:ext cx="958291" cy="365760"/>
          </a:xfrm>
          <a:prstGeom prst="roundRect">
            <a:avLst>
              <a:gd name="adj" fmla="val 15000"/>
            </a:avLst>
          </a:prstGeom>
          <a:solidFill>
            <a:schemeClr val="accent1"/>
          </a:solidFill>
          <a:ln/>
        </p:spPr>
      </p:sp>
      <p:sp>
        <p:nvSpPr>
          <p:cNvPr id="26" name="anim_1_384"/>
          <p:cNvSpPr txBox="1"/>
          <p:nvPr/>
        </p:nvSpPr>
        <p:spPr>
          <a:xfrm>
            <a:off x="7268566" y="1920240"/>
            <a:ext cx="958291"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GROWTH</a:t>
            </a:r>
            <a:endParaRPr lang="en-US" sz="1400" dirty="0"/>
          </a:p>
        </p:txBody>
      </p:sp>
      <p:sp>
        <p:nvSpPr>
          <p:cNvPr id="27" name="anim_1_385"/>
          <p:cNvSpPr txBox="1"/>
          <p:nvPr/>
        </p:nvSpPr>
        <p:spPr>
          <a:xfrm>
            <a:off x="8300009" y="1874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28" name="anim_1_386"/>
          <p:cNvSpPr txBox="1"/>
          <p:nvPr/>
        </p:nvSpPr>
        <p:spPr>
          <a:xfrm>
            <a:off x="8610905" y="1874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γ5</a:t>
            </a:r>
            <a:endParaRPr lang="en-US" sz="2000" dirty="0"/>
          </a:p>
        </p:txBody>
      </p:sp>
      <p:sp>
        <p:nvSpPr>
          <p:cNvPr id="29" name="anim_1_387"/>
          <p:cNvSpPr/>
          <p:nvPr/>
        </p:nvSpPr>
        <p:spPr>
          <a:xfrm>
            <a:off x="9013241" y="1920240"/>
            <a:ext cx="742493" cy="365760"/>
          </a:xfrm>
          <a:prstGeom prst="roundRect">
            <a:avLst>
              <a:gd name="adj" fmla="val 15000"/>
            </a:avLst>
          </a:prstGeom>
          <a:solidFill>
            <a:schemeClr val="accent1"/>
          </a:solidFill>
          <a:ln/>
        </p:spPr>
      </p:sp>
      <p:sp>
        <p:nvSpPr>
          <p:cNvPr id="30" name="anim_1_388"/>
          <p:cNvSpPr txBox="1"/>
          <p:nvPr/>
        </p:nvSpPr>
        <p:spPr>
          <a:xfrm>
            <a:off x="9013241" y="192024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RISK</a:t>
            </a:r>
            <a:endParaRPr lang="en-US" sz="1400" dirty="0"/>
          </a:p>
        </p:txBody>
      </p:sp>
      <p:sp>
        <p:nvSpPr>
          <p:cNvPr id="31" name="anim_1_389"/>
          <p:cNvSpPr txBox="1"/>
          <p:nvPr/>
        </p:nvSpPr>
        <p:spPr>
          <a:xfrm>
            <a:off x="9828886" y="1874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32" name="anim_1_390"/>
          <p:cNvSpPr txBox="1"/>
          <p:nvPr/>
        </p:nvSpPr>
        <p:spPr>
          <a:xfrm>
            <a:off x="10139782" y="1874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γ6</a:t>
            </a:r>
            <a:endParaRPr lang="en-US" sz="2000" dirty="0"/>
          </a:p>
        </p:txBody>
      </p:sp>
      <p:sp>
        <p:nvSpPr>
          <p:cNvPr id="33" name="anim_1_391"/>
          <p:cNvSpPr/>
          <p:nvPr/>
        </p:nvSpPr>
        <p:spPr>
          <a:xfrm>
            <a:off x="10542118" y="1920240"/>
            <a:ext cx="742493" cy="365760"/>
          </a:xfrm>
          <a:prstGeom prst="roundRect">
            <a:avLst>
              <a:gd name="adj" fmla="val 15000"/>
            </a:avLst>
          </a:prstGeom>
          <a:solidFill>
            <a:schemeClr val="accent1"/>
          </a:solidFill>
          <a:ln/>
        </p:spPr>
      </p:sp>
      <p:sp>
        <p:nvSpPr>
          <p:cNvPr id="34" name="anim_1_392"/>
          <p:cNvSpPr txBox="1"/>
          <p:nvPr/>
        </p:nvSpPr>
        <p:spPr>
          <a:xfrm>
            <a:off x="10542118" y="192024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BIG4</a:t>
            </a:r>
            <a:endParaRPr lang="en-US" sz="1400" dirty="0"/>
          </a:p>
        </p:txBody>
      </p:sp>
      <p:sp>
        <p:nvSpPr>
          <p:cNvPr id="35" name="anim_1_393"/>
          <p:cNvSpPr txBox="1"/>
          <p:nvPr/>
        </p:nvSpPr>
        <p:spPr>
          <a:xfrm>
            <a:off x="4911242" y="2404872"/>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36" name="anim_1_394"/>
          <p:cNvSpPr txBox="1"/>
          <p:nvPr/>
        </p:nvSpPr>
        <p:spPr>
          <a:xfrm>
            <a:off x="5222138" y="2404872"/>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γ7</a:t>
            </a:r>
            <a:endParaRPr lang="en-US" sz="2000" dirty="0"/>
          </a:p>
        </p:txBody>
      </p:sp>
      <p:sp>
        <p:nvSpPr>
          <p:cNvPr id="37" name="anim_1_395"/>
          <p:cNvSpPr/>
          <p:nvPr/>
        </p:nvSpPr>
        <p:spPr>
          <a:xfrm>
            <a:off x="5624474" y="2450592"/>
            <a:ext cx="958291" cy="365760"/>
          </a:xfrm>
          <a:prstGeom prst="roundRect">
            <a:avLst>
              <a:gd name="adj" fmla="val 15000"/>
            </a:avLst>
          </a:prstGeom>
          <a:solidFill>
            <a:schemeClr val="accent1"/>
          </a:solidFill>
          <a:ln/>
        </p:spPr>
      </p:sp>
      <p:sp>
        <p:nvSpPr>
          <p:cNvPr id="38" name="anim_1_396"/>
          <p:cNvSpPr txBox="1"/>
          <p:nvPr/>
        </p:nvSpPr>
        <p:spPr>
          <a:xfrm>
            <a:off x="5624474" y="2450592"/>
            <a:ext cx="958291"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TENURE</a:t>
            </a:r>
            <a:endParaRPr lang="en-US" sz="1400" dirty="0"/>
          </a:p>
        </p:txBody>
      </p:sp>
      <p:sp>
        <p:nvSpPr>
          <p:cNvPr id="39" name="anim_1_397"/>
          <p:cNvSpPr txBox="1"/>
          <p:nvPr/>
        </p:nvSpPr>
        <p:spPr>
          <a:xfrm>
            <a:off x="6655918" y="2404872"/>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40" name="anim_1_398"/>
          <p:cNvSpPr txBox="1"/>
          <p:nvPr/>
        </p:nvSpPr>
        <p:spPr>
          <a:xfrm>
            <a:off x="6966814" y="2404872"/>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u</a:t>
            </a:r>
            <a:endParaRPr lang="en-US" sz="2000" dirty="0"/>
          </a:p>
        </p:txBody>
      </p:sp>
      <p:sp>
        <p:nvSpPr>
          <p:cNvPr id="41" name="anim_2_399"/>
          <p:cNvSpPr/>
          <p:nvPr/>
        </p:nvSpPr>
        <p:spPr>
          <a:xfrm>
            <a:off x="548640" y="3200400"/>
            <a:ext cx="11091672"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42" name="anim_2_400"/>
          <p:cNvSpPr/>
          <p:nvPr/>
        </p:nvSpPr>
        <p:spPr>
          <a:xfrm>
            <a:off x="8348472" y="3291840"/>
            <a:ext cx="3154680" cy="457200"/>
          </a:xfrm>
          <a:prstGeom prst="roundRect">
            <a:avLst>
              <a:gd name="adj" fmla="val 20000"/>
            </a:avLst>
          </a:prstGeom>
          <a:solidFill>
            <a:schemeClr val="accent5"/>
          </a:solidFill>
          <a:ln/>
        </p:spPr>
      </p:sp>
      <p:sp>
        <p:nvSpPr>
          <p:cNvPr id="43" name="anim_2_401"/>
          <p:cNvSpPr txBox="1"/>
          <p:nvPr/>
        </p:nvSpPr>
        <p:spPr>
          <a:xfrm>
            <a:off x="8348472" y="3291840"/>
            <a:ext cx="3154680" cy="457200"/>
          </a:xfrm>
          <a:prstGeom prst="rect">
            <a:avLst/>
          </a:prstGeom>
          <a:noFill/>
          <a:ln/>
        </p:spPr>
        <p:txBody>
          <a:bodyPr wrap="square" lIns="0" tIns="0" rIns="0" bIns="0" rtlCol="0" anchor="ctr"/>
          <a:lstStyle/>
          <a:p>
            <a:pPr rtl="1" algn="ctr" indent="0" marL="0">
              <a:buNone/>
            </a:pPr>
            <a:r>
              <a:rPr lang="fa-IR" altLang="en-US" sz="1500" dirty="0">
                <a:solidFill>
                  <a:schemeClr val="bg1"/>
                </a:solidFill>
                <a:latin typeface="B Titr" pitchFamily="34" charset="0"/>
                <a:ea typeface="B Titr" pitchFamily="34" charset="-122"/>
                <a:cs typeface="B Titr" pitchFamily="34" charset="-120"/>
              </a:rPr>
              <a:t>فرضیهٔ اول</a:t>
            </a:r>
            <a:endParaRPr lang="fa-IR" sz="1500" dirty="0"/>
          </a:p>
        </p:txBody>
      </p:sp>
      <p:sp>
        <p:nvSpPr>
          <p:cNvPr id="44" name="anim_2_402"/>
          <p:cNvSpPr txBox="1"/>
          <p:nvPr/>
        </p:nvSpPr>
        <p:spPr>
          <a:xfrm>
            <a:off x="731520" y="3291840"/>
            <a:ext cx="7434072" cy="457200"/>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B Nazanin" pitchFamily="34" charset="0"/>
                <a:ea typeface="B Nazanin" pitchFamily="34" charset="-122"/>
                <a:cs typeface="B Nazanin" pitchFamily="34" charset="-120"/>
              </a:rPr>
              <a:t>ضریب β1 سهم خدمات غیرحسابرسی را می‌آزماید.</a:t>
            </a:r>
            <a:endParaRPr lang="fa-IR" sz="1600" dirty="0"/>
          </a:p>
        </p:txBody>
      </p:sp>
      <p:sp>
        <p:nvSpPr>
          <p:cNvPr id="45" name="anim_2_403"/>
          <p:cNvSpPr/>
          <p:nvPr/>
        </p:nvSpPr>
        <p:spPr>
          <a:xfrm>
            <a:off x="1995221" y="3840480"/>
            <a:ext cx="566928" cy="365760"/>
          </a:xfrm>
          <a:prstGeom prst="roundRect">
            <a:avLst>
              <a:gd name="adj" fmla="val 15000"/>
            </a:avLst>
          </a:prstGeom>
          <a:solidFill>
            <a:schemeClr val="accent1"/>
          </a:solidFill>
          <a:ln/>
        </p:spPr>
      </p:sp>
      <p:sp>
        <p:nvSpPr>
          <p:cNvPr id="46" name="anim_2_404"/>
          <p:cNvSpPr txBox="1"/>
          <p:nvPr/>
        </p:nvSpPr>
        <p:spPr>
          <a:xfrm>
            <a:off x="1995221" y="3840480"/>
            <a:ext cx="566928"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AF</a:t>
            </a:r>
            <a:endParaRPr lang="en-US" sz="1400" dirty="0"/>
          </a:p>
        </p:txBody>
      </p:sp>
      <p:sp>
        <p:nvSpPr>
          <p:cNvPr id="47" name="anim_2_405"/>
          <p:cNvSpPr txBox="1"/>
          <p:nvPr/>
        </p:nvSpPr>
        <p:spPr>
          <a:xfrm>
            <a:off x="2635301" y="379476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48" name="anim_2_406"/>
          <p:cNvSpPr txBox="1"/>
          <p:nvPr/>
        </p:nvSpPr>
        <p:spPr>
          <a:xfrm>
            <a:off x="2946197" y="379476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α0</a:t>
            </a:r>
            <a:endParaRPr lang="en-US" sz="2000" dirty="0"/>
          </a:p>
        </p:txBody>
      </p:sp>
      <p:sp>
        <p:nvSpPr>
          <p:cNvPr id="49" name="anim_2_407"/>
          <p:cNvSpPr txBox="1"/>
          <p:nvPr/>
        </p:nvSpPr>
        <p:spPr>
          <a:xfrm>
            <a:off x="3348533" y="379476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50" name="anim_2_408"/>
          <p:cNvSpPr txBox="1"/>
          <p:nvPr/>
        </p:nvSpPr>
        <p:spPr>
          <a:xfrm>
            <a:off x="3659429" y="379476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β1</a:t>
            </a:r>
            <a:endParaRPr lang="en-US" sz="2000" dirty="0"/>
          </a:p>
        </p:txBody>
      </p:sp>
      <p:sp>
        <p:nvSpPr>
          <p:cNvPr id="51" name="anim_2_409"/>
          <p:cNvSpPr/>
          <p:nvPr/>
        </p:nvSpPr>
        <p:spPr>
          <a:xfrm>
            <a:off x="4061765" y="3840480"/>
            <a:ext cx="742493" cy="365760"/>
          </a:xfrm>
          <a:prstGeom prst="roundRect">
            <a:avLst>
              <a:gd name="adj" fmla="val 15000"/>
            </a:avLst>
          </a:prstGeom>
          <a:solidFill>
            <a:schemeClr val="accent1"/>
          </a:solidFill>
          <a:ln/>
        </p:spPr>
      </p:sp>
      <p:sp>
        <p:nvSpPr>
          <p:cNvPr id="52" name="anim_2_410"/>
          <p:cNvSpPr txBox="1"/>
          <p:nvPr/>
        </p:nvSpPr>
        <p:spPr>
          <a:xfrm>
            <a:off x="4061765" y="384048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NASR</a:t>
            </a:r>
            <a:endParaRPr lang="en-US" sz="1400" dirty="0"/>
          </a:p>
        </p:txBody>
      </p:sp>
      <p:sp>
        <p:nvSpPr>
          <p:cNvPr id="53" name="anim_2_411"/>
          <p:cNvSpPr txBox="1"/>
          <p:nvPr/>
        </p:nvSpPr>
        <p:spPr>
          <a:xfrm>
            <a:off x="4877410" y="379476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54" name="anim_2_412"/>
          <p:cNvSpPr txBox="1"/>
          <p:nvPr/>
        </p:nvSpPr>
        <p:spPr>
          <a:xfrm>
            <a:off x="5188306" y="379476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β2</a:t>
            </a:r>
            <a:endParaRPr lang="en-US" sz="2000" dirty="0"/>
          </a:p>
        </p:txBody>
      </p:sp>
      <p:sp>
        <p:nvSpPr>
          <p:cNvPr id="55" name="anim_2_413"/>
          <p:cNvSpPr/>
          <p:nvPr/>
        </p:nvSpPr>
        <p:spPr>
          <a:xfrm>
            <a:off x="5590642" y="3840480"/>
            <a:ext cx="742493" cy="365760"/>
          </a:xfrm>
          <a:prstGeom prst="roundRect">
            <a:avLst>
              <a:gd name="adj" fmla="val 15000"/>
            </a:avLst>
          </a:prstGeom>
          <a:solidFill>
            <a:schemeClr val="accent1"/>
          </a:solidFill>
          <a:ln/>
        </p:spPr>
      </p:sp>
      <p:sp>
        <p:nvSpPr>
          <p:cNvPr id="56" name="anim_2_414"/>
          <p:cNvSpPr txBox="1"/>
          <p:nvPr/>
        </p:nvSpPr>
        <p:spPr>
          <a:xfrm>
            <a:off x="5590642" y="384048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SIZE</a:t>
            </a:r>
            <a:endParaRPr lang="en-US" sz="1400" dirty="0"/>
          </a:p>
        </p:txBody>
      </p:sp>
      <p:sp>
        <p:nvSpPr>
          <p:cNvPr id="57" name="anim_2_415"/>
          <p:cNvSpPr txBox="1"/>
          <p:nvPr/>
        </p:nvSpPr>
        <p:spPr>
          <a:xfrm>
            <a:off x="6406286" y="379476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58" name="anim_2_416"/>
          <p:cNvSpPr txBox="1"/>
          <p:nvPr/>
        </p:nvSpPr>
        <p:spPr>
          <a:xfrm>
            <a:off x="6717182" y="379476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β3</a:t>
            </a:r>
            <a:endParaRPr lang="en-US" sz="2000" dirty="0"/>
          </a:p>
        </p:txBody>
      </p:sp>
      <p:sp>
        <p:nvSpPr>
          <p:cNvPr id="59" name="anim_2_417"/>
          <p:cNvSpPr/>
          <p:nvPr/>
        </p:nvSpPr>
        <p:spPr>
          <a:xfrm>
            <a:off x="7119518" y="3840480"/>
            <a:ext cx="634594" cy="365760"/>
          </a:xfrm>
          <a:prstGeom prst="roundRect">
            <a:avLst>
              <a:gd name="adj" fmla="val 15000"/>
            </a:avLst>
          </a:prstGeom>
          <a:solidFill>
            <a:schemeClr val="accent1"/>
          </a:solidFill>
          <a:ln/>
        </p:spPr>
      </p:sp>
      <p:sp>
        <p:nvSpPr>
          <p:cNvPr id="60" name="anim_2_418"/>
          <p:cNvSpPr txBox="1"/>
          <p:nvPr/>
        </p:nvSpPr>
        <p:spPr>
          <a:xfrm>
            <a:off x="7119518" y="384048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ROA</a:t>
            </a:r>
            <a:endParaRPr lang="en-US" sz="1400" dirty="0"/>
          </a:p>
        </p:txBody>
      </p:sp>
      <p:sp>
        <p:nvSpPr>
          <p:cNvPr id="61" name="anim_2_419"/>
          <p:cNvSpPr txBox="1"/>
          <p:nvPr/>
        </p:nvSpPr>
        <p:spPr>
          <a:xfrm>
            <a:off x="7827264" y="379476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62" name="anim_2_420"/>
          <p:cNvSpPr txBox="1"/>
          <p:nvPr/>
        </p:nvSpPr>
        <p:spPr>
          <a:xfrm>
            <a:off x="8138160" y="379476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β4</a:t>
            </a:r>
            <a:endParaRPr lang="en-US" sz="2000" dirty="0"/>
          </a:p>
        </p:txBody>
      </p:sp>
      <p:sp>
        <p:nvSpPr>
          <p:cNvPr id="63" name="anim_2_421"/>
          <p:cNvSpPr/>
          <p:nvPr/>
        </p:nvSpPr>
        <p:spPr>
          <a:xfrm>
            <a:off x="8540496" y="3840480"/>
            <a:ext cx="958291" cy="365760"/>
          </a:xfrm>
          <a:prstGeom prst="roundRect">
            <a:avLst>
              <a:gd name="adj" fmla="val 15000"/>
            </a:avLst>
          </a:prstGeom>
          <a:solidFill>
            <a:schemeClr val="accent1"/>
          </a:solidFill>
          <a:ln/>
        </p:spPr>
      </p:sp>
      <p:sp>
        <p:nvSpPr>
          <p:cNvPr id="64" name="anim_2_422"/>
          <p:cNvSpPr txBox="1"/>
          <p:nvPr/>
        </p:nvSpPr>
        <p:spPr>
          <a:xfrm>
            <a:off x="8540496" y="3840480"/>
            <a:ext cx="958291"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GROWTH</a:t>
            </a:r>
            <a:endParaRPr lang="en-US" sz="1400" dirty="0"/>
          </a:p>
        </p:txBody>
      </p:sp>
      <p:sp>
        <p:nvSpPr>
          <p:cNvPr id="65" name="anim_2_423"/>
          <p:cNvSpPr txBox="1"/>
          <p:nvPr/>
        </p:nvSpPr>
        <p:spPr>
          <a:xfrm>
            <a:off x="9571939" y="379476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66" name="anim_2_424"/>
          <p:cNvSpPr txBox="1"/>
          <p:nvPr/>
        </p:nvSpPr>
        <p:spPr>
          <a:xfrm>
            <a:off x="9882835" y="379476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ε</a:t>
            </a:r>
            <a:endParaRPr lang="en-US" sz="2000" dirty="0"/>
          </a:p>
        </p:txBody>
      </p:sp>
      <p:sp>
        <p:nvSpPr>
          <p:cNvPr id="67" name="anim_3_425"/>
          <p:cNvSpPr/>
          <p:nvPr/>
        </p:nvSpPr>
        <p:spPr>
          <a:xfrm>
            <a:off x="548640" y="4617720"/>
            <a:ext cx="11091672" cy="1828800"/>
          </a:xfrm>
          <a:prstGeom prst="roundRect">
            <a:avLst>
              <a:gd name="adj" fmla="val 6000"/>
            </a:avLst>
          </a:prstGeom>
          <a:solidFill>
            <a:schemeClr val="bg2"/>
          </a:solidFill>
          <a:ln/>
          <a:effectLst>
            <a:outerShdw sx="100000" sy="100000" kx="0" ky="0" algn="bl" rotWithShape="0" blurRad="101600" dist="25400" dir="5400000">
              <a:srgbClr val="000000">
                <a:alpha val="12000"/>
              </a:srgbClr>
            </a:outerShdw>
          </a:effectLst>
        </p:spPr>
      </p:sp>
      <p:sp>
        <p:nvSpPr>
          <p:cNvPr id="68" name="anim_3_426"/>
          <p:cNvSpPr/>
          <p:nvPr/>
        </p:nvSpPr>
        <p:spPr>
          <a:xfrm>
            <a:off x="8348472" y="4709160"/>
            <a:ext cx="3154680" cy="457200"/>
          </a:xfrm>
          <a:prstGeom prst="roundRect">
            <a:avLst>
              <a:gd name="adj" fmla="val 20000"/>
            </a:avLst>
          </a:prstGeom>
          <a:solidFill>
            <a:schemeClr val="accent2"/>
          </a:solidFill>
          <a:ln/>
        </p:spPr>
      </p:sp>
      <p:sp>
        <p:nvSpPr>
          <p:cNvPr id="69" name="anim_3_427"/>
          <p:cNvSpPr txBox="1"/>
          <p:nvPr/>
        </p:nvSpPr>
        <p:spPr>
          <a:xfrm>
            <a:off x="8348472" y="4709160"/>
            <a:ext cx="3154680" cy="457200"/>
          </a:xfrm>
          <a:prstGeom prst="rect">
            <a:avLst/>
          </a:prstGeom>
          <a:noFill/>
          <a:ln/>
        </p:spPr>
        <p:txBody>
          <a:bodyPr wrap="square" lIns="0" tIns="0" rIns="0" bIns="0" rtlCol="0" anchor="ctr"/>
          <a:lstStyle/>
          <a:p>
            <a:pPr rtl="1" algn="ctr" indent="0" marL="0">
              <a:buNone/>
            </a:pPr>
            <a:r>
              <a:rPr lang="fa-IR" altLang="en-US" sz="1500" dirty="0">
                <a:solidFill>
                  <a:schemeClr val="bg1"/>
                </a:solidFill>
                <a:latin typeface="B Titr" pitchFamily="34" charset="0"/>
                <a:ea typeface="B Titr" pitchFamily="34" charset="-122"/>
                <a:cs typeface="B Titr" pitchFamily="34" charset="-120"/>
              </a:rPr>
              <a:t>فرضیهٔ دوم</a:t>
            </a:r>
            <a:endParaRPr lang="fa-IR" sz="1500" dirty="0"/>
          </a:p>
        </p:txBody>
      </p:sp>
      <p:sp>
        <p:nvSpPr>
          <p:cNvPr id="70" name="anim_3_428"/>
          <p:cNvSpPr txBox="1"/>
          <p:nvPr/>
        </p:nvSpPr>
        <p:spPr>
          <a:xfrm>
            <a:off x="731520" y="4709160"/>
            <a:ext cx="7434072" cy="457200"/>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B Nazanin" pitchFamily="34" charset="0"/>
                <a:ea typeface="B Nazanin" pitchFamily="34" charset="-122"/>
                <a:cs typeface="B Nazanin" pitchFamily="34" charset="-120"/>
              </a:rPr>
              <a:t>β1 اثر مؤسسات کوچک و β1+β3 اثر مؤسسات بزرگ است.</a:t>
            </a:r>
            <a:endParaRPr lang="fa-IR" sz="1600" dirty="0"/>
          </a:p>
        </p:txBody>
      </p:sp>
      <p:sp>
        <p:nvSpPr>
          <p:cNvPr id="71" name="anim_3_429"/>
          <p:cNvSpPr/>
          <p:nvPr/>
        </p:nvSpPr>
        <p:spPr>
          <a:xfrm>
            <a:off x="762610" y="5257800"/>
            <a:ext cx="566928" cy="365760"/>
          </a:xfrm>
          <a:prstGeom prst="roundRect">
            <a:avLst>
              <a:gd name="adj" fmla="val 15000"/>
            </a:avLst>
          </a:prstGeom>
          <a:solidFill>
            <a:schemeClr val="accent1"/>
          </a:solidFill>
          <a:ln/>
        </p:spPr>
      </p:sp>
      <p:sp>
        <p:nvSpPr>
          <p:cNvPr id="72" name="anim_3_430"/>
          <p:cNvSpPr txBox="1"/>
          <p:nvPr/>
        </p:nvSpPr>
        <p:spPr>
          <a:xfrm>
            <a:off x="762610" y="5257800"/>
            <a:ext cx="566928"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AF</a:t>
            </a:r>
            <a:endParaRPr lang="en-US" sz="1400" dirty="0"/>
          </a:p>
        </p:txBody>
      </p:sp>
      <p:sp>
        <p:nvSpPr>
          <p:cNvPr id="73" name="anim_3_431"/>
          <p:cNvSpPr txBox="1"/>
          <p:nvPr/>
        </p:nvSpPr>
        <p:spPr>
          <a:xfrm>
            <a:off x="1402690" y="52120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74" name="anim_3_432"/>
          <p:cNvSpPr txBox="1"/>
          <p:nvPr/>
        </p:nvSpPr>
        <p:spPr>
          <a:xfrm>
            <a:off x="1713586" y="52120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α0</a:t>
            </a:r>
            <a:endParaRPr lang="en-US" sz="2000" dirty="0"/>
          </a:p>
        </p:txBody>
      </p:sp>
      <p:sp>
        <p:nvSpPr>
          <p:cNvPr id="75" name="anim_3_433"/>
          <p:cNvSpPr txBox="1"/>
          <p:nvPr/>
        </p:nvSpPr>
        <p:spPr>
          <a:xfrm>
            <a:off x="2115922" y="52120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76" name="anim_3_434"/>
          <p:cNvSpPr txBox="1"/>
          <p:nvPr/>
        </p:nvSpPr>
        <p:spPr>
          <a:xfrm>
            <a:off x="2426818" y="52120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β1</a:t>
            </a:r>
            <a:endParaRPr lang="en-US" sz="2000" dirty="0"/>
          </a:p>
        </p:txBody>
      </p:sp>
      <p:sp>
        <p:nvSpPr>
          <p:cNvPr id="77" name="anim_3_435"/>
          <p:cNvSpPr/>
          <p:nvPr/>
        </p:nvSpPr>
        <p:spPr>
          <a:xfrm>
            <a:off x="2829154" y="5257800"/>
            <a:ext cx="1066190" cy="365760"/>
          </a:xfrm>
          <a:prstGeom prst="roundRect">
            <a:avLst>
              <a:gd name="adj" fmla="val 15000"/>
            </a:avLst>
          </a:prstGeom>
          <a:solidFill>
            <a:schemeClr val="accent1"/>
          </a:solidFill>
          <a:ln/>
        </p:spPr>
      </p:sp>
      <p:sp>
        <p:nvSpPr>
          <p:cNvPr id="78" name="anim_3_436"/>
          <p:cNvSpPr txBox="1"/>
          <p:nvPr/>
        </p:nvSpPr>
        <p:spPr>
          <a:xfrm>
            <a:off x="2829154" y="5257800"/>
            <a:ext cx="106619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COMPLEX</a:t>
            </a:r>
            <a:endParaRPr lang="en-US" sz="1400" dirty="0"/>
          </a:p>
        </p:txBody>
      </p:sp>
      <p:sp>
        <p:nvSpPr>
          <p:cNvPr id="79" name="anim_3_437"/>
          <p:cNvSpPr txBox="1"/>
          <p:nvPr/>
        </p:nvSpPr>
        <p:spPr>
          <a:xfrm>
            <a:off x="3968496" y="52120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80" name="anim_3_438"/>
          <p:cNvSpPr txBox="1"/>
          <p:nvPr/>
        </p:nvSpPr>
        <p:spPr>
          <a:xfrm>
            <a:off x="4279392" y="52120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β2</a:t>
            </a:r>
            <a:endParaRPr lang="en-US" sz="2000" dirty="0"/>
          </a:p>
        </p:txBody>
      </p:sp>
      <p:sp>
        <p:nvSpPr>
          <p:cNvPr id="81" name="anim_3_439"/>
          <p:cNvSpPr/>
          <p:nvPr/>
        </p:nvSpPr>
        <p:spPr>
          <a:xfrm>
            <a:off x="4681728" y="5257800"/>
            <a:ext cx="742493" cy="365760"/>
          </a:xfrm>
          <a:prstGeom prst="roundRect">
            <a:avLst>
              <a:gd name="adj" fmla="val 15000"/>
            </a:avLst>
          </a:prstGeom>
          <a:solidFill>
            <a:schemeClr val="accent1"/>
          </a:solidFill>
          <a:ln/>
        </p:spPr>
      </p:sp>
      <p:sp>
        <p:nvSpPr>
          <p:cNvPr id="82" name="anim_3_440"/>
          <p:cNvSpPr txBox="1"/>
          <p:nvPr/>
        </p:nvSpPr>
        <p:spPr>
          <a:xfrm>
            <a:off x="4681728" y="525780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BIG4</a:t>
            </a:r>
            <a:endParaRPr lang="en-US" sz="1400" dirty="0"/>
          </a:p>
        </p:txBody>
      </p:sp>
      <p:sp>
        <p:nvSpPr>
          <p:cNvPr id="83" name="anim_3_441"/>
          <p:cNvSpPr txBox="1"/>
          <p:nvPr/>
        </p:nvSpPr>
        <p:spPr>
          <a:xfrm>
            <a:off x="5497373" y="52120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84" name="anim_3_442"/>
          <p:cNvSpPr txBox="1"/>
          <p:nvPr/>
        </p:nvSpPr>
        <p:spPr>
          <a:xfrm>
            <a:off x="5808269" y="52120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β3</a:t>
            </a:r>
            <a:endParaRPr lang="en-US" sz="2000" dirty="0"/>
          </a:p>
        </p:txBody>
      </p:sp>
      <p:sp>
        <p:nvSpPr>
          <p:cNvPr id="85" name="anim_3_443"/>
          <p:cNvSpPr/>
          <p:nvPr/>
        </p:nvSpPr>
        <p:spPr>
          <a:xfrm>
            <a:off x="6210605" y="5257800"/>
            <a:ext cx="1066190" cy="365760"/>
          </a:xfrm>
          <a:prstGeom prst="roundRect">
            <a:avLst>
              <a:gd name="adj" fmla="val 15000"/>
            </a:avLst>
          </a:prstGeom>
          <a:solidFill>
            <a:schemeClr val="accent1"/>
          </a:solidFill>
          <a:ln/>
        </p:spPr>
      </p:sp>
      <p:sp>
        <p:nvSpPr>
          <p:cNvPr id="86" name="anim_3_444"/>
          <p:cNvSpPr txBox="1"/>
          <p:nvPr/>
        </p:nvSpPr>
        <p:spPr>
          <a:xfrm>
            <a:off x="6210605" y="5257800"/>
            <a:ext cx="106619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COMPLEX</a:t>
            </a:r>
            <a:endParaRPr lang="en-US" sz="1400" dirty="0"/>
          </a:p>
        </p:txBody>
      </p:sp>
      <p:sp>
        <p:nvSpPr>
          <p:cNvPr id="87" name="anim_3_445"/>
          <p:cNvSpPr txBox="1"/>
          <p:nvPr/>
        </p:nvSpPr>
        <p:spPr>
          <a:xfrm>
            <a:off x="7349947" y="52120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88" name="anim_3_446"/>
          <p:cNvSpPr/>
          <p:nvPr/>
        </p:nvSpPr>
        <p:spPr>
          <a:xfrm>
            <a:off x="7660843" y="5257800"/>
            <a:ext cx="742493" cy="365760"/>
          </a:xfrm>
          <a:prstGeom prst="roundRect">
            <a:avLst>
              <a:gd name="adj" fmla="val 15000"/>
            </a:avLst>
          </a:prstGeom>
          <a:solidFill>
            <a:schemeClr val="accent1"/>
          </a:solidFill>
          <a:ln/>
        </p:spPr>
      </p:sp>
      <p:sp>
        <p:nvSpPr>
          <p:cNvPr id="89" name="anim_3_447"/>
          <p:cNvSpPr txBox="1"/>
          <p:nvPr/>
        </p:nvSpPr>
        <p:spPr>
          <a:xfrm>
            <a:off x="7660843" y="525780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BIG4</a:t>
            </a:r>
            <a:endParaRPr lang="en-US" sz="1400" dirty="0"/>
          </a:p>
        </p:txBody>
      </p:sp>
      <p:sp>
        <p:nvSpPr>
          <p:cNvPr id="90" name="anim_3_448"/>
          <p:cNvSpPr txBox="1"/>
          <p:nvPr/>
        </p:nvSpPr>
        <p:spPr>
          <a:xfrm>
            <a:off x="8476488" y="52120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91" name="anim_3_449"/>
          <p:cNvSpPr txBox="1"/>
          <p:nvPr/>
        </p:nvSpPr>
        <p:spPr>
          <a:xfrm>
            <a:off x="8787384" y="52120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β4</a:t>
            </a:r>
            <a:endParaRPr lang="en-US" sz="2000" dirty="0"/>
          </a:p>
        </p:txBody>
      </p:sp>
      <p:sp>
        <p:nvSpPr>
          <p:cNvPr id="92" name="anim_3_450"/>
          <p:cNvSpPr/>
          <p:nvPr/>
        </p:nvSpPr>
        <p:spPr>
          <a:xfrm>
            <a:off x="9189720" y="5257800"/>
            <a:ext cx="742493" cy="365760"/>
          </a:xfrm>
          <a:prstGeom prst="roundRect">
            <a:avLst>
              <a:gd name="adj" fmla="val 15000"/>
            </a:avLst>
          </a:prstGeom>
          <a:solidFill>
            <a:schemeClr val="accent1"/>
          </a:solidFill>
          <a:ln/>
        </p:spPr>
      </p:sp>
      <p:sp>
        <p:nvSpPr>
          <p:cNvPr id="93" name="anim_3_451"/>
          <p:cNvSpPr txBox="1"/>
          <p:nvPr/>
        </p:nvSpPr>
        <p:spPr>
          <a:xfrm>
            <a:off x="9189720" y="525780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SIZE</a:t>
            </a:r>
            <a:endParaRPr lang="en-US" sz="1400" dirty="0"/>
          </a:p>
        </p:txBody>
      </p:sp>
      <p:sp>
        <p:nvSpPr>
          <p:cNvPr id="94" name="anim_3_452"/>
          <p:cNvSpPr txBox="1"/>
          <p:nvPr/>
        </p:nvSpPr>
        <p:spPr>
          <a:xfrm>
            <a:off x="10005365" y="52120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95" name="anim_3_453"/>
          <p:cNvSpPr txBox="1"/>
          <p:nvPr/>
        </p:nvSpPr>
        <p:spPr>
          <a:xfrm>
            <a:off x="10316261" y="52120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β5</a:t>
            </a:r>
            <a:endParaRPr lang="en-US" sz="2000" dirty="0"/>
          </a:p>
        </p:txBody>
      </p:sp>
      <p:sp>
        <p:nvSpPr>
          <p:cNvPr id="96" name="anim_3_454"/>
          <p:cNvSpPr/>
          <p:nvPr/>
        </p:nvSpPr>
        <p:spPr>
          <a:xfrm>
            <a:off x="10718597" y="5257800"/>
            <a:ext cx="634594" cy="365760"/>
          </a:xfrm>
          <a:prstGeom prst="roundRect">
            <a:avLst>
              <a:gd name="adj" fmla="val 15000"/>
            </a:avLst>
          </a:prstGeom>
          <a:solidFill>
            <a:schemeClr val="accent1"/>
          </a:solidFill>
          <a:ln/>
        </p:spPr>
      </p:sp>
      <p:sp>
        <p:nvSpPr>
          <p:cNvPr id="97" name="anim_3_455"/>
          <p:cNvSpPr txBox="1"/>
          <p:nvPr/>
        </p:nvSpPr>
        <p:spPr>
          <a:xfrm>
            <a:off x="10718597" y="525780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ROA</a:t>
            </a:r>
            <a:endParaRPr lang="en-US" sz="1400" dirty="0"/>
          </a:p>
        </p:txBody>
      </p:sp>
      <p:sp>
        <p:nvSpPr>
          <p:cNvPr id="98" name="anim_3_456"/>
          <p:cNvSpPr txBox="1"/>
          <p:nvPr/>
        </p:nvSpPr>
        <p:spPr>
          <a:xfrm>
            <a:off x="5073091" y="5742432"/>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99" name="anim_3_457"/>
          <p:cNvSpPr txBox="1"/>
          <p:nvPr/>
        </p:nvSpPr>
        <p:spPr>
          <a:xfrm>
            <a:off x="5383987" y="5742432"/>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β6</a:t>
            </a:r>
            <a:endParaRPr lang="en-US" sz="2000" dirty="0"/>
          </a:p>
        </p:txBody>
      </p:sp>
      <p:sp>
        <p:nvSpPr>
          <p:cNvPr id="100" name="anim_3_458"/>
          <p:cNvSpPr/>
          <p:nvPr/>
        </p:nvSpPr>
        <p:spPr>
          <a:xfrm>
            <a:off x="5786323" y="5788152"/>
            <a:ext cx="634594" cy="365760"/>
          </a:xfrm>
          <a:prstGeom prst="roundRect">
            <a:avLst>
              <a:gd name="adj" fmla="val 15000"/>
            </a:avLst>
          </a:prstGeom>
          <a:solidFill>
            <a:schemeClr val="accent1"/>
          </a:solidFill>
          <a:ln/>
        </p:spPr>
      </p:sp>
      <p:sp>
        <p:nvSpPr>
          <p:cNvPr id="101" name="anim_3_459"/>
          <p:cNvSpPr txBox="1"/>
          <p:nvPr/>
        </p:nvSpPr>
        <p:spPr>
          <a:xfrm>
            <a:off x="5786323" y="5788152"/>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LEV</a:t>
            </a:r>
            <a:endParaRPr lang="en-US" sz="1400" dirty="0"/>
          </a:p>
        </p:txBody>
      </p:sp>
      <p:sp>
        <p:nvSpPr>
          <p:cNvPr id="102" name="anim_3_460"/>
          <p:cNvSpPr txBox="1"/>
          <p:nvPr/>
        </p:nvSpPr>
        <p:spPr>
          <a:xfrm>
            <a:off x="6494069" y="5742432"/>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103" name="anim_3_461"/>
          <p:cNvSpPr txBox="1"/>
          <p:nvPr/>
        </p:nvSpPr>
        <p:spPr>
          <a:xfrm>
            <a:off x="6804965" y="5742432"/>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ε</a:t>
            </a:r>
            <a:endParaRPr lang="en-US" sz="2000" dirty="0"/>
          </a:p>
        </p:txBody>
      </p:sp>
      <p:sp>
        <p:nvSpPr>
          <p:cNvPr id="104" name="anim_4_462"/>
          <p:cNvSpPr txBox="1"/>
          <p:nvPr/>
        </p:nvSpPr>
        <p:spPr>
          <a:xfrm>
            <a:off x="1463040" y="6382512"/>
            <a:ext cx="10177272" cy="365760"/>
          </a:xfrm>
          <a:prstGeom prst="rect">
            <a:avLst/>
          </a:prstGeom>
          <a:noFill/>
          <a:ln/>
        </p:spPr>
        <p:txBody>
          <a:bodyPr wrap="square" lIns="0" tIns="0" rIns="0" bIns="0" rtlCol="0" anchor="t"/>
          <a:lstStyle/>
          <a:p>
            <a:pPr rtl="1" algn="r" indent="0" marL="0">
              <a:buNone/>
            </a:pPr>
            <a:r>
              <a:rPr lang="fa-IR" altLang="en-US" sz="1400" dirty="0">
                <a:solidFill>
                  <a:schemeClr val="accent5"/>
                </a:solidFill>
                <a:latin typeface="B Nazanin" pitchFamily="34" charset="0"/>
                <a:ea typeface="B Nazanin" pitchFamily="34" charset="-122"/>
                <a:cs typeface="B Nazanin" pitchFamily="34" charset="-120"/>
              </a:rPr>
              <a:t>هر مربع کوچک یک متغیر پژوهش است؛ حروف یونانی ضرایب و جملهٔ خطا را نشان می‌دهند.</a:t>
            </a:r>
            <a:endParaRPr lang="fa-IR" sz="14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10"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35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35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35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35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35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35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35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35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35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35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35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35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35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3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35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35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35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35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35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35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35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35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35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35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35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35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70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70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70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70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70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70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70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70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70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70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70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70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70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70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70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70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70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70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70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70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70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70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70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70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70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70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70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70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70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70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70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70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70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par>
                                <p:cTn id="295" presetID="10" presetClass="entr" presetSubtype="0" fill="hold" nodeType="withEffect">
                                  <p:stCondLst>
                                    <p:cond delay="70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600"/>
                                        <p:tgtEl>
                                          <p:spTgt spid="100"/>
                                        </p:tgtEl>
                                      </p:cBhvr>
                                    </p:animEffect>
                                  </p:childTnLst>
                                </p:cTn>
                              </p:par>
                              <p:par>
                                <p:cTn id="298" presetID="10" presetClass="entr" presetSubtype="0" fill="hold" nodeType="withEffect">
                                  <p:stCondLst>
                                    <p:cond delay="70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600"/>
                                        <p:tgtEl>
                                          <p:spTgt spid="101"/>
                                        </p:tgtEl>
                                      </p:cBhvr>
                                    </p:animEffect>
                                  </p:childTnLst>
                                </p:cTn>
                              </p:par>
                              <p:par>
                                <p:cTn id="301" presetID="10" presetClass="entr" presetSubtype="0" fill="hold" nodeType="withEffect">
                                  <p:stCondLst>
                                    <p:cond delay="700"/>
                                  </p:stCondLst>
                                  <p:childTnLst>
                                    <p:set>
                                      <p:cBhvr>
                                        <p:cTn id="302" dur="1" fill="hold">
                                          <p:stCondLst>
                                            <p:cond delay="0"/>
                                          </p:stCondLst>
                                        </p:cTn>
                                        <p:tgtEl>
                                          <p:spTgt spid="102"/>
                                        </p:tgtEl>
                                        <p:attrNameLst>
                                          <p:attrName>style.visibility</p:attrName>
                                        </p:attrNameLst>
                                      </p:cBhvr>
                                      <p:to>
                                        <p:strVal val="visible"/>
                                      </p:to>
                                    </p:set>
                                    <p:animEffect transition="in" filter="fade">
                                      <p:cBhvr>
                                        <p:cTn id="303" dur="600"/>
                                        <p:tgtEl>
                                          <p:spTgt spid="102"/>
                                        </p:tgtEl>
                                      </p:cBhvr>
                                    </p:animEffect>
                                  </p:childTnLst>
                                </p:cTn>
                              </p:par>
                              <p:par>
                                <p:cTn id="304" presetID="10" presetClass="entr" presetSubtype="0" fill="hold" nodeType="withEffect">
                                  <p:stCondLst>
                                    <p:cond delay="700"/>
                                  </p:stCondLst>
                                  <p:childTnLst>
                                    <p:set>
                                      <p:cBhvr>
                                        <p:cTn id="305" dur="1" fill="hold">
                                          <p:stCondLst>
                                            <p:cond delay="0"/>
                                          </p:stCondLst>
                                        </p:cTn>
                                        <p:tgtEl>
                                          <p:spTgt spid="103"/>
                                        </p:tgtEl>
                                        <p:attrNameLst>
                                          <p:attrName>style.visibility</p:attrName>
                                        </p:attrNameLst>
                                      </p:cBhvr>
                                      <p:to>
                                        <p:strVal val="visible"/>
                                      </p:to>
                                    </p:set>
                                    <p:animEffect transition="in" filter="fade">
                                      <p:cBhvr>
                                        <p:cTn id="306" dur="600"/>
                                        <p:tgtEl>
                                          <p:spTgt spid="103"/>
                                        </p:tgtEl>
                                      </p:cBhvr>
                                    </p:animEffect>
                                  </p:childTnLst>
                                </p:cTn>
                              </p:par>
                              <p:par>
                                <p:cTn id="307" presetID="10" presetClass="entr" presetSubtype="0" fill="hold" nodeType="withEffect">
                                  <p:stCondLst>
                                    <p:cond delay="1050"/>
                                  </p:stCondLst>
                                  <p:childTnLst>
                                    <p:set>
                                      <p:cBhvr>
                                        <p:cTn id="308" dur="1" fill="hold">
                                          <p:stCondLst>
                                            <p:cond delay="0"/>
                                          </p:stCondLst>
                                        </p:cTn>
                                        <p:tgtEl>
                                          <p:spTgt spid="104"/>
                                        </p:tgtEl>
                                        <p:attrNameLst>
                                          <p:attrName>style.visibility</p:attrName>
                                        </p:attrNameLst>
                                      </p:cBhvr>
                                      <p:to>
                                        <p:strVal val="visible"/>
                                      </p:to>
                                    </p:set>
                                    <p:animEffect transition="in" filter="fade">
                                      <p:cBhvr>
                                        <p:cTn id="309" dur="6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مدل‌های فرضیه‌های سوم تا پنجم</a:t>
            </a:r>
            <a:endParaRPr lang="fa-IR" sz="3400" dirty="0"/>
          </a:p>
        </p:txBody>
      </p:sp>
      <p:sp>
        <p:nvSpPr>
          <p:cNvPr id="3" name="anim_1_463"/>
          <p:cNvSpPr/>
          <p:nvPr/>
        </p:nvSpPr>
        <p:spPr>
          <a:xfrm>
            <a:off x="548640" y="1325880"/>
            <a:ext cx="11091672" cy="1508760"/>
          </a:xfrm>
          <a:prstGeom prst="roundRect">
            <a:avLst>
              <a:gd name="adj" fmla="val 7273"/>
            </a:avLst>
          </a:prstGeom>
          <a:solidFill>
            <a:schemeClr val="bg2"/>
          </a:solidFill>
          <a:ln/>
          <a:effectLst>
            <a:outerShdw sx="100000" sy="100000" kx="0" ky="0" algn="bl" rotWithShape="0" blurRad="101600" dist="25400" dir="5400000">
              <a:srgbClr val="000000">
                <a:alpha val="12000"/>
              </a:srgbClr>
            </a:outerShdw>
          </a:effectLst>
        </p:spPr>
      </p:sp>
      <p:sp>
        <p:nvSpPr>
          <p:cNvPr id="4" name="anim_1_464"/>
          <p:cNvSpPr/>
          <p:nvPr/>
        </p:nvSpPr>
        <p:spPr>
          <a:xfrm>
            <a:off x="9445752" y="1417320"/>
            <a:ext cx="2057400" cy="457200"/>
          </a:xfrm>
          <a:prstGeom prst="roundRect">
            <a:avLst>
              <a:gd name="adj" fmla="val 20000"/>
            </a:avLst>
          </a:prstGeom>
          <a:solidFill>
            <a:schemeClr val="accent2"/>
          </a:solidFill>
          <a:ln/>
        </p:spPr>
      </p:sp>
      <p:sp>
        <p:nvSpPr>
          <p:cNvPr id="5" name="anim_1_465"/>
          <p:cNvSpPr txBox="1"/>
          <p:nvPr/>
        </p:nvSpPr>
        <p:spPr>
          <a:xfrm>
            <a:off x="9445752" y="1417320"/>
            <a:ext cx="2057400" cy="45720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فرضیهٔ سوم</a:t>
            </a:r>
            <a:endParaRPr lang="fa-IR" sz="1700" dirty="0"/>
          </a:p>
        </p:txBody>
      </p:sp>
      <p:sp>
        <p:nvSpPr>
          <p:cNvPr id="6" name="anim_1_466"/>
          <p:cNvSpPr txBox="1"/>
          <p:nvPr/>
        </p:nvSpPr>
        <p:spPr>
          <a:xfrm>
            <a:off x="731520" y="1417320"/>
            <a:ext cx="8531352" cy="457200"/>
          </a:xfrm>
          <a:prstGeom prst="rect">
            <a:avLst/>
          </a:prstGeom>
          <a:noFill/>
          <a:ln/>
        </p:spPr>
        <p:txBody>
          <a:bodyPr wrap="square" lIns="0" tIns="0" rIns="0" bIns="0" rtlCol="0" anchor="ctr"/>
          <a:lstStyle/>
          <a:p>
            <a:pPr rtl="1" algn="r" indent="0" marL="0">
              <a:buNone/>
            </a:pPr>
            <a:r>
              <a:rPr lang="fa-IR" altLang="en-US" sz="1700" dirty="0">
                <a:solidFill>
                  <a:schemeClr val="accent5"/>
                </a:solidFill>
                <a:latin typeface="B Nazanin" pitchFamily="34" charset="0"/>
                <a:ea typeface="B Nazanin" pitchFamily="34" charset="-122"/>
                <a:cs typeface="B Nazanin" pitchFamily="34" charset="-120"/>
              </a:rPr>
              <a:t>ضریب منفی β1: هزینهٔ پایین‌تر، افزایش بعدی بیشتر (ریکاوری)</a:t>
            </a:r>
            <a:endParaRPr lang="fa-IR" sz="1700" dirty="0"/>
          </a:p>
        </p:txBody>
      </p:sp>
      <p:sp>
        <p:nvSpPr>
          <p:cNvPr id="7" name="anim_1_467"/>
          <p:cNvSpPr/>
          <p:nvPr/>
        </p:nvSpPr>
        <p:spPr>
          <a:xfrm>
            <a:off x="1284732" y="2057400"/>
            <a:ext cx="634594" cy="365760"/>
          </a:xfrm>
          <a:prstGeom prst="roundRect">
            <a:avLst>
              <a:gd name="adj" fmla="val 15000"/>
            </a:avLst>
          </a:prstGeom>
          <a:solidFill>
            <a:schemeClr val="accent1"/>
          </a:solidFill>
          <a:ln/>
        </p:spPr>
      </p:sp>
      <p:sp>
        <p:nvSpPr>
          <p:cNvPr id="8" name="anim_1_468"/>
          <p:cNvSpPr txBox="1"/>
          <p:nvPr/>
        </p:nvSpPr>
        <p:spPr>
          <a:xfrm>
            <a:off x="1284732" y="205740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ΔAF</a:t>
            </a:r>
            <a:endParaRPr lang="en-US" sz="1400" dirty="0"/>
          </a:p>
        </p:txBody>
      </p:sp>
      <p:sp>
        <p:nvSpPr>
          <p:cNvPr id="9" name="anim_1_469"/>
          <p:cNvSpPr txBox="1"/>
          <p:nvPr/>
        </p:nvSpPr>
        <p:spPr>
          <a:xfrm>
            <a:off x="1992478"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10" name="anim_1_470"/>
          <p:cNvSpPr txBox="1"/>
          <p:nvPr/>
        </p:nvSpPr>
        <p:spPr>
          <a:xfrm>
            <a:off x="2303374" y="20116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α0</a:t>
            </a:r>
            <a:endParaRPr lang="en-US" sz="2000" dirty="0"/>
          </a:p>
        </p:txBody>
      </p:sp>
      <p:sp>
        <p:nvSpPr>
          <p:cNvPr id="11" name="anim_1_471"/>
          <p:cNvSpPr txBox="1"/>
          <p:nvPr/>
        </p:nvSpPr>
        <p:spPr>
          <a:xfrm>
            <a:off x="2705710"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12" name="anim_1_472"/>
          <p:cNvSpPr txBox="1"/>
          <p:nvPr/>
        </p:nvSpPr>
        <p:spPr>
          <a:xfrm>
            <a:off x="3016606" y="20116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β1</a:t>
            </a:r>
            <a:endParaRPr lang="en-US" sz="2000" dirty="0"/>
          </a:p>
        </p:txBody>
      </p:sp>
      <p:sp>
        <p:nvSpPr>
          <p:cNvPr id="13" name="anim_1_473"/>
          <p:cNvSpPr/>
          <p:nvPr/>
        </p:nvSpPr>
        <p:spPr>
          <a:xfrm>
            <a:off x="3418942" y="2057400"/>
            <a:ext cx="566928" cy="365760"/>
          </a:xfrm>
          <a:prstGeom prst="roundRect">
            <a:avLst>
              <a:gd name="adj" fmla="val 15000"/>
            </a:avLst>
          </a:prstGeom>
          <a:solidFill>
            <a:schemeClr val="accent1"/>
          </a:solidFill>
          <a:ln/>
        </p:spPr>
      </p:sp>
      <p:sp>
        <p:nvSpPr>
          <p:cNvPr id="14" name="anim_1_474"/>
          <p:cNvSpPr txBox="1"/>
          <p:nvPr/>
        </p:nvSpPr>
        <p:spPr>
          <a:xfrm>
            <a:off x="3418942" y="2057400"/>
            <a:ext cx="566928"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AF</a:t>
            </a:r>
            <a:endParaRPr lang="en-US" sz="1400" dirty="0"/>
          </a:p>
        </p:txBody>
      </p:sp>
      <p:sp>
        <p:nvSpPr>
          <p:cNvPr id="15" name="anim_1_475"/>
          <p:cNvSpPr txBox="1"/>
          <p:nvPr/>
        </p:nvSpPr>
        <p:spPr>
          <a:xfrm>
            <a:off x="4059022"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16" name="anim_1_476"/>
          <p:cNvSpPr txBox="1"/>
          <p:nvPr/>
        </p:nvSpPr>
        <p:spPr>
          <a:xfrm>
            <a:off x="4369918" y="20116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β2</a:t>
            </a:r>
            <a:endParaRPr lang="en-US" sz="2000" dirty="0"/>
          </a:p>
        </p:txBody>
      </p:sp>
      <p:sp>
        <p:nvSpPr>
          <p:cNvPr id="17" name="anim_1_477"/>
          <p:cNvSpPr/>
          <p:nvPr/>
        </p:nvSpPr>
        <p:spPr>
          <a:xfrm>
            <a:off x="4772254" y="2057400"/>
            <a:ext cx="742493" cy="365760"/>
          </a:xfrm>
          <a:prstGeom prst="roundRect">
            <a:avLst>
              <a:gd name="adj" fmla="val 15000"/>
            </a:avLst>
          </a:prstGeom>
          <a:solidFill>
            <a:schemeClr val="accent1"/>
          </a:solidFill>
          <a:ln/>
        </p:spPr>
      </p:sp>
      <p:sp>
        <p:nvSpPr>
          <p:cNvPr id="18" name="anim_1_478"/>
          <p:cNvSpPr txBox="1"/>
          <p:nvPr/>
        </p:nvSpPr>
        <p:spPr>
          <a:xfrm>
            <a:off x="4772254" y="205740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SIZE</a:t>
            </a:r>
            <a:endParaRPr lang="en-US" sz="1400" dirty="0"/>
          </a:p>
        </p:txBody>
      </p:sp>
      <p:sp>
        <p:nvSpPr>
          <p:cNvPr id="19" name="anim_1_479"/>
          <p:cNvSpPr txBox="1"/>
          <p:nvPr/>
        </p:nvSpPr>
        <p:spPr>
          <a:xfrm>
            <a:off x="5587898"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20" name="anim_1_480"/>
          <p:cNvSpPr txBox="1"/>
          <p:nvPr/>
        </p:nvSpPr>
        <p:spPr>
          <a:xfrm>
            <a:off x="5898794" y="20116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β3</a:t>
            </a:r>
            <a:endParaRPr lang="en-US" sz="2000" dirty="0"/>
          </a:p>
        </p:txBody>
      </p:sp>
      <p:sp>
        <p:nvSpPr>
          <p:cNvPr id="21" name="anim_1_481"/>
          <p:cNvSpPr/>
          <p:nvPr/>
        </p:nvSpPr>
        <p:spPr>
          <a:xfrm>
            <a:off x="6301130" y="2057400"/>
            <a:ext cx="742493" cy="365760"/>
          </a:xfrm>
          <a:prstGeom prst="roundRect">
            <a:avLst>
              <a:gd name="adj" fmla="val 15000"/>
            </a:avLst>
          </a:prstGeom>
          <a:solidFill>
            <a:schemeClr val="accent1"/>
          </a:solidFill>
          <a:ln/>
        </p:spPr>
      </p:sp>
      <p:sp>
        <p:nvSpPr>
          <p:cNvPr id="22" name="anim_1_482"/>
          <p:cNvSpPr txBox="1"/>
          <p:nvPr/>
        </p:nvSpPr>
        <p:spPr>
          <a:xfrm>
            <a:off x="6301130" y="205740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RISK</a:t>
            </a:r>
            <a:endParaRPr lang="en-US" sz="1400" dirty="0"/>
          </a:p>
        </p:txBody>
      </p:sp>
      <p:sp>
        <p:nvSpPr>
          <p:cNvPr id="23" name="anim_1_483"/>
          <p:cNvSpPr txBox="1"/>
          <p:nvPr/>
        </p:nvSpPr>
        <p:spPr>
          <a:xfrm>
            <a:off x="7116775"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24" name="anim_1_484"/>
          <p:cNvSpPr txBox="1"/>
          <p:nvPr/>
        </p:nvSpPr>
        <p:spPr>
          <a:xfrm>
            <a:off x="7427671" y="20116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β4</a:t>
            </a:r>
            <a:endParaRPr lang="en-US" sz="2000" dirty="0"/>
          </a:p>
        </p:txBody>
      </p:sp>
      <p:sp>
        <p:nvSpPr>
          <p:cNvPr id="25" name="anim_1_485"/>
          <p:cNvSpPr/>
          <p:nvPr/>
        </p:nvSpPr>
        <p:spPr>
          <a:xfrm>
            <a:off x="7830007" y="2057400"/>
            <a:ext cx="634594" cy="365760"/>
          </a:xfrm>
          <a:prstGeom prst="roundRect">
            <a:avLst>
              <a:gd name="adj" fmla="val 15000"/>
            </a:avLst>
          </a:prstGeom>
          <a:solidFill>
            <a:schemeClr val="accent1"/>
          </a:solidFill>
          <a:ln/>
        </p:spPr>
      </p:sp>
      <p:sp>
        <p:nvSpPr>
          <p:cNvPr id="26" name="anim_1_486"/>
          <p:cNvSpPr txBox="1"/>
          <p:nvPr/>
        </p:nvSpPr>
        <p:spPr>
          <a:xfrm>
            <a:off x="7830007" y="205740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ROA</a:t>
            </a:r>
            <a:endParaRPr lang="en-US" sz="1400" dirty="0"/>
          </a:p>
        </p:txBody>
      </p:sp>
      <p:sp>
        <p:nvSpPr>
          <p:cNvPr id="27" name="anim_1_487"/>
          <p:cNvSpPr txBox="1"/>
          <p:nvPr/>
        </p:nvSpPr>
        <p:spPr>
          <a:xfrm>
            <a:off x="8537753"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28" name="anim_1_488"/>
          <p:cNvSpPr txBox="1"/>
          <p:nvPr/>
        </p:nvSpPr>
        <p:spPr>
          <a:xfrm>
            <a:off x="8848649" y="201168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β5</a:t>
            </a:r>
            <a:endParaRPr lang="en-US" sz="2000" dirty="0"/>
          </a:p>
        </p:txBody>
      </p:sp>
      <p:sp>
        <p:nvSpPr>
          <p:cNvPr id="29" name="anim_1_489"/>
          <p:cNvSpPr/>
          <p:nvPr/>
        </p:nvSpPr>
        <p:spPr>
          <a:xfrm>
            <a:off x="9250985" y="2057400"/>
            <a:ext cx="958291" cy="365760"/>
          </a:xfrm>
          <a:prstGeom prst="roundRect">
            <a:avLst>
              <a:gd name="adj" fmla="val 15000"/>
            </a:avLst>
          </a:prstGeom>
          <a:solidFill>
            <a:schemeClr val="accent1"/>
          </a:solidFill>
          <a:ln/>
        </p:spPr>
      </p:sp>
      <p:sp>
        <p:nvSpPr>
          <p:cNvPr id="30" name="anim_1_490"/>
          <p:cNvSpPr txBox="1"/>
          <p:nvPr/>
        </p:nvSpPr>
        <p:spPr>
          <a:xfrm>
            <a:off x="9250985" y="2057400"/>
            <a:ext cx="958291"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GROWTH</a:t>
            </a:r>
            <a:endParaRPr lang="en-US" sz="1400" dirty="0"/>
          </a:p>
        </p:txBody>
      </p:sp>
      <p:sp>
        <p:nvSpPr>
          <p:cNvPr id="31" name="anim_1_491"/>
          <p:cNvSpPr txBox="1"/>
          <p:nvPr/>
        </p:nvSpPr>
        <p:spPr>
          <a:xfrm>
            <a:off x="10282428"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32" name="anim_1_492"/>
          <p:cNvSpPr txBox="1"/>
          <p:nvPr/>
        </p:nvSpPr>
        <p:spPr>
          <a:xfrm>
            <a:off x="10593324" y="201168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ε</a:t>
            </a:r>
            <a:endParaRPr lang="en-US" sz="2000" dirty="0"/>
          </a:p>
        </p:txBody>
      </p:sp>
      <p:sp>
        <p:nvSpPr>
          <p:cNvPr id="33" name="anim_2_493"/>
          <p:cNvSpPr/>
          <p:nvPr/>
        </p:nvSpPr>
        <p:spPr>
          <a:xfrm>
            <a:off x="548640" y="2971800"/>
            <a:ext cx="11091672" cy="1508760"/>
          </a:xfrm>
          <a:prstGeom prst="roundRect">
            <a:avLst>
              <a:gd name="adj" fmla="val 7273"/>
            </a:avLst>
          </a:prstGeom>
          <a:solidFill>
            <a:schemeClr val="bg2"/>
          </a:solidFill>
          <a:ln/>
          <a:effectLst>
            <a:outerShdw sx="100000" sy="100000" kx="0" ky="0" algn="bl" rotWithShape="0" blurRad="101600" dist="25400" dir="5400000">
              <a:srgbClr val="000000">
                <a:alpha val="12000"/>
              </a:srgbClr>
            </a:outerShdw>
          </a:effectLst>
        </p:spPr>
      </p:sp>
      <p:sp>
        <p:nvSpPr>
          <p:cNvPr id="34" name="anim_2_494"/>
          <p:cNvSpPr/>
          <p:nvPr/>
        </p:nvSpPr>
        <p:spPr>
          <a:xfrm>
            <a:off x="9445752" y="3063240"/>
            <a:ext cx="2057400" cy="457200"/>
          </a:xfrm>
          <a:prstGeom prst="roundRect">
            <a:avLst>
              <a:gd name="adj" fmla="val 20000"/>
            </a:avLst>
          </a:prstGeom>
          <a:solidFill>
            <a:schemeClr val="accent4"/>
          </a:solidFill>
          <a:ln/>
        </p:spPr>
      </p:sp>
      <p:sp>
        <p:nvSpPr>
          <p:cNvPr id="35" name="anim_2_495"/>
          <p:cNvSpPr txBox="1"/>
          <p:nvPr/>
        </p:nvSpPr>
        <p:spPr>
          <a:xfrm>
            <a:off x="9445752" y="3063240"/>
            <a:ext cx="2057400" cy="45720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فرضیهٔ چهارم</a:t>
            </a:r>
            <a:endParaRPr lang="fa-IR" sz="1700" dirty="0"/>
          </a:p>
        </p:txBody>
      </p:sp>
      <p:sp>
        <p:nvSpPr>
          <p:cNvPr id="36" name="anim_2_496"/>
          <p:cNvSpPr txBox="1"/>
          <p:nvPr/>
        </p:nvSpPr>
        <p:spPr>
          <a:xfrm>
            <a:off x="731520" y="3063240"/>
            <a:ext cx="8531352" cy="457200"/>
          </a:xfrm>
          <a:prstGeom prst="rect">
            <a:avLst/>
          </a:prstGeom>
          <a:noFill/>
          <a:ln/>
        </p:spPr>
        <p:txBody>
          <a:bodyPr wrap="square" lIns="0" tIns="0" rIns="0" bIns="0" rtlCol="0" anchor="ctr"/>
          <a:lstStyle/>
          <a:p>
            <a:pPr rtl="1" algn="r" indent="0" marL="0">
              <a:buNone/>
            </a:pPr>
            <a:r>
              <a:rPr lang="fa-IR" altLang="en-US" sz="1700" dirty="0">
                <a:solidFill>
                  <a:schemeClr val="accent5"/>
                </a:solidFill>
                <a:latin typeface="B Nazanin" pitchFamily="34" charset="0"/>
                <a:ea typeface="B Nazanin" pitchFamily="34" charset="-122"/>
                <a:cs typeface="B Nazanin" pitchFamily="34" charset="-120"/>
              </a:rPr>
              <a:t>ضریب منفی و معنادار β1: سهم خدمات غیرحسابرسی در مؤسسات کم‌هزینه بیشتر است</a:t>
            </a:r>
            <a:endParaRPr lang="fa-IR" sz="1700" dirty="0"/>
          </a:p>
        </p:txBody>
      </p:sp>
      <p:sp>
        <p:nvSpPr>
          <p:cNvPr id="37" name="anim_2_497"/>
          <p:cNvSpPr/>
          <p:nvPr/>
        </p:nvSpPr>
        <p:spPr>
          <a:xfrm>
            <a:off x="1230782" y="3703320"/>
            <a:ext cx="742493" cy="365760"/>
          </a:xfrm>
          <a:prstGeom prst="roundRect">
            <a:avLst>
              <a:gd name="adj" fmla="val 15000"/>
            </a:avLst>
          </a:prstGeom>
          <a:solidFill>
            <a:schemeClr val="accent1"/>
          </a:solidFill>
          <a:ln/>
        </p:spPr>
      </p:sp>
      <p:sp>
        <p:nvSpPr>
          <p:cNvPr id="38" name="anim_2_498"/>
          <p:cNvSpPr txBox="1"/>
          <p:nvPr/>
        </p:nvSpPr>
        <p:spPr>
          <a:xfrm>
            <a:off x="1230782" y="370332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NASR</a:t>
            </a:r>
            <a:endParaRPr lang="en-US" sz="1400" dirty="0"/>
          </a:p>
        </p:txBody>
      </p:sp>
      <p:sp>
        <p:nvSpPr>
          <p:cNvPr id="39" name="anim_2_499"/>
          <p:cNvSpPr txBox="1"/>
          <p:nvPr/>
        </p:nvSpPr>
        <p:spPr>
          <a:xfrm>
            <a:off x="2046427"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40" name="anim_2_500"/>
          <p:cNvSpPr txBox="1"/>
          <p:nvPr/>
        </p:nvSpPr>
        <p:spPr>
          <a:xfrm>
            <a:off x="2357323" y="365760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α0</a:t>
            </a:r>
            <a:endParaRPr lang="en-US" sz="2000" dirty="0"/>
          </a:p>
        </p:txBody>
      </p:sp>
      <p:sp>
        <p:nvSpPr>
          <p:cNvPr id="41" name="anim_2_501"/>
          <p:cNvSpPr txBox="1"/>
          <p:nvPr/>
        </p:nvSpPr>
        <p:spPr>
          <a:xfrm>
            <a:off x="2759659"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42" name="anim_2_502"/>
          <p:cNvSpPr txBox="1"/>
          <p:nvPr/>
        </p:nvSpPr>
        <p:spPr>
          <a:xfrm>
            <a:off x="3070555" y="365760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β1</a:t>
            </a:r>
            <a:endParaRPr lang="en-US" sz="2000" dirty="0"/>
          </a:p>
        </p:txBody>
      </p:sp>
      <p:sp>
        <p:nvSpPr>
          <p:cNvPr id="43" name="anim_2_503"/>
          <p:cNvSpPr/>
          <p:nvPr/>
        </p:nvSpPr>
        <p:spPr>
          <a:xfrm>
            <a:off x="3472891" y="3703320"/>
            <a:ext cx="566928" cy="365760"/>
          </a:xfrm>
          <a:prstGeom prst="roundRect">
            <a:avLst>
              <a:gd name="adj" fmla="val 15000"/>
            </a:avLst>
          </a:prstGeom>
          <a:solidFill>
            <a:schemeClr val="accent1"/>
          </a:solidFill>
          <a:ln/>
        </p:spPr>
      </p:sp>
      <p:sp>
        <p:nvSpPr>
          <p:cNvPr id="44" name="anim_2_504"/>
          <p:cNvSpPr txBox="1"/>
          <p:nvPr/>
        </p:nvSpPr>
        <p:spPr>
          <a:xfrm>
            <a:off x="3472891" y="3703320"/>
            <a:ext cx="566928"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AF</a:t>
            </a:r>
            <a:endParaRPr lang="en-US" sz="1400" dirty="0"/>
          </a:p>
        </p:txBody>
      </p:sp>
      <p:sp>
        <p:nvSpPr>
          <p:cNvPr id="45" name="anim_2_505"/>
          <p:cNvSpPr txBox="1"/>
          <p:nvPr/>
        </p:nvSpPr>
        <p:spPr>
          <a:xfrm>
            <a:off x="4112971"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46" name="anim_2_506"/>
          <p:cNvSpPr txBox="1"/>
          <p:nvPr/>
        </p:nvSpPr>
        <p:spPr>
          <a:xfrm>
            <a:off x="4423867" y="365760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β2</a:t>
            </a:r>
            <a:endParaRPr lang="en-US" sz="2000" dirty="0"/>
          </a:p>
        </p:txBody>
      </p:sp>
      <p:sp>
        <p:nvSpPr>
          <p:cNvPr id="47" name="anim_2_507"/>
          <p:cNvSpPr/>
          <p:nvPr/>
        </p:nvSpPr>
        <p:spPr>
          <a:xfrm>
            <a:off x="4826203" y="3703320"/>
            <a:ext cx="742493" cy="365760"/>
          </a:xfrm>
          <a:prstGeom prst="roundRect">
            <a:avLst>
              <a:gd name="adj" fmla="val 15000"/>
            </a:avLst>
          </a:prstGeom>
          <a:solidFill>
            <a:schemeClr val="accent1"/>
          </a:solidFill>
          <a:ln/>
        </p:spPr>
      </p:sp>
      <p:sp>
        <p:nvSpPr>
          <p:cNvPr id="48" name="anim_2_508"/>
          <p:cNvSpPr txBox="1"/>
          <p:nvPr/>
        </p:nvSpPr>
        <p:spPr>
          <a:xfrm>
            <a:off x="4826203" y="370332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SIZE</a:t>
            </a:r>
            <a:endParaRPr lang="en-US" sz="1400" dirty="0"/>
          </a:p>
        </p:txBody>
      </p:sp>
      <p:sp>
        <p:nvSpPr>
          <p:cNvPr id="49" name="anim_2_509"/>
          <p:cNvSpPr txBox="1"/>
          <p:nvPr/>
        </p:nvSpPr>
        <p:spPr>
          <a:xfrm>
            <a:off x="5641848"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50" name="anim_2_510"/>
          <p:cNvSpPr txBox="1"/>
          <p:nvPr/>
        </p:nvSpPr>
        <p:spPr>
          <a:xfrm>
            <a:off x="5952744" y="365760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β3</a:t>
            </a:r>
            <a:endParaRPr lang="en-US" sz="2000" dirty="0"/>
          </a:p>
        </p:txBody>
      </p:sp>
      <p:sp>
        <p:nvSpPr>
          <p:cNvPr id="51" name="anim_2_511"/>
          <p:cNvSpPr/>
          <p:nvPr/>
        </p:nvSpPr>
        <p:spPr>
          <a:xfrm>
            <a:off x="6355080" y="3703320"/>
            <a:ext cx="742493" cy="365760"/>
          </a:xfrm>
          <a:prstGeom prst="roundRect">
            <a:avLst>
              <a:gd name="adj" fmla="val 15000"/>
            </a:avLst>
          </a:prstGeom>
          <a:solidFill>
            <a:schemeClr val="accent1"/>
          </a:solidFill>
          <a:ln/>
        </p:spPr>
      </p:sp>
      <p:sp>
        <p:nvSpPr>
          <p:cNvPr id="52" name="anim_2_512"/>
          <p:cNvSpPr txBox="1"/>
          <p:nvPr/>
        </p:nvSpPr>
        <p:spPr>
          <a:xfrm>
            <a:off x="6355080" y="370332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RISK</a:t>
            </a:r>
            <a:endParaRPr lang="en-US" sz="1400" dirty="0"/>
          </a:p>
        </p:txBody>
      </p:sp>
      <p:sp>
        <p:nvSpPr>
          <p:cNvPr id="53" name="anim_2_513"/>
          <p:cNvSpPr txBox="1"/>
          <p:nvPr/>
        </p:nvSpPr>
        <p:spPr>
          <a:xfrm>
            <a:off x="7170725"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54" name="anim_2_514"/>
          <p:cNvSpPr txBox="1"/>
          <p:nvPr/>
        </p:nvSpPr>
        <p:spPr>
          <a:xfrm>
            <a:off x="7481621" y="365760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β4</a:t>
            </a:r>
            <a:endParaRPr lang="en-US" sz="2000" dirty="0"/>
          </a:p>
        </p:txBody>
      </p:sp>
      <p:sp>
        <p:nvSpPr>
          <p:cNvPr id="55" name="anim_2_515"/>
          <p:cNvSpPr/>
          <p:nvPr/>
        </p:nvSpPr>
        <p:spPr>
          <a:xfrm>
            <a:off x="7883957" y="3703320"/>
            <a:ext cx="634594" cy="365760"/>
          </a:xfrm>
          <a:prstGeom prst="roundRect">
            <a:avLst>
              <a:gd name="adj" fmla="val 15000"/>
            </a:avLst>
          </a:prstGeom>
          <a:solidFill>
            <a:schemeClr val="accent1"/>
          </a:solidFill>
          <a:ln/>
        </p:spPr>
      </p:sp>
      <p:sp>
        <p:nvSpPr>
          <p:cNvPr id="56" name="anim_2_516"/>
          <p:cNvSpPr txBox="1"/>
          <p:nvPr/>
        </p:nvSpPr>
        <p:spPr>
          <a:xfrm>
            <a:off x="7883957" y="370332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ROA</a:t>
            </a:r>
            <a:endParaRPr lang="en-US" sz="1400" dirty="0"/>
          </a:p>
        </p:txBody>
      </p:sp>
      <p:sp>
        <p:nvSpPr>
          <p:cNvPr id="57" name="anim_2_517"/>
          <p:cNvSpPr txBox="1"/>
          <p:nvPr/>
        </p:nvSpPr>
        <p:spPr>
          <a:xfrm>
            <a:off x="8591702"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58" name="anim_2_518"/>
          <p:cNvSpPr txBox="1"/>
          <p:nvPr/>
        </p:nvSpPr>
        <p:spPr>
          <a:xfrm>
            <a:off x="8902598" y="365760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β5</a:t>
            </a:r>
            <a:endParaRPr lang="en-US" sz="2000" dirty="0"/>
          </a:p>
        </p:txBody>
      </p:sp>
      <p:sp>
        <p:nvSpPr>
          <p:cNvPr id="59" name="anim_2_519"/>
          <p:cNvSpPr/>
          <p:nvPr/>
        </p:nvSpPr>
        <p:spPr>
          <a:xfrm>
            <a:off x="9304934" y="3703320"/>
            <a:ext cx="958291" cy="365760"/>
          </a:xfrm>
          <a:prstGeom prst="roundRect">
            <a:avLst>
              <a:gd name="adj" fmla="val 15000"/>
            </a:avLst>
          </a:prstGeom>
          <a:solidFill>
            <a:schemeClr val="accent1"/>
          </a:solidFill>
          <a:ln/>
        </p:spPr>
      </p:sp>
      <p:sp>
        <p:nvSpPr>
          <p:cNvPr id="60" name="anim_2_520"/>
          <p:cNvSpPr txBox="1"/>
          <p:nvPr/>
        </p:nvSpPr>
        <p:spPr>
          <a:xfrm>
            <a:off x="9304934" y="3703320"/>
            <a:ext cx="958291"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GROWTH</a:t>
            </a:r>
            <a:endParaRPr lang="en-US" sz="1400" dirty="0"/>
          </a:p>
        </p:txBody>
      </p:sp>
      <p:sp>
        <p:nvSpPr>
          <p:cNvPr id="61" name="anim_2_521"/>
          <p:cNvSpPr txBox="1"/>
          <p:nvPr/>
        </p:nvSpPr>
        <p:spPr>
          <a:xfrm>
            <a:off x="10336378"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62" name="anim_2_522"/>
          <p:cNvSpPr txBox="1"/>
          <p:nvPr/>
        </p:nvSpPr>
        <p:spPr>
          <a:xfrm>
            <a:off x="10647274" y="365760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ε</a:t>
            </a:r>
            <a:endParaRPr lang="en-US" sz="2000" dirty="0"/>
          </a:p>
        </p:txBody>
      </p:sp>
      <p:sp>
        <p:nvSpPr>
          <p:cNvPr id="63" name="anim_3_523"/>
          <p:cNvSpPr/>
          <p:nvPr/>
        </p:nvSpPr>
        <p:spPr>
          <a:xfrm>
            <a:off x="548640" y="4617720"/>
            <a:ext cx="11091672" cy="1508760"/>
          </a:xfrm>
          <a:prstGeom prst="roundRect">
            <a:avLst>
              <a:gd name="adj" fmla="val 7273"/>
            </a:avLst>
          </a:prstGeom>
          <a:solidFill>
            <a:schemeClr val="bg2"/>
          </a:solidFill>
          <a:ln/>
          <a:effectLst>
            <a:outerShdw sx="100000" sy="100000" kx="0" ky="0" algn="bl" rotWithShape="0" blurRad="101600" dist="25400" dir="5400000">
              <a:srgbClr val="000000">
                <a:alpha val="12000"/>
              </a:srgbClr>
            </a:outerShdw>
          </a:effectLst>
        </p:spPr>
      </p:sp>
      <p:sp>
        <p:nvSpPr>
          <p:cNvPr id="64" name="anim_3_524"/>
          <p:cNvSpPr/>
          <p:nvPr/>
        </p:nvSpPr>
        <p:spPr>
          <a:xfrm>
            <a:off x="9445752" y="4709160"/>
            <a:ext cx="2057400" cy="457200"/>
          </a:xfrm>
          <a:prstGeom prst="roundRect">
            <a:avLst>
              <a:gd name="adj" fmla="val 20000"/>
            </a:avLst>
          </a:prstGeom>
          <a:solidFill>
            <a:schemeClr val="accent3"/>
          </a:solidFill>
          <a:ln/>
        </p:spPr>
      </p:sp>
      <p:sp>
        <p:nvSpPr>
          <p:cNvPr id="65" name="anim_3_525"/>
          <p:cNvSpPr txBox="1"/>
          <p:nvPr/>
        </p:nvSpPr>
        <p:spPr>
          <a:xfrm>
            <a:off x="9445752" y="4709160"/>
            <a:ext cx="2057400" cy="457200"/>
          </a:xfrm>
          <a:prstGeom prst="rect">
            <a:avLst/>
          </a:prstGeom>
          <a:noFill/>
          <a:ln/>
        </p:spPr>
        <p:txBody>
          <a:bodyPr wrap="square" lIns="0" tIns="0" rIns="0" bIns="0" rtlCol="0" anchor="ctr"/>
          <a:lstStyle/>
          <a:p>
            <a:pPr rtl="1" algn="ctr" indent="0" marL="0">
              <a:buNone/>
            </a:pPr>
            <a:r>
              <a:rPr lang="fa-IR" altLang="en-US" sz="1700" dirty="0">
                <a:solidFill>
                  <a:schemeClr val="bg1"/>
                </a:solidFill>
                <a:latin typeface="B Titr" pitchFamily="34" charset="0"/>
                <a:ea typeface="B Titr" pitchFamily="34" charset="-122"/>
                <a:cs typeface="B Titr" pitchFamily="34" charset="-120"/>
              </a:rPr>
              <a:t>فرضیهٔ پنجم</a:t>
            </a:r>
            <a:endParaRPr lang="fa-IR" sz="1700" dirty="0"/>
          </a:p>
        </p:txBody>
      </p:sp>
      <p:sp>
        <p:nvSpPr>
          <p:cNvPr id="66" name="anim_3_526"/>
          <p:cNvSpPr txBox="1"/>
          <p:nvPr/>
        </p:nvSpPr>
        <p:spPr>
          <a:xfrm>
            <a:off x="731520" y="4709160"/>
            <a:ext cx="8531352" cy="457200"/>
          </a:xfrm>
          <a:prstGeom prst="rect">
            <a:avLst/>
          </a:prstGeom>
          <a:noFill/>
          <a:ln/>
        </p:spPr>
        <p:txBody>
          <a:bodyPr wrap="square" lIns="0" tIns="0" rIns="0" bIns="0" rtlCol="0" anchor="ctr"/>
          <a:lstStyle/>
          <a:p>
            <a:pPr rtl="1" algn="r" indent="0" marL="0">
              <a:buNone/>
            </a:pPr>
            <a:r>
              <a:rPr lang="fa-IR" altLang="en-US" sz="1700" dirty="0">
                <a:solidFill>
                  <a:schemeClr val="accent5"/>
                </a:solidFill>
                <a:latin typeface="B Nazanin" pitchFamily="34" charset="0"/>
                <a:ea typeface="B Nazanin" pitchFamily="34" charset="-122"/>
                <a:cs typeface="B Nazanin" pitchFamily="34" charset="-120"/>
              </a:rPr>
              <a:t>ضریب غیرمعنادار β1: کیفیت آینده به بازیابی وابسته نیست</a:t>
            </a:r>
            <a:endParaRPr lang="fa-IR" sz="1700" dirty="0"/>
          </a:p>
        </p:txBody>
      </p:sp>
      <p:sp>
        <p:nvSpPr>
          <p:cNvPr id="67" name="anim_3_527"/>
          <p:cNvSpPr/>
          <p:nvPr/>
        </p:nvSpPr>
        <p:spPr>
          <a:xfrm>
            <a:off x="1853489" y="5349240"/>
            <a:ext cx="634594" cy="365760"/>
          </a:xfrm>
          <a:prstGeom prst="roundRect">
            <a:avLst>
              <a:gd name="adj" fmla="val 15000"/>
            </a:avLst>
          </a:prstGeom>
          <a:solidFill>
            <a:schemeClr val="accent1"/>
          </a:solidFill>
          <a:ln/>
        </p:spPr>
      </p:sp>
      <p:sp>
        <p:nvSpPr>
          <p:cNvPr id="68" name="anim_3_528"/>
          <p:cNvSpPr txBox="1"/>
          <p:nvPr/>
        </p:nvSpPr>
        <p:spPr>
          <a:xfrm>
            <a:off x="1853489" y="5349240"/>
            <a:ext cx="634594"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AFQ</a:t>
            </a:r>
            <a:endParaRPr lang="en-US" sz="1400" dirty="0"/>
          </a:p>
        </p:txBody>
      </p:sp>
      <p:sp>
        <p:nvSpPr>
          <p:cNvPr id="69" name="anim_3_529"/>
          <p:cNvSpPr txBox="1"/>
          <p:nvPr/>
        </p:nvSpPr>
        <p:spPr>
          <a:xfrm>
            <a:off x="2561234" y="5303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70" name="anim_3_530"/>
          <p:cNvSpPr txBox="1"/>
          <p:nvPr/>
        </p:nvSpPr>
        <p:spPr>
          <a:xfrm>
            <a:off x="2872130" y="5303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α0</a:t>
            </a:r>
            <a:endParaRPr lang="en-US" sz="2000" dirty="0"/>
          </a:p>
        </p:txBody>
      </p:sp>
      <p:sp>
        <p:nvSpPr>
          <p:cNvPr id="71" name="anim_3_531"/>
          <p:cNvSpPr txBox="1"/>
          <p:nvPr/>
        </p:nvSpPr>
        <p:spPr>
          <a:xfrm>
            <a:off x="3274466" y="5303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72" name="anim_3_532"/>
          <p:cNvSpPr txBox="1"/>
          <p:nvPr/>
        </p:nvSpPr>
        <p:spPr>
          <a:xfrm>
            <a:off x="3585362" y="5303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β1</a:t>
            </a:r>
            <a:endParaRPr lang="en-US" sz="2000" dirty="0"/>
          </a:p>
        </p:txBody>
      </p:sp>
      <p:sp>
        <p:nvSpPr>
          <p:cNvPr id="73" name="anim_3_533"/>
          <p:cNvSpPr/>
          <p:nvPr/>
        </p:nvSpPr>
        <p:spPr>
          <a:xfrm>
            <a:off x="3987698" y="5349240"/>
            <a:ext cx="850392" cy="365760"/>
          </a:xfrm>
          <a:prstGeom prst="roundRect">
            <a:avLst>
              <a:gd name="adj" fmla="val 15000"/>
            </a:avLst>
          </a:prstGeom>
          <a:solidFill>
            <a:schemeClr val="accent1"/>
          </a:solidFill>
          <a:ln/>
        </p:spPr>
      </p:sp>
      <p:sp>
        <p:nvSpPr>
          <p:cNvPr id="74" name="anim_3_534"/>
          <p:cNvSpPr txBox="1"/>
          <p:nvPr/>
        </p:nvSpPr>
        <p:spPr>
          <a:xfrm>
            <a:off x="3987698" y="5349240"/>
            <a:ext cx="850392"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COSTP</a:t>
            </a:r>
            <a:endParaRPr lang="en-US" sz="1400" dirty="0"/>
          </a:p>
        </p:txBody>
      </p:sp>
      <p:sp>
        <p:nvSpPr>
          <p:cNvPr id="75" name="anim_3_535"/>
          <p:cNvSpPr txBox="1"/>
          <p:nvPr/>
        </p:nvSpPr>
        <p:spPr>
          <a:xfrm>
            <a:off x="4911242" y="5303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76" name="anim_3_536"/>
          <p:cNvSpPr txBox="1"/>
          <p:nvPr/>
        </p:nvSpPr>
        <p:spPr>
          <a:xfrm>
            <a:off x="5222138" y="5303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β2</a:t>
            </a:r>
            <a:endParaRPr lang="en-US" sz="2000" dirty="0"/>
          </a:p>
        </p:txBody>
      </p:sp>
      <p:sp>
        <p:nvSpPr>
          <p:cNvPr id="77" name="anim_3_537"/>
          <p:cNvSpPr/>
          <p:nvPr/>
        </p:nvSpPr>
        <p:spPr>
          <a:xfrm>
            <a:off x="5624474" y="5349240"/>
            <a:ext cx="742493" cy="365760"/>
          </a:xfrm>
          <a:prstGeom prst="roundRect">
            <a:avLst>
              <a:gd name="adj" fmla="val 15000"/>
            </a:avLst>
          </a:prstGeom>
          <a:solidFill>
            <a:schemeClr val="accent1"/>
          </a:solidFill>
          <a:ln/>
        </p:spPr>
      </p:sp>
      <p:sp>
        <p:nvSpPr>
          <p:cNvPr id="78" name="anim_3_538"/>
          <p:cNvSpPr txBox="1"/>
          <p:nvPr/>
        </p:nvSpPr>
        <p:spPr>
          <a:xfrm>
            <a:off x="5624474" y="534924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SIZE</a:t>
            </a:r>
            <a:endParaRPr lang="en-US" sz="1400" dirty="0"/>
          </a:p>
        </p:txBody>
      </p:sp>
      <p:sp>
        <p:nvSpPr>
          <p:cNvPr id="79" name="anim_3_539"/>
          <p:cNvSpPr txBox="1"/>
          <p:nvPr/>
        </p:nvSpPr>
        <p:spPr>
          <a:xfrm>
            <a:off x="6440119" y="5303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80" name="anim_3_540"/>
          <p:cNvSpPr txBox="1"/>
          <p:nvPr/>
        </p:nvSpPr>
        <p:spPr>
          <a:xfrm>
            <a:off x="6751015" y="5303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β3</a:t>
            </a:r>
            <a:endParaRPr lang="en-US" sz="2000" dirty="0"/>
          </a:p>
        </p:txBody>
      </p:sp>
      <p:sp>
        <p:nvSpPr>
          <p:cNvPr id="81" name="anim_3_541"/>
          <p:cNvSpPr/>
          <p:nvPr/>
        </p:nvSpPr>
        <p:spPr>
          <a:xfrm>
            <a:off x="7153351" y="5349240"/>
            <a:ext cx="742493" cy="365760"/>
          </a:xfrm>
          <a:prstGeom prst="roundRect">
            <a:avLst>
              <a:gd name="adj" fmla="val 15000"/>
            </a:avLst>
          </a:prstGeom>
          <a:solidFill>
            <a:schemeClr val="accent1"/>
          </a:solidFill>
          <a:ln/>
        </p:spPr>
      </p:sp>
      <p:sp>
        <p:nvSpPr>
          <p:cNvPr id="82" name="anim_3_542"/>
          <p:cNvSpPr txBox="1"/>
          <p:nvPr/>
        </p:nvSpPr>
        <p:spPr>
          <a:xfrm>
            <a:off x="7153351" y="5349240"/>
            <a:ext cx="742493"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BIG4</a:t>
            </a:r>
            <a:endParaRPr lang="en-US" sz="1400" dirty="0"/>
          </a:p>
        </p:txBody>
      </p:sp>
      <p:sp>
        <p:nvSpPr>
          <p:cNvPr id="83" name="anim_3_543"/>
          <p:cNvSpPr txBox="1"/>
          <p:nvPr/>
        </p:nvSpPr>
        <p:spPr>
          <a:xfrm>
            <a:off x="7968996" y="5303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84" name="anim_3_544"/>
          <p:cNvSpPr txBox="1"/>
          <p:nvPr/>
        </p:nvSpPr>
        <p:spPr>
          <a:xfrm>
            <a:off x="8279892" y="5303520"/>
            <a:ext cx="32918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β4</a:t>
            </a:r>
            <a:endParaRPr lang="en-US" sz="2000" dirty="0"/>
          </a:p>
        </p:txBody>
      </p:sp>
      <p:sp>
        <p:nvSpPr>
          <p:cNvPr id="85" name="anim_3_545"/>
          <p:cNvSpPr/>
          <p:nvPr/>
        </p:nvSpPr>
        <p:spPr>
          <a:xfrm>
            <a:off x="8682228" y="5349240"/>
            <a:ext cx="958291" cy="365760"/>
          </a:xfrm>
          <a:prstGeom prst="roundRect">
            <a:avLst>
              <a:gd name="adj" fmla="val 15000"/>
            </a:avLst>
          </a:prstGeom>
          <a:solidFill>
            <a:schemeClr val="accent1"/>
          </a:solidFill>
          <a:ln/>
        </p:spPr>
      </p:sp>
      <p:sp>
        <p:nvSpPr>
          <p:cNvPr id="86" name="anim_3_546"/>
          <p:cNvSpPr txBox="1"/>
          <p:nvPr/>
        </p:nvSpPr>
        <p:spPr>
          <a:xfrm>
            <a:off x="8682228" y="5349240"/>
            <a:ext cx="958291"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TENURE</a:t>
            </a:r>
            <a:endParaRPr lang="en-US" sz="1400" dirty="0"/>
          </a:p>
        </p:txBody>
      </p:sp>
      <p:sp>
        <p:nvSpPr>
          <p:cNvPr id="87" name="anim_3_547"/>
          <p:cNvSpPr txBox="1"/>
          <p:nvPr/>
        </p:nvSpPr>
        <p:spPr>
          <a:xfrm>
            <a:off x="9713671" y="5303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a:t>
            </a:r>
            <a:endParaRPr lang="en-US" sz="2000" dirty="0"/>
          </a:p>
        </p:txBody>
      </p:sp>
      <p:sp>
        <p:nvSpPr>
          <p:cNvPr id="88" name="anim_3_548"/>
          <p:cNvSpPr txBox="1"/>
          <p:nvPr/>
        </p:nvSpPr>
        <p:spPr>
          <a:xfrm>
            <a:off x="10024567" y="5303520"/>
            <a:ext cx="237744" cy="457200"/>
          </a:xfrm>
          <a:prstGeom prst="rect">
            <a:avLst/>
          </a:prstGeom>
          <a:noFill/>
          <a:ln/>
        </p:spPr>
        <p:txBody>
          <a:bodyPr wrap="square" lIns="0" tIns="0" rIns="0" bIns="0" rtlCol="0" anchor="ctr"/>
          <a:lstStyle/>
          <a:p>
            <a:pPr algn="ctr" indent="0" marL="0">
              <a:buNone/>
            </a:pPr>
            <a:r>
              <a:rPr lang="en-US" sz="2000" i="1" dirty="0">
                <a:solidFill>
                  <a:schemeClr val="tx2"/>
                </a:solidFill>
                <a:latin typeface="Cambria" pitchFamily="34" charset="0"/>
                <a:ea typeface="Cambria" pitchFamily="34" charset="-122"/>
                <a:cs typeface="Cambria" pitchFamily="34" charset="-120"/>
              </a:rPr>
              <a:t>ε</a:t>
            </a:r>
            <a:endParaRPr lang="en-US" sz="2000" dirty="0"/>
          </a:p>
        </p:txBody>
      </p:sp>
      <p:sp>
        <p:nvSpPr>
          <p:cNvPr id="89" name="anim_4_549"/>
          <p:cNvSpPr txBox="1"/>
          <p:nvPr/>
        </p:nvSpPr>
        <p:spPr>
          <a:xfrm>
            <a:off x="548640" y="6263640"/>
            <a:ext cx="10177272" cy="365760"/>
          </a:xfrm>
          <a:prstGeom prst="rect">
            <a:avLst/>
          </a:prstGeom>
          <a:noFill/>
          <a:ln/>
        </p:spPr>
        <p:txBody>
          <a:bodyPr wrap="square" lIns="0" tIns="0" rIns="0" bIns="0" rtlCol="0" anchor="t"/>
          <a:lstStyle/>
          <a:p>
            <a:pPr rtl="1" algn="r" indent="0" marL="0">
              <a:buNone/>
            </a:pPr>
            <a:r>
              <a:rPr lang="fa-IR" altLang="en-US" sz="1500" dirty="0">
                <a:solidFill>
                  <a:schemeClr val="accent5"/>
                </a:solidFill>
                <a:latin typeface="B Nazanin" pitchFamily="34" charset="0"/>
                <a:ea typeface="B Nazanin" pitchFamily="34" charset="-122"/>
                <a:cs typeface="B Nazanin" pitchFamily="34" charset="-120"/>
              </a:rPr>
              <a:t>قاعدهٔ تصمیم هر فرضیه در جدول 3-2 رساله آمده است؛ سطح معناداری 5 درصد است.</a:t>
            </a:r>
            <a:endParaRPr lang="fa-IR" sz="15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65"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3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35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35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35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35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35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35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35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35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35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35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35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35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35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35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35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35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35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35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3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35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35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35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35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35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35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35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35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70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70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70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70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70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70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70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70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70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70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70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70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70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70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70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70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70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70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70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70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70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70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70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70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70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70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105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شیوهٔ آزمون فرضیه‌ها</a:t>
            </a:r>
            <a:endParaRPr lang="fa-IR" sz="3400" dirty="0"/>
          </a:p>
        </p:txBody>
      </p:sp>
      <p:sp>
        <p:nvSpPr>
          <p:cNvPr id="3" name="anim_1_550"/>
          <p:cNvSpPr/>
          <p:nvPr/>
        </p:nvSpPr>
        <p:spPr>
          <a:xfrm>
            <a:off x="8138160" y="1554480"/>
            <a:ext cx="356616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4" name="anim_1_551"/>
          <p:cNvSpPr/>
          <p:nvPr/>
        </p:nvSpPr>
        <p:spPr>
          <a:xfrm>
            <a:off x="10835640" y="1737360"/>
            <a:ext cx="731520" cy="731520"/>
          </a:xfrm>
          <a:prstGeom prst="ellipse">
            <a:avLst/>
          </a:prstGeom>
          <a:solidFill>
            <a:schemeClr val="accent1"/>
          </a:solidFill>
          <a:ln/>
        </p:spPr>
      </p:sp>
      <p:sp>
        <p:nvSpPr>
          <p:cNvPr id="5" name="anim_1_552"/>
          <p:cNvSpPr txBox="1"/>
          <p:nvPr/>
        </p:nvSpPr>
        <p:spPr>
          <a:xfrm>
            <a:off x="10835640" y="173736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1</a:t>
            </a:r>
            <a:endParaRPr lang="fa-IR" sz="2000" dirty="0"/>
          </a:p>
        </p:txBody>
      </p:sp>
      <p:sp>
        <p:nvSpPr>
          <p:cNvPr id="6" name="anim_1_553"/>
          <p:cNvSpPr txBox="1"/>
          <p:nvPr/>
        </p:nvSpPr>
        <p:spPr>
          <a:xfrm>
            <a:off x="8229600" y="1783080"/>
            <a:ext cx="2560320" cy="64008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آمار توصیفی</a:t>
            </a:r>
            <a:endParaRPr lang="fa-IR" sz="1900" dirty="0"/>
          </a:p>
        </p:txBody>
      </p:sp>
      <p:sp>
        <p:nvSpPr>
          <p:cNvPr id="7" name="anim_1_554"/>
          <p:cNvSpPr txBox="1"/>
          <p:nvPr/>
        </p:nvSpPr>
        <p:spPr>
          <a:xfrm>
            <a:off x="8275320" y="2651760"/>
            <a:ext cx="3291840" cy="914400"/>
          </a:xfrm>
          <a:prstGeom prst="rect">
            <a:avLst/>
          </a:prstGeom>
          <a:noFill/>
          <a:ln/>
        </p:spPr>
        <p:txBody>
          <a:bodyPr wrap="square" lIns="0" tIns="0" rIns="0" bIns="0" rtlCol="0" anchor="t"/>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میانگین، میانه، چولگی و کشیدگی متغیرها</a:t>
            </a:r>
            <a:endParaRPr lang="fa-IR" sz="1900" dirty="0"/>
          </a:p>
        </p:txBody>
      </p:sp>
      <p:sp>
        <p:nvSpPr>
          <p:cNvPr id="8" name="anim_2_555"/>
          <p:cNvSpPr/>
          <p:nvPr/>
        </p:nvSpPr>
        <p:spPr>
          <a:xfrm>
            <a:off x="4343400" y="1554480"/>
            <a:ext cx="356616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9" name="anim_2_556"/>
          <p:cNvSpPr/>
          <p:nvPr/>
        </p:nvSpPr>
        <p:spPr>
          <a:xfrm>
            <a:off x="7040880" y="1737360"/>
            <a:ext cx="731520" cy="731520"/>
          </a:xfrm>
          <a:prstGeom prst="ellipse">
            <a:avLst/>
          </a:prstGeom>
          <a:solidFill>
            <a:schemeClr val="accent5"/>
          </a:solidFill>
          <a:ln/>
        </p:spPr>
      </p:sp>
      <p:sp>
        <p:nvSpPr>
          <p:cNvPr id="10" name="anim_2_557"/>
          <p:cNvSpPr txBox="1"/>
          <p:nvPr/>
        </p:nvSpPr>
        <p:spPr>
          <a:xfrm>
            <a:off x="7040880" y="173736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2</a:t>
            </a:r>
            <a:endParaRPr lang="fa-IR" sz="2000" dirty="0"/>
          </a:p>
        </p:txBody>
      </p:sp>
      <p:sp>
        <p:nvSpPr>
          <p:cNvPr id="11" name="anim_2_558"/>
          <p:cNvSpPr txBox="1"/>
          <p:nvPr/>
        </p:nvSpPr>
        <p:spPr>
          <a:xfrm>
            <a:off x="4434840" y="1783080"/>
            <a:ext cx="2560320" cy="64008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مانایی و هم‌انباشتگی</a:t>
            </a:r>
            <a:endParaRPr lang="fa-IR" sz="1900" dirty="0"/>
          </a:p>
        </p:txBody>
      </p:sp>
      <p:sp>
        <p:nvSpPr>
          <p:cNvPr id="12" name="anim_2_559"/>
          <p:cNvSpPr txBox="1"/>
          <p:nvPr/>
        </p:nvSpPr>
        <p:spPr>
          <a:xfrm>
            <a:off x="4480560" y="2651760"/>
            <a:ext cx="3291840" cy="914400"/>
          </a:xfrm>
          <a:prstGeom prst="rect">
            <a:avLst/>
          </a:prstGeom>
          <a:noFill/>
          <a:ln/>
        </p:spPr>
        <p:txBody>
          <a:bodyPr wrap="square" lIns="0" tIns="0" rIns="0" bIns="0" rtlCol="0" anchor="t"/>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آزمون‌های لوین-لین-چو، ایم-پسران-شین و کائو</a:t>
            </a:r>
            <a:endParaRPr lang="fa-IR" sz="1900" dirty="0"/>
          </a:p>
        </p:txBody>
      </p:sp>
      <p:sp>
        <p:nvSpPr>
          <p:cNvPr id="13" name="anim_3_560"/>
          <p:cNvSpPr/>
          <p:nvPr/>
        </p:nvSpPr>
        <p:spPr>
          <a:xfrm>
            <a:off x="548640" y="1554480"/>
            <a:ext cx="356616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4" name="anim_3_561"/>
          <p:cNvSpPr/>
          <p:nvPr/>
        </p:nvSpPr>
        <p:spPr>
          <a:xfrm>
            <a:off x="3246120" y="1737360"/>
            <a:ext cx="731520" cy="731520"/>
          </a:xfrm>
          <a:prstGeom prst="ellipse">
            <a:avLst/>
          </a:prstGeom>
          <a:solidFill>
            <a:schemeClr val="accent2"/>
          </a:solidFill>
          <a:ln/>
        </p:spPr>
      </p:sp>
      <p:sp>
        <p:nvSpPr>
          <p:cNvPr id="15" name="anim_3_562"/>
          <p:cNvSpPr txBox="1"/>
          <p:nvPr/>
        </p:nvSpPr>
        <p:spPr>
          <a:xfrm>
            <a:off x="3246120" y="173736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3</a:t>
            </a:r>
            <a:endParaRPr lang="fa-IR" sz="2000" dirty="0"/>
          </a:p>
        </p:txBody>
      </p:sp>
      <p:sp>
        <p:nvSpPr>
          <p:cNvPr id="16" name="anim_3_563"/>
          <p:cNvSpPr txBox="1"/>
          <p:nvPr/>
        </p:nvSpPr>
        <p:spPr>
          <a:xfrm>
            <a:off x="640080" y="1783080"/>
            <a:ext cx="2560320" cy="64008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مفروضات کلاسیک</a:t>
            </a:r>
            <a:endParaRPr lang="fa-IR" sz="1900" dirty="0"/>
          </a:p>
        </p:txBody>
      </p:sp>
      <p:sp>
        <p:nvSpPr>
          <p:cNvPr id="17" name="anim_3_564"/>
          <p:cNvSpPr txBox="1"/>
          <p:nvPr/>
        </p:nvSpPr>
        <p:spPr>
          <a:xfrm>
            <a:off x="685800" y="2651760"/>
            <a:ext cx="3291840" cy="914400"/>
          </a:xfrm>
          <a:prstGeom prst="rect">
            <a:avLst/>
          </a:prstGeom>
          <a:noFill/>
          <a:ln/>
        </p:spPr>
        <p:txBody>
          <a:bodyPr wrap="square" lIns="0" tIns="0" rIns="0" bIns="0" rtlCol="0" anchor="t"/>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عامل تورم واریانس، آزمون وایت و بروش-گادفری</a:t>
            </a:r>
            <a:endParaRPr lang="fa-IR" sz="1900" dirty="0"/>
          </a:p>
        </p:txBody>
      </p:sp>
      <p:sp>
        <p:nvSpPr>
          <p:cNvPr id="18" name="anim_4_565"/>
          <p:cNvSpPr/>
          <p:nvPr/>
        </p:nvSpPr>
        <p:spPr>
          <a:xfrm>
            <a:off x="8138160" y="3886200"/>
            <a:ext cx="356616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9" name="anim_4_566"/>
          <p:cNvSpPr/>
          <p:nvPr/>
        </p:nvSpPr>
        <p:spPr>
          <a:xfrm>
            <a:off x="10835640" y="4069080"/>
            <a:ext cx="731520" cy="731520"/>
          </a:xfrm>
          <a:prstGeom prst="ellipse">
            <a:avLst/>
          </a:prstGeom>
          <a:solidFill>
            <a:schemeClr val="accent4"/>
          </a:solidFill>
          <a:ln/>
        </p:spPr>
      </p:sp>
      <p:sp>
        <p:nvSpPr>
          <p:cNvPr id="20" name="anim_4_567"/>
          <p:cNvSpPr txBox="1"/>
          <p:nvPr/>
        </p:nvSpPr>
        <p:spPr>
          <a:xfrm>
            <a:off x="10835640" y="406908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4</a:t>
            </a:r>
            <a:endParaRPr lang="fa-IR" sz="2000" dirty="0"/>
          </a:p>
        </p:txBody>
      </p:sp>
      <p:sp>
        <p:nvSpPr>
          <p:cNvPr id="21" name="anim_4_568"/>
          <p:cNvSpPr txBox="1"/>
          <p:nvPr/>
        </p:nvSpPr>
        <p:spPr>
          <a:xfrm>
            <a:off x="8229600" y="4114800"/>
            <a:ext cx="2560320" cy="64008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نوع مدل پانل</a:t>
            </a:r>
            <a:endParaRPr lang="fa-IR" sz="1900" dirty="0"/>
          </a:p>
        </p:txBody>
      </p:sp>
      <p:sp>
        <p:nvSpPr>
          <p:cNvPr id="22" name="anim_4_569"/>
          <p:cNvSpPr txBox="1"/>
          <p:nvPr/>
        </p:nvSpPr>
        <p:spPr>
          <a:xfrm>
            <a:off x="8275320" y="4983480"/>
            <a:ext cx="3291840" cy="914400"/>
          </a:xfrm>
          <a:prstGeom prst="rect">
            <a:avLst/>
          </a:prstGeom>
          <a:noFill/>
          <a:ln/>
        </p:spPr>
        <p:txBody>
          <a:bodyPr wrap="square" lIns="0" tIns="0" rIns="0" bIns="0" rtlCol="0" anchor="t"/>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آزمون F لیمر و آزمون هاسمن</a:t>
            </a:r>
            <a:endParaRPr lang="fa-IR" sz="1900" dirty="0"/>
          </a:p>
        </p:txBody>
      </p:sp>
      <p:sp>
        <p:nvSpPr>
          <p:cNvPr id="23" name="anim_5_570"/>
          <p:cNvSpPr/>
          <p:nvPr/>
        </p:nvSpPr>
        <p:spPr>
          <a:xfrm>
            <a:off x="4343400" y="3886200"/>
            <a:ext cx="356616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24" name="anim_5_571"/>
          <p:cNvSpPr/>
          <p:nvPr/>
        </p:nvSpPr>
        <p:spPr>
          <a:xfrm>
            <a:off x="7040880" y="4069080"/>
            <a:ext cx="731520" cy="731520"/>
          </a:xfrm>
          <a:prstGeom prst="ellipse">
            <a:avLst/>
          </a:prstGeom>
          <a:solidFill>
            <a:schemeClr val="accent3"/>
          </a:solidFill>
          <a:ln/>
        </p:spPr>
      </p:sp>
      <p:sp>
        <p:nvSpPr>
          <p:cNvPr id="25" name="anim_5_572"/>
          <p:cNvSpPr txBox="1"/>
          <p:nvPr/>
        </p:nvSpPr>
        <p:spPr>
          <a:xfrm>
            <a:off x="7040880" y="406908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5</a:t>
            </a:r>
            <a:endParaRPr lang="fa-IR" sz="2000" dirty="0"/>
          </a:p>
        </p:txBody>
      </p:sp>
      <p:sp>
        <p:nvSpPr>
          <p:cNvPr id="26" name="anim_5_573"/>
          <p:cNvSpPr txBox="1"/>
          <p:nvPr/>
        </p:nvSpPr>
        <p:spPr>
          <a:xfrm>
            <a:off x="4434840" y="4114800"/>
            <a:ext cx="2560320" cy="64008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برآورد و تصمیم</a:t>
            </a:r>
            <a:endParaRPr lang="fa-IR" sz="1900" dirty="0"/>
          </a:p>
        </p:txBody>
      </p:sp>
      <p:sp>
        <p:nvSpPr>
          <p:cNvPr id="27" name="anim_5_574"/>
          <p:cNvSpPr txBox="1"/>
          <p:nvPr/>
        </p:nvSpPr>
        <p:spPr>
          <a:xfrm>
            <a:off x="4480560" y="4983480"/>
            <a:ext cx="3291840" cy="914400"/>
          </a:xfrm>
          <a:prstGeom prst="rect">
            <a:avLst/>
          </a:prstGeom>
          <a:noFill/>
          <a:ln/>
        </p:spPr>
        <p:txBody>
          <a:bodyPr wrap="square" lIns="0" tIns="0" rIns="0" bIns="0" rtlCol="0" anchor="t"/>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اثرات ثابت؛ آمارهٔ t و مقدار احتمال در سطح 95 درصد</a:t>
            </a:r>
            <a:endParaRPr lang="fa-IR" sz="1900" dirty="0"/>
          </a:p>
        </p:txBody>
      </p:sp>
      <p:sp>
        <p:nvSpPr>
          <p:cNvPr id="28" name="anim_6_575"/>
          <p:cNvSpPr/>
          <p:nvPr/>
        </p:nvSpPr>
        <p:spPr>
          <a:xfrm>
            <a:off x="548640" y="3886200"/>
            <a:ext cx="356616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29" name="anim_6_576"/>
          <p:cNvSpPr/>
          <p:nvPr/>
        </p:nvSpPr>
        <p:spPr>
          <a:xfrm>
            <a:off x="3246120" y="4069080"/>
            <a:ext cx="731520" cy="731520"/>
          </a:xfrm>
          <a:prstGeom prst="ellipse">
            <a:avLst/>
          </a:prstGeom>
          <a:solidFill>
            <a:schemeClr val="tx2"/>
          </a:solidFill>
          <a:ln/>
        </p:spPr>
      </p:sp>
      <p:sp>
        <p:nvSpPr>
          <p:cNvPr id="30" name="anim_6_577"/>
          <p:cNvSpPr txBox="1"/>
          <p:nvPr/>
        </p:nvSpPr>
        <p:spPr>
          <a:xfrm>
            <a:off x="3246120" y="4069080"/>
            <a:ext cx="731520" cy="731520"/>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B Titr" pitchFamily="34" charset="0"/>
                <a:ea typeface="B Titr" pitchFamily="34" charset="-122"/>
                <a:cs typeface="B Titr" pitchFamily="34" charset="-120"/>
              </a:rPr>
              <a:t>6</a:t>
            </a:r>
            <a:endParaRPr lang="fa-IR" sz="2000" dirty="0"/>
          </a:p>
        </p:txBody>
      </p:sp>
      <p:sp>
        <p:nvSpPr>
          <p:cNvPr id="31" name="anim_6_578"/>
          <p:cNvSpPr txBox="1"/>
          <p:nvPr/>
        </p:nvSpPr>
        <p:spPr>
          <a:xfrm>
            <a:off x="640080" y="4114800"/>
            <a:ext cx="2560320" cy="64008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قاعدهٔ تأیید</a:t>
            </a:r>
            <a:endParaRPr lang="fa-IR" sz="1900" dirty="0"/>
          </a:p>
        </p:txBody>
      </p:sp>
      <p:sp>
        <p:nvSpPr>
          <p:cNvPr id="32" name="anim_6_579"/>
          <p:cNvSpPr txBox="1"/>
          <p:nvPr/>
        </p:nvSpPr>
        <p:spPr>
          <a:xfrm>
            <a:off x="685800" y="4983480"/>
            <a:ext cx="3291840" cy="914400"/>
          </a:xfrm>
          <a:prstGeom prst="rect">
            <a:avLst/>
          </a:prstGeom>
          <a:noFill/>
          <a:ln/>
        </p:spPr>
        <p:txBody>
          <a:bodyPr wrap="square" lIns="0" tIns="0" rIns="0" bIns="0" rtlCol="0" anchor="t"/>
          <a:lstStyle/>
          <a:p>
            <a:pPr rtl="1" algn="r" indent="0" marL="0">
              <a:buNone/>
            </a:pPr>
            <a:r>
              <a:rPr lang="fa-IR" altLang="en-US" sz="1900" dirty="0">
                <a:solidFill>
                  <a:schemeClr val="tx1"/>
                </a:solidFill>
                <a:latin typeface="B Nazanin" pitchFamily="34" charset="0"/>
                <a:ea typeface="B Nazanin" pitchFamily="34" charset="-122"/>
                <a:cs typeface="B Nazanin" pitchFamily="34" charset="-120"/>
              </a:rPr>
              <a:t>طبق جدول 3-2 رساله برای هر فرضیه</a:t>
            </a:r>
            <a:endParaRPr lang="fa-IR" sz="19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17</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7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7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0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0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0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0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14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14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14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140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14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17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17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17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17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17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آمار توصیفی متغیرهای پژوهش (جدول 4-2 رساله)</a:t>
            </a:r>
            <a:endParaRPr lang="fa-IR" sz="3400" dirty="0"/>
          </a:p>
        </p:txBody>
      </p:sp>
      <p:sp>
        <p:nvSpPr>
          <p:cNvPr id="3" name="anim_1_580"/>
          <p:cNvSpPr/>
          <p:nvPr/>
        </p:nvSpPr>
        <p:spPr>
          <a:xfrm>
            <a:off x="10268712" y="1280160"/>
            <a:ext cx="1371600" cy="329184"/>
          </a:xfrm>
          <a:prstGeom prst="rect">
            <a:avLst/>
          </a:prstGeom>
          <a:solidFill>
            <a:schemeClr val="tx2"/>
          </a:solidFill>
          <a:ln w="9525">
            <a:solidFill>
              <a:srgbClr val="C9D3DF"/>
            </a:solidFill>
            <a:prstDash val="solid"/>
          </a:ln>
        </p:spPr>
      </p:sp>
      <p:sp>
        <p:nvSpPr>
          <p:cNvPr id="4" name="anim_1_581"/>
          <p:cNvSpPr txBox="1"/>
          <p:nvPr/>
        </p:nvSpPr>
        <p:spPr>
          <a:xfrm>
            <a:off x="10305288" y="1280160"/>
            <a:ext cx="1298448"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نماد</a:t>
            </a:r>
            <a:endParaRPr lang="fa-IR" sz="1300" dirty="0"/>
          </a:p>
        </p:txBody>
      </p:sp>
      <p:sp>
        <p:nvSpPr>
          <p:cNvPr id="5" name="anim_1_582"/>
          <p:cNvSpPr/>
          <p:nvPr/>
        </p:nvSpPr>
        <p:spPr>
          <a:xfrm>
            <a:off x="7525512" y="1280160"/>
            <a:ext cx="2743200" cy="329184"/>
          </a:xfrm>
          <a:prstGeom prst="rect">
            <a:avLst/>
          </a:prstGeom>
          <a:solidFill>
            <a:schemeClr val="tx2"/>
          </a:solidFill>
          <a:ln w="9525">
            <a:solidFill>
              <a:srgbClr val="C9D3DF"/>
            </a:solidFill>
            <a:prstDash val="solid"/>
          </a:ln>
        </p:spPr>
      </p:sp>
      <p:sp>
        <p:nvSpPr>
          <p:cNvPr id="6" name="anim_1_583"/>
          <p:cNvSpPr txBox="1"/>
          <p:nvPr/>
        </p:nvSpPr>
        <p:spPr>
          <a:xfrm>
            <a:off x="7562088" y="1280160"/>
            <a:ext cx="2670048"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متغیر</a:t>
            </a:r>
            <a:endParaRPr lang="fa-IR" sz="1300" dirty="0"/>
          </a:p>
        </p:txBody>
      </p:sp>
      <p:sp>
        <p:nvSpPr>
          <p:cNvPr id="7" name="anim_1_584"/>
          <p:cNvSpPr/>
          <p:nvPr/>
        </p:nvSpPr>
        <p:spPr>
          <a:xfrm>
            <a:off x="6528816" y="1280160"/>
            <a:ext cx="996696" cy="329184"/>
          </a:xfrm>
          <a:prstGeom prst="rect">
            <a:avLst/>
          </a:prstGeom>
          <a:solidFill>
            <a:schemeClr val="tx2"/>
          </a:solidFill>
          <a:ln w="9525">
            <a:solidFill>
              <a:srgbClr val="C9D3DF"/>
            </a:solidFill>
            <a:prstDash val="solid"/>
          </a:ln>
        </p:spPr>
      </p:sp>
      <p:sp>
        <p:nvSpPr>
          <p:cNvPr id="8" name="anim_1_585"/>
          <p:cNvSpPr txBox="1"/>
          <p:nvPr/>
        </p:nvSpPr>
        <p:spPr>
          <a:xfrm>
            <a:off x="6565392" y="1280160"/>
            <a:ext cx="923544"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میانگین</a:t>
            </a:r>
            <a:endParaRPr lang="fa-IR" sz="1300" dirty="0"/>
          </a:p>
        </p:txBody>
      </p:sp>
      <p:sp>
        <p:nvSpPr>
          <p:cNvPr id="9" name="anim_1_586"/>
          <p:cNvSpPr/>
          <p:nvPr/>
        </p:nvSpPr>
        <p:spPr>
          <a:xfrm>
            <a:off x="5532120" y="1280160"/>
            <a:ext cx="996696" cy="329184"/>
          </a:xfrm>
          <a:prstGeom prst="rect">
            <a:avLst/>
          </a:prstGeom>
          <a:solidFill>
            <a:schemeClr val="tx2"/>
          </a:solidFill>
          <a:ln w="9525">
            <a:solidFill>
              <a:srgbClr val="C9D3DF"/>
            </a:solidFill>
            <a:prstDash val="solid"/>
          </a:ln>
        </p:spPr>
      </p:sp>
      <p:sp>
        <p:nvSpPr>
          <p:cNvPr id="10" name="anim_1_587"/>
          <p:cNvSpPr txBox="1"/>
          <p:nvPr/>
        </p:nvSpPr>
        <p:spPr>
          <a:xfrm>
            <a:off x="5568696" y="1280160"/>
            <a:ext cx="923544"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میانه</a:t>
            </a:r>
            <a:endParaRPr lang="fa-IR" sz="1300" dirty="0"/>
          </a:p>
        </p:txBody>
      </p:sp>
      <p:sp>
        <p:nvSpPr>
          <p:cNvPr id="11" name="anim_1_588"/>
          <p:cNvSpPr/>
          <p:nvPr/>
        </p:nvSpPr>
        <p:spPr>
          <a:xfrm>
            <a:off x="4535424" y="1280160"/>
            <a:ext cx="996696" cy="329184"/>
          </a:xfrm>
          <a:prstGeom prst="rect">
            <a:avLst/>
          </a:prstGeom>
          <a:solidFill>
            <a:schemeClr val="tx2"/>
          </a:solidFill>
          <a:ln w="9525">
            <a:solidFill>
              <a:srgbClr val="C9D3DF"/>
            </a:solidFill>
            <a:prstDash val="solid"/>
          </a:ln>
        </p:spPr>
      </p:sp>
      <p:sp>
        <p:nvSpPr>
          <p:cNvPr id="12" name="anim_1_589"/>
          <p:cNvSpPr txBox="1"/>
          <p:nvPr/>
        </p:nvSpPr>
        <p:spPr>
          <a:xfrm>
            <a:off x="4572000" y="1280160"/>
            <a:ext cx="923544"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بیشترین</a:t>
            </a:r>
            <a:endParaRPr lang="fa-IR" sz="1300" dirty="0"/>
          </a:p>
        </p:txBody>
      </p:sp>
      <p:sp>
        <p:nvSpPr>
          <p:cNvPr id="13" name="anim_1_590"/>
          <p:cNvSpPr/>
          <p:nvPr/>
        </p:nvSpPr>
        <p:spPr>
          <a:xfrm>
            <a:off x="3538728" y="1280160"/>
            <a:ext cx="996696" cy="329184"/>
          </a:xfrm>
          <a:prstGeom prst="rect">
            <a:avLst/>
          </a:prstGeom>
          <a:solidFill>
            <a:schemeClr val="tx2"/>
          </a:solidFill>
          <a:ln w="9525">
            <a:solidFill>
              <a:srgbClr val="C9D3DF"/>
            </a:solidFill>
            <a:prstDash val="solid"/>
          </a:ln>
        </p:spPr>
      </p:sp>
      <p:sp>
        <p:nvSpPr>
          <p:cNvPr id="14" name="anim_1_591"/>
          <p:cNvSpPr txBox="1"/>
          <p:nvPr/>
        </p:nvSpPr>
        <p:spPr>
          <a:xfrm>
            <a:off x="3575304" y="1280160"/>
            <a:ext cx="923544"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کمترین</a:t>
            </a:r>
            <a:endParaRPr lang="fa-IR" sz="1300" dirty="0"/>
          </a:p>
        </p:txBody>
      </p:sp>
      <p:sp>
        <p:nvSpPr>
          <p:cNvPr id="15" name="anim_1_592"/>
          <p:cNvSpPr/>
          <p:nvPr/>
        </p:nvSpPr>
        <p:spPr>
          <a:xfrm>
            <a:off x="2542032" y="1280160"/>
            <a:ext cx="996696" cy="329184"/>
          </a:xfrm>
          <a:prstGeom prst="rect">
            <a:avLst/>
          </a:prstGeom>
          <a:solidFill>
            <a:schemeClr val="tx2"/>
          </a:solidFill>
          <a:ln w="9525">
            <a:solidFill>
              <a:srgbClr val="C9D3DF"/>
            </a:solidFill>
            <a:prstDash val="solid"/>
          </a:ln>
        </p:spPr>
      </p:sp>
      <p:sp>
        <p:nvSpPr>
          <p:cNvPr id="16" name="anim_1_593"/>
          <p:cNvSpPr txBox="1"/>
          <p:nvPr/>
        </p:nvSpPr>
        <p:spPr>
          <a:xfrm>
            <a:off x="2578608" y="1280160"/>
            <a:ext cx="923544"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انحراف</a:t>
            </a:r>
            <a:endParaRPr lang="fa-IR" sz="1300" dirty="0"/>
          </a:p>
        </p:txBody>
      </p:sp>
      <p:sp>
        <p:nvSpPr>
          <p:cNvPr id="17" name="anim_1_594"/>
          <p:cNvSpPr/>
          <p:nvPr/>
        </p:nvSpPr>
        <p:spPr>
          <a:xfrm>
            <a:off x="1545336" y="1280160"/>
            <a:ext cx="996696" cy="329184"/>
          </a:xfrm>
          <a:prstGeom prst="rect">
            <a:avLst/>
          </a:prstGeom>
          <a:solidFill>
            <a:schemeClr val="tx2"/>
          </a:solidFill>
          <a:ln w="9525">
            <a:solidFill>
              <a:srgbClr val="C9D3DF"/>
            </a:solidFill>
            <a:prstDash val="solid"/>
          </a:ln>
        </p:spPr>
      </p:sp>
      <p:sp>
        <p:nvSpPr>
          <p:cNvPr id="18" name="anim_1_595"/>
          <p:cNvSpPr txBox="1"/>
          <p:nvPr/>
        </p:nvSpPr>
        <p:spPr>
          <a:xfrm>
            <a:off x="1581912" y="1280160"/>
            <a:ext cx="923544"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چولگی</a:t>
            </a:r>
            <a:endParaRPr lang="fa-IR" sz="1300" dirty="0"/>
          </a:p>
        </p:txBody>
      </p:sp>
      <p:sp>
        <p:nvSpPr>
          <p:cNvPr id="19" name="anim_1_596"/>
          <p:cNvSpPr/>
          <p:nvPr/>
        </p:nvSpPr>
        <p:spPr>
          <a:xfrm>
            <a:off x="548640" y="1280160"/>
            <a:ext cx="996696" cy="329184"/>
          </a:xfrm>
          <a:prstGeom prst="rect">
            <a:avLst/>
          </a:prstGeom>
          <a:solidFill>
            <a:schemeClr val="tx2"/>
          </a:solidFill>
          <a:ln w="9525">
            <a:solidFill>
              <a:srgbClr val="C9D3DF"/>
            </a:solidFill>
            <a:prstDash val="solid"/>
          </a:ln>
        </p:spPr>
      </p:sp>
      <p:sp>
        <p:nvSpPr>
          <p:cNvPr id="20" name="anim_1_597"/>
          <p:cNvSpPr txBox="1"/>
          <p:nvPr/>
        </p:nvSpPr>
        <p:spPr>
          <a:xfrm>
            <a:off x="585216" y="1280160"/>
            <a:ext cx="923544" cy="329184"/>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کشیدگی</a:t>
            </a:r>
            <a:endParaRPr lang="fa-IR" sz="1300" dirty="0"/>
          </a:p>
        </p:txBody>
      </p:sp>
      <p:sp>
        <p:nvSpPr>
          <p:cNvPr id="21" name="anim_1_598"/>
          <p:cNvSpPr/>
          <p:nvPr/>
        </p:nvSpPr>
        <p:spPr>
          <a:xfrm>
            <a:off x="10268712" y="1609344"/>
            <a:ext cx="1371600" cy="329184"/>
          </a:xfrm>
          <a:prstGeom prst="rect">
            <a:avLst/>
          </a:prstGeom>
          <a:solidFill>
            <a:srgbClr val="FFFFFF"/>
          </a:solidFill>
          <a:ln w="9525">
            <a:solidFill>
              <a:srgbClr val="C9D3DF"/>
            </a:solidFill>
            <a:prstDash val="solid"/>
          </a:ln>
        </p:spPr>
      </p:sp>
      <p:sp>
        <p:nvSpPr>
          <p:cNvPr id="22" name="anim_1_599"/>
          <p:cNvSpPr/>
          <p:nvPr/>
        </p:nvSpPr>
        <p:spPr>
          <a:xfrm>
            <a:off x="10671048" y="1641348"/>
            <a:ext cx="566928" cy="265176"/>
          </a:xfrm>
          <a:prstGeom prst="roundRect">
            <a:avLst>
              <a:gd name="adj" fmla="val 20690"/>
            </a:avLst>
          </a:prstGeom>
          <a:solidFill>
            <a:schemeClr val="accent1"/>
          </a:solidFill>
          <a:ln/>
        </p:spPr>
      </p:sp>
      <p:sp>
        <p:nvSpPr>
          <p:cNvPr id="23" name="anim_1_600"/>
          <p:cNvSpPr txBox="1"/>
          <p:nvPr/>
        </p:nvSpPr>
        <p:spPr>
          <a:xfrm>
            <a:off x="10671048" y="1641348"/>
            <a:ext cx="566928"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AF</a:t>
            </a:r>
            <a:endParaRPr lang="en-US" sz="1100" dirty="0"/>
          </a:p>
        </p:txBody>
      </p:sp>
      <p:sp>
        <p:nvSpPr>
          <p:cNvPr id="24" name="anim_1_601"/>
          <p:cNvSpPr/>
          <p:nvPr/>
        </p:nvSpPr>
        <p:spPr>
          <a:xfrm>
            <a:off x="7525512" y="1609344"/>
            <a:ext cx="2743200" cy="329184"/>
          </a:xfrm>
          <a:prstGeom prst="rect">
            <a:avLst/>
          </a:prstGeom>
          <a:solidFill>
            <a:srgbClr val="FFFFFF"/>
          </a:solidFill>
          <a:ln w="9525">
            <a:solidFill>
              <a:srgbClr val="C9D3DF"/>
            </a:solidFill>
            <a:prstDash val="solid"/>
          </a:ln>
        </p:spPr>
      </p:sp>
      <p:sp>
        <p:nvSpPr>
          <p:cNvPr id="25" name="anim_1_602"/>
          <p:cNvSpPr txBox="1"/>
          <p:nvPr/>
        </p:nvSpPr>
        <p:spPr>
          <a:xfrm>
            <a:off x="7562088" y="1609344"/>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لگاریتم هزینه حسابرسی</a:t>
            </a:r>
            <a:endParaRPr lang="fa-IR" sz="1300" dirty="0"/>
          </a:p>
        </p:txBody>
      </p:sp>
      <p:sp>
        <p:nvSpPr>
          <p:cNvPr id="26" name="anim_1_603"/>
          <p:cNvSpPr/>
          <p:nvPr/>
        </p:nvSpPr>
        <p:spPr>
          <a:xfrm>
            <a:off x="6528816" y="1609344"/>
            <a:ext cx="996696" cy="329184"/>
          </a:xfrm>
          <a:prstGeom prst="rect">
            <a:avLst/>
          </a:prstGeom>
          <a:solidFill>
            <a:srgbClr val="FFFFFF"/>
          </a:solidFill>
          <a:ln w="9525">
            <a:solidFill>
              <a:srgbClr val="C9D3DF"/>
            </a:solidFill>
            <a:prstDash val="solid"/>
          </a:ln>
        </p:spPr>
      </p:sp>
      <p:sp>
        <p:nvSpPr>
          <p:cNvPr id="27" name="anim_1_604"/>
          <p:cNvSpPr txBox="1"/>
          <p:nvPr/>
        </p:nvSpPr>
        <p:spPr>
          <a:xfrm>
            <a:off x="6565392" y="160934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‪1.260‬</a:t>
            </a:r>
            <a:endParaRPr lang="fa-IR" sz="1300" dirty="0"/>
          </a:p>
        </p:txBody>
      </p:sp>
      <p:sp>
        <p:nvSpPr>
          <p:cNvPr id="28" name="anim_1_605"/>
          <p:cNvSpPr/>
          <p:nvPr/>
        </p:nvSpPr>
        <p:spPr>
          <a:xfrm>
            <a:off x="5532120" y="1609344"/>
            <a:ext cx="996696" cy="329184"/>
          </a:xfrm>
          <a:prstGeom prst="rect">
            <a:avLst/>
          </a:prstGeom>
          <a:solidFill>
            <a:srgbClr val="FFFFFF"/>
          </a:solidFill>
          <a:ln w="9525">
            <a:solidFill>
              <a:srgbClr val="C9D3DF"/>
            </a:solidFill>
            <a:prstDash val="solid"/>
          </a:ln>
        </p:spPr>
      </p:sp>
      <p:sp>
        <p:nvSpPr>
          <p:cNvPr id="29" name="anim_1_606"/>
          <p:cNvSpPr txBox="1"/>
          <p:nvPr/>
        </p:nvSpPr>
        <p:spPr>
          <a:xfrm>
            <a:off x="5568696" y="160934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‪1.272‬</a:t>
            </a:r>
            <a:endParaRPr lang="fa-IR" sz="1300" dirty="0"/>
          </a:p>
        </p:txBody>
      </p:sp>
      <p:sp>
        <p:nvSpPr>
          <p:cNvPr id="30" name="anim_1_607"/>
          <p:cNvSpPr/>
          <p:nvPr/>
        </p:nvSpPr>
        <p:spPr>
          <a:xfrm>
            <a:off x="4535424" y="1609344"/>
            <a:ext cx="996696" cy="329184"/>
          </a:xfrm>
          <a:prstGeom prst="rect">
            <a:avLst/>
          </a:prstGeom>
          <a:solidFill>
            <a:srgbClr val="FFFFFF"/>
          </a:solidFill>
          <a:ln w="9525">
            <a:solidFill>
              <a:srgbClr val="C9D3DF"/>
            </a:solidFill>
            <a:prstDash val="solid"/>
          </a:ln>
        </p:spPr>
      </p:sp>
      <p:sp>
        <p:nvSpPr>
          <p:cNvPr id="31" name="anim_1_608"/>
          <p:cNvSpPr txBox="1"/>
          <p:nvPr/>
        </p:nvSpPr>
        <p:spPr>
          <a:xfrm>
            <a:off x="4572000" y="160934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‪1.964‬</a:t>
            </a:r>
            <a:endParaRPr lang="fa-IR" sz="1300" dirty="0"/>
          </a:p>
        </p:txBody>
      </p:sp>
      <p:sp>
        <p:nvSpPr>
          <p:cNvPr id="32" name="anim_1_609"/>
          <p:cNvSpPr/>
          <p:nvPr/>
        </p:nvSpPr>
        <p:spPr>
          <a:xfrm>
            <a:off x="3538728" y="1609344"/>
            <a:ext cx="996696" cy="329184"/>
          </a:xfrm>
          <a:prstGeom prst="rect">
            <a:avLst/>
          </a:prstGeom>
          <a:solidFill>
            <a:srgbClr val="FFFFFF"/>
          </a:solidFill>
          <a:ln w="9525">
            <a:solidFill>
              <a:srgbClr val="C9D3DF"/>
            </a:solidFill>
            <a:prstDash val="solid"/>
          </a:ln>
        </p:spPr>
      </p:sp>
      <p:sp>
        <p:nvSpPr>
          <p:cNvPr id="33" name="anim_1_610"/>
          <p:cNvSpPr txBox="1"/>
          <p:nvPr/>
        </p:nvSpPr>
        <p:spPr>
          <a:xfrm>
            <a:off x="3575304" y="160934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‪0.266‬</a:t>
            </a:r>
            <a:endParaRPr lang="fa-IR" sz="1300" dirty="0"/>
          </a:p>
        </p:txBody>
      </p:sp>
      <p:sp>
        <p:nvSpPr>
          <p:cNvPr id="34" name="anim_1_611"/>
          <p:cNvSpPr/>
          <p:nvPr/>
        </p:nvSpPr>
        <p:spPr>
          <a:xfrm>
            <a:off x="2542032" y="1609344"/>
            <a:ext cx="996696" cy="329184"/>
          </a:xfrm>
          <a:prstGeom prst="rect">
            <a:avLst/>
          </a:prstGeom>
          <a:solidFill>
            <a:srgbClr val="FFFFFF"/>
          </a:solidFill>
          <a:ln w="9525">
            <a:solidFill>
              <a:srgbClr val="C9D3DF"/>
            </a:solidFill>
            <a:prstDash val="solid"/>
          </a:ln>
        </p:spPr>
      </p:sp>
      <p:sp>
        <p:nvSpPr>
          <p:cNvPr id="35" name="anim_1_612"/>
          <p:cNvSpPr txBox="1"/>
          <p:nvPr/>
        </p:nvSpPr>
        <p:spPr>
          <a:xfrm>
            <a:off x="2578608" y="160934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‪0.259‬</a:t>
            </a:r>
            <a:endParaRPr lang="fa-IR" sz="1300" dirty="0"/>
          </a:p>
        </p:txBody>
      </p:sp>
      <p:sp>
        <p:nvSpPr>
          <p:cNvPr id="36" name="anim_1_613"/>
          <p:cNvSpPr/>
          <p:nvPr/>
        </p:nvSpPr>
        <p:spPr>
          <a:xfrm>
            <a:off x="1545336" y="1609344"/>
            <a:ext cx="996696" cy="329184"/>
          </a:xfrm>
          <a:prstGeom prst="rect">
            <a:avLst/>
          </a:prstGeom>
          <a:solidFill>
            <a:srgbClr val="FFFFFF"/>
          </a:solidFill>
          <a:ln w="9525">
            <a:solidFill>
              <a:srgbClr val="C9D3DF"/>
            </a:solidFill>
            <a:prstDash val="solid"/>
          </a:ln>
        </p:spPr>
      </p:sp>
      <p:sp>
        <p:nvSpPr>
          <p:cNvPr id="37" name="anim_1_614"/>
          <p:cNvSpPr txBox="1"/>
          <p:nvPr/>
        </p:nvSpPr>
        <p:spPr>
          <a:xfrm>
            <a:off x="1581912" y="160934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‪-0.237‬</a:t>
            </a:r>
            <a:endParaRPr lang="fa-IR" sz="1300" dirty="0"/>
          </a:p>
        </p:txBody>
      </p:sp>
      <p:sp>
        <p:nvSpPr>
          <p:cNvPr id="38" name="anim_1_615"/>
          <p:cNvSpPr/>
          <p:nvPr/>
        </p:nvSpPr>
        <p:spPr>
          <a:xfrm>
            <a:off x="548640" y="1609344"/>
            <a:ext cx="996696" cy="329184"/>
          </a:xfrm>
          <a:prstGeom prst="rect">
            <a:avLst/>
          </a:prstGeom>
          <a:solidFill>
            <a:srgbClr val="FFFFFF"/>
          </a:solidFill>
          <a:ln w="9525">
            <a:solidFill>
              <a:srgbClr val="C9D3DF"/>
            </a:solidFill>
            <a:prstDash val="solid"/>
          </a:ln>
        </p:spPr>
      </p:sp>
      <p:sp>
        <p:nvSpPr>
          <p:cNvPr id="39" name="anim_1_616"/>
          <p:cNvSpPr txBox="1"/>
          <p:nvPr/>
        </p:nvSpPr>
        <p:spPr>
          <a:xfrm>
            <a:off x="585216" y="160934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‪3.655‬</a:t>
            </a:r>
            <a:endParaRPr lang="fa-IR" sz="1300" dirty="0"/>
          </a:p>
        </p:txBody>
      </p:sp>
      <p:sp>
        <p:nvSpPr>
          <p:cNvPr id="40" name="anim_1_617"/>
          <p:cNvSpPr/>
          <p:nvPr/>
        </p:nvSpPr>
        <p:spPr>
          <a:xfrm>
            <a:off x="10268712" y="1938528"/>
            <a:ext cx="1371600" cy="329184"/>
          </a:xfrm>
          <a:prstGeom prst="rect">
            <a:avLst/>
          </a:prstGeom>
          <a:solidFill>
            <a:srgbClr val="EEF3F8"/>
          </a:solidFill>
          <a:ln w="9525">
            <a:solidFill>
              <a:srgbClr val="C9D3DF"/>
            </a:solidFill>
            <a:prstDash val="solid"/>
          </a:ln>
        </p:spPr>
      </p:sp>
      <p:sp>
        <p:nvSpPr>
          <p:cNvPr id="41" name="anim_1_618"/>
          <p:cNvSpPr/>
          <p:nvPr/>
        </p:nvSpPr>
        <p:spPr>
          <a:xfrm>
            <a:off x="10637215" y="1970532"/>
            <a:ext cx="634594" cy="265176"/>
          </a:xfrm>
          <a:prstGeom prst="roundRect">
            <a:avLst>
              <a:gd name="adj" fmla="val 20690"/>
            </a:avLst>
          </a:prstGeom>
          <a:solidFill>
            <a:schemeClr val="accent1"/>
          </a:solidFill>
          <a:ln/>
        </p:spPr>
      </p:sp>
      <p:sp>
        <p:nvSpPr>
          <p:cNvPr id="42" name="anim_1_619"/>
          <p:cNvSpPr txBox="1"/>
          <p:nvPr/>
        </p:nvSpPr>
        <p:spPr>
          <a:xfrm>
            <a:off x="10637215" y="1970532"/>
            <a:ext cx="634594"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AFQ</a:t>
            </a:r>
            <a:endParaRPr lang="en-US" sz="1100" dirty="0"/>
          </a:p>
        </p:txBody>
      </p:sp>
      <p:sp>
        <p:nvSpPr>
          <p:cNvPr id="43" name="anim_1_620"/>
          <p:cNvSpPr/>
          <p:nvPr/>
        </p:nvSpPr>
        <p:spPr>
          <a:xfrm>
            <a:off x="7525512" y="1938528"/>
            <a:ext cx="2743200" cy="329184"/>
          </a:xfrm>
          <a:prstGeom prst="rect">
            <a:avLst/>
          </a:prstGeom>
          <a:solidFill>
            <a:srgbClr val="EEF3F8"/>
          </a:solidFill>
          <a:ln w="9525">
            <a:solidFill>
              <a:srgbClr val="C9D3DF"/>
            </a:solidFill>
            <a:prstDash val="solid"/>
          </a:ln>
        </p:spPr>
      </p:sp>
      <p:sp>
        <p:nvSpPr>
          <p:cNvPr id="44" name="anim_1_621"/>
          <p:cNvSpPr txBox="1"/>
          <p:nvPr/>
        </p:nvSpPr>
        <p:spPr>
          <a:xfrm>
            <a:off x="7562088" y="1938528"/>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کیفیت حسابرسی آینده</a:t>
            </a:r>
            <a:endParaRPr lang="fa-IR" sz="1300" dirty="0"/>
          </a:p>
        </p:txBody>
      </p:sp>
      <p:sp>
        <p:nvSpPr>
          <p:cNvPr id="45" name="anim_1_622"/>
          <p:cNvSpPr/>
          <p:nvPr/>
        </p:nvSpPr>
        <p:spPr>
          <a:xfrm>
            <a:off x="6528816" y="1938528"/>
            <a:ext cx="996696" cy="329184"/>
          </a:xfrm>
          <a:prstGeom prst="rect">
            <a:avLst/>
          </a:prstGeom>
          <a:solidFill>
            <a:srgbClr val="EEF3F8"/>
          </a:solidFill>
          <a:ln w="9525">
            <a:solidFill>
              <a:srgbClr val="C9D3DF"/>
            </a:solidFill>
            <a:prstDash val="solid"/>
          </a:ln>
        </p:spPr>
      </p:sp>
      <p:sp>
        <p:nvSpPr>
          <p:cNvPr id="46" name="anim_1_623"/>
          <p:cNvSpPr txBox="1"/>
          <p:nvPr/>
        </p:nvSpPr>
        <p:spPr>
          <a:xfrm>
            <a:off x="6565392" y="193852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‪0.107‬</a:t>
            </a:r>
            <a:endParaRPr lang="fa-IR" sz="1300" dirty="0"/>
          </a:p>
        </p:txBody>
      </p:sp>
      <p:sp>
        <p:nvSpPr>
          <p:cNvPr id="47" name="anim_1_624"/>
          <p:cNvSpPr/>
          <p:nvPr/>
        </p:nvSpPr>
        <p:spPr>
          <a:xfrm>
            <a:off x="5532120" y="1938528"/>
            <a:ext cx="996696" cy="329184"/>
          </a:xfrm>
          <a:prstGeom prst="rect">
            <a:avLst/>
          </a:prstGeom>
          <a:solidFill>
            <a:srgbClr val="EEF3F8"/>
          </a:solidFill>
          <a:ln w="9525">
            <a:solidFill>
              <a:srgbClr val="C9D3DF"/>
            </a:solidFill>
            <a:prstDash val="solid"/>
          </a:ln>
        </p:spPr>
      </p:sp>
      <p:sp>
        <p:nvSpPr>
          <p:cNvPr id="48" name="anim_1_625"/>
          <p:cNvSpPr txBox="1"/>
          <p:nvPr/>
        </p:nvSpPr>
        <p:spPr>
          <a:xfrm>
            <a:off x="5568696" y="193852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‪0.053‬</a:t>
            </a:r>
            <a:endParaRPr lang="fa-IR" sz="1300" dirty="0"/>
          </a:p>
        </p:txBody>
      </p:sp>
      <p:sp>
        <p:nvSpPr>
          <p:cNvPr id="49" name="anim_1_626"/>
          <p:cNvSpPr/>
          <p:nvPr/>
        </p:nvSpPr>
        <p:spPr>
          <a:xfrm>
            <a:off x="4535424" y="1938528"/>
            <a:ext cx="996696" cy="329184"/>
          </a:xfrm>
          <a:prstGeom prst="rect">
            <a:avLst/>
          </a:prstGeom>
          <a:solidFill>
            <a:srgbClr val="EEF3F8"/>
          </a:solidFill>
          <a:ln w="9525">
            <a:solidFill>
              <a:srgbClr val="C9D3DF"/>
            </a:solidFill>
            <a:prstDash val="solid"/>
          </a:ln>
        </p:spPr>
      </p:sp>
      <p:sp>
        <p:nvSpPr>
          <p:cNvPr id="50" name="anim_1_627"/>
          <p:cNvSpPr txBox="1"/>
          <p:nvPr/>
        </p:nvSpPr>
        <p:spPr>
          <a:xfrm>
            <a:off x="4572000" y="193852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‪4.192‬</a:t>
            </a:r>
            <a:endParaRPr lang="fa-IR" sz="1300" dirty="0"/>
          </a:p>
        </p:txBody>
      </p:sp>
      <p:sp>
        <p:nvSpPr>
          <p:cNvPr id="51" name="anim_1_628"/>
          <p:cNvSpPr/>
          <p:nvPr/>
        </p:nvSpPr>
        <p:spPr>
          <a:xfrm>
            <a:off x="3538728" y="1938528"/>
            <a:ext cx="996696" cy="329184"/>
          </a:xfrm>
          <a:prstGeom prst="rect">
            <a:avLst/>
          </a:prstGeom>
          <a:solidFill>
            <a:srgbClr val="EEF3F8"/>
          </a:solidFill>
          <a:ln w="9525">
            <a:solidFill>
              <a:srgbClr val="C9D3DF"/>
            </a:solidFill>
            <a:prstDash val="solid"/>
          </a:ln>
        </p:spPr>
      </p:sp>
      <p:sp>
        <p:nvSpPr>
          <p:cNvPr id="52" name="anim_1_629"/>
          <p:cNvSpPr txBox="1"/>
          <p:nvPr/>
        </p:nvSpPr>
        <p:spPr>
          <a:xfrm>
            <a:off x="3575304" y="193852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a:t>
            </a:r>
            <a:endParaRPr lang="fa-IR" sz="1300" dirty="0"/>
          </a:p>
        </p:txBody>
      </p:sp>
      <p:sp>
        <p:nvSpPr>
          <p:cNvPr id="53" name="anim_1_630"/>
          <p:cNvSpPr/>
          <p:nvPr/>
        </p:nvSpPr>
        <p:spPr>
          <a:xfrm>
            <a:off x="2542032" y="1938528"/>
            <a:ext cx="996696" cy="329184"/>
          </a:xfrm>
          <a:prstGeom prst="rect">
            <a:avLst/>
          </a:prstGeom>
          <a:solidFill>
            <a:srgbClr val="EEF3F8"/>
          </a:solidFill>
          <a:ln w="9525">
            <a:solidFill>
              <a:srgbClr val="C9D3DF"/>
            </a:solidFill>
            <a:prstDash val="solid"/>
          </a:ln>
        </p:spPr>
      </p:sp>
      <p:sp>
        <p:nvSpPr>
          <p:cNvPr id="54" name="anim_1_631"/>
          <p:cNvSpPr txBox="1"/>
          <p:nvPr/>
        </p:nvSpPr>
        <p:spPr>
          <a:xfrm>
            <a:off x="2578608" y="193852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‪0.247‬</a:t>
            </a:r>
            <a:endParaRPr lang="fa-IR" sz="1300" dirty="0"/>
          </a:p>
        </p:txBody>
      </p:sp>
      <p:sp>
        <p:nvSpPr>
          <p:cNvPr id="55" name="anim_1_632"/>
          <p:cNvSpPr/>
          <p:nvPr/>
        </p:nvSpPr>
        <p:spPr>
          <a:xfrm>
            <a:off x="1545336" y="1938528"/>
            <a:ext cx="996696" cy="329184"/>
          </a:xfrm>
          <a:prstGeom prst="rect">
            <a:avLst/>
          </a:prstGeom>
          <a:solidFill>
            <a:srgbClr val="EEF3F8"/>
          </a:solidFill>
          <a:ln w="9525">
            <a:solidFill>
              <a:srgbClr val="C9D3DF"/>
            </a:solidFill>
            <a:prstDash val="solid"/>
          </a:ln>
        </p:spPr>
      </p:sp>
      <p:sp>
        <p:nvSpPr>
          <p:cNvPr id="56" name="anim_1_633"/>
          <p:cNvSpPr txBox="1"/>
          <p:nvPr/>
        </p:nvSpPr>
        <p:spPr>
          <a:xfrm>
            <a:off x="1581912" y="193852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‪9.104‬</a:t>
            </a:r>
            <a:endParaRPr lang="fa-IR" sz="1300" dirty="0"/>
          </a:p>
        </p:txBody>
      </p:sp>
      <p:sp>
        <p:nvSpPr>
          <p:cNvPr id="57" name="anim_1_634"/>
          <p:cNvSpPr/>
          <p:nvPr/>
        </p:nvSpPr>
        <p:spPr>
          <a:xfrm>
            <a:off x="548640" y="1938528"/>
            <a:ext cx="996696" cy="329184"/>
          </a:xfrm>
          <a:prstGeom prst="rect">
            <a:avLst/>
          </a:prstGeom>
          <a:solidFill>
            <a:srgbClr val="EEF3F8"/>
          </a:solidFill>
          <a:ln w="9525">
            <a:solidFill>
              <a:srgbClr val="C9D3DF"/>
            </a:solidFill>
            <a:prstDash val="solid"/>
          </a:ln>
        </p:spPr>
      </p:sp>
      <p:sp>
        <p:nvSpPr>
          <p:cNvPr id="58" name="anim_1_635"/>
          <p:cNvSpPr txBox="1"/>
          <p:nvPr/>
        </p:nvSpPr>
        <p:spPr>
          <a:xfrm>
            <a:off x="585216" y="193852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‪114.252‬</a:t>
            </a:r>
            <a:endParaRPr lang="fa-IR" sz="1300" dirty="0"/>
          </a:p>
        </p:txBody>
      </p:sp>
      <p:sp>
        <p:nvSpPr>
          <p:cNvPr id="59" name="anim_1_636"/>
          <p:cNvSpPr/>
          <p:nvPr/>
        </p:nvSpPr>
        <p:spPr>
          <a:xfrm>
            <a:off x="10268712" y="2267712"/>
            <a:ext cx="1371600" cy="329184"/>
          </a:xfrm>
          <a:prstGeom prst="rect">
            <a:avLst/>
          </a:prstGeom>
          <a:solidFill>
            <a:srgbClr val="FFFFFF"/>
          </a:solidFill>
          <a:ln w="9525">
            <a:solidFill>
              <a:srgbClr val="C9D3DF"/>
            </a:solidFill>
            <a:prstDash val="solid"/>
          </a:ln>
        </p:spPr>
      </p:sp>
      <p:sp>
        <p:nvSpPr>
          <p:cNvPr id="60" name="anim_1_637"/>
          <p:cNvSpPr/>
          <p:nvPr/>
        </p:nvSpPr>
        <p:spPr>
          <a:xfrm>
            <a:off x="10583266" y="2299716"/>
            <a:ext cx="742493" cy="265176"/>
          </a:xfrm>
          <a:prstGeom prst="roundRect">
            <a:avLst>
              <a:gd name="adj" fmla="val 20690"/>
            </a:avLst>
          </a:prstGeom>
          <a:solidFill>
            <a:schemeClr val="accent1"/>
          </a:solidFill>
          <a:ln/>
        </p:spPr>
      </p:sp>
      <p:sp>
        <p:nvSpPr>
          <p:cNvPr id="61" name="anim_1_638"/>
          <p:cNvSpPr txBox="1"/>
          <p:nvPr/>
        </p:nvSpPr>
        <p:spPr>
          <a:xfrm>
            <a:off x="10583266" y="2299716"/>
            <a:ext cx="742493"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BIG4</a:t>
            </a:r>
            <a:endParaRPr lang="en-US" sz="1100" dirty="0"/>
          </a:p>
        </p:txBody>
      </p:sp>
      <p:sp>
        <p:nvSpPr>
          <p:cNvPr id="62" name="anim_1_639"/>
          <p:cNvSpPr/>
          <p:nvPr/>
        </p:nvSpPr>
        <p:spPr>
          <a:xfrm>
            <a:off x="7525512" y="2267712"/>
            <a:ext cx="2743200" cy="329184"/>
          </a:xfrm>
          <a:prstGeom prst="rect">
            <a:avLst/>
          </a:prstGeom>
          <a:solidFill>
            <a:srgbClr val="FFFFFF"/>
          </a:solidFill>
          <a:ln w="9525">
            <a:solidFill>
              <a:srgbClr val="C9D3DF"/>
            </a:solidFill>
            <a:prstDash val="solid"/>
          </a:ln>
        </p:spPr>
      </p:sp>
      <p:sp>
        <p:nvSpPr>
          <p:cNvPr id="63" name="anim_1_640"/>
          <p:cNvSpPr txBox="1"/>
          <p:nvPr/>
        </p:nvSpPr>
        <p:spPr>
          <a:xfrm>
            <a:off x="7562088" y="2267712"/>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اندازه حسابرس</a:t>
            </a:r>
            <a:endParaRPr lang="fa-IR" sz="1300" dirty="0"/>
          </a:p>
        </p:txBody>
      </p:sp>
      <p:sp>
        <p:nvSpPr>
          <p:cNvPr id="64" name="anim_1_641"/>
          <p:cNvSpPr/>
          <p:nvPr/>
        </p:nvSpPr>
        <p:spPr>
          <a:xfrm>
            <a:off x="6528816" y="2267712"/>
            <a:ext cx="996696" cy="329184"/>
          </a:xfrm>
          <a:prstGeom prst="rect">
            <a:avLst/>
          </a:prstGeom>
          <a:solidFill>
            <a:srgbClr val="FFFFFF"/>
          </a:solidFill>
          <a:ln w="9525">
            <a:solidFill>
              <a:srgbClr val="C9D3DF"/>
            </a:solidFill>
            <a:prstDash val="solid"/>
          </a:ln>
        </p:spPr>
      </p:sp>
      <p:sp>
        <p:nvSpPr>
          <p:cNvPr id="65" name="anim_1_642"/>
          <p:cNvSpPr txBox="1"/>
          <p:nvPr/>
        </p:nvSpPr>
        <p:spPr>
          <a:xfrm>
            <a:off x="6565392" y="226771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‪0.128‬</a:t>
            </a:r>
            <a:endParaRPr lang="fa-IR" sz="1300" dirty="0"/>
          </a:p>
        </p:txBody>
      </p:sp>
      <p:sp>
        <p:nvSpPr>
          <p:cNvPr id="66" name="anim_1_643"/>
          <p:cNvSpPr/>
          <p:nvPr/>
        </p:nvSpPr>
        <p:spPr>
          <a:xfrm>
            <a:off x="5532120" y="2267712"/>
            <a:ext cx="996696" cy="329184"/>
          </a:xfrm>
          <a:prstGeom prst="rect">
            <a:avLst/>
          </a:prstGeom>
          <a:solidFill>
            <a:srgbClr val="FFFFFF"/>
          </a:solidFill>
          <a:ln w="9525">
            <a:solidFill>
              <a:srgbClr val="C9D3DF"/>
            </a:solidFill>
            <a:prstDash val="solid"/>
          </a:ln>
        </p:spPr>
      </p:sp>
      <p:sp>
        <p:nvSpPr>
          <p:cNvPr id="67" name="anim_1_644"/>
          <p:cNvSpPr txBox="1"/>
          <p:nvPr/>
        </p:nvSpPr>
        <p:spPr>
          <a:xfrm>
            <a:off x="5568696" y="226771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a:t>
            </a:r>
            <a:endParaRPr lang="fa-IR" sz="1300" dirty="0"/>
          </a:p>
        </p:txBody>
      </p:sp>
      <p:sp>
        <p:nvSpPr>
          <p:cNvPr id="68" name="anim_1_645"/>
          <p:cNvSpPr/>
          <p:nvPr/>
        </p:nvSpPr>
        <p:spPr>
          <a:xfrm>
            <a:off x="4535424" y="2267712"/>
            <a:ext cx="996696" cy="329184"/>
          </a:xfrm>
          <a:prstGeom prst="rect">
            <a:avLst/>
          </a:prstGeom>
          <a:solidFill>
            <a:srgbClr val="FFFFFF"/>
          </a:solidFill>
          <a:ln w="9525">
            <a:solidFill>
              <a:srgbClr val="C9D3DF"/>
            </a:solidFill>
            <a:prstDash val="solid"/>
          </a:ln>
        </p:spPr>
      </p:sp>
      <p:sp>
        <p:nvSpPr>
          <p:cNvPr id="69" name="anim_1_646"/>
          <p:cNvSpPr txBox="1"/>
          <p:nvPr/>
        </p:nvSpPr>
        <p:spPr>
          <a:xfrm>
            <a:off x="4572000" y="226771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a:t>
            </a:r>
            <a:endParaRPr lang="fa-IR" sz="1300" dirty="0"/>
          </a:p>
        </p:txBody>
      </p:sp>
      <p:sp>
        <p:nvSpPr>
          <p:cNvPr id="70" name="anim_1_647"/>
          <p:cNvSpPr/>
          <p:nvPr/>
        </p:nvSpPr>
        <p:spPr>
          <a:xfrm>
            <a:off x="3538728" y="2267712"/>
            <a:ext cx="996696" cy="329184"/>
          </a:xfrm>
          <a:prstGeom prst="rect">
            <a:avLst/>
          </a:prstGeom>
          <a:solidFill>
            <a:srgbClr val="FFFFFF"/>
          </a:solidFill>
          <a:ln w="9525">
            <a:solidFill>
              <a:srgbClr val="C9D3DF"/>
            </a:solidFill>
            <a:prstDash val="solid"/>
          </a:ln>
        </p:spPr>
      </p:sp>
      <p:sp>
        <p:nvSpPr>
          <p:cNvPr id="71" name="anim_1_648"/>
          <p:cNvSpPr txBox="1"/>
          <p:nvPr/>
        </p:nvSpPr>
        <p:spPr>
          <a:xfrm>
            <a:off x="3575304" y="226771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a:t>
            </a:r>
            <a:endParaRPr lang="fa-IR" sz="1300" dirty="0"/>
          </a:p>
        </p:txBody>
      </p:sp>
      <p:sp>
        <p:nvSpPr>
          <p:cNvPr id="72" name="anim_1_649"/>
          <p:cNvSpPr/>
          <p:nvPr/>
        </p:nvSpPr>
        <p:spPr>
          <a:xfrm>
            <a:off x="2542032" y="2267712"/>
            <a:ext cx="996696" cy="329184"/>
          </a:xfrm>
          <a:prstGeom prst="rect">
            <a:avLst/>
          </a:prstGeom>
          <a:solidFill>
            <a:srgbClr val="FFFFFF"/>
          </a:solidFill>
          <a:ln w="9525">
            <a:solidFill>
              <a:srgbClr val="C9D3DF"/>
            </a:solidFill>
            <a:prstDash val="solid"/>
          </a:ln>
        </p:spPr>
      </p:sp>
      <p:sp>
        <p:nvSpPr>
          <p:cNvPr id="73" name="anim_1_650"/>
          <p:cNvSpPr txBox="1"/>
          <p:nvPr/>
        </p:nvSpPr>
        <p:spPr>
          <a:xfrm>
            <a:off x="2578608" y="226771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‪0.335‬</a:t>
            </a:r>
            <a:endParaRPr lang="fa-IR" sz="1300" dirty="0"/>
          </a:p>
        </p:txBody>
      </p:sp>
      <p:sp>
        <p:nvSpPr>
          <p:cNvPr id="74" name="anim_1_651"/>
          <p:cNvSpPr/>
          <p:nvPr/>
        </p:nvSpPr>
        <p:spPr>
          <a:xfrm>
            <a:off x="1545336" y="2267712"/>
            <a:ext cx="996696" cy="329184"/>
          </a:xfrm>
          <a:prstGeom prst="rect">
            <a:avLst/>
          </a:prstGeom>
          <a:solidFill>
            <a:srgbClr val="FFFFFF"/>
          </a:solidFill>
          <a:ln w="9525">
            <a:solidFill>
              <a:srgbClr val="C9D3DF"/>
            </a:solidFill>
            <a:prstDash val="solid"/>
          </a:ln>
        </p:spPr>
      </p:sp>
      <p:sp>
        <p:nvSpPr>
          <p:cNvPr id="75" name="anim_1_652"/>
          <p:cNvSpPr txBox="1"/>
          <p:nvPr/>
        </p:nvSpPr>
        <p:spPr>
          <a:xfrm>
            <a:off x="1581912" y="226771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‪2.223‬</a:t>
            </a:r>
            <a:endParaRPr lang="fa-IR" sz="1300" dirty="0"/>
          </a:p>
        </p:txBody>
      </p:sp>
      <p:sp>
        <p:nvSpPr>
          <p:cNvPr id="76" name="anim_1_653"/>
          <p:cNvSpPr/>
          <p:nvPr/>
        </p:nvSpPr>
        <p:spPr>
          <a:xfrm>
            <a:off x="548640" y="2267712"/>
            <a:ext cx="996696" cy="329184"/>
          </a:xfrm>
          <a:prstGeom prst="rect">
            <a:avLst/>
          </a:prstGeom>
          <a:solidFill>
            <a:srgbClr val="FFFFFF"/>
          </a:solidFill>
          <a:ln w="9525">
            <a:solidFill>
              <a:srgbClr val="C9D3DF"/>
            </a:solidFill>
            <a:prstDash val="solid"/>
          </a:ln>
        </p:spPr>
      </p:sp>
      <p:sp>
        <p:nvSpPr>
          <p:cNvPr id="77" name="anim_1_654"/>
          <p:cNvSpPr txBox="1"/>
          <p:nvPr/>
        </p:nvSpPr>
        <p:spPr>
          <a:xfrm>
            <a:off x="585216" y="226771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‪5.944‬</a:t>
            </a:r>
            <a:endParaRPr lang="fa-IR" sz="1300" dirty="0"/>
          </a:p>
        </p:txBody>
      </p:sp>
      <p:sp>
        <p:nvSpPr>
          <p:cNvPr id="78" name="anim_1_655"/>
          <p:cNvSpPr/>
          <p:nvPr/>
        </p:nvSpPr>
        <p:spPr>
          <a:xfrm>
            <a:off x="10268712" y="2596896"/>
            <a:ext cx="1371600" cy="329184"/>
          </a:xfrm>
          <a:prstGeom prst="rect">
            <a:avLst/>
          </a:prstGeom>
          <a:solidFill>
            <a:srgbClr val="EEF3F8"/>
          </a:solidFill>
          <a:ln w="9525">
            <a:solidFill>
              <a:srgbClr val="C9D3DF"/>
            </a:solidFill>
            <a:prstDash val="solid"/>
          </a:ln>
        </p:spPr>
      </p:sp>
      <p:sp>
        <p:nvSpPr>
          <p:cNvPr id="79" name="anim_1_656"/>
          <p:cNvSpPr/>
          <p:nvPr/>
        </p:nvSpPr>
        <p:spPr>
          <a:xfrm>
            <a:off x="10421417" y="2628900"/>
            <a:ext cx="1066190" cy="265176"/>
          </a:xfrm>
          <a:prstGeom prst="roundRect">
            <a:avLst>
              <a:gd name="adj" fmla="val 20690"/>
            </a:avLst>
          </a:prstGeom>
          <a:solidFill>
            <a:schemeClr val="accent1"/>
          </a:solidFill>
          <a:ln/>
        </p:spPr>
      </p:sp>
      <p:sp>
        <p:nvSpPr>
          <p:cNvPr id="80" name="anim_1_657"/>
          <p:cNvSpPr txBox="1"/>
          <p:nvPr/>
        </p:nvSpPr>
        <p:spPr>
          <a:xfrm>
            <a:off x="10421417" y="2628900"/>
            <a:ext cx="1066190"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COMPLEX</a:t>
            </a:r>
            <a:endParaRPr lang="en-US" sz="1100" dirty="0"/>
          </a:p>
        </p:txBody>
      </p:sp>
      <p:sp>
        <p:nvSpPr>
          <p:cNvPr id="81" name="anim_1_658"/>
          <p:cNvSpPr/>
          <p:nvPr/>
        </p:nvSpPr>
        <p:spPr>
          <a:xfrm>
            <a:off x="7525512" y="2596896"/>
            <a:ext cx="2743200" cy="329184"/>
          </a:xfrm>
          <a:prstGeom prst="rect">
            <a:avLst/>
          </a:prstGeom>
          <a:solidFill>
            <a:srgbClr val="EEF3F8"/>
          </a:solidFill>
          <a:ln w="9525">
            <a:solidFill>
              <a:srgbClr val="C9D3DF"/>
            </a:solidFill>
            <a:prstDash val="solid"/>
          </a:ln>
        </p:spPr>
      </p:sp>
      <p:sp>
        <p:nvSpPr>
          <p:cNvPr id="82" name="anim_1_659"/>
          <p:cNvSpPr txBox="1"/>
          <p:nvPr/>
        </p:nvSpPr>
        <p:spPr>
          <a:xfrm>
            <a:off x="7562088" y="2596896"/>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اهمیت مشتری</a:t>
            </a:r>
            <a:endParaRPr lang="fa-IR" sz="1300" dirty="0"/>
          </a:p>
        </p:txBody>
      </p:sp>
      <p:sp>
        <p:nvSpPr>
          <p:cNvPr id="83" name="anim_1_660"/>
          <p:cNvSpPr/>
          <p:nvPr/>
        </p:nvSpPr>
        <p:spPr>
          <a:xfrm>
            <a:off x="6528816" y="2596896"/>
            <a:ext cx="996696" cy="329184"/>
          </a:xfrm>
          <a:prstGeom prst="rect">
            <a:avLst/>
          </a:prstGeom>
          <a:solidFill>
            <a:srgbClr val="EEF3F8"/>
          </a:solidFill>
          <a:ln w="9525">
            <a:solidFill>
              <a:srgbClr val="C9D3DF"/>
            </a:solidFill>
            <a:prstDash val="solid"/>
          </a:ln>
        </p:spPr>
      </p:sp>
      <p:sp>
        <p:nvSpPr>
          <p:cNvPr id="84" name="anim_1_661"/>
          <p:cNvSpPr txBox="1"/>
          <p:nvPr/>
        </p:nvSpPr>
        <p:spPr>
          <a:xfrm>
            <a:off x="6565392" y="259689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‪2.003‬</a:t>
            </a:r>
            <a:endParaRPr lang="fa-IR" sz="1300" dirty="0"/>
          </a:p>
        </p:txBody>
      </p:sp>
      <p:sp>
        <p:nvSpPr>
          <p:cNvPr id="85" name="anim_1_662"/>
          <p:cNvSpPr/>
          <p:nvPr/>
        </p:nvSpPr>
        <p:spPr>
          <a:xfrm>
            <a:off x="5532120" y="2596896"/>
            <a:ext cx="996696" cy="329184"/>
          </a:xfrm>
          <a:prstGeom prst="rect">
            <a:avLst/>
          </a:prstGeom>
          <a:solidFill>
            <a:srgbClr val="EEF3F8"/>
          </a:solidFill>
          <a:ln w="9525">
            <a:solidFill>
              <a:srgbClr val="C9D3DF"/>
            </a:solidFill>
            <a:prstDash val="solid"/>
          </a:ln>
        </p:spPr>
      </p:sp>
      <p:sp>
        <p:nvSpPr>
          <p:cNvPr id="86" name="anim_1_663"/>
          <p:cNvSpPr txBox="1"/>
          <p:nvPr/>
        </p:nvSpPr>
        <p:spPr>
          <a:xfrm>
            <a:off x="5568696" y="259689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‪1.962‬</a:t>
            </a:r>
            <a:endParaRPr lang="fa-IR" sz="1300" dirty="0"/>
          </a:p>
        </p:txBody>
      </p:sp>
      <p:sp>
        <p:nvSpPr>
          <p:cNvPr id="87" name="anim_1_664"/>
          <p:cNvSpPr/>
          <p:nvPr/>
        </p:nvSpPr>
        <p:spPr>
          <a:xfrm>
            <a:off x="4535424" y="2596896"/>
            <a:ext cx="996696" cy="329184"/>
          </a:xfrm>
          <a:prstGeom prst="rect">
            <a:avLst/>
          </a:prstGeom>
          <a:solidFill>
            <a:srgbClr val="EEF3F8"/>
          </a:solidFill>
          <a:ln w="9525">
            <a:solidFill>
              <a:srgbClr val="C9D3DF"/>
            </a:solidFill>
            <a:prstDash val="solid"/>
          </a:ln>
        </p:spPr>
      </p:sp>
      <p:sp>
        <p:nvSpPr>
          <p:cNvPr id="88" name="anim_1_665"/>
          <p:cNvSpPr txBox="1"/>
          <p:nvPr/>
        </p:nvSpPr>
        <p:spPr>
          <a:xfrm>
            <a:off x="4572000" y="259689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‪2.767‬</a:t>
            </a:r>
            <a:endParaRPr lang="fa-IR" sz="1300" dirty="0"/>
          </a:p>
        </p:txBody>
      </p:sp>
      <p:sp>
        <p:nvSpPr>
          <p:cNvPr id="89" name="anim_1_666"/>
          <p:cNvSpPr/>
          <p:nvPr/>
        </p:nvSpPr>
        <p:spPr>
          <a:xfrm>
            <a:off x="3538728" y="2596896"/>
            <a:ext cx="996696" cy="329184"/>
          </a:xfrm>
          <a:prstGeom prst="rect">
            <a:avLst/>
          </a:prstGeom>
          <a:solidFill>
            <a:srgbClr val="EEF3F8"/>
          </a:solidFill>
          <a:ln w="9525">
            <a:solidFill>
              <a:srgbClr val="C9D3DF"/>
            </a:solidFill>
            <a:prstDash val="solid"/>
          </a:ln>
        </p:spPr>
      </p:sp>
      <p:sp>
        <p:nvSpPr>
          <p:cNvPr id="90" name="anim_1_667"/>
          <p:cNvSpPr txBox="1"/>
          <p:nvPr/>
        </p:nvSpPr>
        <p:spPr>
          <a:xfrm>
            <a:off x="3575304" y="259689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‪1.216‬</a:t>
            </a:r>
            <a:endParaRPr lang="fa-IR" sz="1300" dirty="0"/>
          </a:p>
        </p:txBody>
      </p:sp>
      <p:sp>
        <p:nvSpPr>
          <p:cNvPr id="91" name="anim_1_668"/>
          <p:cNvSpPr/>
          <p:nvPr/>
        </p:nvSpPr>
        <p:spPr>
          <a:xfrm>
            <a:off x="2542032" y="2596896"/>
            <a:ext cx="996696" cy="329184"/>
          </a:xfrm>
          <a:prstGeom prst="rect">
            <a:avLst/>
          </a:prstGeom>
          <a:solidFill>
            <a:srgbClr val="EEF3F8"/>
          </a:solidFill>
          <a:ln w="9525">
            <a:solidFill>
              <a:srgbClr val="C9D3DF"/>
            </a:solidFill>
            <a:prstDash val="solid"/>
          </a:ln>
        </p:spPr>
      </p:sp>
      <p:sp>
        <p:nvSpPr>
          <p:cNvPr id="92" name="anim_1_669"/>
          <p:cNvSpPr txBox="1"/>
          <p:nvPr/>
        </p:nvSpPr>
        <p:spPr>
          <a:xfrm>
            <a:off x="2578608" y="259689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‪0.259‬</a:t>
            </a:r>
            <a:endParaRPr lang="fa-IR" sz="1300" dirty="0"/>
          </a:p>
        </p:txBody>
      </p:sp>
      <p:sp>
        <p:nvSpPr>
          <p:cNvPr id="93" name="anim_1_670"/>
          <p:cNvSpPr/>
          <p:nvPr/>
        </p:nvSpPr>
        <p:spPr>
          <a:xfrm>
            <a:off x="1545336" y="2596896"/>
            <a:ext cx="996696" cy="329184"/>
          </a:xfrm>
          <a:prstGeom prst="rect">
            <a:avLst/>
          </a:prstGeom>
          <a:solidFill>
            <a:srgbClr val="EEF3F8"/>
          </a:solidFill>
          <a:ln w="9525">
            <a:solidFill>
              <a:srgbClr val="C9D3DF"/>
            </a:solidFill>
            <a:prstDash val="solid"/>
          </a:ln>
        </p:spPr>
      </p:sp>
      <p:sp>
        <p:nvSpPr>
          <p:cNvPr id="94" name="anim_1_671"/>
          <p:cNvSpPr txBox="1"/>
          <p:nvPr/>
        </p:nvSpPr>
        <p:spPr>
          <a:xfrm>
            <a:off x="1581912" y="259689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‪0.475‬</a:t>
            </a:r>
            <a:endParaRPr lang="fa-IR" sz="1300" dirty="0"/>
          </a:p>
        </p:txBody>
      </p:sp>
      <p:sp>
        <p:nvSpPr>
          <p:cNvPr id="95" name="anim_1_672"/>
          <p:cNvSpPr/>
          <p:nvPr/>
        </p:nvSpPr>
        <p:spPr>
          <a:xfrm>
            <a:off x="548640" y="2596896"/>
            <a:ext cx="996696" cy="329184"/>
          </a:xfrm>
          <a:prstGeom prst="rect">
            <a:avLst/>
          </a:prstGeom>
          <a:solidFill>
            <a:srgbClr val="EEF3F8"/>
          </a:solidFill>
          <a:ln w="9525">
            <a:solidFill>
              <a:srgbClr val="C9D3DF"/>
            </a:solidFill>
            <a:prstDash val="solid"/>
          </a:ln>
        </p:spPr>
      </p:sp>
      <p:sp>
        <p:nvSpPr>
          <p:cNvPr id="96" name="anim_1_673"/>
          <p:cNvSpPr txBox="1"/>
          <p:nvPr/>
        </p:nvSpPr>
        <p:spPr>
          <a:xfrm>
            <a:off x="585216" y="259689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‪3.046‬</a:t>
            </a:r>
            <a:endParaRPr lang="fa-IR" sz="1300" dirty="0"/>
          </a:p>
        </p:txBody>
      </p:sp>
      <p:sp>
        <p:nvSpPr>
          <p:cNvPr id="97" name="anim_1_674"/>
          <p:cNvSpPr/>
          <p:nvPr/>
        </p:nvSpPr>
        <p:spPr>
          <a:xfrm>
            <a:off x="10268712" y="2926080"/>
            <a:ext cx="1371600" cy="329184"/>
          </a:xfrm>
          <a:prstGeom prst="rect">
            <a:avLst/>
          </a:prstGeom>
          <a:solidFill>
            <a:srgbClr val="FFFFFF"/>
          </a:solidFill>
          <a:ln w="9525">
            <a:solidFill>
              <a:srgbClr val="C9D3DF"/>
            </a:solidFill>
            <a:prstDash val="solid"/>
          </a:ln>
        </p:spPr>
      </p:sp>
      <p:sp>
        <p:nvSpPr>
          <p:cNvPr id="98" name="anim_1_675"/>
          <p:cNvSpPr/>
          <p:nvPr/>
        </p:nvSpPr>
        <p:spPr>
          <a:xfrm>
            <a:off x="10529316" y="2958084"/>
            <a:ext cx="850392" cy="265176"/>
          </a:xfrm>
          <a:prstGeom prst="roundRect">
            <a:avLst>
              <a:gd name="adj" fmla="val 20690"/>
            </a:avLst>
          </a:prstGeom>
          <a:solidFill>
            <a:schemeClr val="accent1"/>
          </a:solidFill>
          <a:ln/>
        </p:spPr>
      </p:sp>
      <p:sp>
        <p:nvSpPr>
          <p:cNvPr id="99" name="anim_1_676"/>
          <p:cNvSpPr txBox="1"/>
          <p:nvPr/>
        </p:nvSpPr>
        <p:spPr>
          <a:xfrm>
            <a:off x="10529316" y="2958084"/>
            <a:ext cx="850392"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COSTP</a:t>
            </a:r>
            <a:endParaRPr lang="en-US" sz="1100" dirty="0"/>
          </a:p>
        </p:txBody>
      </p:sp>
      <p:sp>
        <p:nvSpPr>
          <p:cNvPr id="100" name="anim_1_677"/>
          <p:cNvSpPr/>
          <p:nvPr/>
        </p:nvSpPr>
        <p:spPr>
          <a:xfrm>
            <a:off x="7525512" y="2926080"/>
            <a:ext cx="2743200" cy="329184"/>
          </a:xfrm>
          <a:prstGeom prst="rect">
            <a:avLst/>
          </a:prstGeom>
          <a:solidFill>
            <a:srgbClr val="FFFFFF"/>
          </a:solidFill>
          <a:ln w="9525">
            <a:solidFill>
              <a:srgbClr val="C9D3DF"/>
            </a:solidFill>
            <a:prstDash val="solid"/>
          </a:ln>
        </p:spPr>
      </p:sp>
      <p:sp>
        <p:nvSpPr>
          <p:cNvPr id="101" name="anim_1_678"/>
          <p:cNvSpPr txBox="1"/>
          <p:nvPr/>
        </p:nvSpPr>
        <p:spPr>
          <a:xfrm>
            <a:off x="7562088" y="2926080"/>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فشار هزینه‌ای حسابرس</a:t>
            </a:r>
            <a:endParaRPr lang="fa-IR" sz="1300" dirty="0"/>
          </a:p>
        </p:txBody>
      </p:sp>
      <p:sp>
        <p:nvSpPr>
          <p:cNvPr id="102" name="anim_1_679"/>
          <p:cNvSpPr/>
          <p:nvPr/>
        </p:nvSpPr>
        <p:spPr>
          <a:xfrm>
            <a:off x="6528816" y="2926080"/>
            <a:ext cx="996696" cy="329184"/>
          </a:xfrm>
          <a:prstGeom prst="rect">
            <a:avLst/>
          </a:prstGeom>
          <a:solidFill>
            <a:srgbClr val="FFFFFF"/>
          </a:solidFill>
          <a:ln w="9525">
            <a:solidFill>
              <a:srgbClr val="C9D3DF"/>
            </a:solidFill>
            <a:prstDash val="solid"/>
          </a:ln>
        </p:spPr>
      </p:sp>
      <p:sp>
        <p:nvSpPr>
          <p:cNvPr id="103" name="anim_1_680"/>
          <p:cNvSpPr txBox="1"/>
          <p:nvPr/>
        </p:nvSpPr>
        <p:spPr>
          <a:xfrm>
            <a:off x="6565392" y="292608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‪0.025‬</a:t>
            </a:r>
            <a:endParaRPr lang="fa-IR" sz="1300" dirty="0"/>
          </a:p>
        </p:txBody>
      </p:sp>
      <p:sp>
        <p:nvSpPr>
          <p:cNvPr id="104" name="anim_1_681"/>
          <p:cNvSpPr/>
          <p:nvPr/>
        </p:nvSpPr>
        <p:spPr>
          <a:xfrm>
            <a:off x="5532120" y="2926080"/>
            <a:ext cx="996696" cy="329184"/>
          </a:xfrm>
          <a:prstGeom prst="rect">
            <a:avLst/>
          </a:prstGeom>
          <a:solidFill>
            <a:srgbClr val="FFFFFF"/>
          </a:solidFill>
          <a:ln w="9525">
            <a:solidFill>
              <a:srgbClr val="C9D3DF"/>
            </a:solidFill>
            <a:prstDash val="solid"/>
          </a:ln>
        </p:spPr>
      </p:sp>
      <p:sp>
        <p:nvSpPr>
          <p:cNvPr id="105" name="anim_1_682"/>
          <p:cNvSpPr txBox="1"/>
          <p:nvPr/>
        </p:nvSpPr>
        <p:spPr>
          <a:xfrm>
            <a:off x="5568696" y="292608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‪0.017‬</a:t>
            </a:r>
            <a:endParaRPr lang="fa-IR" sz="1300" dirty="0"/>
          </a:p>
        </p:txBody>
      </p:sp>
      <p:sp>
        <p:nvSpPr>
          <p:cNvPr id="106" name="anim_1_683"/>
          <p:cNvSpPr/>
          <p:nvPr/>
        </p:nvSpPr>
        <p:spPr>
          <a:xfrm>
            <a:off x="4535424" y="2926080"/>
            <a:ext cx="996696" cy="329184"/>
          </a:xfrm>
          <a:prstGeom prst="rect">
            <a:avLst/>
          </a:prstGeom>
          <a:solidFill>
            <a:srgbClr val="FFFFFF"/>
          </a:solidFill>
          <a:ln w="9525">
            <a:solidFill>
              <a:srgbClr val="C9D3DF"/>
            </a:solidFill>
            <a:prstDash val="solid"/>
          </a:ln>
        </p:spPr>
      </p:sp>
      <p:sp>
        <p:nvSpPr>
          <p:cNvPr id="107" name="anim_1_684"/>
          <p:cNvSpPr txBox="1"/>
          <p:nvPr/>
        </p:nvSpPr>
        <p:spPr>
          <a:xfrm>
            <a:off x="4572000" y="292608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‪1.124‬</a:t>
            </a:r>
            <a:endParaRPr lang="fa-IR" sz="1300" dirty="0"/>
          </a:p>
        </p:txBody>
      </p:sp>
      <p:sp>
        <p:nvSpPr>
          <p:cNvPr id="108" name="anim_1_685"/>
          <p:cNvSpPr/>
          <p:nvPr/>
        </p:nvSpPr>
        <p:spPr>
          <a:xfrm>
            <a:off x="3538728" y="2926080"/>
            <a:ext cx="996696" cy="329184"/>
          </a:xfrm>
          <a:prstGeom prst="rect">
            <a:avLst/>
          </a:prstGeom>
          <a:solidFill>
            <a:srgbClr val="FFFFFF"/>
          </a:solidFill>
          <a:ln w="9525">
            <a:solidFill>
              <a:srgbClr val="C9D3DF"/>
            </a:solidFill>
            <a:prstDash val="solid"/>
          </a:ln>
        </p:spPr>
      </p:sp>
      <p:sp>
        <p:nvSpPr>
          <p:cNvPr id="109" name="anim_1_686"/>
          <p:cNvSpPr txBox="1"/>
          <p:nvPr/>
        </p:nvSpPr>
        <p:spPr>
          <a:xfrm>
            <a:off x="3575304" y="292608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‪-0.539‬</a:t>
            </a:r>
            <a:endParaRPr lang="fa-IR" sz="1300" dirty="0"/>
          </a:p>
        </p:txBody>
      </p:sp>
      <p:sp>
        <p:nvSpPr>
          <p:cNvPr id="110" name="anim_1_687"/>
          <p:cNvSpPr/>
          <p:nvPr/>
        </p:nvSpPr>
        <p:spPr>
          <a:xfrm>
            <a:off x="2542032" y="2926080"/>
            <a:ext cx="996696" cy="329184"/>
          </a:xfrm>
          <a:prstGeom prst="rect">
            <a:avLst/>
          </a:prstGeom>
          <a:solidFill>
            <a:srgbClr val="FFFFFF"/>
          </a:solidFill>
          <a:ln w="9525">
            <a:solidFill>
              <a:srgbClr val="C9D3DF"/>
            </a:solidFill>
            <a:prstDash val="solid"/>
          </a:ln>
        </p:spPr>
      </p:sp>
      <p:sp>
        <p:nvSpPr>
          <p:cNvPr id="111" name="anim_1_688"/>
          <p:cNvSpPr txBox="1"/>
          <p:nvPr/>
        </p:nvSpPr>
        <p:spPr>
          <a:xfrm>
            <a:off x="2578608" y="292608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‪0.116‬</a:t>
            </a:r>
            <a:endParaRPr lang="fa-IR" sz="1300" dirty="0"/>
          </a:p>
        </p:txBody>
      </p:sp>
      <p:sp>
        <p:nvSpPr>
          <p:cNvPr id="112" name="anim_1_689"/>
          <p:cNvSpPr/>
          <p:nvPr/>
        </p:nvSpPr>
        <p:spPr>
          <a:xfrm>
            <a:off x="1545336" y="2926080"/>
            <a:ext cx="996696" cy="329184"/>
          </a:xfrm>
          <a:prstGeom prst="rect">
            <a:avLst/>
          </a:prstGeom>
          <a:solidFill>
            <a:srgbClr val="FFFFFF"/>
          </a:solidFill>
          <a:ln w="9525">
            <a:solidFill>
              <a:srgbClr val="C9D3DF"/>
            </a:solidFill>
            <a:prstDash val="solid"/>
          </a:ln>
        </p:spPr>
      </p:sp>
      <p:sp>
        <p:nvSpPr>
          <p:cNvPr id="113" name="anim_1_690"/>
          <p:cNvSpPr txBox="1"/>
          <p:nvPr/>
        </p:nvSpPr>
        <p:spPr>
          <a:xfrm>
            <a:off x="1581912" y="292608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‪1.747‬</a:t>
            </a:r>
            <a:endParaRPr lang="fa-IR" sz="1300" dirty="0"/>
          </a:p>
        </p:txBody>
      </p:sp>
      <p:sp>
        <p:nvSpPr>
          <p:cNvPr id="114" name="anim_1_691"/>
          <p:cNvSpPr/>
          <p:nvPr/>
        </p:nvSpPr>
        <p:spPr>
          <a:xfrm>
            <a:off x="548640" y="2926080"/>
            <a:ext cx="996696" cy="329184"/>
          </a:xfrm>
          <a:prstGeom prst="rect">
            <a:avLst/>
          </a:prstGeom>
          <a:solidFill>
            <a:srgbClr val="FFFFFF"/>
          </a:solidFill>
          <a:ln w="9525">
            <a:solidFill>
              <a:srgbClr val="C9D3DF"/>
            </a:solidFill>
            <a:prstDash val="solid"/>
          </a:ln>
        </p:spPr>
      </p:sp>
      <p:sp>
        <p:nvSpPr>
          <p:cNvPr id="115" name="anim_1_692"/>
          <p:cNvSpPr txBox="1"/>
          <p:nvPr/>
        </p:nvSpPr>
        <p:spPr>
          <a:xfrm>
            <a:off x="585216" y="292608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‪19.818‬</a:t>
            </a:r>
            <a:endParaRPr lang="fa-IR" sz="1300" dirty="0"/>
          </a:p>
        </p:txBody>
      </p:sp>
      <p:sp>
        <p:nvSpPr>
          <p:cNvPr id="116" name="anim_1_693"/>
          <p:cNvSpPr/>
          <p:nvPr/>
        </p:nvSpPr>
        <p:spPr>
          <a:xfrm>
            <a:off x="10268712" y="3255264"/>
            <a:ext cx="1371600" cy="329184"/>
          </a:xfrm>
          <a:prstGeom prst="rect">
            <a:avLst/>
          </a:prstGeom>
          <a:solidFill>
            <a:srgbClr val="EEF3F8"/>
          </a:solidFill>
          <a:ln w="9525">
            <a:solidFill>
              <a:srgbClr val="C9D3DF"/>
            </a:solidFill>
            <a:prstDash val="solid"/>
          </a:ln>
        </p:spPr>
      </p:sp>
      <p:sp>
        <p:nvSpPr>
          <p:cNvPr id="117" name="anim_1_694"/>
          <p:cNvSpPr/>
          <p:nvPr/>
        </p:nvSpPr>
        <p:spPr>
          <a:xfrm>
            <a:off x="10475366" y="3287268"/>
            <a:ext cx="958291" cy="265176"/>
          </a:xfrm>
          <a:prstGeom prst="roundRect">
            <a:avLst>
              <a:gd name="adj" fmla="val 20690"/>
            </a:avLst>
          </a:prstGeom>
          <a:solidFill>
            <a:schemeClr val="accent1"/>
          </a:solidFill>
          <a:ln/>
        </p:spPr>
      </p:sp>
      <p:sp>
        <p:nvSpPr>
          <p:cNvPr id="118" name="anim_1_695"/>
          <p:cNvSpPr txBox="1"/>
          <p:nvPr/>
        </p:nvSpPr>
        <p:spPr>
          <a:xfrm>
            <a:off x="10475366" y="3287268"/>
            <a:ext cx="958291"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GROWTH</a:t>
            </a:r>
            <a:endParaRPr lang="en-US" sz="1100" dirty="0"/>
          </a:p>
        </p:txBody>
      </p:sp>
      <p:sp>
        <p:nvSpPr>
          <p:cNvPr id="119" name="anim_1_696"/>
          <p:cNvSpPr/>
          <p:nvPr/>
        </p:nvSpPr>
        <p:spPr>
          <a:xfrm>
            <a:off x="7525512" y="3255264"/>
            <a:ext cx="2743200" cy="329184"/>
          </a:xfrm>
          <a:prstGeom prst="rect">
            <a:avLst/>
          </a:prstGeom>
          <a:solidFill>
            <a:srgbClr val="EEF3F8"/>
          </a:solidFill>
          <a:ln w="9525">
            <a:solidFill>
              <a:srgbClr val="C9D3DF"/>
            </a:solidFill>
            <a:prstDash val="solid"/>
          </a:ln>
        </p:spPr>
      </p:sp>
      <p:sp>
        <p:nvSpPr>
          <p:cNvPr id="120" name="anim_1_697"/>
          <p:cNvSpPr txBox="1"/>
          <p:nvPr/>
        </p:nvSpPr>
        <p:spPr>
          <a:xfrm>
            <a:off x="7562088" y="3255264"/>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رشد شرکت</a:t>
            </a:r>
            <a:endParaRPr lang="fa-IR" sz="1300" dirty="0"/>
          </a:p>
        </p:txBody>
      </p:sp>
      <p:sp>
        <p:nvSpPr>
          <p:cNvPr id="121" name="anim_1_698"/>
          <p:cNvSpPr/>
          <p:nvPr/>
        </p:nvSpPr>
        <p:spPr>
          <a:xfrm>
            <a:off x="6528816" y="3255264"/>
            <a:ext cx="996696" cy="329184"/>
          </a:xfrm>
          <a:prstGeom prst="rect">
            <a:avLst/>
          </a:prstGeom>
          <a:solidFill>
            <a:srgbClr val="EEF3F8"/>
          </a:solidFill>
          <a:ln w="9525">
            <a:solidFill>
              <a:srgbClr val="C9D3DF"/>
            </a:solidFill>
            <a:prstDash val="solid"/>
          </a:ln>
        </p:spPr>
      </p:sp>
      <p:sp>
        <p:nvSpPr>
          <p:cNvPr id="122" name="anim_1_699"/>
          <p:cNvSpPr txBox="1"/>
          <p:nvPr/>
        </p:nvSpPr>
        <p:spPr>
          <a:xfrm>
            <a:off x="6565392" y="325526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‪0.539‬</a:t>
            </a:r>
            <a:endParaRPr lang="fa-IR" sz="1300" dirty="0"/>
          </a:p>
        </p:txBody>
      </p:sp>
      <p:sp>
        <p:nvSpPr>
          <p:cNvPr id="123" name="anim_1_700"/>
          <p:cNvSpPr/>
          <p:nvPr/>
        </p:nvSpPr>
        <p:spPr>
          <a:xfrm>
            <a:off x="5532120" y="3255264"/>
            <a:ext cx="996696" cy="329184"/>
          </a:xfrm>
          <a:prstGeom prst="rect">
            <a:avLst/>
          </a:prstGeom>
          <a:solidFill>
            <a:srgbClr val="EEF3F8"/>
          </a:solidFill>
          <a:ln w="9525">
            <a:solidFill>
              <a:srgbClr val="C9D3DF"/>
            </a:solidFill>
            <a:prstDash val="solid"/>
          </a:ln>
        </p:spPr>
      </p:sp>
      <p:sp>
        <p:nvSpPr>
          <p:cNvPr id="124" name="anim_1_701"/>
          <p:cNvSpPr txBox="1"/>
          <p:nvPr/>
        </p:nvSpPr>
        <p:spPr>
          <a:xfrm>
            <a:off x="5568696" y="325526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‪0.457‬</a:t>
            </a:r>
            <a:endParaRPr lang="fa-IR" sz="1300" dirty="0"/>
          </a:p>
        </p:txBody>
      </p:sp>
      <p:sp>
        <p:nvSpPr>
          <p:cNvPr id="125" name="anim_1_702"/>
          <p:cNvSpPr/>
          <p:nvPr/>
        </p:nvSpPr>
        <p:spPr>
          <a:xfrm>
            <a:off x="4535424" y="3255264"/>
            <a:ext cx="996696" cy="329184"/>
          </a:xfrm>
          <a:prstGeom prst="rect">
            <a:avLst/>
          </a:prstGeom>
          <a:solidFill>
            <a:srgbClr val="EEF3F8"/>
          </a:solidFill>
          <a:ln w="9525">
            <a:solidFill>
              <a:srgbClr val="C9D3DF"/>
            </a:solidFill>
            <a:prstDash val="solid"/>
          </a:ln>
        </p:spPr>
      </p:sp>
      <p:sp>
        <p:nvSpPr>
          <p:cNvPr id="126" name="anim_1_703"/>
          <p:cNvSpPr txBox="1"/>
          <p:nvPr/>
        </p:nvSpPr>
        <p:spPr>
          <a:xfrm>
            <a:off x="4572000" y="325526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‪9.115‬</a:t>
            </a:r>
            <a:endParaRPr lang="fa-IR" sz="1300" dirty="0"/>
          </a:p>
        </p:txBody>
      </p:sp>
      <p:sp>
        <p:nvSpPr>
          <p:cNvPr id="127" name="anim_1_704"/>
          <p:cNvSpPr/>
          <p:nvPr/>
        </p:nvSpPr>
        <p:spPr>
          <a:xfrm>
            <a:off x="3538728" y="3255264"/>
            <a:ext cx="996696" cy="329184"/>
          </a:xfrm>
          <a:prstGeom prst="rect">
            <a:avLst/>
          </a:prstGeom>
          <a:solidFill>
            <a:srgbClr val="EEF3F8"/>
          </a:solidFill>
          <a:ln w="9525">
            <a:solidFill>
              <a:srgbClr val="C9D3DF"/>
            </a:solidFill>
            <a:prstDash val="solid"/>
          </a:ln>
        </p:spPr>
      </p:sp>
      <p:sp>
        <p:nvSpPr>
          <p:cNvPr id="128" name="anim_1_705"/>
          <p:cNvSpPr txBox="1"/>
          <p:nvPr/>
        </p:nvSpPr>
        <p:spPr>
          <a:xfrm>
            <a:off x="3575304" y="325526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‪-0.575‬</a:t>
            </a:r>
            <a:endParaRPr lang="fa-IR" sz="1300" dirty="0"/>
          </a:p>
        </p:txBody>
      </p:sp>
      <p:sp>
        <p:nvSpPr>
          <p:cNvPr id="129" name="anim_1_706"/>
          <p:cNvSpPr/>
          <p:nvPr/>
        </p:nvSpPr>
        <p:spPr>
          <a:xfrm>
            <a:off x="2542032" y="3255264"/>
            <a:ext cx="996696" cy="329184"/>
          </a:xfrm>
          <a:prstGeom prst="rect">
            <a:avLst/>
          </a:prstGeom>
          <a:solidFill>
            <a:srgbClr val="EEF3F8"/>
          </a:solidFill>
          <a:ln w="9525">
            <a:solidFill>
              <a:srgbClr val="C9D3DF"/>
            </a:solidFill>
            <a:prstDash val="solid"/>
          </a:ln>
        </p:spPr>
      </p:sp>
      <p:sp>
        <p:nvSpPr>
          <p:cNvPr id="130" name="anim_1_707"/>
          <p:cNvSpPr txBox="1"/>
          <p:nvPr/>
        </p:nvSpPr>
        <p:spPr>
          <a:xfrm>
            <a:off x="2578608" y="325526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‪0.574‬</a:t>
            </a:r>
            <a:endParaRPr lang="fa-IR" sz="1300" dirty="0"/>
          </a:p>
        </p:txBody>
      </p:sp>
      <p:sp>
        <p:nvSpPr>
          <p:cNvPr id="131" name="anim_1_708"/>
          <p:cNvSpPr/>
          <p:nvPr/>
        </p:nvSpPr>
        <p:spPr>
          <a:xfrm>
            <a:off x="1545336" y="3255264"/>
            <a:ext cx="996696" cy="329184"/>
          </a:xfrm>
          <a:prstGeom prst="rect">
            <a:avLst/>
          </a:prstGeom>
          <a:solidFill>
            <a:srgbClr val="EEF3F8"/>
          </a:solidFill>
          <a:ln w="9525">
            <a:solidFill>
              <a:srgbClr val="C9D3DF"/>
            </a:solidFill>
            <a:prstDash val="solid"/>
          </a:ln>
        </p:spPr>
      </p:sp>
      <p:sp>
        <p:nvSpPr>
          <p:cNvPr id="132" name="anim_1_709"/>
          <p:cNvSpPr txBox="1"/>
          <p:nvPr/>
        </p:nvSpPr>
        <p:spPr>
          <a:xfrm>
            <a:off x="1581912" y="325526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‪5.597‬</a:t>
            </a:r>
            <a:endParaRPr lang="fa-IR" sz="1300" dirty="0"/>
          </a:p>
        </p:txBody>
      </p:sp>
      <p:sp>
        <p:nvSpPr>
          <p:cNvPr id="133" name="anim_1_710"/>
          <p:cNvSpPr/>
          <p:nvPr/>
        </p:nvSpPr>
        <p:spPr>
          <a:xfrm>
            <a:off x="548640" y="3255264"/>
            <a:ext cx="996696" cy="329184"/>
          </a:xfrm>
          <a:prstGeom prst="rect">
            <a:avLst/>
          </a:prstGeom>
          <a:solidFill>
            <a:srgbClr val="EEF3F8"/>
          </a:solidFill>
          <a:ln w="9525">
            <a:solidFill>
              <a:srgbClr val="C9D3DF"/>
            </a:solidFill>
            <a:prstDash val="solid"/>
          </a:ln>
        </p:spPr>
      </p:sp>
      <p:sp>
        <p:nvSpPr>
          <p:cNvPr id="134" name="anim_1_711"/>
          <p:cNvSpPr txBox="1"/>
          <p:nvPr/>
        </p:nvSpPr>
        <p:spPr>
          <a:xfrm>
            <a:off x="585216" y="325526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‪68.466‬</a:t>
            </a:r>
            <a:endParaRPr lang="fa-IR" sz="1300" dirty="0"/>
          </a:p>
        </p:txBody>
      </p:sp>
      <p:sp>
        <p:nvSpPr>
          <p:cNvPr id="135" name="anim_1_712"/>
          <p:cNvSpPr/>
          <p:nvPr/>
        </p:nvSpPr>
        <p:spPr>
          <a:xfrm>
            <a:off x="10268712" y="3584448"/>
            <a:ext cx="1371600" cy="329184"/>
          </a:xfrm>
          <a:prstGeom prst="rect">
            <a:avLst/>
          </a:prstGeom>
          <a:solidFill>
            <a:srgbClr val="FFFFFF"/>
          </a:solidFill>
          <a:ln w="9525">
            <a:solidFill>
              <a:srgbClr val="C9D3DF"/>
            </a:solidFill>
            <a:prstDash val="solid"/>
          </a:ln>
        </p:spPr>
      </p:sp>
      <p:sp>
        <p:nvSpPr>
          <p:cNvPr id="136" name="anim_1_713"/>
          <p:cNvSpPr/>
          <p:nvPr/>
        </p:nvSpPr>
        <p:spPr>
          <a:xfrm>
            <a:off x="10637215" y="3616452"/>
            <a:ext cx="634594" cy="265176"/>
          </a:xfrm>
          <a:prstGeom prst="roundRect">
            <a:avLst>
              <a:gd name="adj" fmla="val 20690"/>
            </a:avLst>
          </a:prstGeom>
          <a:solidFill>
            <a:schemeClr val="accent1"/>
          </a:solidFill>
          <a:ln/>
        </p:spPr>
      </p:sp>
      <p:sp>
        <p:nvSpPr>
          <p:cNvPr id="137" name="anim_1_714"/>
          <p:cNvSpPr txBox="1"/>
          <p:nvPr/>
        </p:nvSpPr>
        <p:spPr>
          <a:xfrm>
            <a:off x="10637215" y="3616452"/>
            <a:ext cx="634594"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LEV</a:t>
            </a:r>
            <a:endParaRPr lang="en-US" sz="1100" dirty="0"/>
          </a:p>
        </p:txBody>
      </p:sp>
      <p:sp>
        <p:nvSpPr>
          <p:cNvPr id="138" name="anim_1_715"/>
          <p:cNvSpPr/>
          <p:nvPr/>
        </p:nvSpPr>
        <p:spPr>
          <a:xfrm>
            <a:off x="7525512" y="3584448"/>
            <a:ext cx="2743200" cy="329184"/>
          </a:xfrm>
          <a:prstGeom prst="rect">
            <a:avLst/>
          </a:prstGeom>
          <a:solidFill>
            <a:srgbClr val="FFFFFF"/>
          </a:solidFill>
          <a:ln w="9525">
            <a:solidFill>
              <a:srgbClr val="C9D3DF"/>
            </a:solidFill>
            <a:prstDash val="solid"/>
          </a:ln>
        </p:spPr>
      </p:sp>
      <p:sp>
        <p:nvSpPr>
          <p:cNvPr id="139" name="anim_1_716"/>
          <p:cNvSpPr txBox="1"/>
          <p:nvPr/>
        </p:nvSpPr>
        <p:spPr>
          <a:xfrm>
            <a:off x="7562088" y="3584448"/>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اهرم مالی</a:t>
            </a:r>
            <a:endParaRPr lang="fa-IR" sz="1300" dirty="0"/>
          </a:p>
        </p:txBody>
      </p:sp>
      <p:sp>
        <p:nvSpPr>
          <p:cNvPr id="140" name="anim_1_717"/>
          <p:cNvSpPr/>
          <p:nvPr/>
        </p:nvSpPr>
        <p:spPr>
          <a:xfrm>
            <a:off x="6528816" y="3584448"/>
            <a:ext cx="996696" cy="329184"/>
          </a:xfrm>
          <a:prstGeom prst="rect">
            <a:avLst/>
          </a:prstGeom>
          <a:solidFill>
            <a:srgbClr val="FFFFFF"/>
          </a:solidFill>
          <a:ln w="9525">
            <a:solidFill>
              <a:srgbClr val="C9D3DF"/>
            </a:solidFill>
            <a:prstDash val="solid"/>
          </a:ln>
        </p:spPr>
      </p:sp>
      <p:sp>
        <p:nvSpPr>
          <p:cNvPr id="141" name="anim_1_718"/>
          <p:cNvSpPr txBox="1"/>
          <p:nvPr/>
        </p:nvSpPr>
        <p:spPr>
          <a:xfrm>
            <a:off x="6565392" y="358444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‪0.442‬</a:t>
            </a:r>
            <a:endParaRPr lang="fa-IR" sz="1300" dirty="0"/>
          </a:p>
        </p:txBody>
      </p:sp>
      <p:sp>
        <p:nvSpPr>
          <p:cNvPr id="142" name="anim_1_719"/>
          <p:cNvSpPr/>
          <p:nvPr/>
        </p:nvSpPr>
        <p:spPr>
          <a:xfrm>
            <a:off x="5532120" y="3584448"/>
            <a:ext cx="996696" cy="329184"/>
          </a:xfrm>
          <a:prstGeom prst="rect">
            <a:avLst/>
          </a:prstGeom>
          <a:solidFill>
            <a:srgbClr val="FFFFFF"/>
          </a:solidFill>
          <a:ln w="9525">
            <a:solidFill>
              <a:srgbClr val="C9D3DF"/>
            </a:solidFill>
            <a:prstDash val="solid"/>
          </a:ln>
        </p:spPr>
      </p:sp>
      <p:sp>
        <p:nvSpPr>
          <p:cNvPr id="143" name="anim_1_720"/>
          <p:cNvSpPr txBox="1"/>
          <p:nvPr/>
        </p:nvSpPr>
        <p:spPr>
          <a:xfrm>
            <a:off x="5568696" y="358444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‪0.428‬</a:t>
            </a:r>
            <a:endParaRPr lang="fa-IR" sz="1300" dirty="0"/>
          </a:p>
        </p:txBody>
      </p:sp>
      <p:sp>
        <p:nvSpPr>
          <p:cNvPr id="144" name="anim_1_721"/>
          <p:cNvSpPr/>
          <p:nvPr/>
        </p:nvSpPr>
        <p:spPr>
          <a:xfrm>
            <a:off x="4535424" y="3584448"/>
            <a:ext cx="996696" cy="329184"/>
          </a:xfrm>
          <a:prstGeom prst="rect">
            <a:avLst/>
          </a:prstGeom>
          <a:solidFill>
            <a:srgbClr val="FFFFFF"/>
          </a:solidFill>
          <a:ln w="9525">
            <a:solidFill>
              <a:srgbClr val="C9D3DF"/>
            </a:solidFill>
            <a:prstDash val="solid"/>
          </a:ln>
        </p:spPr>
      </p:sp>
      <p:sp>
        <p:nvSpPr>
          <p:cNvPr id="145" name="anim_1_722"/>
          <p:cNvSpPr txBox="1"/>
          <p:nvPr/>
        </p:nvSpPr>
        <p:spPr>
          <a:xfrm>
            <a:off x="4572000" y="358444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‪1.587‬</a:t>
            </a:r>
            <a:endParaRPr lang="fa-IR" sz="1300" dirty="0"/>
          </a:p>
        </p:txBody>
      </p:sp>
      <p:sp>
        <p:nvSpPr>
          <p:cNvPr id="146" name="anim_1_723"/>
          <p:cNvSpPr/>
          <p:nvPr/>
        </p:nvSpPr>
        <p:spPr>
          <a:xfrm>
            <a:off x="3538728" y="3584448"/>
            <a:ext cx="996696" cy="329184"/>
          </a:xfrm>
          <a:prstGeom prst="rect">
            <a:avLst/>
          </a:prstGeom>
          <a:solidFill>
            <a:srgbClr val="FFFFFF"/>
          </a:solidFill>
          <a:ln w="9525">
            <a:solidFill>
              <a:srgbClr val="C9D3DF"/>
            </a:solidFill>
            <a:prstDash val="solid"/>
          </a:ln>
        </p:spPr>
      </p:sp>
      <p:sp>
        <p:nvSpPr>
          <p:cNvPr id="147" name="anim_1_724"/>
          <p:cNvSpPr txBox="1"/>
          <p:nvPr/>
        </p:nvSpPr>
        <p:spPr>
          <a:xfrm>
            <a:off x="3575304" y="358444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‪0.023‬</a:t>
            </a:r>
            <a:endParaRPr lang="fa-IR" sz="1300" dirty="0"/>
          </a:p>
        </p:txBody>
      </p:sp>
      <p:sp>
        <p:nvSpPr>
          <p:cNvPr id="148" name="anim_1_725"/>
          <p:cNvSpPr/>
          <p:nvPr/>
        </p:nvSpPr>
        <p:spPr>
          <a:xfrm>
            <a:off x="2542032" y="3584448"/>
            <a:ext cx="996696" cy="329184"/>
          </a:xfrm>
          <a:prstGeom prst="rect">
            <a:avLst/>
          </a:prstGeom>
          <a:solidFill>
            <a:srgbClr val="FFFFFF"/>
          </a:solidFill>
          <a:ln w="9525">
            <a:solidFill>
              <a:srgbClr val="C9D3DF"/>
            </a:solidFill>
            <a:prstDash val="solid"/>
          </a:ln>
        </p:spPr>
      </p:sp>
      <p:sp>
        <p:nvSpPr>
          <p:cNvPr id="149" name="anim_1_726"/>
          <p:cNvSpPr txBox="1"/>
          <p:nvPr/>
        </p:nvSpPr>
        <p:spPr>
          <a:xfrm>
            <a:off x="2578608" y="358444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‪0.204‬</a:t>
            </a:r>
            <a:endParaRPr lang="fa-IR" sz="1300" dirty="0"/>
          </a:p>
        </p:txBody>
      </p:sp>
      <p:sp>
        <p:nvSpPr>
          <p:cNvPr id="150" name="anim_1_727"/>
          <p:cNvSpPr/>
          <p:nvPr/>
        </p:nvSpPr>
        <p:spPr>
          <a:xfrm>
            <a:off x="1545336" y="3584448"/>
            <a:ext cx="996696" cy="329184"/>
          </a:xfrm>
          <a:prstGeom prst="rect">
            <a:avLst/>
          </a:prstGeom>
          <a:solidFill>
            <a:srgbClr val="FFFFFF"/>
          </a:solidFill>
          <a:ln w="9525">
            <a:solidFill>
              <a:srgbClr val="C9D3DF"/>
            </a:solidFill>
            <a:prstDash val="solid"/>
          </a:ln>
        </p:spPr>
      </p:sp>
      <p:sp>
        <p:nvSpPr>
          <p:cNvPr id="151" name="anim_1_728"/>
          <p:cNvSpPr txBox="1"/>
          <p:nvPr/>
        </p:nvSpPr>
        <p:spPr>
          <a:xfrm>
            <a:off x="1581912" y="358444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‪0.775‬</a:t>
            </a:r>
            <a:endParaRPr lang="fa-IR" sz="1300" dirty="0"/>
          </a:p>
        </p:txBody>
      </p:sp>
      <p:sp>
        <p:nvSpPr>
          <p:cNvPr id="152" name="anim_1_729"/>
          <p:cNvSpPr/>
          <p:nvPr/>
        </p:nvSpPr>
        <p:spPr>
          <a:xfrm>
            <a:off x="548640" y="3584448"/>
            <a:ext cx="996696" cy="329184"/>
          </a:xfrm>
          <a:prstGeom prst="rect">
            <a:avLst/>
          </a:prstGeom>
          <a:solidFill>
            <a:srgbClr val="FFFFFF"/>
          </a:solidFill>
          <a:ln w="9525">
            <a:solidFill>
              <a:srgbClr val="C9D3DF"/>
            </a:solidFill>
            <a:prstDash val="solid"/>
          </a:ln>
        </p:spPr>
      </p:sp>
      <p:sp>
        <p:nvSpPr>
          <p:cNvPr id="153" name="anim_1_730"/>
          <p:cNvSpPr txBox="1"/>
          <p:nvPr/>
        </p:nvSpPr>
        <p:spPr>
          <a:xfrm>
            <a:off x="585216" y="358444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‪4.852‬</a:t>
            </a:r>
            <a:endParaRPr lang="fa-IR" sz="1300" dirty="0"/>
          </a:p>
        </p:txBody>
      </p:sp>
      <p:sp>
        <p:nvSpPr>
          <p:cNvPr id="154" name="anim_1_731"/>
          <p:cNvSpPr/>
          <p:nvPr/>
        </p:nvSpPr>
        <p:spPr>
          <a:xfrm>
            <a:off x="10268712" y="3913632"/>
            <a:ext cx="1371600" cy="329184"/>
          </a:xfrm>
          <a:prstGeom prst="rect">
            <a:avLst/>
          </a:prstGeom>
          <a:solidFill>
            <a:srgbClr val="EEF3F8"/>
          </a:solidFill>
          <a:ln w="9525">
            <a:solidFill>
              <a:srgbClr val="C9D3DF"/>
            </a:solidFill>
            <a:prstDash val="solid"/>
          </a:ln>
        </p:spPr>
      </p:sp>
      <p:sp>
        <p:nvSpPr>
          <p:cNvPr id="155" name="anim_1_732"/>
          <p:cNvSpPr/>
          <p:nvPr/>
        </p:nvSpPr>
        <p:spPr>
          <a:xfrm>
            <a:off x="10583266" y="3945636"/>
            <a:ext cx="742493" cy="265176"/>
          </a:xfrm>
          <a:prstGeom prst="roundRect">
            <a:avLst>
              <a:gd name="adj" fmla="val 20690"/>
            </a:avLst>
          </a:prstGeom>
          <a:solidFill>
            <a:schemeClr val="accent1"/>
          </a:solidFill>
          <a:ln/>
        </p:spPr>
      </p:sp>
      <p:sp>
        <p:nvSpPr>
          <p:cNvPr id="156" name="anim_1_733"/>
          <p:cNvSpPr txBox="1"/>
          <p:nvPr/>
        </p:nvSpPr>
        <p:spPr>
          <a:xfrm>
            <a:off x="10583266" y="3945636"/>
            <a:ext cx="742493"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NASR</a:t>
            </a:r>
            <a:endParaRPr lang="en-US" sz="1100" dirty="0"/>
          </a:p>
        </p:txBody>
      </p:sp>
      <p:sp>
        <p:nvSpPr>
          <p:cNvPr id="157" name="anim_1_734"/>
          <p:cNvSpPr/>
          <p:nvPr/>
        </p:nvSpPr>
        <p:spPr>
          <a:xfrm>
            <a:off x="7525512" y="3913632"/>
            <a:ext cx="2743200" cy="329184"/>
          </a:xfrm>
          <a:prstGeom prst="rect">
            <a:avLst/>
          </a:prstGeom>
          <a:solidFill>
            <a:srgbClr val="EEF3F8"/>
          </a:solidFill>
          <a:ln w="9525">
            <a:solidFill>
              <a:srgbClr val="C9D3DF"/>
            </a:solidFill>
            <a:prstDash val="solid"/>
          </a:ln>
        </p:spPr>
      </p:sp>
      <p:sp>
        <p:nvSpPr>
          <p:cNvPr id="158" name="anim_1_735"/>
          <p:cNvSpPr txBox="1"/>
          <p:nvPr/>
        </p:nvSpPr>
        <p:spPr>
          <a:xfrm>
            <a:off x="7562088" y="3913632"/>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حق‌الزحمه‌های غیرحسابرسی</a:t>
            </a:r>
            <a:endParaRPr lang="fa-IR" sz="1300" dirty="0"/>
          </a:p>
        </p:txBody>
      </p:sp>
      <p:sp>
        <p:nvSpPr>
          <p:cNvPr id="159" name="anim_1_736"/>
          <p:cNvSpPr/>
          <p:nvPr/>
        </p:nvSpPr>
        <p:spPr>
          <a:xfrm>
            <a:off x="6528816" y="3913632"/>
            <a:ext cx="996696" cy="329184"/>
          </a:xfrm>
          <a:prstGeom prst="rect">
            <a:avLst/>
          </a:prstGeom>
          <a:solidFill>
            <a:srgbClr val="EEF3F8"/>
          </a:solidFill>
          <a:ln w="9525">
            <a:solidFill>
              <a:srgbClr val="C9D3DF"/>
            </a:solidFill>
            <a:prstDash val="solid"/>
          </a:ln>
        </p:spPr>
      </p:sp>
      <p:sp>
        <p:nvSpPr>
          <p:cNvPr id="160" name="anim_1_737"/>
          <p:cNvSpPr txBox="1"/>
          <p:nvPr/>
        </p:nvSpPr>
        <p:spPr>
          <a:xfrm>
            <a:off x="6565392" y="391363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‪0.520‬</a:t>
            </a:r>
            <a:endParaRPr lang="fa-IR" sz="1300" dirty="0"/>
          </a:p>
        </p:txBody>
      </p:sp>
      <p:sp>
        <p:nvSpPr>
          <p:cNvPr id="161" name="anim_1_738"/>
          <p:cNvSpPr/>
          <p:nvPr/>
        </p:nvSpPr>
        <p:spPr>
          <a:xfrm>
            <a:off x="5532120" y="3913632"/>
            <a:ext cx="996696" cy="329184"/>
          </a:xfrm>
          <a:prstGeom prst="rect">
            <a:avLst/>
          </a:prstGeom>
          <a:solidFill>
            <a:srgbClr val="EEF3F8"/>
          </a:solidFill>
          <a:ln w="9525">
            <a:solidFill>
              <a:srgbClr val="C9D3DF"/>
            </a:solidFill>
            <a:prstDash val="solid"/>
          </a:ln>
        </p:spPr>
      </p:sp>
      <p:sp>
        <p:nvSpPr>
          <p:cNvPr id="162" name="anim_1_739"/>
          <p:cNvSpPr txBox="1"/>
          <p:nvPr/>
        </p:nvSpPr>
        <p:spPr>
          <a:xfrm>
            <a:off x="5568696" y="391363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‪0.511‬</a:t>
            </a:r>
            <a:endParaRPr lang="fa-IR" sz="1300" dirty="0"/>
          </a:p>
        </p:txBody>
      </p:sp>
      <p:sp>
        <p:nvSpPr>
          <p:cNvPr id="163" name="anim_1_740"/>
          <p:cNvSpPr/>
          <p:nvPr/>
        </p:nvSpPr>
        <p:spPr>
          <a:xfrm>
            <a:off x="4535424" y="3913632"/>
            <a:ext cx="996696" cy="329184"/>
          </a:xfrm>
          <a:prstGeom prst="rect">
            <a:avLst/>
          </a:prstGeom>
          <a:solidFill>
            <a:srgbClr val="EEF3F8"/>
          </a:solidFill>
          <a:ln w="9525">
            <a:solidFill>
              <a:srgbClr val="C9D3DF"/>
            </a:solidFill>
            <a:prstDash val="solid"/>
          </a:ln>
        </p:spPr>
      </p:sp>
      <p:sp>
        <p:nvSpPr>
          <p:cNvPr id="164" name="anim_1_741"/>
          <p:cNvSpPr txBox="1"/>
          <p:nvPr/>
        </p:nvSpPr>
        <p:spPr>
          <a:xfrm>
            <a:off x="4572000" y="391363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‪0.803‬</a:t>
            </a:r>
            <a:endParaRPr lang="fa-IR" sz="1300" dirty="0"/>
          </a:p>
        </p:txBody>
      </p:sp>
      <p:sp>
        <p:nvSpPr>
          <p:cNvPr id="165" name="anim_1_742"/>
          <p:cNvSpPr/>
          <p:nvPr/>
        </p:nvSpPr>
        <p:spPr>
          <a:xfrm>
            <a:off x="3538728" y="3913632"/>
            <a:ext cx="996696" cy="329184"/>
          </a:xfrm>
          <a:prstGeom prst="rect">
            <a:avLst/>
          </a:prstGeom>
          <a:solidFill>
            <a:srgbClr val="EEF3F8"/>
          </a:solidFill>
          <a:ln w="9525">
            <a:solidFill>
              <a:srgbClr val="C9D3DF"/>
            </a:solidFill>
            <a:prstDash val="solid"/>
          </a:ln>
        </p:spPr>
      </p:sp>
      <p:sp>
        <p:nvSpPr>
          <p:cNvPr id="166" name="anim_1_743"/>
          <p:cNvSpPr txBox="1"/>
          <p:nvPr/>
        </p:nvSpPr>
        <p:spPr>
          <a:xfrm>
            <a:off x="3575304" y="391363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‪0.360‬</a:t>
            </a:r>
            <a:endParaRPr lang="fa-IR" sz="1300" dirty="0"/>
          </a:p>
        </p:txBody>
      </p:sp>
      <p:sp>
        <p:nvSpPr>
          <p:cNvPr id="167" name="anim_1_744"/>
          <p:cNvSpPr/>
          <p:nvPr/>
        </p:nvSpPr>
        <p:spPr>
          <a:xfrm>
            <a:off x="2542032" y="3913632"/>
            <a:ext cx="996696" cy="329184"/>
          </a:xfrm>
          <a:prstGeom prst="rect">
            <a:avLst/>
          </a:prstGeom>
          <a:solidFill>
            <a:srgbClr val="EEF3F8"/>
          </a:solidFill>
          <a:ln w="9525">
            <a:solidFill>
              <a:srgbClr val="C9D3DF"/>
            </a:solidFill>
            <a:prstDash val="solid"/>
          </a:ln>
        </p:spPr>
      </p:sp>
      <p:sp>
        <p:nvSpPr>
          <p:cNvPr id="168" name="anim_1_745"/>
          <p:cNvSpPr txBox="1"/>
          <p:nvPr/>
        </p:nvSpPr>
        <p:spPr>
          <a:xfrm>
            <a:off x="2578608" y="391363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‪0.050‬</a:t>
            </a:r>
            <a:endParaRPr lang="fa-IR" sz="1300" dirty="0"/>
          </a:p>
        </p:txBody>
      </p:sp>
      <p:sp>
        <p:nvSpPr>
          <p:cNvPr id="169" name="anim_1_746"/>
          <p:cNvSpPr/>
          <p:nvPr/>
        </p:nvSpPr>
        <p:spPr>
          <a:xfrm>
            <a:off x="1545336" y="3913632"/>
            <a:ext cx="996696" cy="329184"/>
          </a:xfrm>
          <a:prstGeom prst="rect">
            <a:avLst/>
          </a:prstGeom>
          <a:solidFill>
            <a:srgbClr val="EEF3F8"/>
          </a:solidFill>
          <a:ln w="9525">
            <a:solidFill>
              <a:srgbClr val="C9D3DF"/>
            </a:solidFill>
            <a:prstDash val="solid"/>
          </a:ln>
        </p:spPr>
      </p:sp>
      <p:sp>
        <p:nvSpPr>
          <p:cNvPr id="170" name="anim_1_747"/>
          <p:cNvSpPr txBox="1"/>
          <p:nvPr/>
        </p:nvSpPr>
        <p:spPr>
          <a:xfrm>
            <a:off x="1581912" y="391363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‪1.324‬</a:t>
            </a:r>
            <a:endParaRPr lang="fa-IR" sz="1300" dirty="0"/>
          </a:p>
        </p:txBody>
      </p:sp>
      <p:sp>
        <p:nvSpPr>
          <p:cNvPr id="171" name="anim_1_748"/>
          <p:cNvSpPr/>
          <p:nvPr/>
        </p:nvSpPr>
        <p:spPr>
          <a:xfrm>
            <a:off x="548640" y="3913632"/>
            <a:ext cx="996696" cy="329184"/>
          </a:xfrm>
          <a:prstGeom prst="rect">
            <a:avLst/>
          </a:prstGeom>
          <a:solidFill>
            <a:srgbClr val="EEF3F8"/>
          </a:solidFill>
          <a:ln w="9525">
            <a:solidFill>
              <a:srgbClr val="C9D3DF"/>
            </a:solidFill>
            <a:prstDash val="solid"/>
          </a:ln>
        </p:spPr>
      </p:sp>
      <p:sp>
        <p:nvSpPr>
          <p:cNvPr id="172" name="anim_1_749"/>
          <p:cNvSpPr txBox="1"/>
          <p:nvPr/>
        </p:nvSpPr>
        <p:spPr>
          <a:xfrm>
            <a:off x="585216" y="3913632"/>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‪7.529‬</a:t>
            </a:r>
            <a:endParaRPr lang="fa-IR" sz="1300" dirty="0"/>
          </a:p>
        </p:txBody>
      </p:sp>
      <p:sp>
        <p:nvSpPr>
          <p:cNvPr id="173" name="anim_1_750"/>
          <p:cNvSpPr/>
          <p:nvPr/>
        </p:nvSpPr>
        <p:spPr>
          <a:xfrm>
            <a:off x="10268712" y="4242816"/>
            <a:ext cx="1371600" cy="329184"/>
          </a:xfrm>
          <a:prstGeom prst="rect">
            <a:avLst/>
          </a:prstGeom>
          <a:solidFill>
            <a:srgbClr val="FFFFFF"/>
          </a:solidFill>
          <a:ln w="9525">
            <a:solidFill>
              <a:srgbClr val="C9D3DF"/>
            </a:solidFill>
            <a:prstDash val="solid"/>
          </a:ln>
        </p:spPr>
      </p:sp>
      <p:sp>
        <p:nvSpPr>
          <p:cNvPr id="174" name="anim_1_751"/>
          <p:cNvSpPr/>
          <p:nvPr/>
        </p:nvSpPr>
        <p:spPr>
          <a:xfrm>
            <a:off x="10583266" y="4274820"/>
            <a:ext cx="742493" cy="265176"/>
          </a:xfrm>
          <a:prstGeom prst="roundRect">
            <a:avLst>
              <a:gd name="adj" fmla="val 20690"/>
            </a:avLst>
          </a:prstGeom>
          <a:solidFill>
            <a:schemeClr val="accent1"/>
          </a:solidFill>
          <a:ln/>
        </p:spPr>
      </p:sp>
      <p:sp>
        <p:nvSpPr>
          <p:cNvPr id="175" name="anim_1_752"/>
          <p:cNvSpPr txBox="1"/>
          <p:nvPr/>
        </p:nvSpPr>
        <p:spPr>
          <a:xfrm>
            <a:off x="10583266" y="4274820"/>
            <a:ext cx="742493"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RISK</a:t>
            </a:r>
            <a:endParaRPr lang="en-US" sz="1100" dirty="0"/>
          </a:p>
        </p:txBody>
      </p:sp>
      <p:sp>
        <p:nvSpPr>
          <p:cNvPr id="176" name="anim_1_753"/>
          <p:cNvSpPr/>
          <p:nvPr/>
        </p:nvSpPr>
        <p:spPr>
          <a:xfrm>
            <a:off x="7525512" y="4242816"/>
            <a:ext cx="2743200" cy="329184"/>
          </a:xfrm>
          <a:prstGeom prst="rect">
            <a:avLst/>
          </a:prstGeom>
          <a:solidFill>
            <a:srgbClr val="FFFFFF"/>
          </a:solidFill>
          <a:ln w="9525">
            <a:solidFill>
              <a:srgbClr val="C9D3DF"/>
            </a:solidFill>
            <a:prstDash val="solid"/>
          </a:ln>
        </p:spPr>
      </p:sp>
      <p:sp>
        <p:nvSpPr>
          <p:cNvPr id="177" name="anim_1_754"/>
          <p:cNvSpPr txBox="1"/>
          <p:nvPr/>
        </p:nvSpPr>
        <p:spPr>
          <a:xfrm>
            <a:off x="7562088" y="4242816"/>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ریسک شرکت</a:t>
            </a:r>
            <a:endParaRPr lang="fa-IR" sz="1300" dirty="0"/>
          </a:p>
        </p:txBody>
      </p:sp>
      <p:sp>
        <p:nvSpPr>
          <p:cNvPr id="178" name="anim_1_755"/>
          <p:cNvSpPr/>
          <p:nvPr/>
        </p:nvSpPr>
        <p:spPr>
          <a:xfrm>
            <a:off x="6528816" y="4242816"/>
            <a:ext cx="996696" cy="329184"/>
          </a:xfrm>
          <a:prstGeom prst="rect">
            <a:avLst/>
          </a:prstGeom>
          <a:solidFill>
            <a:srgbClr val="FFFFFF"/>
          </a:solidFill>
          <a:ln w="9525">
            <a:solidFill>
              <a:srgbClr val="C9D3DF"/>
            </a:solidFill>
            <a:prstDash val="solid"/>
          </a:ln>
        </p:spPr>
      </p:sp>
      <p:sp>
        <p:nvSpPr>
          <p:cNvPr id="179" name="anim_1_756"/>
          <p:cNvSpPr txBox="1"/>
          <p:nvPr/>
        </p:nvSpPr>
        <p:spPr>
          <a:xfrm>
            <a:off x="6565392" y="424281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‪0.070‬</a:t>
            </a:r>
            <a:endParaRPr lang="fa-IR" sz="1300" dirty="0"/>
          </a:p>
        </p:txBody>
      </p:sp>
      <p:sp>
        <p:nvSpPr>
          <p:cNvPr id="180" name="anim_1_757"/>
          <p:cNvSpPr/>
          <p:nvPr/>
        </p:nvSpPr>
        <p:spPr>
          <a:xfrm>
            <a:off x="5532120" y="4242816"/>
            <a:ext cx="996696" cy="329184"/>
          </a:xfrm>
          <a:prstGeom prst="rect">
            <a:avLst/>
          </a:prstGeom>
          <a:solidFill>
            <a:srgbClr val="FFFFFF"/>
          </a:solidFill>
          <a:ln w="9525">
            <a:solidFill>
              <a:srgbClr val="C9D3DF"/>
            </a:solidFill>
            <a:prstDash val="solid"/>
          </a:ln>
        </p:spPr>
      </p:sp>
      <p:sp>
        <p:nvSpPr>
          <p:cNvPr id="181" name="anim_1_758"/>
          <p:cNvSpPr txBox="1"/>
          <p:nvPr/>
        </p:nvSpPr>
        <p:spPr>
          <a:xfrm>
            <a:off x="5568696" y="424281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‪0.058‬</a:t>
            </a:r>
            <a:endParaRPr lang="fa-IR" sz="1300" dirty="0"/>
          </a:p>
        </p:txBody>
      </p:sp>
      <p:sp>
        <p:nvSpPr>
          <p:cNvPr id="182" name="anim_1_759"/>
          <p:cNvSpPr/>
          <p:nvPr/>
        </p:nvSpPr>
        <p:spPr>
          <a:xfrm>
            <a:off x="4535424" y="4242816"/>
            <a:ext cx="996696" cy="329184"/>
          </a:xfrm>
          <a:prstGeom prst="rect">
            <a:avLst/>
          </a:prstGeom>
          <a:solidFill>
            <a:srgbClr val="FFFFFF"/>
          </a:solidFill>
          <a:ln w="9525">
            <a:solidFill>
              <a:srgbClr val="C9D3DF"/>
            </a:solidFill>
            <a:prstDash val="solid"/>
          </a:ln>
        </p:spPr>
      </p:sp>
      <p:sp>
        <p:nvSpPr>
          <p:cNvPr id="183" name="anim_1_760"/>
          <p:cNvSpPr txBox="1"/>
          <p:nvPr/>
        </p:nvSpPr>
        <p:spPr>
          <a:xfrm>
            <a:off x="4572000" y="424281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‪0.647‬</a:t>
            </a:r>
            <a:endParaRPr lang="fa-IR" sz="1300" dirty="0"/>
          </a:p>
        </p:txBody>
      </p:sp>
      <p:sp>
        <p:nvSpPr>
          <p:cNvPr id="184" name="anim_1_761"/>
          <p:cNvSpPr/>
          <p:nvPr/>
        </p:nvSpPr>
        <p:spPr>
          <a:xfrm>
            <a:off x="3538728" y="4242816"/>
            <a:ext cx="996696" cy="329184"/>
          </a:xfrm>
          <a:prstGeom prst="rect">
            <a:avLst/>
          </a:prstGeom>
          <a:solidFill>
            <a:srgbClr val="FFFFFF"/>
          </a:solidFill>
          <a:ln w="9525">
            <a:solidFill>
              <a:srgbClr val="C9D3DF"/>
            </a:solidFill>
            <a:prstDash val="solid"/>
          </a:ln>
        </p:spPr>
      </p:sp>
      <p:sp>
        <p:nvSpPr>
          <p:cNvPr id="185" name="anim_1_762"/>
          <p:cNvSpPr txBox="1"/>
          <p:nvPr/>
        </p:nvSpPr>
        <p:spPr>
          <a:xfrm>
            <a:off x="3575304" y="424281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‪0.001‬</a:t>
            </a:r>
            <a:endParaRPr lang="fa-IR" sz="1300" dirty="0"/>
          </a:p>
        </p:txBody>
      </p:sp>
      <p:sp>
        <p:nvSpPr>
          <p:cNvPr id="186" name="anim_1_763"/>
          <p:cNvSpPr/>
          <p:nvPr/>
        </p:nvSpPr>
        <p:spPr>
          <a:xfrm>
            <a:off x="2542032" y="4242816"/>
            <a:ext cx="996696" cy="329184"/>
          </a:xfrm>
          <a:prstGeom prst="rect">
            <a:avLst/>
          </a:prstGeom>
          <a:solidFill>
            <a:srgbClr val="FFFFFF"/>
          </a:solidFill>
          <a:ln w="9525">
            <a:solidFill>
              <a:srgbClr val="C9D3DF"/>
            </a:solidFill>
            <a:prstDash val="solid"/>
          </a:ln>
        </p:spPr>
      </p:sp>
      <p:sp>
        <p:nvSpPr>
          <p:cNvPr id="187" name="anim_1_764"/>
          <p:cNvSpPr txBox="1"/>
          <p:nvPr/>
        </p:nvSpPr>
        <p:spPr>
          <a:xfrm>
            <a:off x="2578608" y="424281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‪0.054‬</a:t>
            </a:r>
            <a:endParaRPr lang="fa-IR" sz="1300" dirty="0"/>
          </a:p>
        </p:txBody>
      </p:sp>
      <p:sp>
        <p:nvSpPr>
          <p:cNvPr id="188" name="anim_1_765"/>
          <p:cNvSpPr/>
          <p:nvPr/>
        </p:nvSpPr>
        <p:spPr>
          <a:xfrm>
            <a:off x="1545336" y="4242816"/>
            <a:ext cx="996696" cy="329184"/>
          </a:xfrm>
          <a:prstGeom prst="rect">
            <a:avLst/>
          </a:prstGeom>
          <a:solidFill>
            <a:srgbClr val="FFFFFF"/>
          </a:solidFill>
          <a:ln w="9525">
            <a:solidFill>
              <a:srgbClr val="C9D3DF"/>
            </a:solidFill>
            <a:prstDash val="solid"/>
          </a:ln>
        </p:spPr>
      </p:sp>
      <p:sp>
        <p:nvSpPr>
          <p:cNvPr id="189" name="anim_1_766"/>
          <p:cNvSpPr txBox="1"/>
          <p:nvPr/>
        </p:nvSpPr>
        <p:spPr>
          <a:xfrm>
            <a:off x="1581912" y="424281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‪2.430‬</a:t>
            </a:r>
            <a:endParaRPr lang="fa-IR" sz="1300" dirty="0"/>
          </a:p>
        </p:txBody>
      </p:sp>
      <p:sp>
        <p:nvSpPr>
          <p:cNvPr id="190" name="anim_1_767"/>
          <p:cNvSpPr/>
          <p:nvPr/>
        </p:nvSpPr>
        <p:spPr>
          <a:xfrm>
            <a:off x="548640" y="4242816"/>
            <a:ext cx="996696" cy="329184"/>
          </a:xfrm>
          <a:prstGeom prst="rect">
            <a:avLst/>
          </a:prstGeom>
          <a:solidFill>
            <a:srgbClr val="FFFFFF"/>
          </a:solidFill>
          <a:ln w="9525">
            <a:solidFill>
              <a:srgbClr val="C9D3DF"/>
            </a:solidFill>
            <a:prstDash val="solid"/>
          </a:ln>
        </p:spPr>
      </p:sp>
      <p:sp>
        <p:nvSpPr>
          <p:cNvPr id="191" name="anim_1_768"/>
          <p:cNvSpPr txBox="1"/>
          <p:nvPr/>
        </p:nvSpPr>
        <p:spPr>
          <a:xfrm>
            <a:off x="585216" y="4242816"/>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‪18.953‬</a:t>
            </a:r>
            <a:endParaRPr lang="fa-IR" sz="1300" dirty="0"/>
          </a:p>
        </p:txBody>
      </p:sp>
      <p:sp>
        <p:nvSpPr>
          <p:cNvPr id="192" name="anim_1_769"/>
          <p:cNvSpPr/>
          <p:nvPr/>
        </p:nvSpPr>
        <p:spPr>
          <a:xfrm>
            <a:off x="10268712" y="4572000"/>
            <a:ext cx="1371600" cy="329184"/>
          </a:xfrm>
          <a:prstGeom prst="rect">
            <a:avLst/>
          </a:prstGeom>
          <a:solidFill>
            <a:srgbClr val="EEF3F8"/>
          </a:solidFill>
          <a:ln w="9525">
            <a:solidFill>
              <a:srgbClr val="C9D3DF"/>
            </a:solidFill>
            <a:prstDash val="solid"/>
          </a:ln>
        </p:spPr>
      </p:sp>
      <p:sp>
        <p:nvSpPr>
          <p:cNvPr id="193" name="anim_1_770"/>
          <p:cNvSpPr/>
          <p:nvPr/>
        </p:nvSpPr>
        <p:spPr>
          <a:xfrm>
            <a:off x="10637215" y="4604004"/>
            <a:ext cx="634594" cy="265176"/>
          </a:xfrm>
          <a:prstGeom prst="roundRect">
            <a:avLst>
              <a:gd name="adj" fmla="val 20690"/>
            </a:avLst>
          </a:prstGeom>
          <a:solidFill>
            <a:schemeClr val="accent1"/>
          </a:solidFill>
          <a:ln/>
        </p:spPr>
      </p:sp>
      <p:sp>
        <p:nvSpPr>
          <p:cNvPr id="194" name="anim_1_771"/>
          <p:cNvSpPr txBox="1"/>
          <p:nvPr/>
        </p:nvSpPr>
        <p:spPr>
          <a:xfrm>
            <a:off x="10637215" y="4604004"/>
            <a:ext cx="634594"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ROA</a:t>
            </a:r>
            <a:endParaRPr lang="en-US" sz="1100" dirty="0"/>
          </a:p>
        </p:txBody>
      </p:sp>
      <p:sp>
        <p:nvSpPr>
          <p:cNvPr id="195" name="anim_1_772"/>
          <p:cNvSpPr/>
          <p:nvPr/>
        </p:nvSpPr>
        <p:spPr>
          <a:xfrm>
            <a:off x="7525512" y="4572000"/>
            <a:ext cx="2743200" cy="329184"/>
          </a:xfrm>
          <a:prstGeom prst="rect">
            <a:avLst/>
          </a:prstGeom>
          <a:solidFill>
            <a:srgbClr val="EEF3F8"/>
          </a:solidFill>
          <a:ln w="9525">
            <a:solidFill>
              <a:srgbClr val="C9D3DF"/>
            </a:solidFill>
            <a:prstDash val="solid"/>
          </a:ln>
        </p:spPr>
      </p:sp>
      <p:sp>
        <p:nvSpPr>
          <p:cNvPr id="196" name="anim_1_773"/>
          <p:cNvSpPr txBox="1"/>
          <p:nvPr/>
        </p:nvSpPr>
        <p:spPr>
          <a:xfrm>
            <a:off x="7562088" y="4572000"/>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بازده دارایی ها</a:t>
            </a:r>
            <a:endParaRPr lang="fa-IR" sz="1300" dirty="0"/>
          </a:p>
        </p:txBody>
      </p:sp>
      <p:sp>
        <p:nvSpPr>
          <p:cNvPr id="197" name="anim_1_774"/>
          <p:cNvSpPr/>
          <p:nvPr/>
        </p:nvSpPr>
        <p:spPr>
          <a:xfrm>
            <a:off x="6528816" y="4572000"/>
            <a:ext cx="996696" cy="329184"/>
          </a:xfrm>
          <a:prstGeom prst="rect">
            <a:avLst/>
          </a:prstGeom>
          <a:solidFill>
            <a:srgbClr val="EEF3F8"/>
          </a:solidFill>
          <a:ln w="9525">
            <a:solidFill>
              <a:srgbClr val="C9D3DF"/>
            </a:solidFill>
            <a:prstDash val="solid"/>
          </a:ln>
        </p:spPr>
      </p:sp>
      <p:sp>
        <p:nvSpPr>
          <p:cNvPr id="198" name="anim_1_775"/>
          <p:cNvSpPr txBox="1"/>
          <p:nvPr/>
        </p:nvSpPr>
        <p:spPr>
          <a:xfrm>
            <a:off x="6565392" y="457200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‪0.249‬</a:t>
            </a:r>
            <a:endParaRPr lang="fa-IR" sz="1300" dirty="0"/>
          </a:p>
        </p:txBody>
      </p:sp>
      <p:sp>
        <p:nvSpPr>
          <p:cNvPr id="199" name="anim_1_776"/>
          <p:cNvSpPr/>
          <p:nvPr/>
        </p:nvSpPr>
        <p:spPr>
          <a:xfrm>
            <a:off x="5532120" y="4572000"/>
            <a:ext cx="996696" cy="329184"/>
          </a:xfrm>
          <a:prstGeom prst="rect">
            <a:avLst/>
          </a:prstGeom>
          <a:solidFill>
            <a:srgbClr val="EEF3F8"/>
          </a:solidFill>
          <a:ln w="9525">
            <a:solidFill>
              <a:srgbClr val="C9D3DF"/>
            </a:solidFill>
            <a:prstDash val="solid"/>
          </a:ln>
        </p:spPr>
      </p:sp>
      <p:sp>
        <p:nvSpPr>
          <p:cNvPr id="200" name="anim_1_777"/>
          <p:cNvSpPr txBox="1"/>
          <p:nvPr/>
        </p:nvSpPr>
        <p:spPr>
          <a:xfrm>
            <a:off x="5568696" y="457200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‪0.254‬</a:t>
            </a:r>
            <a:endParaRPr lang="fa-IR" sz="1300" dirty="0"/>
          </a:p>
        </p:txBody>
      </p:sp>
      <p:sp>
        <p:nvSpPr>
          <p:cNvPr id="201" name="anim_1_778"/>
          <p:cNvSpPr/>
          <p:nvPr/>
        </p:nvSpPr>
        <p:spPr>
          <a:xfrm>
            <a:off x="4535424" y="4572000"/>
            <a:ext cx="996696" cy="329184"/>
          </a:xfrm>
          <a:prstGeom prst="rect">
            <a:avLst/>
          </a:prstGeom>
          <a:solidFill>
            <a:srgbClr val="EEF3F8"/>
          </a:solidFill>
          <a:ln w="9525">
            <a:solidFill>
              <a:srgbClr val="C9D3DF"/>
            </a:solidFill>
            <a:prstDash val="solid"/>
          </a:ln>
        </p:spPr>
      </p:sp>
      <p:sp>
        <p:nvSpPr>
          <p:cNvPr id="202" name="anim_1_779"/>
          <p:cNvSpPr txBox="1"/>
          <p:nvPr/>
        </p:nvSpPr>
        <p:spPr>
          <a:xfrm>
            <a:off x="4572000" y="457200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‪0.840‬</a:t>
            </a:r>
            <a:endParaRPr lang="fa-IR" sz="1300" dirty="0"/>
          </a:p>
        </p:txBody>
      </p:sp>
      <p:sp>
        <p:nvSpPr>
          <p:cNvPr id="203" name="anim_1_780"/>
          <p:cNvSpPr/>
          <p:nvPr/>
        </p:nvSpPr>
        <p:spPr>
          <a:xfrm>
            <a:off x="3538728" y="4572000"/>
            <a:ext cx="996696" cy="329184"/>
          </a:xfrm>
          <a:prstGeom prst="rect">
            <a:avLst/>
          </a:prstGeom>
          <a:solidFill>
            <a:srgbClr val="EEF3F8"/>
          </a:solidFill>
          <a:ln w="9525">
            <a:solidFill>
              <a:srgbClr val="C9D3DF"/>
            </a:solidFill>
            <a:prstDash val="solid"/>
          </a:ln>
        </p:spPr>
      </p:sp>
      <p:sp>
        <p:nvSpPr>
          <p:cNvPr id="204" name="anim_1_781"/>
          <p:cNvSpPr txBox="1"/>
          <p:nvPr/>
        </p:nvSpPr>
        <p:spPr>
          <a:xfrm>
            <a:off x="3575304" y="457200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‪-1.086‬</a:t>
            </a:r>
            <a:endParaRPr lang="fa-IR" sz="1300" dirty="0"/>
          </a:p>
        </p:txBody>
      </p:sp>
      <p:sp>
        <p:nvSpPr>
          <p:cNvPr id="205" name="anim_1_782"/>
          <p:cNvSpPr/>
          <p:nvPr/>
        </p:nvSpPr>
        <p:spPr>
          <a:xfrm>
            <a:off x="2542032" y="4572000"/>
            <a:ext cx="996696" cy="329184"/>
          </a:xfrm>
          <a:prstGeom prst="rect">
            <a:avLst/>
          </a:prstGeom>
          <a:solidFill>
            <a:srgbClr val="EEF3F8"/>
          </a:solidFill>
          <a:ln w="9525">
            <a:solidFill>
              <a:srgbClr val="C9D3DF"/>
            </a:solidFill>
            <a:prstDash val="solid"/>
          </a:ln>
        </p:spPr>
      </p:sp>
      <p:sp>
        <p:nvSpPr>
          <p:cNvPr id="206" name="anim_1_783"/>
          <p:cNvSpPr txBox="1"/>
          <p:nvPr/>
        </p:nvSpPr>
        <p:spPr>
          <a:xfrm>
            <a:off x="2578608" y="457200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‪0.220‬</a:t>
            </a:r>
            <a:endParaRPr lang="fa-IR" sz="1300" dirty="0"/>
          </a:p>
        </p:txBody>
      </p:sp>
      <p:sp>
        <p:nvSpPr>
          <p:cNvPr id="207" name="anim_1_784"/>
          <p:cNvSpPr/>
          <p:nvPr/>
        </p:nvSpPr>
        <p:spPr>
          <a:xfrm>
            <a:off x="1545336" y="4572000"/>
            <a:ext cx="996696" cy="329184"/>
          </a:xfrm>
          <a:prstGeom prst="rect">
            <a:avLst/>
          </a:prstGeom>
          <a:solidFill>
            <a:srgbClr val="EEF3F8"/>
          </a:solidFill>
          <a:ln w="9525">
            <a:solidFill>
              <a:srgbClr val="C9D3DF"/>
            </a:solidFill>
            <a:prstDash val="solid"/>
          </a:ln>
        </p:spPr>
      </p:sp>
      <p:sp>
        <p:nvSpPr>
          <p:cNvPr id="208" name="anim_1_785"/>
          <p:cNvSpPr txBox="1"/>
          <p:nvPr/>
        </p:nvSpPr>
        <p:spPr>
          <a:xfrm>
            <a:off x="1581912" y="457200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‪-0.806‬</a:t>
            </a:r>
            <a:endParaRPr lang="fa-IR" sz="1300" dirty="0"/>
          </a:p>
        </p:txBody>
      </p:sp>
      <p:sp>
        <p:nvSpPr>
          <p:cNvPr id="209" name="anim_1_786"/>
          <p:cNvSpPr/>
          <p:nvPr/>
        </p:nvSpPr>
        <p:spPr>
          <a:xfrm>
            <a:off x="548640" y="4572000"/>
            <a:ext cx="996696" cy="329184"/>
          </a:xfrm>
          <a:prstGeom prst="rect">
            <a:avLst/>
          </a:prstGeom>
          <a:solidFill>
            <a:srgbClr val="EEF3F8"/>
          </a:solidFill>
          <a:ln w="9525">
            <a:solidFill>
              <a:srgbClr val="C9D3DF"/>
            </a:solidFill>
            <a:prstDash val="solid"/>
          </a:ln>
        </p:spPr>
      </p:sp>
      <p:sp>
        <p:nvSpPr>
          <p:cNvPr id="210" name="anim_1_787"/>
          <p:cNvSpPr txBox="1"/>
          <p:nvPr/>
        </p:nvSpPr>
        <p:spPr>
          <a:xfrm>
            <a:off x="585216" y="4572000"/>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‪6.058‬</a:t>
            </a:r>
            <a:endParaRPr lang="fa-IR" sz="1300" dirty="0"/>
          </a:p>
        </p:txBody>
      </p:sp>
      <p:sp>
        <p:nvSpPr>
          <p:cNvPr id="211" name="anim_1_788"/>
          <p:cNvSpPr/>
          <p:nvPr/>
        </p:nvSpPr>
        <p:spPr>
          <a:xfrm>
            <a:off x="10268712" y="4901184"/>
            <a:ext cx="1371600" cy="329184"/>
          </a:xfrm>
          <a:prstGeom prst="rect">
            <a:avLst/>
          </a:prstGeom>
          <a:solidFill>
            <a:srgbClr val="FFFFFF"/>
          </a:solidFill>
          <a:ln w="9525">
            <a:solidFill>
              <a:srgbClr val="C9D3DF"/>
            </a:solidFill>
            <a:prstDash val="solid"/>
          </a:ln>
        </p:spPr>
      </p:sp>
      <p:sp>
        <p:nvSpPr>
          <p:cNvPr id="212" name="anim_1_789"/>
          <p:cNvSpPr/>
          <p:nvPr/>
        </p:nvSpPr>
        <p:spPr>
          <a:xfrm>
            <a:off x="10583266" y="4933188"/>
            <a:ext cx="742493" cy="265176"/>
          </a:xfrm>
          <a:prstGeom prst="roundRect">
            <a:avLst>
              <a:gd name="adj" fmla="val 20690"/>
            </a:avLst>
          </a:prstGeom>
          <a:solidFill>
            <a:schemeClr val="accent1"/>
          </a:solidFill>
          <a:ln/>
        </p:spPr>
      </p:sp>
      <p:sp>
        <p:nvSpPr>
          <p:cNvPr id="213" name="anim_1_790"/>
          <p:cNvSpPr txBox="1"/>
          <p:nvPr/>
        </p:nvSpPr>
        <p:spPr>
          <a:xfrm>
            <a:off x="10583266" y="4933188"/>
            <a:ext cx="742493"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SIZE</a:t>
            </a:r>
            <a:endParaRPr lang="en-US" sz="1100" dirty="0"/>
          </a:p>
        </p:txBody>
      </p:sp>
      <p:sp>
        <p:nvSpPr>
          <p:cNvPr id="214" name="anim_1_791"/>
          <p:cNvSpPr/>
          <p:nvPr/>
        </p:nvSpPr>
        <p:spPr>
          <a:xfrm>
            <a:off x="7525512" y="4901184"/>
            <a:ext cx="2743200" cy="329184"/>
          </a:xfrm>
          <a:prstGeom prst="rect">
            <a:avLst/>
          </a:prstGeom>
          <a:solidFill>
            <a:srgbClr val="FFFFFF"/>
          </a:solidFill>
          <a:ln w="9525">
            <a:solidFill>
              <a:srgbClr val="C9D3DF"/>
            </a:solidFill>
            <a:prstDash val="solid"/>
          </a:ln>
        </p:spPr>
      </p:sp>
      <p:sp>
        <p:nvSpPr>
          <p:cNvPr id="215" name="anim_1_792"/>
          <p:cNvSpPr txBox="1"/>
          <p:nvPr/>
        </p:nvSpPr>
        <p:spPr>
          <a:xfrm>
            <a:off x="7562088" y="4901184"/>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اندازه شرکت</a:t>
            </a:r>
            <a:endParaRPr lang="fa-IR" sz="1300" dirty="0"/>
          </a:p>
        </p:txBody>
      </p:sp>
      <p:sp>
        <p:nvSpPr>
          <p:cNvPr id="216" name="anim_1_793"/>
          <p:cNvSpPr/>
          <p:nvPr/>
        </p:nvSpPr>
        <p:spPr>
          <a:xfrm>
            <a:off x="6528816" y="4901184"/>
            <a:ext cx="996696" cy="329184"/>
          </a:xfrm>
          <a:prstGeom prst="rect">
            <a:avLst/>
          </a:prstGeom>
          <a:solidFill>
            <a:srgbClr val="FFFFFF"/>
          </a:solidFill>
          <a:ln w="9525">
            <a:solidFill>
              <a:srgbClr val="C9D3DF"/>
            </a:solidFill>
            <a:prstDash val="solid"/>
          </a:ln>
        </p:spPr>
      </p:sp>
      <p:sp>
        <p:nvSpPr>
          <p:cNvPr id="217" name="anim_1_794"/>
          <p:cNvSpPr txBox="1"/>
          <p:nvPr/>
        </p:nvSpPr>
        <p:spPr>
          <a:xfrm>
            <a:off x="6565392" y="490118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‪16.178‬</a:t>
            </a:r>
            <a:endParaRPr lang="fa-IR" sz="1300" dirty="0"/>
          </a:p>
        </p:txBody>
      </p:sp>
      <p:sp>
        <p:nvSpPr>
          <p:cNvPr id="218" name="anim_1_795"/>
          <p:cNvSpPr/>
          <p:nvPr/>
        </p:nvSpPr>
        <p:spPr>
          <a:xfrm>
            <a:off x="5532120" y="4901184"/>
            <a:ext cx="996696" cy="329184"/>
          </a:xfrm>
          <a:prstGeom prst="rect">
            <a:avLst/>
          </a:prstGeom>
          <a:solidFill>
            <a:srgbClr val="FFFFFF"/>
          </a:solidFill>
          <a:ln w="9525">
            <a:solidFill>
              <a:srgbClr val="C9D3DF"/>
            </a:solidFill>
            <a:prstDash val="solid"/>
          </a:ln>
        </p:spPr>
      </p:sp>
      <p:sp>
        <p:nvSpPr>
          <p:cNvPr id="219" name="anim_1_796"/>
          <p:cNvSpPr txBox="1"/>
          <p:nvPr/>
        </p:nvSpPr>
        <p:spPr>
          <a:xfrm>
            <a:off x="5568696" y="490118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‪15.915‬</a:t>
            </a:r>
            <a:endParaRPr lang="fa-IR" sz="1300" dirty="0"/>
          </a:p>
        </p:txBody>
      </p:sp>
      <p:sp>
        <p:nvSpPr>
          <p:cNvPr id="220" name="anim_1_797"/>
          <p:cNvSpPr/>
          <p:nvPr/>
        </p:nvSpPr>
        <p:spPr>
          <a:xfrm>
            <a:off x="4535424" y="4901184"/>
            <a:ext cx="996696" cy="329184"/>
          </a:xfrm>
          <a:prstGeom prst="rect">
            <a:avLst/>
          </a:prstGeom>
          <a:solidFill>
            <a:srgbClr val="FFFFFF"/>
          </a:solidFill>
          <a:ln w="9525">
            <a:solidFill>
              <a:srgbClr val="C9D3DF"/>
            </a:solidFill>
            <a:prstDash val="solid"/>
          </a:ln>
        </p:spPr>
      </p:sp>
      <p:sp>
        <p:nvSpPr>
          <p:cNvPr id="221" name="anim_1_798"/>
          <p:cNvSpPr txBox="1"/>
          <p:nvPr/>
        </p:nvSpPr>
        <p:spPr>
          <a:xfrm>
            <a:off x="4572000" y="490118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‪21.899‬</a:t>
            </a:r>
            <a:endParaRPr lang="fa-IR" sz="1300" dirty="0"/>
          </a:p>
        </p:txBody>
      </p:sp>
      <p:sp>
        <p:nvSpPr>
          <p:cNvPr id="222" name="anim_1_799"/>
          <p:cNvSpPr/>
          <p:nvPr/>
        </p:nvSpPr>
        <p:spPr>
          <a:xfrm>
            <a:off x="3538728" y="4901184"/>
            <a:ext cx="996696" cy="329184"/>
          </a:xfrm>
          <a:prstGeom prst="rect">
            <a:avLst/>
          </a:prstGeom>
          <a:solidFill>
            <a:srgbClr val="FFFFFF"/>
          </a:solidFill>
          <a:ln w="9525">
            <a:solidFill>
              <a:srgbClr val="C9D3DF"/>
            </a:solidFill>
            <a:prstDash val="solid"/>
          </a:ln>
        </p:spPr>
      </p:sp>
      <p:sp>
        <p:nvSpPr>
          <p:cNvPr id="223" name="anim_1_800"/>
          <p:cNvSpPr txBox="1"/>
          <p:nvPr/>
        </p:nvSpPr>
        <p:spPr>
          <a:xfrm>
            <a:off x="3575304" y="490118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‪11.407‬</a:t>
            </a:r>
            <a:endParaRPr lang="fa-IR" sz="1300" dirty="0"/>
          </a:p>
        </p:txBody>
      </p:sp>
      <p:sp>
        <p:nvSpPr>
          <p:cNvPr id="224" name="anim_1_801"/>
          <p:cNvSpPr/>
          <p:nvPr/>
        </p:nvSpPr>
        <p:spPr>
          <a:xfrm>
            <a:off x="2542032" y="4901184"/>
            <a:ext cx="996696" cy="329184"/>
          </a:xfrm>
          <a:prstGeom prst="rect">
            <a:avLst/>
          </a:prstGeom>
          <a:solidFill>
            <a:srgbClr val="FFFFFF"/>
          </a:solidFill>
          <a:ln w="9525">
            <a:solidFill>
              <a:srgbClr val="C9D3DF"/>
            </a:solidFill>
            <a:prstDash val="solid"/>
          </a:ln>
        </p:spPr>
      </p:sp>
      <p:sp>
        <p:nvSpPr>
          <p:cNvPr id="225" name="anim_1_802"/>
          <p:cNvSpPr txBox="1"/>
          <p:nvPr/>
        </p:nvSpPr>
        <p:spPr>
          <a:xfrm>
            <a:off x="2578608" y="490118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‪1.865‬</a:t>
            </a:r>
            <a:endParaRPr lang="fa-IR" sz="1300" dirty="0"/>
          </a:p>
        </p:txBody>
      </p:sp>
      <p:sp>
        <p:nvSpPr>
          <p:cNvPr id="226" name="anim_1_803"/>
          <p:cNvSpPr/>
          <p:nvPr/>
        </p:nvSpPr>
        <p:spPr>
          <a:xfrm>
            <a:off x="1545336" y="4901184"/>
            <a:ext cx="996696" cy="329184"/>
          </a:xfrm>
          <a:prstGeom prst="rect">
            <a:avLst/>
          </a:prstGeom>
          <a:solidFill>
            <a:srgbClr val="FFFFFF"/>
          </a:solidFill>
          <a:ln w="9525">
            <a:solidFill>
              <a:srgbClr val="C9D3DF"/>
            </a:solidFill>
            <a:prstDash val="solid"/>
          </a:ln>
        </p:spPr>
      </p:sp>
      <p:sp>
        <p:nvSpPr>
          <p:cNvPr id="227" name="anim_1_804"/>
          <p:cNvSpPr txBox="1"/>
          <p:nvPr/>
        </p:nvSpPr>
        <p:spPr>
          <a:xfrm>
            <a:off x="1581912" y="490118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‪0.505‬</a:t>
            </a:r>
            <a:endParaRPr lang="fa-IR" sz="1300" dirty="0"/>
          </a:p>
        </p:txBody>
      </p:sp>
      <p:sp>
        <p:nvSpPr>
          <p:cNvPr id="228" name="anim_1_805"/>
          <p:cNvSpPr/>
          <p:nvPr/>
        </p:nvSpPr>
        <p:spPr>
          <a:xfrm>
            <a:off x="548640" y="4901184"/>
            <a:ext cx="996696" cy="329184"/>
          </a:xfrm>
          <a:prstGeom prst="rect">
            <a:avLst/>
          </a:prstGeom>
          <a:solidFill>
            <a:srgbClr val="FFFFFF"/>
          </a:solidFill>
          <a:ln w="9525">
            <a:solidFill>
              <a:srgbClr val="C9D3DF"/>
            </a:solidFill>
            <a:prstDash val="solid"/>
          </a:ln>
        </p:spPr>
      </p:sp>
      <p:sp>
        <p:nvSpPr>
          <p:cNvPr id="229" name="anim_1_806"/>
          <p:cNvSpPr txBox="1"/>
          <p:nvPr/>
        </p:nvSpPr>
        <p:spPr>
          <a:xfrm>
            <a:off x="585216" y="4901184"/>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‪2.827‬</a:t>
            </a:r>
            <a:endParaRPr lang="fa-IR" sz="1300" dirty="0"/>
          </a:p>
        </p:txBody>
      </p:sp>
      <p:sp>
        <p:nvSpPr>
          <p:cNvPr id="230" name="anim_1_807"/>
          <p:cNvSpPr/>
          <p:nvPr/>
        </p:nvSpPr>
        <p:spPr>
          <a:xfrm>
            <a:off x="10268712" y="5230368"/>
            <a:ext cx="1371600" cy="329184"/>
          </a:xfrm>
          <a:prstGeom prst="rect">
            <a:avLst/>
          </a:prstGeom>
          <a:solidFill>
            <a:srgbClr val="EEF3F8"/>
          </a:solidFill>
          <a:ln w="9525">
            <a:solidFill>
              <a:srgbClr val="C9D3DF"/>
            </a:solidFill>
            <a:prstDash val="solid"/>
          </a:ln>
        </p:spPr>
      </p:sp>
      <p:sp>
        <p:nvSpPr>
          <p:cNvPr id="231" name="anim_1_808"/>
          <p:cNvSpPr/>
          <p:nvPr/>
        </p:nvSpPr>
        <p:spPr>
          <a:xfrm>
            <a:off x="10475366" y="5262372"/>
            <a:ext cx="958291" cy="265176"/>
          </a:xfrm>
          <a:prstGeom prst="roundRect">
            <a:avLst>
              <a:gd name="adj" fmla="val 20690"/>
            </a:avLst>
          </a:prstGeom>
          <a:solidFill>
            <a:schemeClr val="accent1"/>
          </a:solidFill>
          <a:ln/>
        </p:spPr>
      </p:sp>
      <p:sp>
        <p:nvSpPr>
          <p:cNvPr id="232" name="anim_1_809"/>
          <p:cNvSpPr txBox="1"/>
          <p:nvPr/>
        </p:nvSpPr>
        <p:spPr>
          <a:xfrm>
            <a:off x="10475366" y="5262372"/>
            <a:ext cx="958291" cy="26517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TENURE</a:t>
            </a:r>
            <a:endParaRPr lang="en-US" sz="1100" dirty="0"/>
          </a:p>
        </p:txBody>
      </p:sp>
      <p:sp>
        <p:nvSpPr>
          <p:cNvPr id="233" name="anim_1_810"/>
          <p:cNvSpPr/>
          <p:nvPr/>
        </p:nvSpPr>
        <p:spPr>
          <a:xfrm>
            <a:off x="7525512" y="5230368"/>
            <a:ext cx="2743200" cy="329184"/>
          </a:xfrm>
          <a:prstGeom prst="rect">
            <a:avLst/>
          </a:prstGeom>
          <a:solidFill>
            <a:srgbClr val="EEF3F8"/>
          </a:solidFill>
          <a:ln w="9525">
            <a:solidFill>
              <a:srgbClr val="C9D3DF"/>
            </a:solidFill>
            <a:prstDash val="solid"/>
          </a:ln>
        </p:spPr>
      </p:sp>
      <p:sp>
        <p:nvSpPr>
          <p:cNvPr id="234" name="anim_1_811"/>
          <p:cNvSpPr txBox="1"/>
          <p:nvPr/>
        </p:nvSpPr>
        <p:spPr>
          <a:xfrm>
            <a:off x="7562088" y="5230368"/>
            <a:ext cx="2670048"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سال اول رابطه (تغییر حسابرس)</a:t>
            </a:r>
            <a:endParaRPr lang="fa-IR" sz="1300" dirty="0"/>
          </a:p>
        </p:txBody>
      </p:sp>
      <p:sp>
        <p:nvSpPr>
          <p:cNvPr id="235" name="anim_1_812"/>
          <p:cNvSpPr/>
          <p:nvPr/>
        </p:nvSpPr>
        <p:spPr>
          <a:xfrm>
            <a:off x="6528816" y="5230368"/>
            <a:ext cx="996696" cy="329184"/>
          </a:xfrm>
          <a:prstGeom prst="rect">
            <a:avLst/>
          </a:prstGeom>
          <a:solidFill>
            <a:srgbClr val="EEF3F8"/>
          </a:solidFill>
          <a:ln w="9525">
            <a:solidFill>
              <a:srgbClr val="C9D3DF"/>
            </a:solidFill>
            <a:prstDash val="solid"/>
          </a:ln>
        </p:spPr>
      </p:sp>
      <p:sp>
        <p:nvSpPr>
          <p:cNvPr id="236" name="anim_1_813"/>
          <p:cNvSpPr txBox="1"/>
          <p:nvPr/>
        </p:nvSpPr>
        <p:spPr>
          <a:xfrm>
            <a:off x="6565392" y="523036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‪0.059‬</a:t>
            </a:r>
            <a:endParaRPr lang="fa-IR" sz="1300" dirty="0"/>
          </a:p>
        </p:txBody>
      </p:sp>
      <p:sp>
        <p:nvSpPr>
          <p:cNvPr id="237" name="anim_1_814"/>
          <p:cNvSpPr/>
          <p:nvPr/>
        </p:nvSpPr>
        <p:spPr>
          <a:xfrm>
            <a:off x="5532120" y="5230368"/>
            <a:ext cx="996696" cy="329184"/>
          </a:xfrm>
          <a:prstGeom prst="rect">
            <a:avLst/>
          </a:prstGeom>
          <a:solidFill>
            <a:srgbClr val="EEF3F8"/>
          </a:solidFill>
          <a:ln w="9525">
            <a:solidFill>
              <a:srgbClr val="C9D3DF"/>
            </a:solidFill>
            <a:prstDash val="solid"/>
          </a:ln>
        </p:spPr>
      </p:sp>
      <p:sp>
        <p:nvSpPr>
          <p:cNvPr id="238" name="anim_1_815"/>
          <p:cNvSpPr txBox="1"/>
          <p:nvPr/>
        </p:nvSpPr>
        <p:spPr>
          <a:xfrm>
            <a:off x="5568696" y="523036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a:t>
            </a:r>
            <a:endParaRPr lang="fa-IR" sz="1300" dirty="0"/>
          </a:p>
        </p:txBody>
      </p:sp>
      <p:sp>
        <p:nvSpPr>
          <p:cNvPr id="239" name="anim_1_816"/>
          <p:cNvSpPr/>
          <p:nvPr/>
        </p:nvSpPr>
        <p:spPr>
          <a:xfrm>
            <a:off x="4535424" y="5230368"/>
            <a:ext cx="996696" cy="329184"/>
          </a:xfrm>
          <a:prstGeom prst="rect">
            <a:avLst/>
          </a:prstGeom>
          <a:solidFill>
            <a:srgbClr val="EEF3F8"/>
          </a:solidFill>
          <a:ln w="9525">
            <a:solidFill>
              <a:srgbClr val="C9D3DF"/>
            </a:solidFill>
            <a:prstDash val="solid"/>
          </a:ln>
        </p:spPr>
      </p:sp>
      <p:sp>
        <p:nvSpPr>
          <p:cNvPr id="240" name="anim_1_817"/>
          <p:cNvSpPr txBox="1"/>
          <p:nvPr/>
        </p:nvSpPr>
        <p:spPr>
          <a:xfrm>
            <a:off x="4572000" y="523036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a:t>
            </a:r>
            <a:endParaRPr lang="fa-IR" sz="1300" dirty="0"/>
          </a:p>
        </p:txBody>
      </p:sp>
      <p:sp>
        <p:nvSpPr>
          <p:cNvPr id="241" name="anim_1_818"/>
          <p:cNvSpPr/>
          <p:nvPr/>
        </p:nvSpPr>
        <p:spPr>
          <a:xfrm>
            <a:off x="3538728" y="5230368"/>
            <a:ext cx="996696" cy="329184"/>
          </a:xfrm>
          <a:prstGeom prst="rect">
            <a:avLst/>
          </a:prstGeom>
          <a:solidFill>
            <a:srgbClr val="EEF3F8"/>
          </a:solidFill>
          <a:ln w="9525">
            <a:solidFill>
              <a:srgbClr val="C9D3DF"/>
            </a:solidFill>
            <a:prstDash val="solid"/>
          </a:ln>
        </p:spPr>
      </p:sp>
      <p:sp>
        <p:nvSpPr>
          <p:cNvPr id="242" name="anim_1_819"/>
          <p:cNvSpPr txBox="1"/>
          <p:nvPr/>
        </p:nvSpPr>
        <p:spPr>
          <a:xfrm>
            <a:off x="3575304" y="523036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a:t>
            </a:r>
            <a:endParaRPr lang="fa-IR" sz="1300" dirty="0"/>
          </a:p>
        </p:txBody>
      </p:sp>
      <p:sp>
        <p:nvSpPr>
          <p:cNvPr id="243" name="anim_1_820"/>
          <p:cNvSpPr/>
          <p:nvPr/>
        </p:nvSpPr>
        <p:spPr>
          <a:xfrm>
            <a:off x="2542032" y="5230368"/>
            <a:ext cx="996696" cy="329184"/>
          </a:xfrm>
          <a:prstGeom prst="rect">
            <a:avLst/>
          </a:prstGeom>
          <a:solidFill>
            <a:srgbClr val="EEF3F8"/>
          </a:solidFill>
          <a:ln w="9525">
            <a:solidFill>
              <a:srgbClr val="C9D3DF"/>
            </a:solidFill>
            <a:prstDash val="solid"/>
          </a:ln>
        </p:spPr>
      </p:sp>
      <p:sp>
        <p:nvSpPr>
          <p:cNvPr id="244" name="anim_1_821"/>
          <p:cNvSpPr txBox="1"/>
          <p:nvPr/>
        </p:nvSpPr>
        <p:spPr>
          <a:xfrm>
            <a:off x="2578608" y="523036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‪0.237‬</a:t>
            </a:r>
            <a:endParaRPr lang="fa-IR" sz="1300" dirty="0"/>
          </a:p>
        </p:txBody>
      </p:sp>
      <p:sp>
        <p:nvSpPr>
          <p:cNvPr id="245" name="anim_1_822"/>
          <p:cNvSpPr/>
          <p:nvPr/>
        </p:nvSpPr>
        <p:spPr>
          <a:xfrm>
            <a:off x="1545336" y="5230368"/>
            <a:ext cx="996696" cy="329184"/>
          </a:xfrm>
          <a:prstGeom prst="rect">
            <a:avLst/>
          </a:prstGeom>
          <a:solidFill>
            <a:srgbClr val="EEF3F8"/>
          </a:solidFill>
          <a:ln w="9525">
            <a:solidFill>
              <a:srgbClr val="C9D3DF"/>
            </a:solidFill>
            <a:prstDash val="solid"/>
          </a:ln>
        </p:spPr>
      </p:sp>
      <p:sp>
        <p:nvSpPr>
          <p:cNvPr id="246" name="anim_1_823"/>
          <p:cNvSpPr txBox="1"/>
          <p:nvPr/>
        </p:nvSpPr>
        <p:spPr>
          <a:xfrm>
            <a:off x="1581912" y="523036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‪3.727‬</a:t>
            </a:r>
            <a:endParaRPr lang="fa-IR" sz="1300" dirty="0"/>
          </a:p>
        </p:txBody>
      </p:sp>
      <p:sp>
        <p:nvSpPr>
          <p:cNvPr id="247" name="anim_1_824"/>
          <p:cNvSpPr/>
          <p:nvPr/>
        </p:nvSpPr>
        <p:spPr>
          <a:xfrm>
            <a:off x="548640" y="5230368"/>
            <a:ext cx="996696" cy="329184"/>
          </a:xfrm>
          <a:prstGeom prst="rect">
            <a:avLst/>
          </a:prstGeom>
          <a:solidFill>
            <a:srgbClr val="EEF3F8"/>
          </a:solidFill>
          <a:ln w="9525">
            <a:solidFill>
              <a:srgbClr val="C9D3DF"/>
            </a:solidFill>
            <a:prstDash val="solid"/>
          </a:ln>
        </p:spPr>
      </p:sp>
      <p:sp>
        <p:nvSpPr>
          <p:cNvPr id="248" name="anim_1_825"/>
          <p:cNvSpPr txBox="1"/>
          <p:nvPr/>
        </p:nvSpPr>
        <p:spPr>
          <a:xfrm>
            <a:off x="585216" y="5230368"/>
            <a:ext cx="923544" cy="329184"/>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‪14.888‬</a:t>
            </a:r>
            <a:endParaRPr lang="fa-IR" sz="1300" dirty="0"/>
          </a:p>
        </p:txBody>
      </p:sp>
      <p:sp>
        <p:nvSpPr>
          <p:cNvPr id="249" name="anim_2_826"/>
          <p:cNvSpPr/>
          <p:nvPr/>
        </p:nvSpPr>
        <p:spPr>
          <a:xfrm>
            <a:off x="548640" y="5669280"/>
            <a:ext cx="11091672" cy="685800"/>
          </a:xfrm>
          <a:prstGeom prst="roundRect">
            <a:avLst>
              <a:gd name="adj" fmla="val 16000"/>
            </a:avLst>
          </a:prstGeom>
          <a:solidFill>
            <a:schemeClr val="tx2"/>
          </a:solidFill>
          <a:ln/>
          <a:effectLst>
            <a:outerShdw sx="100000" sy="100000" kx="0" ky="0" algn="bl" rotWithShape="0" blurRad="101600" dist="25400" dir="5400000">
              <a:srgbClr val="000000">
                <a:alpha val="12000"/>
              </a:srgbClr>
            </a:outerShdw>
          </a:effectLst>
        </p:spPr>
      </p:sp>
      <p:sp>
        <p:nvSpPr>
          <p:cNvPr id="250" name="anim_2_827"/>
          <p:cNvSpPr txBox="1"/>
          <p:nvPr/>
        </p:nvSpPr>
        <p:spPr>
          <a:xfrm>
            <a:off x="822960" y="5687568"/>
            <a:ext cx="10543032" cy="640080"/>
          </a:xfrm>
          <a:prstGeom prst="rect">
            <a:avLst/>
          </a:prstGeom>
          <a:noFill/>
          <a:ln/>
        </p:spPr>
        <p:txBody>
          <a:bodyPr wrap="square" lIns="0" tIns="0" rIns="0" bIns="0" rtlCol="0" anchor="ctr"/>
          <a:lstStyle/>
          <a:p>
            <a:pPr rtl="1" algn="r" indent="0" marL="0">
              <a:buNone/>
            </a:pPr>
            <a:r>
              <a:rPr lang="fa-IR" altLang="en-US" sz="1600" dirty="0">
                <a:solidFill>
                  <a:schemeClr val="bg1"/>
                </a:solidFill>
                <a:latin typeface="B Nazanin" pitchFamily="34" charset="0"/>
                <a:ea typeface="B Nazanin" pitchFamily="34" charset="-122"/>
                <a:cs typeface="B Nazanin" pitchFamily="34" charset="-120"/>
              </a:rPr>
              <a:t>حدود 13٪ مشاهدات توسط سازمان حسابرسی و حدود 6٪ مشاهدات «سال اول رابطه» هستند. جارک-برا نرمال بودن را رد می‌کند، اما با 959 مشاهده آزمون‌های t و F قابل اتکاست.</a:t>
            </a:r>
            <a:endParaRPr lang="fa-IR" sz="16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18</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48"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par>
                                <p:cTn id="295" presetID="10" presetClass="entr" presetSubtype="0" fill="hold" nodeType="withEffect">
                                  <p:stCondLst>
                                    <p:cond delay="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600"/>
                                        <p:tgtEl>
                                          <p:spTgt spid="100"/>
                                        </p:tgtEl>
                                      </p:cBhvr>
                                    </p:animEffect>
                                  </p:childTnLst>
                                </p:cTn>
                              </p:par>
                              <p:par>
                                <p:cTn id="298" presetID="10" presetClass="entr" presetSubtype="0" fill="hold" nodeType="withEffect">
                                  <p:stCondLst>
                                    <p:cond delay="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600"/>
                                        <p:tgtEl>
                                          <p:spTgt spid="101"/>
                                        </p:tgtEl>
                                      </p:cBhvr>
                                    </p:animEffect>
                                  </p:childTnLst>
                                </p:cTn>
                              </p:par>
                              <p:par>
                                <p:cTn id="301" presetID="10" presetClass="entr" presetSubtype="0" fill="hold" nodeType="withEffect">
                                  <p:stCondLst>
                                    <p:cond delay="0"/>
                                  </p:stCondLst>
                                  <p:childTnLst>
                                    <p:set>
                                      <p:cBhvr>
                                        <p:cTn id="302" dur="1" fill="hold">
                                          <p:stCondLst>
                                            <p:cond delay="0"/>
                                          </p:stCondLst>
                                        </p:cTn>
                                        <p:tgtEl>
                                          <p:spTgt spid="102"/>
                                        </p:tgtEl>
                                        <p:attrNameLst>
                                          <p:attrName>style.visibility</p:attrName>
                                        </p:attrNameLst>
                                      </p:cBhvr>
                                      <p:to>
                                        <p:strVal val="visible"/>
                                      </p:to>
                                    </p:set>
                                    <p:animEffect transition="in" filter="fade">
                                      <p:cBhvr>
                                        <p:cTn id="303" dur="600"/>
                                        <p:tgtEl>
                                          <p:spTgt spid="102"/>
                                        </p:tgtEl>
                                      </p:cBhvr>
                                    </p:animEffect>
                                  </p:childTnLst>
                                </p:cTn>
                              </p:par>
                              <p:par>
                                <p:cTn id="304" presetID="10" presetClass="entr" presetSubtype="0" fill="hold" nodeType="withEffect">
                                  <p:stCondLst>
                                    <p:cond delay="0"/>
                                  </p:stCondLst>
                                  <p:childTnLst>
                                    <p:set>
                                      <p:cBhvr>
                                        <p:cTn id="305" dur="1" fill="hold">
                                          <p:stCondLst>
                                            <p:cond delay="0"/>
                                          </p:stCondLst>
                                        </p:cTn>
                                        <p:tgtEl>
                                          <p:spTgt spid="103"/>
                                        </p:tgtEl>
                                        <p:attrNameLst>
                                          <p:attrName>style.visibility</p:attrName>
                                        </p:attrNameLst>
                                      </p:cBhvr>
                                      <p:to>
                                        <p:strVal val="visible"/>
                                      </p:to>
                                    </p:set>
                                    <p:animEffect transition="in" filter="fade">
                                      <p:cBhvr>
                                        <p:cTn id="306" dur="600"/>
                                        <p:tgtEl>
                                          <p:spTgt spid="103"/>
                                        </p:tgtEl>
                                      </p:cBhvr>
                                    </p:animEffect>
                                  </p:childTnLst>
                                </p:cTn>
                              </p:par>
                              <p:par>
                                <p:cTn id="307" presetID="10" presetClass="entr" presetSubtype="0" fill="hold" nodeType="withEffect">
                                  <p:stCondLst>
                                    <p:cond delay="0"/>
                                  </p:stCondLst>
                                  <p:childTnLst>
                                    <p:set>
                                      <p:cBhvr>
                                        <p:cTn id="308" dur="1" fill="hold">
                                          <p:stCondLst>
                                            <p:cond delay="0"/>
                                          </p:stCondLst>
                                        </p:cTn>
                                        <p:tgtEl>
                                          <p:spTgt spid="104"/>
                                        </p:tgtEl>
                                        <p:attrNameLst>
                                          <p:attrName>style.visibility</p:attrName>
                                        </p:attrNameLst>
                                      </p:cBhvr>
                                      <p:to>
                                        <p:strVal val="visible"/>
                                      </p:to>
                                    </p:set>
                                    <p:animEffect transition="in" filter="fade">
                                      <p:cBhvr>
                                        <p:cTn id="309" dur="600"/>
                                        <p:tgtEl>
                                          <p:spTgt spid="104"/>
                                        </p:tgtEl>
                                      </p:cBhvr>
                                    </p:animEffect>
                                  </p:childTnLst>
                                </p:cTn>
                              </p:par>
                              <p:par>
                                <p:cTn id="310" presetID="10" presetClass="entr" presetSubtype="0" fill="hold" nodeType="withEffect">
                                  <p:stCondLst>
                                    <p:cond delay="0"/>
                                  </p:stCondLst>
                                  <p:childTnLst>
                                    <p:set>
                                      <p:cBhvr>
                                        <p:cTn id="311" dur="1" fill="hold">
                                          <p:stCondLst>
                                            <p:cond delay="0"/>
                                          </p:stCondLst>
                                        </p:cTn>
                                        <p:tgtEl>
                                          <p:spTgt spid="105"/>
                                        </p:tgtEl>
                                        <p:attrNameLst>
                                          <p:attrName>style.visibility</p:attrName>
                                        </p:attrNameLst>
                                      </p:cBhvr>
                                      <p:to>
                                        <p:strVal val="visible"/>
                                      </p:to>
                                    </p:set>
                                    <p:animEffect transition="in" filter="fade">
                                      <p:cBhvr>
                                        <p:cTn id="312" dur="600"/>
                                        <p:tgtEl>
                                          <p:spTgt spid="105"/>
                                        </p:tgtEl>
                                      </p:cBhvr>
                                    </p:animEffect>
                                  </p:childTnLst>
                                </p:cTn>
                              </p:par>
                              <p:par>
                                <p:cTn id="313" presetID="10" presetClass="entr" presetSubtype="0" fill="hold" nodeType="withEffect">
                                  <p:stCondLst>
                                    <p:cond delay="0"/>
                                  </p:stCondLst>
                                  <p:childTnLst>
                                    <p:set>
                                      <p:cBhvr>
                                        <p:cTn id="314" dur="1" fill="hold">
                                          <p:stCondLst>
                                            <p:cond delay="0"/>
                                          </p:stCondLst>
                                        </p:cTn>
                                        <p:tgtEl>
                                          <p:spTgt spid="106"/>
                                        </p:tgtEl>
                                        <p:attrNameLst>
                                          <p:attrName>style.visibility</p:attrName>
                                        </p:attrNameLst>
                                      </p:cBhvr>
                                      <p:to>
                                        <p:strVal val="visible"/>
                                      </p:to>
                                    </p:set>
                                    <p:animEffect transition="in" filter="fade">
                                      <p:cBhvr>
                                        <p:cTn id="315" dur="600"/>
                                        <p:tgtEl>
                                          <p:spTgt spid="106"/>
                                        </p:tgtEl>
                                      </p:cBhvr>
                                    </p:animEffect>
                                  </p:childTnLst>
                                </p:cTn>
                              </p:par>
                              <p:par>
                                <p:cTn id="316" presetID="10" presetClass="entr" presetSubtype="0" fill="hold" nodeType="withEffect">
                                  <p:stCondLst>
                                    <p:cond delay="0"/>
                                  </p:stCondLst>
                                  <p:childTnLst>
                                    <p:set>
                                      <p:cBhvr>
                                        <p:cTn id="317" dur="1" fill="hold">
                                          <p:stCondLst>
                                            <p:cond delay="0"/>
                                          </p:stCondLst>
                                        </p:cTn>
                                        <p:tgtEl>
                                          <p:spTgt spid="107"/>
                                        </p:tgtEl>
                                        <p:attrNameLst>
                                          <p:attrName>style.visibility</p:attrName>
                                        </p:attrNameLst>
                                      </p:cBhvr>
                                      <p:to>
                                        <p:strVal val="visible"/>
                                      </p:to>
                                    </p:set>
                                    <p:animEffect transition="in" filter="fade">
                                      <p:cBhvr>
                                        <p:cTn id="318" dur="600"/>
                                        <p:tgtEl>
                                          <p:spTgt spid="107"/>
                                        </p:tgtEl>
                                      </p:cBhvr>
                                    </p:animEffect>
                                  </p:childTnLst>
                                </p:cTn>
                              </p:par>
                              <p:par>
                                <p:cTn id="319" presetID="10" presetClass="entr" presetSubtype="0" fill="hold" nodeType="withEffect">
                                  <p:stCondLst>
                                    <p:cond delay="0"/>
                                  </p:stCondLst>
                                  <p:childTnLst>
                                    <p:set>
                                      <p:cBhvr>
                                        <p:cTn id="320" dur="1" fill="hold">
                                          <p:stCondLst>
                                            <p:cond delay="0"/>
                                          </p:stCondLst>
                                        </p:cTn>
                                        <p:tgtEl>
                                          <p:spTgt spid="108"/>
                                        </p:tgtEl>
                                        <p:attrNameLst>
                                          <p:attrName>style.visibility</p:attrName>
                                        </p:attrNameLst>
                                      </p:cBhvr>
                                      <p:to>
                                        <p:strVal val="visible"/>
                                      </p:to>
                                    </p:set>
                                    <p:animEffect transition="in" filter="fade">
                                      <p:cBhvr>
                                        <p:cTn id="321" dur="600"/>
                                        <p:tgtEl>
                                          <p:spTgt spid="108"/>
                                        </p:tgtEl>
                                      </p:cBhvr>
                                    </p:animEffect>
                                  </p:childTnLst>
                                </p:cTn>
                              </p:par>
                              <p:par>
                                <p:cTn id="322" presetID="10" presetClass="entr" presetSubtype="0" fill="hold" nodeType="withEffect">
                                  <p:stCondLst>
                                    <p:cond delay="0"/>
                                  </p:stCondLst>
                                  <p:childTnLst>
                                    <p:set>
                                      <p:cBhvr>
                                        <p:cTn id="323" dur="1" fill="hold">
                                          <p:stCondLst>
                                            <p:cond delay="0"/>
                                          </p:stCondLst>
                                        </p:cTn>
                                        <p:tgtEl>
                                          <p:spTgt spid="109"/>
                                        </p:tgtEl>
                                        <p:attrNameLst>
                                          <p:attrName>style.visibility</p:attrName>
                                        </p:attrNameLst>
                                      </p:cBhvr>
                                      <p:to>
                                        <p:strVal val="visible"/>
                                      </p:to>
                                    </p:set>
                                    <p:animEffect transition="in" filter="fade">
                                      <p:cBhvr>
                                        <p:cTn id="324" dur="600"/>
                                        <p:tgtEl>
                                          <p:spTgt spid="109"/>
                                        </p:tgtEl>
                                      </p:cBhvr>
                                    </p:animEffect>
                                  </p:childTnLst>
                                </p:cTn>
                              </p:par>
                              <p:par>
                                <p:cTn id="325" presetID="10" presetClass="entr" presetSubtype="0" fill="hold" nodeType="withEffect">
                                  <p:stCondLst>
                                    <p:cond delay="0"/>
                                  </p:stCondLst>
                                  <p:childTnLst>
                                    <p:set>
                                      <p:cBhvr>
                                        <p:cTn id="326" dur="1" fill="hold">
                                          <p:stCondLst>
                                            <p:cond delay="0"/>
                                          </p:stCondLst>
                                        </p:cTn>
                                        <p:tgtEl>
                                          <p:spTgt spid="110"/>
                                        </p:tgtEl>
                                        <p:attrNameLst>
                                          <p:attrName>style.visibility</p:attrName>
                                        </p:attrNameLst>
                                      </p:cBhvr>
                                      <p:to>
                                        <p:strVal val="visible"/>
                                      </p:to>
                                    </p:set>
                                    <p:animEffect transition="in" filter="fade">
                                      <p:cBhvr>
                                        <p:cTn id="327" dur="600"/>
                                        <p:tgtEl>
                                          <p:spTgt spid="110"/>
                                        </p:tgtEl>
                                      </p:cBhvr>
                                    </p:animEffect>
                                  </p:childTnLst>
                                </p:cTn>
                              </p:par>
                              <p:par>
                                <p:cTn id="328" presetID="10" presetClass="entr" presetSubtype="0" fill="hold" nodeType="withEffect">
                                  <p:stCondLst>
                                    <p:cond delay="0"/>
                                  </p:stCondLst>
                                  <p:childTnLst>
                                    <p:set>
                                      <p:cBhvr>
                                        <p:cTn id="329" dur="1" fill="hold">
                                          <p:stCondLst>
                                            <p:cond delay="0"/>
                                          </p:stCondLst>
                                        </p:cTn>
                                        <p:tgtEl>
                                          <p:spTgt spid="111"/>
                                        </p:tgtEl>
                                        <p:attrNameLst>
                                          <p:attrName>style.visibility</p:attrName>
                                        </p:attrNameLst>
                                      </p:cBhvr>
                                      <p:to>
                                        <p:strVal val="visible"/>
                                      </p:to>
                                    </p:set>
                                    <p:animEffect transition="in" filter="fade">
                                      <p:cBhvr>
                                        <p:cTn id="330" dur="600"/>
                                        <p:tgtEl>
                                          <p:spTgt spid="111"/>
                                        </p:tgtEl>
                                      </p:cBhvr>
                                    </p:animEffect>
                                  </p:childTnLst>
                                </p:cTn>
                              </p:par>
                              <p:par>
                                <p:cTn id="331" presetID="10" presetClass="entr" presetSubtype="0" fill="hold" nodeType="withEffect">
                                  <p:stCondLst>
                                    <p:cond delay="0"/>
                                  </p:stCondLst>
                                  <p:childTnLst>
                                    <p:set>
                                      <p:cBhvr>
                                        <p:cTn id="332" dur="1" fill="hold">
                                          <p:stCondLst>
                                            <p:cond delay="0"/>
                                          </p:stCondLst>
                                        </p:cTn>
                                        <p:tgtEl>
                                          <p:spTgt spid="112"/>
                                        </p:tgtEl>
                                        <p:attrNameLst>
                                          <p:attrName>style.visibility</p:attrName>
                                        </p:attrNameLst>
                                      </p:cBhvr>
                                      <p:to>
                                        <p:strVal val="visible"/>
                                      </p:to>
                                    </p:set>
                                    <p:animEffect transition="in" filter="fade">
                                      <p:cBhvr>
                                        <p:cTn id="333" dur="600"/>
                                        <p:tgtEl>
                                          <p:spTgt spid="112"/>
                                        </p:tgtEl>
                                      </p:cBhvr>
                                    </p:animEffect>
                                  </p:childTnLst>
                                </p:cTn>
                              </p:par>
                              <p:par>
                                <p:cTn id="334" presetID="10" presetClass="entr" presetSubtype="0" fill="hold" nodeType="withEffect">
                                  <p:stCondLst>
                                    <p:cond delay="0"/>
                                  </p:stCondLst>
                                  <p:childTnLst>
                                    <p:set>
                                      <p:cBhvr>
                                        <p:cTn id="335" dur="1" fill="hold">
                                          <p:stCondLst>
                                            <p:cond delay="0"/>
                                          </p:stCondLst>
                                        </p:cTn>
                                        <p:tgtEl>
                                          <p:spTgt spid="113"/>
                                        </p:tgtEl>
                                        <p:attrNameLst>
                                          <p:attrName>style.visibility</p:attrName>
                                        </p:attrNameLst>
                                      </p:cBhvr>
                                      <p:to>
                                        <p:strVal val="visible"/>
                                      </p:to>
                                    </p:set>
                                    <p:animEffect transition="in" filter="fade">
                                      <p:cBhvr>
                                        <p:cTn id="336" dur="600"/>
                                        <p:tgtEl>
                                          <p:spTgt spid="113"/>
                                        </p:tgtEl>
                                      </p:cBhvr>
                                    </p:animEffect>
                                  </p:childTnLst>
                                </p:cTn>
                              </p:par>
                              <p:par>
                                <p:cTn id="337" presetID="10" presetClass="entr" presetSubtype="0" fill="hold" nodeType="withEffect">
                                  <p:stCondLst>
                                    <p:cond delay="0"/>
                                  </p:stCondLst>
                                  <p:childTnLst>
                                    <p:set>
                                      <p:cBhvr>
                                        <p:cTn id="338" dur="1" fill="hold">
                                          <p:stCondLst>
                                            <p:cond delay="0"/>
                                          </p:stCondLst>
                                        </p:cTn>
                                        <p:tgtEl>
                                          <p:spTgt spid="114"/>
                                        </p:tgtEl>
                                        <p:attrNameLst>
                                          <p:attrName>style.visibility</p:attrName>
                                        </p:attrNameLst>
                                      </p:cBhvr>
                                      <p:to>
                                        <p:strVal val="visible"/>
                                      </p:to>
                                    </p:set>
                                    <p:animEffect transition="in" filter="fade">
                                      <p:cBhvr>
                                        <p:cTn id="339" dur="600"/>
                                        <p:tgtEl>
                                          <p:spTgt spid="114"/>
                                        </p:tgtEl>
                                      </p:cBhvr>
                                    </p:animEffect>
                                  </p:childTnLst>
                                </p:cTn>
                              </p:par>
                              <p:par>
                                <p:cTn id="340" presetID="10" presetClass="entr" presetSubtype="0" fill="hold" nodeType="withEffect">
                                  <p:stCondLst>
                                    <p:cond delay="0"/>
                                  </p:stCondLst>
                                  <p:childTnLst>
                                    <p:set>
                                      <p:cBhvr>
                                        <p:cTn id="341" dur="1" fill="hold">
                                          <p:stCondLst>
                                            <p:cond delay="0"/>
                                          </p:stCondLst>
                                        </p:cTn>
                                        <p:tgtEl>
                                          <p:spTgt spid="115"/>
                                        </p:tgtEl>
                                        <p:attrNameLst>
                                          <p:attrName>style.visibility</p:attrName>
                                        </p:attrNameLst>
                                      </p:cBhvr>
                                      <p:to>
                                        <p:strVal val="visible"/>
                                      </p:to>
                                    </p:set>
                                    <p:animEffect transition="in" filter="fade">
                                      <p:cBhvr>
                                        <p:cTn id="342" dur="600"/>
                                        <p:tgtEl>
                                          <p:spTgt spid="115"/>
                                        </p:tgtEl>
                                      </p:cBhvr>
                                    </p:animEffect>
                                  </p:childTnLst>
                                </p:cTn>
                              </p:par>
                              <p:par>
                                <p:cTn id="343" presetID="10" presetClass="entr" presetSubtype="0" fill="hold" nodeType="withEffect">
                                  <p:stCondLst>
                                    <p:cond delay="0"/>
                                  </p:stCondLst>
                                  <p:childTnLst>
                                    <p:set>
                                      <p:cBhvr>
                                        <p:cTn id="344" dur="1" fill="hold">
                                          <p:stCondLst>
                                            <p:cond delay="0"/>
                                          </p:stCondLst>
                                        </p:cTn>
                                        <p:tgtEl>
                                          <p:spTgt spid="116"/>
                                        </p:tgtEl>
                                        <p:attrNameLst>
                                          <p:attrName>style.visibility</p:attrName>
                                        </p:attrNameLst>
                                      </p:cBhvr>
                                      <p:to>
                                        <p:strVal val="visible"/>
                                      </p:to>
                                    </p:set>
                                    <p:animEffect transition="in" filter="fade">
                                      <p:cBhvr>
                                        <p:cTn id="345" dur="600"/>
                                        <p:tgtEl>
                                          <p:spTgt spid="116"/>
                                        </p:tgtEl>
                                      </p:cBhvr>
                                    </p:animEffect>
                                  </p:childTnLst>
                                </p:cTn>
                              </p:par>
                              <p:par>
                                <p:cTn id="346" presetID="10" presetClass="entr" presetSubtype="0" fill="hold" nodeType="withEffect">
                                  <p:stCondLst>
                                    <p:cond delay="0"/>
                                  </p:stCondLst>
                                  <p:childTnLst>
                                    <p:set>
                                      <p:cBhvr>
                                        <p:cTn id="347" dur="1" fill="hold">
                                          <p:stCondLst>
                                            <p:cond delay="0"/>
                                          </p:stCondLst>
                                        </p:cTn>
                                        <p:tgtEl>
                                          <p:spTgt spid="117"/>
                                        </p:tgtEl>
                                        <p:attrNameLst>
                                          <p:attrName>style.visibility</p:attrName>
                                        </p:attrNameLst>
                                      </p:cBhvr>
                                      <p:to>
                                        <p:strVal val="visible"/>
                                      </p:to>
                                    </p:set>
                                    <p:animEffect transition="in" filter="fade">
                                      <p:cBhvr>
                                        <p:cTn id="348" dur="600"/>
                                        <p:tgtEl>
                                          <p:spTgt spid="117"/>
                                        </p:tgtEl>
                                      </p:cBhvr>
                                    </p:animEffect>
                                  </p:childTnLst>
                                </p:cTn>
                              </p:par>
                              <p:par>
                                <p:cTn id="349" presetID="10" presetClass="entr" presetSubtype="0" fill="hold" nodeType="withEffect">
                                  <p:stCondLst>
                                    <p:cond delay="0"/>
                                  </p:stCondLst>
                                  <p:childTnLst>
                                    <p:set>
                                      <p:cBhvr>
                                        <p:cTn id="350" dur="1" fill="hold">
                                          <p:stCondLst>
                                            <p:cond delay="0"/>
                                          </p:stCondLst>
                                        </p:cTn>
                                        <p:tgtEl>
                                          <p:spTgt spid="118"/>
                                        </p:tgtEl>
                                        <p:attrNameLst>
                                          <p:attrName>style.visibility</p:attrName>
                                        </p:attrNameLst>
                                      </p:cBhvr>
                                      <p:to>
                                        <p:strVal val="visible"/>
                                      </p:to>
                                    </p:set>
                                    <p:animEffect transition="in" filter="fade">
                                      <p:cBhvr>
                                        <p:cTn id="351" dur="600"/>
                                        <p:tgtEl>
                                          <p:spTgt spid="118"/>
                                        </p:tgtEl>
                                      </p:cBhvr>
                                    </p:animEffect>
                                  </p:childTnLst>
                                </p:cTn>
                              </p:par>
                              <p:par>
                                <p:cTn id="352" presetID="10" presetClass="entr" presetSubtype="0" fill="hold" nodeType="withEffect">
                                  <p:stCondLst>
                                    <p:cond delay="0"/>
                                  </p:stCondLst>
                                  <p:childTnLst>
                                    <p:set>
                                      <p:cBhvr>
                                        <p:cTn id="353" dur="1" fill="hold">
                                          <p:stCondLst>
                                            <p:cond delay="0"/>
                                          </p:stCondLst>
                                        </p:cTn>
                                        <p:tgtEl>
                                          <p:spTgt spid="119"/>
                                        </p:tgtEl>
                                        <p:attrNameLst>
                                          <p:attrName>style.visibility</p:attrName>
                                        </p:attrNameLst>
                                      </p:cBhvr>
                                      <p:to>
                                        <p:strVal val="visible"/>
                                      </p:to>
                                    </p:set>
                                    <p:animEffect transition="in" filter="fade">
                                      <p:cBhvr>
                                        <p:cTn id="354" dur="600"/>
                                        <p:tgtEl>
                                          <p:spTgt spid="119"/>
                                        </p:tgtEl>
                                      </p:cBhvr>
                                    </p:animEffect>
                                  </p:childTnLst>
                                </p:cTn>
                              </p:par>
                              <p:par>
                                <p:cTn id="355" presetID="10" presetClass="entr" presetSubtype="0" fill="hold" nodeType="withEffect">
                                  <p:stCondLst>
                                    <p:cond delay="0"/>
                                  </p:stCondLst>
                                  <p:childTnLst>
                                    <p:set>
                                      <p:cBhvr>
                                        <p:cTn id="356" dur="1" fill="hold">
                                          <p:stCondLst>
                                            <p:cond delay="0"/>
                                          </p:stCondLst>
                                        </p:cTn>
                                        <p:tgtEl>
                                          <p:spTgt spid="120"/>
                                        </p:tgtEl>
                                        <p:attrNameLst>
                                          <p:attrName>style.visibility</p:attrName>
                                        </p:attrNameLst>
                                      </p:cBhvr>
                                      <p:to>
                                        <p:strVal val="visible"/>
                                      </p:to>
                                    </p:set>
                                    <p:animEffect transition="in" filter="fade">
                                      <p:cBhvr>
                                        <p:cTn id="357" dur="600"/>
                                        <p:tgtEl>
                                          <p:spTgt spid="120"/>
                                        </p:tgtEl>
                                      </p:cBhvr>
                                    </p:animEffect>
                                  </p:childTnLst>
                                </p:cTn>
                              </p:par>
                              <p:par>
                                <p:cTn id="358" presetID="10" presetClass="entr" presetSubtype="0" fill="hold" nodeType="withEffect">
                                  <p:stCondLst>
                                    <p:cond delay="0"/>
                                  </p:stCondLst>
                                  <p:childTnLst>
                                    <p:set>
                                      <p:cBhvr>
                                        <p:cTn id="359" dur="1" fill="hold">
                                          <p:stCondLst>
                                            <p:cond delay="0"/>
                                          </p:stCondLst>
                                        </p:cTn>
                                        <p:tgtEl>
                                          <p:spTgt spid="121"/>
                                        </p:tgtEl>
                                        <p:attrNameLst>
                                          <p:attrName>style.visibility</p:attrName>
                                        </p:attrNameLst>
                                      </p:cBhvr>
                                      <p:to>
                                        <p:strVal val="visible"/>
                                      </p:to>
                                    </p:set>
                                    <p:animEffect transition="in" filter="fade">
                                      <p:cBhvr>
                                        <p:cTn id="360" dur="600"/>
                                        <p:tgtEl>
                                          <p:spTgt spid="121"/>
                                        </p:tgtEl>
                                      </p:cBhvr>
                                    </p:animEffect>
                                  </p:childTnLst>
                                </p:cTn>
                              </p:par>
                              <p:par>
                                <p:cTn id="361" presetID="10" presetClass="entr" presetSubtype="0" fill="hold" nodeType="withEffect">
                                  <p:stCondLst>
                                    <p:cond delay="0"/>
                                  </p:stCondLst>
                                  <p:childTnLst>
                                    <p:set>
                                      <p:cBhvr>
                                        <p:cTn id="362" dur="1" fill="hold">
                                          <p:stCondLst>
                                            <p:cond delay="0"/>
                                          </p:stCondLst>
                                        </p:cTn>
                                        <p:tgtEl>
                                          <p:spTgt spid="122"/>
                                        </p:tgtEl>
                                        <p:attrNameLst>
                                          <p:attrName>style.visibility</p:attrName>
                                        </p:attrNameLst>
                                      </p:cBhvr>
                                      <p:to>
                                        <p:strVal val="visible"/>
                                      </p:to>
                                    </p:set>
                                    <p:animEffect transition="in" filter="fade">
                                      <p:cBhvr>
                                        <p:cTn id="363" dur="600"/>
                                        <p:tgtEl>
                                          <p:spTgt spid="122"/>
                                        </p:tgtEl>
                                      </p:cBhvr>
                                    </p:animEffect>
                                  </p:childTnLst>
                                </p:cTn>
                              </p:par>
                              <p:par>
                                <p:cTn id="364" presetID="10" presetClass="entr" presetSubtype="0" fill="hold" nodeType="withEffect">
                                  <p:stCondLst>
                                    <p:cond delay="0"/>
                                  </p:stCondLst>
                                  <p:childTnLst>
                                    <p:set>
                                      <p:cBhvr>
                                        <p:cTn id="365" dur="1" fill="hold">
                                          <p:stCondLst>
                                            <p:cond delay="0"/>
                                          </p:stCondLst>
                                        </p:cTn>
                                        <p:tgtEl>
                                          <p:spTgt spid="123"/>
                                        </p:tgtEl>
                                        <p:attrNameLst>
                                          <p:attrName>style.visibility</p:attrName>
                                        </p:attrNameLst>
                                      </p:cBhvr>
                                      <p:to>
                                        <p:strVal val="visible"/>
                                      </p:to>
                                    </p:set>
                                    <p:animEffect transition="in" filter="fade">
                                      <p:cBhvr>
                                        <p:cTn id="366" dur="600"/>
                                        <p:tgtEl>
                                          <p:spTgt spid="123"/>
                                        </p:tgtEl>
                                      </p:cBhvr>
                                    </p:animEffect>
                                  </p:childTnLst>
                                </p:cTn>
                              </p:par>
                              <p:par>
                                <p:cTn id="367" presetID="10" presetClass="entr" presetSubtype="0" fill="hold" nodeType="withEffect">
                                  <p:stCondLst>
                                    <p:cond delay="0"/>
                                  </p:stCondLst>
                                  <p:childTnLst>
                                    <p:set>
                                      <p:cBhvr>
                                        <p:cTn id="368" dur="1" fill="hold">
                                          <p:stCondLst>
                                            <p:cond delay="0"/>
                                          </p:stCondLst>
                                        </p:cTn>
                                        <p:tgtEl>
                                          <p:spTgt spid="124"/>
                                        </p:tgtEl>
                                        <p:attrNameLst>
                                          <p:attrName>style.visibility</p:attrName>
                                        </p:attrNameLst>
                                      </p:cBhvr>
                                      <p:to>
                                        <p:strVal val="visible"/>
                                      </p:to>
                                    </p:set>
                                    <p:animEffect transition="in" filter="fade">
                                      <p:cBhvr>
                                        <p:cTn id="369" dur="600"/>
                                        <p:tgtEl>
                                          <p:spTgt spid="124"/>
                                        </p:tgtEl>
                                      </p:cBhvr>
                                    </p:animEffect>
                                  </p:childTnLst>
                                </p:cTn>
                              </p:par>
                              <p:par>
                                <p:cTn id="370" presetID="10" presetClass="entr" presetSubtype="0" fill="hold" nodeType="withEffect">
                                  <p:stCondLst>
                                    <p:cond delay="0"/>
                                  </p:stCondLst>
                                  <p:childTnLst>
                                    <p:set>
                                      <p:cBhvr>
                                        <p:cTn id="371" dur="1" fill="hold">
                                          <p:stCondLst>
                                            <p:cond delay="0"/>
                                          </p:stCondLst>
                                        </p:cTn>
                                        <p:tgtEl>
                                          <p:spTgt spid="125"/>
                                        </p:tgtEl>
                                        <p:attrNameLst>
                                          <p:attrName>style.visibility</p:attrName>
                                        </p:attrNameLst>
                                      </p:cBhvr>
                                      <p:to>
                                        <p:strVal val="visible"/>
                                      </p:to>
                                    </p:set>
                                    <p:animEffect transition="in" filter="fade">
                                      <p:cBhvr>
                                        <p:cTn id="372" dur="600"/>
                                        <p:tgtEl>
                                          <p:spTgt spid="125"/>
                                        </p:tgtEl>
                                      </p:cBhvr>
                                    </p:animEffect>
                                  </p:childTnLst>
                                </p:cTn>
                              </p:par>
                              <p:par>
                                <p:cTn id="373" presetID="10" presetClass="entr" presetSubtype="0" fill="hold" nodeType="withEffect">
                                  <p:stCondLst>
                                    <p:cond delay="0"/>
                                  </p:stCondLst>
                                  <p:childTnLst>
                                    <p:set>
                                      <p:cBhvr>
                                        <p:cTn id="374" dur="1" fill="hold">
                                          <p:stCondLst>
                                            <p:cond delay="0"/>
                                          </p:stCondLst>
                                        </p:cTn>
                                        <p:tgtEl>
                                          <p:spTgt spid="126"/>
                                        </p:tgtEl>
                                        <p:attrNameLst>
                                          <p:attrName>style.visibility</p:attrName>
                                        </p:attrNameLst>
                                      </p:cBhvr>
                                      <p:to>
                                        <p:strVal val="visible"/>
                                      </p:to>
                                    </p:set>
                                    <p:animEffect transition="in" filter="fade">
                                      <p:cBhvr>
                                        <p:cTn id="375" dur="600"/>
                                        <p:tgtEl>
                                          <p:spTgt spid="126"/>
                                        </p:tgtEl>
                                      </p:cBhvr>
                                    </p:animEffect>
                                  </p:childTnLst>
                                </p:cTn>
                              </p:par>
                              <p:par>
                                <p:cTn id="376" presetID="10" presetClass="entr" presetSubtype="0" fill="hold" nodeType="withEffect">
                                  <p:stCondLst>
                                    <p:cond delay="0"/>
                                  </p:stCondLst>
                                  <p:childTnLst>
                                    <p:set>
                                      <p:cBhvr>
                                        <p:cTn id="377" dur="1" fill="hold">
                                          <p:stCondLst>
                                            <p:cond delay="0"/>
                                          </p:stCondLst>
                                        </p:cTn>
                                        <p:tgtEl>
                                          <p:spTgt spid="127"/>
                                        </p:tgtEl>
                                        <p:attrNameLst>
                                          <p:attrName>style.visibility</p:attrName>
                                        </p:attrNameLst>
                                      </p:cBhvr>
                                      <p:to>
                                        <p:strVal val="visible"/>
                                      </p:to>
                                    </p:set>
                                    <p:animEffect transition="in" filter="fade">
                                      <p:cBhvr>
                                        <p:cTn id="378" dur="600"/>
                                        <p:tgtEl>
                                          <p:spTgt spid="127"/>
                                        </p:tgtEl>
                                      </p:cBhvr>
                                    </p:animEffect>
                                  </p:childTnLst>
                                </p:cTn>
                              </p:par>
                              <p:par>
                                <p:cTn id="379" presetID="10" presetClass="entr" presetSubtype="0" fill="hold" nodeType="withEffect">
                                  <p:stCondLst>
                                    <p:cond delay="0"/>
                                  </p:stCondLst>
                                  <p:childTnLst>
                                    <p:set>
                                      <p:cBhvr>
                                        <p:cTn id="380" dur="1" fill="hold">
                                          <p:stCondLst>
                                            <p:cond delay="0"/>
                                          </p:stCondLst>
                                        </p:cTn>
                                        <p:tgtEl>
                                          <p:spTgt spid="128"/>
                                        </p:tgtEl>
                                        <p:attrNameLst>
                                          <p:attrName>style.visibility</p:attrName>
                                        </p:attrNameLst>
                                      </p:cBhvr>
                                      <p:to>
                                        <p:strVal val="visible"/>
                                      </p:to>
                                    </p:set>
                                    <p:animEffect transition="in" filter="fade">
                                      <p:cBhvr>
                                        <p:cTn id="381" dur="600"/>
                                        <p:tgtEl>
                                          <p:spTgt spid="128"/>
                                        </p:tgtEl>
                                      </p:cBhvr>
                                    </p:animEffect>
                                  </p:childTnLst>
                                </p:cTn>
                              </p:par>
                              <p:par>
                                <p:cTn id="382" presetID="10" presetClass="entr" presetSubtype="0" fill="hold" nodeType="withEffect">
                                  <p:stCondLst>
                                    <p:cond delay="0"/>
                                  </p:stCondLst>
                                  <p:childTnLst>
                                    <p:set>
                                      <p:cBhvr>
                                        <p:cTn id="383" dur="1" fill="hold">
                                          <p:stCondLst>
                                            <p:cond delay="0"/>
                                          </p:stCondLst>
                                        </p:cTn>
                                        <p:tgtEl>
                                          <p:spTgt spid="129"/>
                                        </p:tgtEl>
                                        <p:attrNameLst>
                                          <p:attrName>style.visibility</p:attrName>
                                        </p:attrNameLst>
                                      </p:cBhvr>
                                      <p:to>
                                        <p:strVal val="visible"/>
                                      </p:to>
                                    </p:set>
                                    <p:animEffect transition="in" filter="fade">
                                      <p:cBhvr>
                                        <p:cTn id="384" dur="600"/>
                                        <p:tgtEl>
                                          <p:spTgt spid="129"/>
                                        </p:tgtEl>
                                      </p:cBhvr>
                                    </p:animEffect>
                                  </p:childTnLst>
                                </p:cTn>
                              </p:par>
                              <p:par>
                                <p:cTn id="385" presetID="10" presetClass="entr" presetSubtype="0" fill="hold" nodeType="withEffect">
                                  <p:stCondLst>
                                    <p:cond delay="0"/>
                                  </p:stCondLst>
                                  <p:childTnLst>
                                    <p:set>
                                      <p:cBhvr>
                                        <p:cTn id="386" dur="1" fill="hold">
                                          <p:stCondLst>
                                            <p:cond delay="0"/>
                                          </p:stCondLst>
                                        </p:cTn>
                                        <p:tgtEl>
                                          <p:spTgt spid="130"/>
                                        </p:tgtEl>
                                        <p:attrNameLst>
                                          <p:attrName>style.visibility</p:attrName>
                                        </p:attrNameLst>
                                      </p:cBhvr>
                                      <p:to>
                                        <p:strVal val="visible"/>
                                      </p:to>
                                    </p:set>
                                    <p:animEffect transition="in" filter="fade">
                                      <p:cBhvr>
                                        <p:cTn id="387" dur="600"/>
                                        <p:tgtEl>
                                          <p:spTgt spid="130"/>
                                        </p:tgtEl>
                                      </p:cBhvr>
                                    </p:animEffect>
                                  </p:childTnLst>
                                </p:cTn>
                              </p:par>
                              <p:par>
                                <p:cTn id="388" presetID="10" presetClass="entr" presetSubtype="0" fill="hold" nodeType="withEffect">
                                  <p:stCondLst>
                                    <p:cond delay="0"/>
                                  </p:stCondLst>
                                  <p:childTnLst>
                                    <p:set>
                                      <p:cBhvr>
                                        <p:cTn id="389" dur="1" fill="hold">
                                          <p:stCondLst>
                                            <p:cond delay="0"/>
                                          </p:stCondLst>
                                        </p:cTn>
                                        <p:tgtEl>
                                          <p:spTgt spid="131"/>
                                        </p:tgtEl>
                                        <p:attrNameLst>
                                          <p:attrName>style.visibility</p:attrName>
                                        </p:attrNameLst>
                                      </p:cBhvr>
                                      <p:to>
                                        <p:strVal val="visible"/>
                                      </p:to>
                                    </p:set>
                                    <p:animEffect transition="in" filter="fade">
                                      <p:cBhvr>
                                        <p:cTn id="390" dur="600"/>
                                        <p:tgtEl>
                                          <p:spTgt spid="131"/>
                                        </p:tgtEl>
                                      </p:cBhvr>
                                    </p:animEffect>
                                  </p:childTnLst>
                                </p:cTn>
                              </p:par>
                              <p:par>
                                <p:cTn id="391" presetID="10" presetClass="entr" presetSubtype="0" fill="hold" nodeType="withEffect">
                                  <p:stCondLst>
                                    <p:cond delay="0"/>
                                  </p:stCondLst>
                                  <p:childTnLst>
                                    <p:set>
                                      <p:cBhvr>
                                        <p:cTn id="392" dur="1" fill="hold">
                                          <p:stCondLst>
                                            <p:cond delay="0"/>
                                          </p:stCondLst>
                                        </p:cTn>
                                        <p:tgtEl>
                                          <p:spTgt spid="132"/>
                                        </p:tgtEl>
                                        <p:attrNameLst>
                                          <p:attrName>style.visibility</p:attrName>
                                        </p:attrNameLst>
                                      </p:cBhvr>
                                      <p:to>
                                        <p:strVal val="visible"/>
                                      </p:to>
                                    </p:set>
                                    <p:animEffect transition="in" filter="fade">
                                      <p:cBhvr>
                                        <p:cTn id="393" dur="600"/>
                                        <p:tgtEl>
                                          <p:spTgt spid="132"/>
                                        </p:tgtEl>
                                      </p:cBhvr>
                                    </p:animEffect>
                                  </p:childTnLst>
                                </p:cTn>
                              </p:par>
                              <p:par>
                                <p:cTn id="394" presetID="10" presetClass="entr" presetSubtype="0" fill="hold" nodeType="withEffect">
                                  <p:stCondLst>
                                    <p:cond delay="0"/>
                                  </p:stCondLst>
                                  <p:childTnLst>
                                    <p:set>
                                      <p:cBhvr>
                                        <p:cTn id="395" dur="1" fill="hold">
                                          <p:stCondLst>
                                            <p:cond delay="0"/>
                                          </p:stCondLst>
                                        </p:cTn>
                                        <p:tgtEl>
                                          <p:spTgt spid="133"/>
                                        </p:tgtEl>
                                        <p:attrNameLst>
                                          <p:attrName>style.visibility</p:attrName>
                                        </p:attrNameLst>
                                      </p:cBhvr>
                                      <p:to>
                                        <p:strVal val="visible"/>
                                      </p:to>
                                    </p:set>
                                    <p:animEffect transition="in" filter="fade">
                                      <p:cBhvr>
                                        <p:cTn id="396" dur="600"/>
                                        <p:tgtEl>
                                          <p:spTgt spid="133"/>
                                        </p:tgtEl>
                                      </p:cBhvr>
                                    </p:animEffect>
                                  </p:childTnLst>
                                </p:cTn>
                              </p:par>
                              <p:par>
                                <p:cTn id="397" presetID="10" presetClass="entr" presetSubtype="0" fill="hold" nodeType="withEffect">
                                  <p:stCondLst>
                                    <p:cond delay="0"/>
                                  </p:stCondLst>
                                  <p:childTnLst>
                                    <p:set>
                                      <p:cBhvr>
                                        <p:cTn id="398" dur="1" fill="hold">
                                          <p:stCondLst>
                                            <p:cond delay="0"/>
                                          </p:stCondLst>
                                        </p:cTn>
                                        <p:tgtEl>
                                          <p:spTgt spid="134"/>
                                        </p:tgtEl>
                                        <p:attrNameLst>
                                          <p:attrName>style.visibility</p:attrName>
                                        </p:attrNameLst>
                                      </p:cBhvr>
                                      <p:to>
                                        <p:strVal val="visible"/>
                                      </p:to>
                                    </p:set>
                                    <p:animEffect transition="in" filter="fade">
                                      <p:cBhvr>
                                        <p:cTn id="399" dur="600"/>
                                        <p:tgtEl>
                                          <p:spTgt spid="134"/>
                                        </p:tgtEl>
                                      </p:cBhvr>
                                    </p:animEffect>
                                  </p:childTnLst>
                                </p:cTn>
                              </p:par>
                              <p:par>
                                <p:cTn id="400" presetID="10" presetClass="entr" presetSubtype="0" fill="hold" nodeType="withEffect">
                                  <p:stCondLst>
                                    <p:cond delay="0"/>
                                  </p:stCondLst>
                                  <p:childTnLst>
                                    <p:set>
                                      <p:cBhvr>
                                        <p:cTn id="401" dur="1" fill="hold">
                                          <p:stCondLst>
                                            <p:cond delay="0"/>
                                          </p:stCondLst>
                                        </p:cTn>
                                        <p:tgtEl>
                                          <p:spTgt spid="135"/>
                                        </p:tgtEl>
                                        <p:attrNameLst>
                                          <p:attrName>style.visibility</p:attrName>
                                        </p:attrNameLst>
                                      </p:cBhvr>
                                      <p:to>
                                        <p:strVal val="visible"/>
                                      </p:to>
                                    </p:set>
                                    <p:animEffect transition="in" filter="fade">
                                      <p:cBhvr>
                                        <p:cTn id="402" dur="600"/>
                                        <p:tgtEl>
                                          <p:spTgt spid="135"/>
                                        </p:tgtEl>
                                      </p:cBhvr>
                                    </p:animEffect>
                                  </p:childTnLst>
                                </p:cTn>
                              </p:par>
                              <p:par>
                                <p:cTn id="403" presetID="10" presetClass="entr" presetSubtype="0" fill="hold" nodeType="withEffect">
                                  <p:stCondLst>
                                    <p:cond delay="0"/>
                                  </p:stCondLst>
                                  <p:childTnLst>
                                    <p:set>
                                      <p:cBhvr>
                                        <p:cTn id="404" dur="1" fill="hold">
                                          <p:stCondLst>
                                            <p:cond delay="0"/>
                                          </p:stCondLst>
                                        </p:cTn>
                                        <p:tgtEl>
                                          <p:spTgt spid="136"/>
                                        </p:tgtEl>
                                        <p:attrNameLst>
                                          <p:attrName>style.visibility</p:attrName>
                                        </p:attrNameLst>
                                      </p:cBhvr>
                                      <p:to>
                                        <p:strVal val="visible"/>
                                      </p:to>
                                    </p:set>
                                    <p:animEffect transition="in" filter="fade">
                                      <p:cBhvr>
                                        <p:cTn id="405" dur="600"/>
                                        <p:tgtEl>
                                          <p:spTgt spid="136"/>
                                        </p:tgtEl>
                                      </p:cBhvr>
                                    </p:animEffect>
                                  </p:childTnLst>
                                </p:cTn>
                              </p:par>
                              <p:par>
                                <p:cTn id="406" presetID="10" presetClass="entr" presetSubtype="0" fill="hold" nodeType="withEffect">
                                  <p:stCondLst>
                                    <p:cond delay="0"/>
                                  </p:stCondLst>
                                  <p:childTnLst>
                                    <p:set>
                                      <p:cBhvr>
                                        <p:cTn id="407" dur="1" fill="hold">
                                          <p:stCondLst>
                                            <p:cond delay="0"/>
                                          </p:stCondLst>
                                        </p:cTn>
                                        <p:tgtEl>
                                          <p:spTgt spid="137"/>
                                        </p:tgtEl>
                                        <p:attrNameLst>
                                          <p:attrName>style.visibility</p:attrName>
                                        </p:attrNameLst>
                                      </p:cBhvr>
                                      <p:to>
                                        <p:strVal val="visible"/>
                                      </p:to>
                                    </p:set>
                                    <p:animEffect transition="in" filter="fade">
                                      <p:cBhvr>
                                        <p:cTn id="408" dur="600"/>
                                        <p:tgtEl>
                                          <p:spTgt spid="137"/>
                                        </p:tgtEl>
                                      </p:cBhvr>
                                    </p:animEffect>
                                  </p:childTnLst>
                                </p:cTn>
                              </p:par>
                              <p:par>
                                <p:cTn id="409" presetID="10" presetClass="entr" presetSubtype="0" fill="hold" nodeType="withEffect">
                                  <p:stCondLst>
                                    <p:cond delay="0"/>
                                  </p:stCondLst>
                                  <p:childTnLst>
                                    <p:set>
                                      <p:cBhvr>
                                        <p:cTn id="410" dur="1" fill="hold">
                                          <p:stCondLst>
                                            <p:cond delay="0"/>
                                          </p:stCondLst>
                                        </p:cTn>
                                        <p:tgtEl>
                                          <p:spTgt spid="138"/>
                                        </p:tgtEl>
                                        <p:attrNameLst>
                                          <p:attrName>style.visibility</p:attrName>
                                        </p:attrNameLst>
                                      </p:cBhvr>
                                      <p:to>
                                        <p:strVal val="visible"/>
                                      </p:to>
                                    </p:set>
                                    <p:animEffect transition="in" filter="fade">
                                      <p:cBhvr>
                                        <p:cTn id="411" dur="600"/>
                                        <p:tgtEl>
                                          <p:spTgt spid="138"/>
                                        </p:tgtEl>
                                      </p:cBhvr>
                                    </p:animEffect>
                                  </p:childTnLst>
                                </p:cTn>
                              </p:par>
                              <p:par>
                                <p:cTn id="412" presetID="10" presetClass="entr" presetSubtype="0" fill="hold" nodeType="withEffect">
                                  <p:stCondLst>
                                    <p:cond delay="0"/>
                                  </p:stCondLst>
                                  <p:childTnLst>
                                    <p:set>
                                      <p:cBhvr>
                                        <p:cTn id="413" dur="1" fill="hold">
                                          <p:stCondLst>
                                            <p:cond delay="0"/>
                                          </p:stCondLst>
                                        </p:cTn>
                                        <p:tgtEl>
                                          <p:spTgt spid="139"/>
                                        </p:tgtEl>
                                        <p:attrNameLst>
                                          <p:attrName>style.visibility</p:attrName>
                                        </p:attrNameLst>
                                      </p:cBhvr>
                                      <p:to>
                                        <p:strVal val="visible"/>
                                      </p:to>
                                    </p:set>
                                    <p:animEffect transition="in" filter="fade">
                                      <p:cBhvr>
                                        <p:cTn id="414" dur="600"/>
                                        <p:tgtEl>
                                          <p:spTgt spid="139"/>
                                        </p:tgtEl>
                                      </p:cBhvr>
                                    </p:animEffect>
                                  </p:childTnLst>
                                </p:cTn>
                              </p:par>
                              <p:par>
                                <p:cTn id="415" presetID="10" presetClass="entr" presetSubtype="0" fill="hold" nodeType="withEffect">
                                  <p:stCondLst>
                                    <p:cond delay="0"/>
                                  </p:stCondLst>
                                  <p:childTnLst>
                                    <p:set>
                                      <p:cBhvr>
                                        <p:cTn id="416" dur="1" fill="hold">
                                          <p:stCondLst>
                                            <p:cond delay="0"/>
                                          </p:stCondLst>
                                        </p:cTn>
                                        <p:tgtEl>
                                          <p:spTgt spid="140"/>
                                        </p:tgtEl>
                                        <p:attrNameLst>
                                          <p:attrName>style.visibility</p:attrName>
                                        </p:attrNameLst>
                                      </p:cBhvr>
                                      <p:to>
                                        <p:strVal val="visible"/>
                                      </p:to>
                                    </p:set>
                                    <p:animEffect transition="in" filter="fade">
                                      <p:cBhvr>
                                        <p:cTn id="417" dur="600"/>
                                        <p:tgtEl>
                                          <p:spTgt spid="140"/>
                                        </p:tgtEl>
                                      </p:cBhvr>
                                    </p:animEffect>
                                  </p:childTnLst>
                                </p:cTn>
                              </p:par>
                              <p:par>
                                <p:cTn id="418" presetID="10" presetClass="entr" presetSubtype="0" fill="hold" nodeType="withEffect">
                                  <p:stCondLst>
                                    <p:cond delay="0"/>
                                  </p:stCondLst>
                                  <p:childTnLst>
                                    <p:set>
                                      <p:cBhvr>
                                        <p:cTn id="419" dur="1" fill="hold">
                                          <p:stCondLst>
                                            <p:cond delay="0"/>
                                          </p:stCondLst>
                                        </p:cTn>
                                        <p:tgtEl>
                                          <p:spTgt spid="141"/>
                                        </p:tgtEl>
                                        <p:attrNameLst>
                                          <p:attrName>style.visibility</p:attrName>
                                        </p:attrNameLst>
                                      </p:cBhvr>
                                      <p:to>
                                        <p:strVal val="visible"/>
                                      </p:to>
                                    </p:set>
                                    <p:animEffect transition="in" filter="fade">
                                      <p:cBhvr>
                                        <p:cTn id="420" dur="600"/>
                                        <p:tgtEl>
                                          <p:spTgt spid="141"/>
                                        </p:tgtEl>
                                      </p:cBhvr>
                                    </p:animEffect>
                                  </p:childTnLst>
                                </p:cTn>
                              </p:par>
                              <p:par>
                                <p:cTn id="421" presetID="10" presetClass="entr" presetSubtype="0" fill="hold" nodeType="withEffect">
                                  <p:stCondLst>
                                    <p:cond delay="0"/>
                                  </p:stCondLst>
                                  <p:childTnLst>
                                    <p:set>
                                      <p:cBhvr>
                                        <p:cTn id="422" dur="1" fill="hold">
                                          <p:stCondLst>
                                            <p:cond delay="0"/>
                                          </p:stCondLst>
                                        </p:cTn>
                                        <p:tgtEl>
                                          <p:spTgt spid="142"/>
                                        </p:tgtEl>
                                        <p:attrNameLst>
                                          <p:attrName>style.visibility</p:attrName>
                                        </p:attrNameLst>
                                      </p:cBhvr>
                                      <p:to>
                                        <p:strVal val="visible"/>
                                      </p:to>
                                    </p:set>
                                    <p:animEffect transition="in" filter="fade">
                                      <p:cBhvr>
                                        <p:cTn id="423" dur="600"/>
                                        <p:tgtEl>
                                          <p:spTgt spid="142"/>
                                        </p:tgtEl>
                                      </p:cBhvr>
                                    </p:animEffect>
                                  </p:childTnLst>
                                </p:cTn>
                              </p:par>
                              <p:par>
                                <p:cTn id="424" presetID="10" presetClass="entr" presetSubtype="0" fill="hold" nodeType="withEffect">
                                  <p:stCondLst>
                                    <p:cond delay="0"/>
                                  </p:stCondLst>
                                  <p:childTnLst>
                                    <p:set>
                                      <p:cBhvr>
                                        <p:cTn id="425" dur="1" fill="hold">
                                          <p:stCondLst>
                                            <p:cond delay="0"/>
                                          </p:stCondLst>
                                        </p:cTn>
                                        <p:tgtEl>
                                          <p:spTgt spid="143"/>
                                        </p:tgtEl>
                                        <p:attrNameLst>
                                          <p:attrName>style.visibility</p:attrName>
                                        </p:attrNameLst>
                                      </p:cBhvr>
                                      <p:to>
                                        <p:strVal val="visible"/>
                                      </p:to>
                                    </p:set>
                                    <p:animEffect transition="in" filter="fade">
                                      <p:cBhvr>
                                        <p:cTn id="426" dur="600"/>
                                        <p:tgtEl>
                                          <p:spTgt spid="143"/>
                                        </p:tgtEl>
                                      </p:cBhvr>
                                    </p:animEffect>
                                  </p:childTnLst>
                                </p:cTn>
                              </p:par>
                              <p:par>
                                <p:cTn id="427" presetID="10" presetClass="entr" presetSubtype="0" fill="hold" nodeType="withEffect">
                                  <p:stCondLst>
                                    <p:cond delay="0"/>
                                  </p:stCondLst>
                                  <p:childTnLst>
                                    <p:set>
                                      <p:cBhvr>
                                        <p:cTn id="428" dur="1" fill="hold">
                                          <p:stCondLst>
                                            <p:cond delay="0"/>
                                          </p:stCondLst>
                                        </p:cTn>
                                        <p:tgtEl>
                                          <p:spTgt spid="144"/>
                                        </p:tgtEl>
                                        <p:attrNameLst>
                                          <p:attrName>style.visibility</p:attrName>
                                        </p:attrNameLst>
                                      </p:cBhvr>
                                      <p:to>
                                        <p:strVal val="visible"/>
                                      </p:to>
                                    </p:set>
                                    <p:animEffect transition="in" filter="fade">
                                      <p:cBhvr>
                                        <p:cTn id="429" dur="600"/>
                                        <p:tgtEl>
                                          <p:spTgt spid="144"/>
                                        </p:tgtEl>
                                      </p:cBhvr>
                                    </p:animEffect>
                                  </p:childTnLst>
                                </p:cTn>
                              </p:par>
                              <p:par>
                                <p:cTn id="430" presetID="10" presetClass="entr" presetSubtype="0" fill="hold" nodeType="withEffect">
                                  <p:stCondLst>
                                    <p:cond delay="0"/>
                                  </p:stCondLst>
                                  <p:childTnLst>
                                    <p:set>
                                      <p:cBhvr>
                                        <p:cTn id="431" dur="1" fill="hold">
                                          <p:stCondLst>
                                            <p:cond delay="0"/>
                                          </p:stCondLst>
                                        </p:cTn>
                                        <p:tgtEl>
                                          <p:spTgt spid="145"/>
                                        </p:tgtEl>
                                        <p:attrNameLst>
                                          <p:attrName>style.visibility</p:attrName>
                                        </p:attrNameLst>
                                      </p:cBhvr>
                                      <p:to>
                                        <p:strVal val="visible"/>
                                      </p:to>
                                    </p:set>
                                    <p:animEffect transition="in" filter="fade">
                                      <p:cBhvr>
                                        <p:cTn id="432" dur="600"/>
                                        <p:tgtEl>
                                          <p:spTgt spid="145"/>
                                        </p:tgtEl>
                                      </p:cBhvr>
                                    </p:animEffect>
                                  </p:childTnLst>
                                </p:cTn>
                              </p:par>
                              <p:par>
                                <p:cTn id="433" presetID="10" presetClass="entr" presetSubtype="0" fill="hold" nodeType="withEffect">
                                  <p:stCondLst>
                                    <p:cond delay="0"/>
                                  </p:stCondLst>
                                  <p:childTnLst>
                                    <p:set>
                                      <p:cBhvr>
                                        <p:cTn id="434" dur="1" fill="hold">
                                          <p:stCondLst>
                                            <p:cond delay="0"/>
                                          </p:stCondLst>
                                        </p:cTn>
                                        <p:tgtEl>
                                          <p:spTgt spid="146"/>
                                        </p:tgtEl>
                                        <p:attrNameLst>
                                          <p:attrName>style.visibility</p:attrName>
                                        </p:attrNameLst>
                                      </p:cBhvr>
                                      <p:to>
                                        <p:strVal val="visible"/>
                                      </p:to>
                                    </p:set>
                                    <p:animEffect transition="in" filter="fade">
                                      <p:cBhvr>
                                        <p:cTn id="435" dur="600"/>
                                        <p:tgtEl>
                                          <p:spTgt spid="146"/>
                                        </p:tgtEl>
                                      </p:cBhvr>
                                    </p:animEffect>
                                  </p:childTnLst>
                                </p:cTn>
                              </p:par>
                              <p:par>
                                <p:cTn id="436" presetID="10" presetClass="entr" presetSubtype="0" fill="hold" nodeType="withEffect">
                                  <p:stCondLst>
                                    <p:cond delay="0"/>
                                  </p:stCondLst>
                                  <p:childTnLst>
                                    <p:set>
                                      <p:cBhvr>
                                        <p:cTn id="437" dur="1" fill="hold">
                                          <p:stCondLst>
                                            <p:cond delay="0"/>
                                          </p:stCondLst>
                                        </p:cTn>
                                        <p:tgtEl>
                                          <p:spTgt spid="147"/>
                                        </p:tgtEl>
                                        <p:attrNameLst>
                                          <p:attrName>style.visibility</p:attrName>
                                        </p:attrNameLst>
                                      </p:cBhvr>
                                      <p:to>
                                        <p:strVal val="visible"/>
                                      </p:to>
                                    </p:set>
                                    <p:animEffect transition="in" filter="fade">
                                      <p:cBhvr>
                                        <p:cTn id="438" dur="600"/>
                                        <p:tgtEl>
                                          <p:spTgt spid="147"/>
                                        </p:tgtEl>
                                      </p:cBhvr>
                                    </p:animEffect>
                                  </p:childTnLst>
                                </p:cTn>
                              </p:par>
                              <p:par>
                                <p:cTn id="439" presetID="10" presetClass="entr" presetSubtype="0" fill="hold" nodeType="withEffect">
                                  <p:stCondLst>
                                    <p:cond delay="0"/>
                                  </p:stCondLst>
                                  <p:childTnLst>
                                    <p:set>
                                      <p:cBhvr>
                                        <p:cTn id="440" dur="1" fill="hold">
                                          <p:stCondLst>
                                            <p:cond delay="0"/>
                                          </p:stCondLst>
                                        </p:cTn>
                                        <p:tgtEl>
                                          <p:spTgt spid="148"/>
                                        </p:tgtEl>
                                        <p:attrNameLst>
                                          <p:attrName>style.visibility</p:attrName>
                                        </p:attrNameLst>
                                      </p:cBhvr>
                                      <p:to>
                                        <p:strVal val="visible"/>
                                      </p:to>
                                    </p:set>
                                    <p:animEffect transition="in" filter="fade">
                                      <p:cBhvr>
                                        <p:cTn id="441" dur="600"/>
                                        <p:tgtEl>
                                          <p:spTgt spid="148"/>
                                        </p:tgtEl>
                                      </p:cBhvr>
                                    </p:animEffect>
                                  </p:childTnLst>
                                </p:cTn>
                              </p:par>
                              <p:par>
                                <p:cTn id="442" presetID="10" presetClass="entr" presetSubtype="0" fill="hold" nodeType="withEffect">
                                  <p:stCondLst>
                                    <p:cond delay="0"/>
                                  </p:stCondLst>
                                  <p:childTnLst>
                                    <p:set>
                                      <p:cBhvr>
                                        <p:cTn id="443" dur="1" fill="hold">
                                          <p:stCondLst>
                                            <p:cond delay="0"/>
                                          </p:stCondLst>
                                        </p:cTn>
                                        <p:tgtEl>
                                          <p:spTgt spid="149"/>
                                        </p:tgtEl>
                                        <p:attrNameLst>
                                          <p:attrName>style.visibility</p:attrName>
                                        </p:attrNameLst>
                                      </p:cBhvr>
                                      <p:to>
                                        <p:strVal val="visible"/>
                                      </p:to>
                                    </p:set>
                                    <p:animEffect transition="in" filter="fade">
                                      <p:cBhvr>
                                        <p:cTn id="444" dur="600"/>
                                        <p:tgtEl>
                                          <p:spTgt spid="149"/>
                                        </p:tgtEl>
                                      </p:cBhvr>
                                    </p:animEffect>
                                  </p:childTnLst>
                                </p:cTn>
                              </p:par>
                              <p:par>
                                <p:cTn id="445" presetID="10" presetClass="entr" presetSubtype="0" fill="hold" nodeType="withEffect">
                                  <p:stCondLst>
                                    <p:cond delay="0"/>
                                  </p:stCondLst>
                                  <p:childTnLst>
                                    <p:set>
                                      <p:cBhvr>
                                        <p:cTn id="446" dur="1" fill="hold">
                                          <p:stCondLst>
                                            <p:cond delay="0"/>
                                          </p:stCondLst>
                                        </p:cTn>
                                        <p:tgtEl>
                                          <p:spTgt spid="150"/>
                                        </p:tgtEl>
                                        <p:attrNameLst>
                                          <p:attrName>style.visibility</p:attrName>
                                        </p:attrNameLst>
                                      </p:cBhvr>
                                      <p:to>
                                        <p:strVal val="visible"/>
                                      </p:to>
                                    </p:set>
                                    <p:animEffect transition="in" filter="fade">
                                      <p:cBhvr>
                                        <p:cTn id="447" dur="600"/>
                                        <p:tgtEl>
                                          <p:spTgt spid="150"/>
                                        </p:tgtEl>
                                      </p:cBhvr>
                                    </p:animEffect>
                                  </p:childTnLst>
                                </p:cTn>
                              </p:par>
                              <p:par>
                                <p:cTn id="448" presetID="10" presetClass="entr" presetSubtype="0" fill="hold" nodeType="withEffect">
                                  <p:stCondLst>
                                    <p:cond delay="0"/>
                                  </p:stCondLst>
                                  <p:childTnLst>
                                    <p:set>
                                      <p:cBhvr>
                                        <p:cTn id="449" dur="1" fill="hold">
                                          <p:stCondLst>
                                            <p:cond delay="0"/>
                                          </p:stCondLst>
                                        </p:cTn>
                                        <p:tgtEl>
                                          <p:spTgt spid="151"/>
                                        </p:tgtEl>
                                        <p:attrNameLst>
                                          <p:attrName>style.visibility</p:attrName>
                                        </p:attrNameLst>
                                      </p:cBhvr>
                                      <p:to>
                                        <p:strVal val="visible"/>
                                      </p:to>
                                    </p:set>
                                    <p:animEffect transition="in" filter="fade">
                                      <p:cBhvr>
                                        <p:cTn id="450" dur="600"/>
                                        <p:tgtEl>
                                          <p:spTgt spid="151"/>
                                        </p:tgtEl>
                                      </p:cBhvr>
                                    </p:animEffect>
                                  </p:childTnLst>
                                </p:cTn>
                              </p:par>
                              <p:par>
                                <p:cTn id="451" presetID="10" presetClass="entr" presetSubtype="0" fill="hold" nodeType="withEffect">
                                  <p:stCondLst>
                                    <p:cond delay="0"/>
                                  </p:stCondLst>
                                  <p:childTnLst>
                                    <p:set>
                                      <p:cBhvr>
                                        <p:cTn id="452" dur="1" fill="hold">
                                          <p:stCondLst>
                                            <p:cond delay="0"/>
                                          </p:stCondLst>
                                        </p:cTn>
                                        <p:tgtEl>
                                          <p:spTgt spid="152"/>
                                        </p:tgtEl>
                                        <p:attrNameLst>
                                          <p:attrName>style.visibility</p:attrName>
                                        </p:attrNameLst>
                                      </p:cBhvr>
                                      <p:to>
                                        <p:strVal val="visible"/>
                                      </p:to>
                                    </p:set>
                                    <p:animEffect transition="in" filter="fade">
                                      <p:cBhvr>
                                        <p:cTn id="453" dur="600"/>
                                        <p:tgtEl>
                                          <p:spTgt spid="152"/>
                                        </p:tgtEl>
                                      </p:cBhvr>
                                    </p:animEffect>
                                  </p:childTnLst>
                                </p:cTn>
                              </p:par>
                              <p:par>
                                <p:cTn id="454" presetID="10" presetClass="entr" presetSubtype="0" fill="hold" nodeType="withEffect">
                                  <p:stCondLst>
                                    <p:cond delay="0"/>
                                  </p:stCondLst>
                                  <p:childTnLst>
                                    <p:set>
                                      <p:cBhvr>
                                        <p:cTn id="455" dur="1" fill="hold">
                                          <p:stCondLst>
                                            <p:cond delay="0"/>
                                          </p:stCondLst>
                                        </p:cTn>
                                        <p:tgtEl>
                                          <p:spTgt spid="153"/>
                                        </p:tgtEl>
                                        <p:attrNameLst>
                                          <p:attrName>style.visibility</p:attrName>
                                        </p:attrNameLst>
                                      </p:cBhvr>
                                      <p:to>
                                        <p:strVal val="visible"/>
                                      </p:to>
                                    </p:set>
                                    <p:animEffect transition="in" filter="fade">
                                      <p:cBhvr>
                                        <p:cTn id="456" dur="600"/>
                                        <p:tgtEl>
                                          <p:spTgt spid="153"/>
                                        </p:tgtEl>
                                      </p:cBhvr>
                                    </p:animEffect>
                                  </p:childTnLst>
                                </p:cTn>
                              </p:par>
                              <p:par>
                                <p:cTn id="457" presetID="10" presetClass="entr" presetSubtype="0" fill="hold" nodeType="withEffect">
                                  <p:stCondLst>
                                    <p:cond delay="0"/>
                                  </p:stCondLst>
                                  <p:childTnLst>
                                    <p:set>
                                      <p:cBhvr>
                                        <p:cTn id="458" dur="1" fill="hold">
                                          <p:stCondLst>
                                            <p:cond delay="0"/>
                                          </p:stCondLst>
                                        </p:cTn>
                                        <p:tgtEl>
                                          <p:spTgt spid="154"/>
                                        </p:tgtEl>
                                        <p:attrNameLst>
                                          <p:attrName>style.visibility</p:attrName>
                                        </p:attrNameLst>
                                      </p:cBhvr>
                                      <p:to>
                                        <p:strVal val="visible"/>
                                      </p:to>
                                    </p:set>
                                    <p:animEffect transition="in" filter="fade">
                                      <p:cBhvr>
                                        <p:cTn id="459" dur="600"/>
                                        <p:tgtEl>
                                          <p:spTgt spid="154"/>
                                        </p:tgtEl>
                                      </p:cBhvr>
                                    </p:animEffect>
                                  </p:childTnLst>
                                </p:cTn>
                              </p:par>
                              <p:par>
                                <p:cTn id="460" presetID="10" presetClass="entr" presetSubtype="0" fill="hold" nodeType="withEffect">
                                  <p:stCondLst>
                                    <p:cond delay="0"/>
                                  </p:stCondLst>
                                  <p:childTnLst>
                                    <p:set>
                                      <p:cBhvr>
                                        <p:cTn id="461" dur="1" fill="hold">
                                          <p:stCondLst>
                                            <p:cond delay="0"/>
                                          </p:stCondLst>
                                        </p:cTn>
                                        <p:tgtEl>
                                          <p:spTgt spid="155"/>
                                        </p:tgtEl>
                                        <p:attrNameLst>
                                          <p:attrName>style.visibility</p:attrName>
                                        </p:attrNameLst>
                                      </p:cBhvr>
                                      <p:to>
                                        <p:strVal val="visible"/>
                                      </p:to>
                                    </p:set>
                                    <p:animEffect transition="in" filter="fade">
                                      <p:cBhvr>
                                        <p:cTn id="462" dur="600"/>
                                        <p:tgtEl>
                                          <p:spTgt spid="155"/>
                                        </p:tgtEl>
                                      </p:cBhvr>
                                    </p:animEffect>
                                  </p:childTnLst>
                                </p:cTn>
                              </p:par>
                              <p:par>
                                <p:cTn id="463" presetID="10" presetClass="entr" presetSubtype="0" fill="hold" nodeType="withEffect">
                                  <p:stCondLst>
                                    <p:cond delay="0"/>
                                  </p:stCondLst>
                                  <p:childTnLst>
                                    <p:set>
                                      <p:cBhvr>
                                        <p:cTn id="464" dur="1" fill="hold">
                                          <p:stCondLst>
                                            <p:cond delay="0"/>
                                          </p:stCondLst>
                                        </p:cTn>
                                        <p:tgtEl>
                                          <p:spTgt spid="156"/>
                                        </p:tgtEl>
                                        <p:attrNameLst>
                                          <p:attrName>style.visibility</p:attrName>
                                        </p:attrNameLst>
                                      </p:cBhvr>
                                      <p:to>
                                        <p:strVal val="visible"/>
                                      </p:to>
                                    </p:set>
                                    <p:animEffect transition="in" filter="fade">
                                      <p:cBhvr>
                                        <p:cTn id="465" dur="600"/>
                                        <p:tgtEl>
                                          <p:spTgt spid="156"/>
                                        </p:tgtEl>
                                      </p:cBhvr>
                                    </p:animEffect>
                                  </p:childTnLst>
                                </p:cTn>
                              </p:par>
                              <p:par>
                                <p:cTn id="466" presetID="10" presetClass="entr" presetSubtype="0" fill="hold" nodeType="withEffect">
                                  <p:stCondLst>
                                    <p:cond delay="0"/>
                                  </p:stCondLst>
                                  <p:childTnLst>
                                    <p:set>
                                      <p:cBhvr>
                                        <p:cTn id="467" dur="1" fill="hold">
                                          <p:stCondLst>
                                            <p:cond delay="0"/>
                                          </p:stCondLst>
                                        </p:cTn>
                                        <p:tgtEl>
                                          <p:spTgt spid="157"/>
                                        </p:tgtEl>
                                        <p:attrNameLst>
                                          <p:attrName>style.visibility</p:attrName>
                                        </p:attrNameLst>
                                      </p:cBhvr>
                                      <p:to>
                                        <p:strVal val="visible"/>
                                      </p:to>
                                    </p:set>
                                    <p:animEffect transition="in" filter="fade">
                                      <p:cBhvr>
                                        <p:cTn id="468" dur="600"/>
                                        <p:tgtEl>
                                          <p:spTgt spid="157"/>
                                        </p:tgtEl>
                                      </p:cBhvr>
                                    </p:animEffect>
                                  </p:childTnLst>
                                </p:cTn>
                              </p:par>
                              <p:par>
                                <p:cTn id="469" presetID="10" presetClass="entr" presetSubtype="0" fill="hold" nodeType="withEffect">
                                  <p:stCondLst>
                                    <p:cond delay="0"/>
                                  </p:stCondLst>
                                  <p:childTnLst>
                                    <p:set>
                                      <p:cBhvr>
                                        <p:cTn id="470" dur="1" fill="hold">
                                          <p:stCondLst>
                                            <p:cond delay="0"/>
                                          </p:stCondLst>
                                        </p:cTn>
                                        <p:tgtEl>
                                          <p:spTgt spid="158"/>
                                        </p:tgtEl>
                                        <p:attrNameLst>
                                          <p:attrName>style.visibility</p:attrName>
                                        </p:attrNameLst>
                                      </p:cBhvr>
                                      <p:to>
                                        <p:strVal val="visible"/>
                                      </p:to>
                                    </p:set>
                                    <p:animEffect transition="in" filter="fade">
                                      <p:cBhvr>
                                        <p:cTn id="471" dur="600"/>
                                        <p:tgtEl>
                                          <p:spTgt spid="158"/>
                                        </p:tgtEl>
                                      </p:cBhvr>
                                    </p:animEffect>
                                  </p:childTnLst>
                                </p:cTn>
                              </p:par>
                              <p:par>
                                <p:cTn id="472" presetID="10" presetClass="entr" presetSubtype="0" fill="hold" nodeType="withEffect">
                                  <p:stCondLst>
                                    <p:cond delay="0"/>
                                  </p:stCondLst>
                                  <p:childTnLst>
                                    <p:set>
                                      <p:cBhvr>
                                        <p:cTn id="473" dur="1" fill="hold">
                                          <p:stCondLst>
                                            <p:cond delay="0"/>
                                          </p:stCondLst>
                                        </p:cTn>
                                        <p:tgtEl>
                                          <p:spTgt spid="159"/>
                                        </p:tgtEl>
                                        <p:attrNameLst>
                                          <p:attrName>style.visibility</p:attrName>
                                        </p:attrNameLst>
                                      </p:cBhvr>
                                      <p:to>
                                        <p:strVal val="visible"/>
                                      </p:to>
                                    </p:set>
                                    <p:animEffect transition="in" filter="fade">
                                      <p:cBhvr>
                                        <p:cTn id="474" dur="600"/>
                                        <p:tgtEl>
                                          <p:spTgt spid="159"/>
                                        </p:tgtEl>
                                      </p:cBhvr>
                                    </p:animEffect>
                                  </p:childTnLst>
                                </p:cTn>
                              </p:par>
                              <p:par>
                                <p:cTn id="475" presetID="10" presetClass="entr" presetSubtype="0" fill="hold" nodeType="withEffect">
                                  <p:stCondLst>
                                    <p:cond delay="0"/>
                                  </p:stCondLst>
                                  <p:childTnLst>
                                    <p:set>
                                      <p:cBhvr>
                                        <p:cTn id="476" dur="1" fill="hold">
                                          <p:stCondLst>
                                            <p:cond delay="0"/>
                                          </p:stCondLst>
                                        </p:cTn>
                                        <p:tgtEl>
                                          <p:spTgt spid="160"/>
                                        </p:tgtEl>
                                        <p:attrNameLst>
                                          <p:attrName>style.visibility</p:attrName>
                                        </p:attrNameLst>
                                      </p:cBhvr>
                                      <p:to>
                                        <p:strVal val="visible"/>
                                      </p:to>
                                    </p:set>
                                    <p:animEffect transition="in" filter="fade">
                                      <p:cBhvr>
                                        <p:cTn id="477" dur="600"/>
                                        <p:tgtEl>
                                          <p:spTgt spid="160"/>
                                        </p:tgtEl>
                                      </p:cBhvr>
                                    </p:animEffect>
                                  </p:childTnLst>
                                </p:cTn>
                              </p:par>
                              <p:par>
                                <p:cTn id="478" presetID="10" presetClass="entr" presetSubtype="0" fill="hold" nodeType="withEffect">
                                  <p:stCondLst>
                                    <p:cond delay="0"/>
                                  </p:stCondLst>
                                  <p:childTnLst>
                                    <p:set>
                                      <p:cBhvr>
                                        <p:cTn id="479" dur="1" fill="hold">
                                          <p:stCondLst>
                                            <p:cond delay="0"/>
                                          </p:stCondLst>
                                        </p:cTn>
                                        <p:tgtEl>
                                          <p:spTgt spid="161"/>
                                        </p:tgtEl>
                                        <p:attrNameLst>
                                          <p:attrName>style.visibility</p:attrName>
                                        </p:attrNameLst>
                                      </p:cBhvr>
                                      <p:to>
                                        <p:strVal val="visible"/>
                                      </p:to>
                                    </p:set>
                                    <p:animEffect transition="in" filter="fade">
                                      <p:cBhvr>
                                        <p:cTn id="480" dur="600"/>
                                        <p:tgtEl>
                                          <p:spTgt spid="161"/>
                                        </p:tgtEl>
                                      </p:cBhvr>
                                    </p:animEffect>
                                  </p:childTnLst>
                                </p:cTn>
                              </p:par>
                              <p:par>
                                <p:cTn id="481" presetID="10" presetClass="entr" presetSubtype="0" fill="hold" nodeType="withEffect">
                                  <p:stCondLst>
                                    <p:cond delay="0"/>
                                  </p:stCondLst>
                                  <p:childTnLst>
                                    <p:set>
                                      <p:cBhvr>
                                        <p:cTn id="482" dur="1" fill="hold">
                                          <p:stCondLst>
                                            <p:cond delay="0"/>
                                          </p:stCondLst>
                                        </p:cTn>
                                        <p:tgtEl>
                                          <p:spTgt spid="162"/>
                                        </p:tgtEl>
                                        <p:attrNameLst>
                                          <p:attrName>style.visibility</p:attrName>
                                        </p:attrNameLst>
                                      </p:cBhvr>
                                      <p:to>
                                        <p:strVal val="visible"/>
                                      </p:to>
                                    </p:set>
                                    <p:animEffect transition="in" filter="fade">
                                      <p:cBhvr>
                                        <p:cTn id="483" dur="600"/>
                                        <p:tgtEl>
                                          <p:spTgt spid="162"/>
                                        </p:tgtEl>
                                      </p:cBhvr>
                                    </p:animEffect>
                                  </p:childTnLst>
                                </p:cTn>
                              </p:par>
                              <p:par>
                                <p:cTn id="484" presetID="10" presetClass="entr" presetSubtype="0" fill="hold" nodeType="withEffect">
                                  <p:stCondLst>
                                    <p:cond delay="0"/>
                                  </p:stCondLst>
                                  <p:childTnLst>
                                    <p:set>
                                      <p:cBhvr>
                                        <p:cTn id="485" dur="1" fill="hold">
                                          <p:stCondLst>
                                            <p:cond delay="0"/>
                                          </p:stCondLst>
                                        </p:cTn>
                                        <p:tgtEl>
                                          <p:spTgt spid="163"/>
                                        </p:tgtEl>
                                        <p:attrNameLst>
                                          <p:attrName>style.visibility</p:attrName>
                                        </p:attrNameLst>
                                      </p:cBhvr>
                                      <p:to>
                                        <p:strVal val="visible"/>
                                      </p:to>
                                    </p:set>
                                    <p:animEffect transition="in" filter="fade">
                                      <p:cBhvr>
                                        <p:cTn id="486" dur="600"/>
                                        <p:tgtEl>
                                          <p:spTgt spid="163"/>
                                        </p:tgtEl>
                                      </p:cBhvr>
                                    </p:animEffect>
                                  </p:childTnLst>
                                </p:cTn>
                              </p:par>
                              <p:par>
                                <p:cTn id="487" presetID="10" presetClass="entr" presetSubtype="0" fill="hold" nodeType="withEffect">
                                  <p:stCondLst>
                                    <p:cond delay="0"/>
                                  </p:stCondLst>
                                  <p:childTnLst>
                                    <p:set>
                                      <p:cBhvr>
                                        <p:cTn id="488" dur="1" fill="hold">
                                          <p:stCondLst>
                                            <p:cond delay="0"/>
                                          </p:stCondLst>
                                        </p:cTn>
                                        <p:tgtEl>
                                          <p:spTgt spid="164"/>
                                        </p:tgtEl>
                                        <p:attrNameLst>
                                          <p:attrName>style.visibility</p:attrName>
                                        </p:attrNameLst>
                                      </p:cBhvr>
                                      <p:to>
                                        <p:strVal val="visible"/>
                                      </p:to>
                                    </p:set>
                                    <p:animEffect transition="in" filter="fade">
                                      <p:cBhvr>
                                        <p:cTn id="489" dur="600"/>
                                        <p:tgtEl>
                                          <p:spTgt spid="164"/>
                                        </p:tgtEl>
                                      </p:cBhvr>
                                    </p:animEffect>
                                  </p:childTnLst>
                                </p:cTn>
                              </p:par>
                              <p:par>
                                <p:cTn id="490" presetID="10" presetClass="entr" presetSubtype="0" fill="hold" nodeType="withEffect">
                                  <p:stCondLst>
                                    <p:cond delay="0"/>
                                  </p:stCondLst>
                                  <p:childTnLst>
                                    <p:set>
                                      <p:cBhvr>
                                        <p:cTn id="491" dur="1" fill="hold">
                                          <p:stCondLst>
                                            <p:cond delay="0"/>
                                          </p:stCondLst>
                                        </p:cTn>
                                        <p:tgtEl>
                                          <p:spTgt spid="165"/>
                                        </p:tgtEl>
                                        <p:attrNameLst>
                                          <p:attrName>style.visibility</p:attrName>
                                        </p:attrNameLst>
                                      </p:cBhvr>
                                      <p:to>
                                        <p:strVal val="visible"/>
                                      </p:to>
                                    </p:set>
                                    <p:animEffect transition="in" filter="fade">
                                      <p:cBhvr>
                                        <p:cTn id="492" dur="600"/>
                                        <p:tgtEl>
                                          <p:spTgt spid="165"/>
                                        </p:tgtEl>
                                      </p:cBhvr>
                                    </p:animEffect>
                                  </p:childTnLst>
                                </p:cTn>
                              </p:par>
                              <p:par>
                                <p:cTn id="493" presetID="10" presetClass="entr" presetSubtype="0" fill="hold" nodeType="withEffect">
                                  <p:stCondLst>
                                    <p:cond delay="0"/>
                                  </p:stCondLst>
                                  <p:childTnLst>
                                    <p:set>
                                      <p:cBhvr>
                                        <p:cTn id="494" dur="1" fill="hold">
                                          <p:stCondLst>
                                            <p:cond delay="0"/>
                                          </p:stCondLst>
                                        </p:cTn>
                                        <p:tgtEl>
                                          <p:spTgt spid="166"/>
                                        </p:tgtEl>
                                        <p:attrNameLst>
                                          <p:attrName>style.visibility</p:attrName>
                                        </p:attrNameLst>
                                      </p:cBhvr>
                                      <p:to>
                                        <p:strVal val="visible"/>
                                      </p:to>
                                    </p:set>
                                    <p:animEffect transition="in" filter="fade">
                                      <p:cBhvr>
                                        <p:cTn id="495" dur="600"/>
                                        <p:tgtEl>
                                          <p:spTgt spid="166"/>
                                        </p:tgtEl>
                                      </p:cBhvr>
                                    </p:animEffect>
                                  </p:childTnLst>
                                </p:cTn>
                              </p:par>
                              <p:par>
                                <p:cTn id="496" presetID="10" presetClass="entr" presetSubtype="0" fill="hold" nodeType="withEffect">
                                  <p:stCondLst>
                                    <p:cond delay="0"/>
                                  </p:stCondLst>
                                  <p:childTnLst>
                                    <p:set>
                                      <p:cBhvr>
                                        <p:cTn id="497" dur="1" fill="hold">
                                          <p:stCondLst>
                                            <p:cond delay="0"/>
                                          </p:stCondLst>
                                        </p:cTn>
                                        <p:tgtEl>
                                          <p:spTgt spid="167"/>
                                        </p:tgtEl>
                                        <p:attrNameLst>
                                          <p:attrName>style.visibility</p:attrName>
                                        </p:attrNameLst>
                                      </p:cBhvr>
                                      <p:to>
                                        <p:strVal val="visible"/>
                                      </p:to>
                                    </p:set>
                                    <p:animEffect transition="in" filter="fade">
                                      <p:cBhvr>
                                        <p:cTn id="498" dur="600"/>
                                        <p:tgtEl>
                                          <p:spTgt spid="167"/>
                                        </p:tgtEl>
                                      </p:cBhvr>
                                    </p:animEffect>
                                  </p:childTnLst>
                                </p:cTn>
                              </p:par>
                              <p:par>
                                <p:cTn id="499" presetID="10" presetClass="entr" presetSubtype="0" fill="hold" nodeType="withEffect">
                                  <p:stCondLst>
                                    <p:cond delay="0"/>
                                  </p:stCondLst>
                                  <p:childTnLst>
                                    <p:set>
                                      <p:cBhvr>
                                        <p:cTn id="500" dur="1" fill="hold">
                                          <p:stCondLst>
                                            <p:cond delay="0"/>
                                          </p:stCondLst>
                                        </p:cTn>
                                        <p:tgtEl>
                                          <p:spTgt spid="168"/>
                                        </p:tgtEl>
                                        <p:attrNameLst>
                                          <p:attrName>style.visibility</p:attrName>
                                        </p:attrNameLst>
                                      </p:cBhvr>
                                      <p:to>
                                        <p:strVal val="visible"/>
                                      </p:to>
                                    </p:set>
                                    <p:animEffect transition="in" filter="fade">
                                      <p:cBhvr>
                                        <p:cTn id="501" dur="600"/>
                                        <p:tgtEl>
                                          <p:spTgt spid="168"/>
                                        </p:tgtEl>
                                      </p:cBhvr>
                                    </p:animEffect>
                                  </p:childTnLst>
                                </p:cTn>
                              </p:par>
                              <p:par>
                                <p:cTn id="502" presetID="10" presetClass="entr" presetSubtype="0" fill="hold" nodeType="withEffect">
                                  <p:stCondLst>
                                    <p:cond delay="0"/>
                                  </p:stCondLst>
                                  <p:childTnLst>
                                    <p:set>
                                      <p:cBhvr>
                                        <p:cTn id="503" dur="1" fill="hold">
                                          <p:stCondLst>
                                            <p:cond delay="0"/>
                                          </p:stCondLst>
                                        </p:cTn>
                                        <p:tgtEl>
                                          <p:spTgt spid="169"/>
                                        </p:tgtEl>
                                        <p:attrNameLst>
                                          <p:attrName>style.visibility</p:attrName>
                                        </p:attrNameLst>
                                      </p:cBhvr>
                                      <p:to>
                                        <p:strVal val="visible"/>
                                      </p:to>
                                    </p:set>
                                    <p:animEffect transition="in" filter="fade">
                                      <p:cBhvr>
                                        <p:cTn id="504" dur="600"/>
                                        <p:tgtEl>
                                          <p:spTgt spid="169"/>
                                        </p:tgtEl>
                                      </p:cBhvr>
                                    </p:animEffect>
                                  </p:childTnLst>
                                </p:cTn>
                              </p:par>
                              <p:par>
                                <p:cTn id="505" presetID="10" presetClass="entr" presetSubtype="0" fill="hold" nodeType="withEffect">
                                  <p:stCondLst>
                                    <p:cond delay="0"/>
                                  </p:stCondLst>
                                  <p:childTnLst>
                                    <p:set>
                                      <p:cBhvr>
                                        <p:cTn id="506" dur="1" fill="hold">
                                          <p:stCondLst>
                                            <p:cond delay="0"/>
                                          </p:stCondLst>
                                        </p:cTn>
                                        <p:tgtEl>
                                          <p:spTgt spid="170"/>
                                        </p:tgtEl>
                                        <p:attrNameLst>
                                          <p:attrName>style.visibility</p:attrName>
                                        </p:attrNameLst>
                                      </p:cBhvr>
                                      <p:to>
                                        <p:strVal val="visible"/>
                                      </p:to>
                                    </p:set>
                                    <p:animEffect transition="in" filter="fade">
                                      <p:cBhvr>
                                        <p:cTn id="507" dur="600"/>
                                        <p:tgtEl>
                                          <p:spTgt spid="170"/>
                                        </p:tgtEl>
                                      </p:cBhvr>
                                    </p:animEffect>
                                  </p:childTnLst>
                                </p:cTn>
                              </p:par>
                              <p:par>
                                <p:cTn id="508" presetID="10" presetClass="entr" presetSubtype="0" fill="hold" nodeType="withEffect">
                                  <p:stCondLst>
                                    <p:cond delay="0"/>
                                  </p:stCondLst>
                                  <p:childTnLst>
                                    <p:set>
                                      <p:cBhvr>
                                        <p:cTn id="509" dur="1" fill="hold">
                                          <p:stCondLst>
                                            <p:cond delay="0"/>
                                          </p:stCondLst>
                                        </p:cTn>
                                        <p:tgtEl>
                                          <p:spTgt spid="171"/>
                                        </p:tgtEl>
                                        <p:attrNameLst>
                                          <p:attrName>style.visibility</p:attrName>
                                        </p:attrNameLst>
                                      </p:cBhvr>
                                      <p:to>
                                        <p:strVal val="visible"/>
                                      </p:to>
                                    </p:set>
                                    <p:animEffect transition="in" filter="fade">
                                      <p:cBhvr>
                                        <p:cTn id="510" dur="600"/>
                                        <p:tgtEl>
                                          <p:spTgt spid="171"/>
                                        </p:tgtEl>
                                      </p:cBhvr>
                                    </p:animEffect>
                                  </p:childTnLst>
                                </p:cTn>
                              </p:par>
                              <p:par>
                                <p:cTn id="511" presetID="10" presetClass="entr" presetSubtype="0" fill="hold" nodeType="withEffect">
                                  <p:stCondLst>
                                    <p:cond delay="0"/>
                                  </p:stCondLst>
                                  <p:childTnLst>
                                    <p:set>
                                      <p:cBhvr>
                                        <p:cTn id="512" dur="1" fill="hold">
                                          <p:stCondLst>
                                            <p:cond delay="0"/>
                                          </p:stCondLst>
                                        </p:cTn>
                                        <p:tgtEl>
                                          <p:spTgt spid="172"/>
                                        </p:tgtEl>
                                        <p:attrNameLst>
                                          <p:attrName>style.visibility</p:attrName>
                                        </p:attrNameLst>
                                      </p:cBhvr>
                                      <p:to>
                                        <p:strVal val="visible"/>
                                      </p:to>
                                    </p:set>
                                    <p:animEffect transition="in" filter="fade">
                                      <p:cBhvr>
                                        <p:cTn id="513" dur="600"/>
                                        <p:tgtEl>
                                          <p:spTgt spid="172"/>
                                        </p:tgtEl>
                                      </p:cBhvr>
                                    </p:animEffect>
                                  </p:childTnLst>
                                </p:cTn>
                              </p:par>
                              <p:par>
                                <p:cTn id="514" presetID="10" presetClass="entr" presetSubtype="0" fill="hold" nodeType="withEffect">
                                  <p:stCondLst>
                                    <p:cond delay="0"/>
                                  </p:stCondLst>
                                  <p:childTnLst>
                                    <p:set>
                                      <p:cBhvr>
                                        <p:cTn id="515" dur="1" fill="hold">
                                          <p:stCondLst>
                                            <p:cond delay="0"/>
                                          </p:stCondLst>
                                        </p:cTn>
                                        <p:tgtEl>
                                          <p:spTgt spid="173"/>
                                        </p:tgtEl>
                                        <p:attrNameLst>
                                          <p:attrName>style.visibility</p:attrName>
                                        </p:attrNameLst>
                                      </p:cBhvr>
                                      <p:to>
                                        <p:strVal val="visible"/>
                                      </p:to>
                                    </p:set>
                                    <p:animEffect transition="in" filter="fade">
                                      <p:cBhvr>
                                        <p:cTn id="516" dur="600"/>
                                        <p:tgtEl>
                                          <p:spTgt spid="173"/>
                                        </p:tgtEl>
                                      </p:cBhvr>
                                    </p:animEffect>
                                  </p:childTnLst>
                                </p:cTn>
                              </p:par>
                              <p:par>
                                <p:cTn id="517" presetID="10" presetClass="entr" presetSubtype="0" fill="hold" nodeType="withEffect">
                                  <p:stCondLst>
                                    <p:cond delay="0"/>
                                  </p:stCondLst>
                                  <p:childTnLst>
                                    <p:set>
                                      <p:cBhvr>
                                        <p:cTn id="518" dur="1" fill="hold">
                                          <p:stCondLst>
                                            <p:cond delay="0"/>
                                          </p:stCondLst>
                                        </p:cTn>
                                        <p:tgtEl>
                                          <p:spTgt spid="174"/>
                                        </p:tgtEl>
                                        <p:attrNameLst>
                                          <p:attrName>style.visibility</p:attrName>
                                        </p:attrNameLst>
                                      </p:cBhvr>
                                      <p:to>
                                        <p:strVal val="visible"/>
                                      </p:to>
                                    </p:set>
                                    <p:animEffect transition="in" filter="fade">
                                      <p:cBhvr>
                                        <p:cTn id="519" dur="600"/>
                                        <p:tgtEl>
                                          <p:spTgt spid="174"/>
                                        </p:tgtEl>
                                      </p:cBhvr>
                                    </p:animEffect>
                                  </p:childTnLst>
                                </p:cTn>
                              </p:par>
                              <p:par>
                                <p:cTn id="520" presetID="10" presetClass="entr" presetSubtype="0" fill="hold" nodeType="withEffect">
                                  <p:stCondLst>
                                    <p:cond delay="0"/>
                                  </p:stCondLst>
                                  <p:childTnLst>
                                    <p:set>
                                      <p:cBhvr>
                                        <p:cTn id="521" dur="1" fill="hold">
                                          <p:stCondLst>
                                            <p:cond delay="0"/>
                                          </p:stCondLst>
                                        </p:cTn>
                                        <p:tgtEl>
                                          <p:spTgt spid="175"/>
                                        </p:tgtEl>
                                        <p:attrNameLst>
                                          <p:attrName>style.visibility</p:attrName>
                                        </p:attrNameLst>
                                      </p:cBhvr>
                                      <p:to>
                                        <p:strVal val="visible"/>
                                      </p:to>
                                    </p:set>
                                    <p:animEffect transition="in" filter="fade">
                                      <p:cBhvr>
                                        <p:cTn id="522" dur="600"/>
                                        <p:tgtEl>
                                          <p:spTgt spid="175"/>
                                        </p:tgtEl>
                                      </p:cBhvr>
                                    </p:animEffect>
                                  </p:childTnLst>
                                </p:cTn>
                              </p:par>
                              <p:par>
                                <p:cTn id="523" presetID="10" presetClass="entr" presetSubtype="0" fill="hold" nodeType="withEffect">
                                  <p:stCondLst>
                                    <p:cond delay="0"/>
                                  </p:stCondLst>
                                  <p:childTnLst>
                                    <p:set>
                                      <p:cBhvr>
                                        <p:cTn id="524" dur="1" fill="hold">
                                          <p:stCondLst>
                                            <p:cond delay="0"/>
                                          </p:stCondLst>
                                        </p:cTn>
                                        <p:tgtEl>
                                          <p:spTgt spid="176"/>
                                        </p:tgtEl>
                                        <p:attrNameLst>
                                          <p:attrName>style.visibility</p:attrName>
                                        </p:attrNameLst>
                                      </p:cBhvr>
                                      <p:to>
                                        <p:strVal val="visible"/>
                                      </p:to>
                                    </p:set>
                                    <p:animEffect transition="in" filter="fade">
                                      <p:cBhvr>
                                        <p:cTn id="525" dur="600"/>
                                        <p:tgtEl>
                                          <p:spTgt spid="176"/>
                                        </p:tgtEl>
                                      </p:cBhvr>
                                    </p:animEffect>
                                  </p:childTnLst>
                                </p:cTn>
                              </p:par>
                              <p:par>
                                <p:cTn id="526" presetID="10" presetClass="entr" presetSubtype="0" fill="hold" nodeType="withEffect">
                                  <p:stCondLst>
                                    <p:cond delay="0"/>
                                  </p:stCondLst>
                                  <p:childTnLst>
                                    <p:set>
                                      <p:cBhvr>
                                        <p:cTn id="527" dur="1" fill="hold">
                                          <p:stCondLst>
                                            <p:cond delay="0"/>
                                          </p:stCondLst>
                                        </p:cTn>
                                        <p:tgtEl>
                                          <p:spTgt spid="177"/>
                                        </p:tgtEl>
                                        <p:attrNameLst>
                                          <p:attrName>style.visibility</p:attrName>
                                        </p:attrNameLst>
                                      </p:cBhvr>
                                      <p:to>
                                        <p:strVal val="visible"/>
                                      </p:to>
                                    </p:set>
                                    <p:animEffect transition="in" filter="fade">
                                      <p:cBhvr>
                                        <p:cTn id="528" dur="600"/>
                                        <p:tgtEl>
                                          <p:spTgt spid="177"/>
                                        </p:tgtEl>
                                      </p:cBhvr>
                                    </p:animEffect>
                                  </p:childTnLst>
                                </p:cTn>
                              </p:par>
                              <p:par>
                                <p:cTn id="529" presetID="10" presetClass="entr" presetSubtype="0" fill="hold" nodeType="withEffect">
                                  <p:stCondLst>
                                    <p:cond delay="0"/>
                                  </p:stCondLst>
                                  <p:childTnLst>
                                    <p:set>
                                      <p:cBhvr>
                                        <p:cTn id="530" dur="1" fill="hold">
                                          <p:stCondLst>
                                            <p:cond delay="0"/>
                                          </p:stCondLst>
                                        </p:cTn>
                                        <p:tgtEl>
                                          <p:spTgt spid="178"/>
                                        </p:tgtEl>
                                        <p:attrNameLst>
                                          <p:attrName>style.visibility</p:attrName>
                                        </p:attrNameLst>
                                      </p:cBhvr>
                                      <p:to>
                                        <p:strVal val="visible"/>
                                      </p:to>
                                    </p:set>
                                    <p:animEffect transition="in" filter="fade">
                                      <p:cBhvr>
                                        <p:cTn id="531" dur="600"/>
                                        <p:tgtEl>
                                          <p:spTgt spid="178"/>
                                        </p:tgtEl>
                                      </p:cBhvr>
                                    </p:animEffect>
                                  </p:childTnLst>
                                </p:cTn>
                              </p:par>
                              <p:par>
                                <p:cTn id="532" presetID="10" presetClass="entr" presetSubtype="0" fill="hold" nodeType="withEffect">
                                  <p:stCondLst>
                                    <p:cond delay="0"/>
                                  </p:stCondLst>
                                  <p:childTnLst>
                                    <p:set>
                                      <p:cBhvr>
                                        <p:cTn id="533" dur="1" fill="hold">
                                          <p:stCondLst>
                                            <p:cond delay="0"/>
                                          </p:stCondLst>
                                        </p:cTn>
                                        <p:tgtEl>
                                          <p:spTgt spid="179"/>
                                        </p:tgtEl>
                                        <p:attrNameLst>
                                          <p:attrName>style.visibility</p:attrName>
                                        </p:attrNameLst>
                                      </p:cBhvr>
                                      <p:to>
                                        <p:strVal val="visible"/>
                                      </p:to>
                                    </p:set>
                                    <p:animEffect transition="in" filter="fade">
                                      <p:cBhvr>
                                        <p:cTn id="534" dur="600"/>
                                        <p:tgtEl>
                                          <p:spTgt spid="179"/>
                                        </p:tgtEl>
                                      </p:cBhvr>
                                    </p:animEffect>
                                  </p:childTnLst>
                                </p:cTn>
                              </p:par>
                              <p:par>
                                <p:cTn id="535" presetID="10" presetClass="entr" presetSubtype="0" fill="hold" nodeType="withEffect">
                                  <p:stCondLst>
                                    <p:cond delay="0"/>
                                  </p:stCondLst>
                                  <p:childTnLst>
                                    <p:set>
                                      <p:cBhvr>
                                        <p:cTn id="536" dur="1" fill="hold">
                                          <p:stCondLst>
                                            <p:cond delay="0"/>
                                          </p:stCondLst>
                                        </p:cTn>
                                        <p:tgtEl>
                                          <p:spTgt spid="180"/>
                                        </p:tgtEl>
                                        <p:attrNameLst>
                                          <p:attrName>style.visibility</p:attrName>
                                        </p:attrNameLst>
                                      </p:cBhvr>
                                      <p:to>
                                        <p:strVal val="visible"/>
                                      </p:to>
                                    </p:set>
                                    <p:animEffect transition="in" filter="fade">
                                      <p:cBhvr>
                                        <p:cTn id="537" dur="600"/>
                                        <p:tgtEl>
                                          <p:spTgt spid="180"/>
                                        </p:tgtEl>
                                      </p:cBhvr>
                                    </p:animEffect>
                                  </p:childTnLst>
                                </p:cTn>
                              </p:par>
                              <p:par>
                                <p:cTn id="538" presetID="10" presetClass="entr" presetSubtype="0" fill="hold" nodeType="withEffect">
                                  <p:stCondLst>
                                    <p:cond delay="0"/>
                                  </p:stCondLst>
                                  <p:childTnLst>
                                    <p:set>
                                      <p:cBhvr>
                                        <p:cTn id="539" dur="1" fill="hold">
                                          <p:stCondLst>
                                            <p:cond delay="0"/>
                                          </p:stCondLst>
                                        </p:cTn>
                                        <p:tgtEl>
                                          <p:spTgt spid="181"/>
                                        </p:tgtEl>
                                        <p:attrNameLst>
                                          <p:attrName>style.visibility</p:attrName>
                                        </p:attrNameLst>
                                      </p:cBhvr>
                                      <p:to>
                                        <p:strVal val="visible"/>
                                      </p:to>
                                    </p:set>
                                    <p:animEffect transition="in" filter="fade">
                                      <p:cBhvr>
                                        <p:cTn id="540" dur="600"/>
                                        <p:tgtEl>
                                          <p:spTgt spid="181"/>
                                        </p:tgtEl>
                                      </p:cBhvr>
                                    </p:animEffect>
                                  </p:childTnLst>
                                </p:cTn>
                              </p:par>
                              <p:par>
                                <p:cTn id="541" presetID="10" presetClass="entr" presetSubtype="0" fill="hold" nodeType="withEffect">
                                  <p:stCondLst>
                                    <p:cond delay="0"/>
                                  </p:stCondLst>
                                  <p:childTnLst>
                                    <p:set>
                                      <p:cBhvr>
                                        <p:cTn id="542" dur="1" fill="hold">
                                          <p:stCondLst>
                                            <p:cond delay="0"/>
                                          </p:stCondLst>
                                        </p:cTn>
                                        <p:tgtEl>
                                          <p:spTgt spid="182"/>
                                        </p:tgtEl>
                                        <p:attrNameLst>
                                          <p:attrName>style.visibility</p:attrName>
                                        </p:attrNameLst>
                                      </p:cBhvr>
                                      <p:to>
                                        <p:strVal val="visible"/>
                                      </p:to>
                                    </p:set>
                                    <p:animEffect transition="in" filter="fade">
                                      <p:cBhvr>
                                        <p:cTn id="543" dur="600"/>
                                        <p:tgtEl>
                                          <p:spTgt spid="182"/>
                                        </p:tgtEl>
                                      </p:cBhvr>
                                    </p:animEffect>
                                  </p:childTnLst>
                                </p:cTn>
                              </p:par>
                              <p:par>
                                <p:cTn id="544" presetID="10" presetClass="entr" presetSubtype="0" fill="hold" nodeType="withEffect">
                                  <p:stCondLst>
                                    <p:cond delay="0"/>
                                  </p:stCondLst>
                                  <p:childTnLst>
                                    <p:set>
                                      <p:cBhvr>
                                        <p:cTn id="545" dur="1" fill="hold">
                                          <p:stCondLst>
                                            <p:cond delay="0"/>
                                          </p:stCondLst>
                                        </p:cTn>
                                        <p:tgtEl>
                                          <p:spTgt spid="183"/>
                                        </p:tgtEl>
                                        <p:attrNameLst>
                                          <p:attrName>style.visibility</p:attrName>
                                        </p:attrNameLst>
                                      </p:cBhvr>
                                      <p:to>
                                        <p:strVal val="visible"/>
                                      </p:to>
                                    </p:set>
                                    <p:animEffect transition="in" filter="fade">
                                      <p:cBhvr>
                                        <p:cTn id="546" dur="600"/>
                                        <p:tgtEl>
                                          <p:spTgt spid="183"/>
                                        </p:tgtEl>
                                      </p:cBhvr>
                                    </p:animEffect>
                                  </p:childTnLst>
                                </p:cTn>
                              </p:par>
                              <p:par>
                                <p:cTn id="547" presetID="10" presetClass="entr" presetSubtype="0" fill="hold" nodeType="withEffect">
                                  <p:stCondLst>
                                    <p:cond delay="0"/>
                                  </p:stCondLst>
                                  <p:childTnLst>
                                    <p:set>
                                      <p:cBhvr>
                                        <p:cTn id="548" dur="1" fill="hold">
                                          <p:stCondLst>
                                            <p:cond delay="0"/>
                                          </p:stCondLst>
                                        </p:cTn>
                                        <p:tgtEl>
                                          <p:spTgt spid="184"/>
                                        </p:tgtEl>
                                        <p:attrNameLst>
                                          <p:attrName>style.visibility</p:attrName>
                                        </p:attrNameLst>
                                      </p:cBhvr>
                                      <p:to>
                                        <p:strVal val="visible"/>
                                      </p:to>
                                    </p:set>
                                    <p:animEffect transition="in" filter="fade">
                                      <p:cBhvr>
                                        <p:cTn id="549" dur="600"/>
                                        <p:tgtEl>
                                          <p:spTgt spid="184"/>
                                        </p:tgtEl>
                                      </p:cBhvr>
                                    </p:animEffect>
                                  </p:childTnLst>
                                </p:cTn>
                              </p:par>
                              <p:par>
                                <p:cTn id="550" presetID="10" presetClass="entr" presetSubtype="0" fill="hold" nodeType="withEffect">
                                  <p:stCondLst>
                                    <p:cond delay="0"/>
                                  </p:stCondLst>
                                  <p:childTnLst>
                                    <p:set>
                                      <p:cBhvr>
                                        <p:cTn id="551" dur="1" fill="hold">
                                          <p:stCondLst>
                                            <p:cond delay="0"/>
                                          </p:stCondLst>
                                        </p:cTn>
                                        <p:tgtEl>
                                          <p:spTgt spid="185"/>
                                        </p:tgtEl>
                                        <p:attrNameLst>
                                          <p:attrName>style.visibility</p:attrName>
                                        </p:attrNameLst>
                                      </p:cBhvr>
                                      <p:to>
                                        <p:strVal val="visible"/>
                                      </p:to>
                                    </p:set>
                                    <p:animEffect transition="in" filter="fade">
                                      <p:cBhvr>
                                        <p:cTn id="552" dur="600"/>
                                        <p:tgtEl>
                                          <p:spTgt spid="185"/>
                                        </p:tgtEl>
                                      </p:cBhvr>
                                    </p:animEffect>
                                  </p:childTnLst>
                                </p:cTn>
                              </p:par>
                              <p:par>
                                <p:cTn id="553" presetID="10" presetClass="entr" presetSubtype="0" fill="hold" nodeType="withEffect">
                                  <p:stCondLst>
                                    <p:cond delay="0"/>
                                  </p:stCondLst>
                                  <p:childTnLst>
                                    <p:set>
                                      <p:cBhvr>
                                        <p:cTn id="554" dur="1" fill="hold">
                                          <p:stCondLst>
                                            <p:cond delay="0"/>
                                          </p:stCondLst>
                                        </p:cTn>
                                        <p:tgtEl>
                                          <p:spTgt spid="186"/>
                                        </p:tgtEl>
                                        <p:attrNameLst>
                                          <p:attrName>style.visibility</p:attrName>
                                        </p:attrNameLst>
                                      </p:cBhvr>
                                      <p:to>
                                        <p:strVal val="visible"/>
                                      </p:to>
                                    </p:set>
                                    <p:animEffect transition="in" filter="fade">
                                      <p:cBhvr>
                                        <p:cTn id="555" dur="600"/>
                                        <p:tgtEl>
                                          <p:spTgt spid="186"/>
                                        </p:tgtEl>
                                      </p:cBhvr>
                                    </p:animEffect>
                                  </p:childTnLst>
                                </p:cTn>
                              </p:par>
                              <p:par>
                                <p:cTn id="556" presetID="10" presetClass="entr" presetSubtype="0" fill="hold" nodeType="withEffect">
                                  <p:stCondLst>
                                    <p:cond delay="0"/>
                                  </p:stCondLst>
                                  <p:childTnLst>
                                    <p:set>
                                      <p:cBhvr>
                                        <p:cTn id="557" dur="1" fill="hold">
                                          <p:stCondLst>
                                            <p:cond delay="0"/>
                                          </p:stCondLst>
                                        </p:cTn>
                                        <p:tgtEl>
                                          <p:spTgt spid="187"/>
                                        </p:tgtEl>
                                        <p:attrNameLst>
                                          <p:attrName>style.visibility</p:attrName>
                                        </p:attrNameLst>
                                      </p:cBhvr>
                                      <p:to>
                                        <p:strVal val="visible"/>
                                      </p:to>
                                    </p:set>
                                    <p:animEffect transition="in" filter="fade">
                                      <p:cBhvr>
                                        <p:cTn id="558" dur="600"/>
                                        <p:tgtEl>
                                          <p:spTgt spid="187"/>
                                        </p:tgtEl>
                                      </p:cBhvr>
                                    </p:animEffect>
                                  </p:childTnLst>
                                </p:cTn>
                              </p:par>
                              <p:par>
                                <p:cTn id="559" presetID="10" presetClass="entr" presetSubtype="0" fill="hold" nodeType="withEffect">
                                  <p:stCondLst>
                                    <p:cond delay="0"/>
                                  </p:stCondLst>
                                  <p:childTnLst>
                                    <p:set>
                                      <p:cBhvr>
                                        <p:cTn id="560" dur="1" fill="hold">
                                          <p:stCondLst>
                                            <p:cond delay="0"/>
                                          </p:stCondLst>
                                        </p:cTn>
                                        <p:tgtEl>
                                          <p:spTgt spid="188"/>
                                        </p:tgtEl>
                                        <p:attrNameLst>
                                          <p:attrName>style.visibility</p:attrName>
                                        </p:attrNameLst>
                                      </p:cBhvr>
                                      <p:to>
                                        <p:strVal val="visible"/>
                                      </p:to>
                                    </p:set>
                                    <p:animEffect transition="in" filter="fade">
                                      <p:cBhvr>
                                        <p:cTn id="561" dur="600"/>
                                        <p:tgtEl>
                                          <p:spTgt spid="188"/>
                                        </p:tgtEl>
                                      </p:cBhvr>
                                    </p:animEffect>
                                  </p:childTnLst>
                                </p:cTn>
                              </p:par>
                              <p:par>
                                <p:cTn id="562" presetID="10" presetClass="entr" presetSubtype="0" fill="hold" nodeType="withEffect">
                                  <p:stCondLst>
                                    <p:cond delay="0"/>
                                  </p:stCondLst>
                                  <p:childTnLst>
                                    <p:set>
                                      <p:cBhvr>
                                        <p:cTn id="563" dur="1" fill="hold">
                                          <p:stCondLst>
                                            <p:cond delay="0"/>
                                          </p:stCondLst>
                                        </p:cTn>
                                        <p:tgtEl>
                                          <p:spTgt spid="189"/>
                                        </p:tgtEl>
                                        <p:attrNameLst>
                                          <p:attrName>style.visibility</p:attrName>
                                        </p:attrNameLst>
                                      </p:cBhvr>
                                      <p:to>
                                        <p:strVal val="visible"/>
                                      </p:to>
                                    </p:set>
                                    <p:animEffect transition="in" filter="fade">
                                      <p:cBhvr>
                                        <p:cTn id="564" dur="600"/>
                                        <p:tgtEl>
                                          <p:spTgt spid="189"/>
                                        </p:tgtEl>
                                      </p:cBhvr>
                                    </p:animEffect>
                                  </p:childTnLst>
                                </p:cTn>
                              </p:par>
                              <p:par>
                                <p:cTn id="565" presetID="10" presetClass="entr" presetSubtype="0" fill="hold" nodeType="withEffect">
                                  <p:stCondLst>
                                    <p:cond delay="0"/>
                                  </p:stCondLst>
                                  <p:childTnLst>
                                    <p:set>
                                      <p:cBhvr>
                                        <p:cTn id="566" dur="1" fill="hold">
                                          <p:stCondLst>
                                            <p:cond delay="0"/>
                                          </p:stCondLst>
                                        </p:cTn>
                                        <p:tgtEl>
                                          <p:spTgt spid="190"/>
                                        </p:tgtEl>
                                        <p:attrNameLst>
                                          <p:attrName>style.visibility</p:attrName>
                                        </p:attrNameLst>
                                      </p:cBhvr>
                                      <p:to>
                                        <p:strVal val="visible"/>
                                      </p:to>
                                    </p:set>
                                    <p:animEffect transition="in" filter="fade">
                                      <p:cBhvr>
                                        <p:cTn id="567" dur="600"/>
                                        <p:tgtEl>
                                          <p:spTgt spid="190"/>
                                        </p:tgtEl>
                                      </p:cBhvr>
                                    </p:animEffect>
                                  </p:childTnLst>
                                </p:cTn>
                              </p:par>
                              <p:par>
                                <p:cTn id="568" presetID="10" presetClass="entr" presetSubtype="0" fill="hold" nodeType="withEffect">
                                  <p:stCondLst>
                                    <p:cond delay="0"/>
                                  </p:stCondLst>
                                  <p:childTnLst>
                                    <p:set>
                                      <p:cBhvr>
                                        <p:cTn id="569" dur="1" fill="hold">
                                          <p:stCondLst>
                                            <p:cond delay="0"/>
                                          </p:stCondLst>
                                        </p:cTn>
                                        <p:tgtEl>
                                          <p:spTgt spid="191"/>
                                        </p:tgtEl>
                                        <p:attrNameLst>
                                          <p:attrName>style.visibility</p:attrName>
                                        </p:attrNameLst>
                                      </p:cBhvr>
                                      <p:to>
                                        <p:strVal val="visible"/>
                                      </p:to>
                                    </p:set>
                                    <p:animEffect transition="in" filter="fade">
                                      <p:cBhvr>
                                        <p:cTn id="570" dur="600"/>
                                        <p:tgtEl>
                                          <p:spTgt spid="191"/>
                                        </p:tgtEl>
                                      </p:cBhvr>
                                    </p:animEffect>
                                  </p:childTnLst>
                                </p:cTn>
                              </p:par>
                              <p:par>
                                <p:cTn id="571" presetID="10" presetClass="entr" presetSubtype="0" fill="hold" nodeType="withEffect">
                                  <p:stCondLst>
                                    <p:cond delay="0"/>
                                  </p:stCondLst>
                                  <p:childTnLst>
                                    <p:set>
                                      <p:cBhvr>
                                        <p:cTn id="572" dur="1" fill="hold">
                                          <p:stCondLst>
                                            <p:cond delay="0"/>
                                          </p:stCondLst>
                                        </p:cTn>
                                        <p:tgtEl>
                                          <p:spTgt spid="192"/>
                                        </p:tgtEl>
                                        <p:attrNameLst>
                                          <p:attrName>style.visibility</p:attrName>
                                        </p:attrNameLst>
                                      </p:cBhvr>
                                      <p:to>
                                        <p:strVal val="visible"/>
                                      </p:to>
                                    </p:set>
                                    <p:animEffect transition="in" filter="fade">
                                      <p:cBhvr>
                                        <p:cTn id="573" dur="600"/>
                                        <p:tgtEl>
                                          <p:spTgt spid="192"/>
                                        </p:tgtEl>
                                      </p:cBhvr>
                                    </p:animEffect>
                                  </p:childTnLst>
                                </p:cTn>
                              </p:par>
                              <p:par>
                                <p:cTn id="574" presetID="10" presetClass="entr" presetSubtype="0" fill="hold" nodeType="withEffect">
                                  <p:stCondLst>
                                    <p:cond delay="0"/>
                                  </p:stCondLst>
                                  <p:childTnLst>
                                    <p:set>
                                      <p:cBhvr>
                                        <p:cTn id="575" dur="1" fill="hold">
                                          <p:stCondLst>
                                            <p:cond delay="0"/>
                                          </p:stCondLst>
                                        </p:cTn>
                                        <p:tgtEl>
                                          <p:spTgt spid="193"/>
                                        </p:tgtEl>
                                        <p:attrNameLst>
                                          <p:attrName>style.visibility</p:attrName>
                                        </p:attrNameLst>
                                      </p:cBhvr>
                                      <p:to>
                                        <p:strVal val="visible"/>
                                      </p:to>
                                    </p:set>
                                    <p:animEffect transition="in" filter="fade">
                                      <p:cBhvr>
                                        <p:cTn id="576" dur="600"/>
                                        <p:tgtEl>
                                          <p:spTgt spid="193"/>
                                        </p:tgtEl>
                                      </p:cBhvr>
                                    </p:animEffect>
                                  </p:childTnLst>
                                </p:cTn>
                              </p:par>
                              <p:par>
                                <p:cTn id="577" presetID="10" presetClass="entr" presetSubtype="0" fill="hold" nodeType="withEffect">
                                  <p:stCondLst>
                                    <p:cond delay="0"/>
                                  </p:stCondLst>
                                  <p:childTnLst>
                                    <p:set>
                                      <p:cBhvr>
                                        <p:cTn id="578" dur="1" fill="hold">
                                          <p:stCondLst>
                                            <p:cond delay="0"/>
                                          </p:stCondLst>
                                        </p:cTn>
                                        <p:tgtEl>
                                          <p:spTgt spid="194"/>
                                        </p:tgtEl>
                                        <p:attrNameLst>
                                          <p:attrName>style.visibility</p:attrName>
                                        </p:attrNameLst>
                                      </p:cBhvr>
                                      <p:to>
                                        <p:strVal val="visible"/>
                                      </p:to>
                                    </p:set>
                                    <p:animEffect transition="in" filter="fade">
                                      <p:cBhvr>
                                        <p:cTn id="579" dur="600"/>
                                        <p:tgtEl>
                                          <p:spTgt spid="194"/>
                                        </p:tgtEl>
                                      </p:cBhvr>
                                    </p:animEffect>
                                  </p:childTnLst>
                                </p:cTn>
                              </p:par>
                              <p:par>
                                <p:cTn id="580" presetID="10" presetClass="entr" presetSubtype="0" fill="hold" nodeType="withEffect">
                                  <p:stCondLst>
                                    <p:cond delay="0"/>
                                  </p:stCondLst>
                                  <p:childTnLst>
                                    <p:set>
                                      <p:cBhvr>
                                        <p:cTn id="581" dur="1" fill="hold">
                                          <p:stCondLst>
                                            <p:cond delay="0"/>
                                          </p:stCondLst>
                                        </p:cTn>
                                        <p:tgtEl>
                                          <p:spTgt spid="195"/>
                                        </p:tgtEl>
                                        <p:attrNameLst>
                                          <p:attrName>style.visibility</p:attrName>
                                        </p:attrNameLst>
                                      </p:cBhvr>
                                      <p:to>
                                        <p:strVal val="visible"/>
                                      </p:to>
                                    </p:set>
                                    <p:animEffect transition="in" filter="fade">
                                      <p:cBhvr>
                                        <p:cTn id="582" dur="600"/>
                                        <p:tgtEl>
                                          <p:spTgt spid="195"/>
                                        </p:tgtEl>
                                      </p:cBhvr>
                                    </p:animEffect>
                                  </p:childTnLst>
                                </p:cTn>
                              </p:par>
                              <p:par>
                                <p:cTn id="583" presetID="10" presetClass="entr" presetSubtype="0" fill="hold" nodeType="withEffect">
                                  <p:stCondLst>
                                    <p:cond delay="0"/>
                                  </p:stCondLst>
                                  <p:childTnLst>
                                    <p:set>
                                      <p:cBhvr>
                                        <p:cTn id="584" dur="1" fill="hold">
                                          <p:stCondLst>
                                            <p:cond delay="0"/>
                                          </p:stCondLst>
                                        </p:cTn>
                                        <p:tgtEl>
                                          <p:spTgt spid="196"/>
                                        </p:tgtEl>
                                        <p:attrNameLst>
                                          <p:attrName>style.visibility</p:attrName>
                                        </p:attrNameLst>
                                      </p:cBhvr>
                                      <p:to>
                                        <p:strVal val="visible"/>
                                      </p:to>
                                    </p:set>
                                    <p:animEffect transition="in" filter="fade">
                                      <p:cBhvr>
                                        <p:cTn id="585" dur="600"/>
                                        <p:tgtEl>
                                          <p:spTgt spid="196"/>
                                        </p:tgtEl>
                                      </p:cBhvr>
                                    </p:animEffect>
                                  </p:childTnLst>
                                </p:cTn>
                              </p:par>
                              <p:par>
                                <p:cTn id="586" presetID="10" presetClass="entr" presetSubtype="0" fill="hold" nodeType="withEffect">
                                  <p:stCondLst>
                                    <p:cond delay="0"/>
                                  </p:stCondLst>
                                  <p:childTnLst>
                                    <p:set>
                                      <p:cBhvr>
                                        <p:cTn id="587" dur="1" fill="hold">
                                          <p:stCondLst>
                                            <p:cond delay="0"/>
                                          </p:stCondLst>
                                        </p:cTn>
                                        <p:tgtEl>
                                          <p:spTgt spid="197"/>
                                        </p:tgtEl>
                                        <p:attrNameLst>
                                          <p:attrName>style.visibility</p:attrName>
                                        </p:attrNameLst>
                                      </p:cBhvr>
                                      <p:to>
                                        <p:strVal val="visible"/>
                                      </p:to>
                                    </p:set>
                                    <p:animEffect transition="in" filter="fade">
                                      <p:cBhvr>
                                        <p:cTn id="588" dur="600"/>
                                        <p:tgtEl>
                                          <p:spTgt spid="197"/>
                                        </p:tgtEl>
                                      </p:cBhvr>
                                    </p:animEffect>
                                  </p:childTnLst>
                                </p:cTn>
                              </p:par>
                              <p:par>
                                <p:cTn id="589" presetID="10" presetClass="entr" presetSubtype="0" fill="hold" nodeType="withEffect">
                                  <p:stCondLst>
                                    <p:cond delay="0"/>
                                  </p:stCondLst>
                                  <p:childTnLst>
                                    <p:set>
                                      <p:cBhvr>
                                        <p:cTn id="590" dur="1" fill="hold">
                                          <p:stCondLst>
                                            <p:cond delay="0"/>
                                          </p:stCondLst>
                                        </p:cTn>
                                        <p:tgtEl>
                                          <p:spTgt spid="198"/>
                                        </p:tgtEl>
                                        <p:attrNameLst>
                                          <p:attrName>style.visibility</p:attrName>
                                        </p:attrNameLst>
                                      </p:cBhvr>
                                      <p:to>
                                        <p:strVal val="visible"/>
                                      </p:to>
                                    </p:set>
                                    <p:animEffect transition="in" filter="fade">
                                      <p:cBhvr>
                                        <p:cTn id="591" dur="600"/>
                                        <p:tgtEl>
                                          <p:spTgt spid="198"/>
                                        </p:tgtEl>
                                      </p:cBhvr>
                                    </p:animEffect>
                                  </p:childTnLst>
                                </p:cTn>
                              </p:par>
                              <p:par>
                                <p:cTn id="592" presetID="10" presetClass="entr" presetSubtype="0" fill="hold" nodeType="withEffect">
                                  <p:stCondLst>
                                    <p:cond delay="0"/>
                                  </p:stCondLst>
                                  <p:childTnLst>
                                    <p:set>
                                      <p:cBhvr>
                                        <p:cTn id="593" dur="1" fill="hold">
                                          <p:stCondLst>
                                            <p:cond delay="0"/>
                                          </p:stCondLst>
                                        </p:cTn>
                                        <p:tgtEl>
                                          <p:spTgt spid="199"/>
                                        </p:tgtEl>
                                        <p:attrNameLst>
                                          <p:attrName>style.visibility</p:attrName>
                                        </p:attrNameLst>
                                      </p:cBhvr>
                                      <p:to>
                                        <p:strVal val="visible"/>
                                      </p:to>
                                    </p:set>
                                    <p:animEffect transition="in" filter="fade">
                                      <p:cBhvr>
                                        <p:cTn id="594" dur="600"/>
                                        <p:tgtEl>
                                          <p:spTgt spid="199"/>
                                        </p:tgtEl>
                                      </p:cBhvr>
                                    </p:animEffect>
                                  </p:childTnLst>
                                </p:cTn>
                              </p:par>
                              <p:par>
                                <p:cTn id="595" presetID="10" presetClass="entr" presetSubtype="0" fill="hold" nodeType="withEffect">
                                  <p:stCondLst>
                                    <p:cond delay="0"/>
                                  </p:stCondLst>
                                  <p:childTnLst>
                                    <p:set>
                                      <p:cBhvr>
                                        <p:cTn id="596" dur="1" fill="hold">
                                          <p:stCondLst>
                                            <p:cond delay="0"/>
                                          </p:stCondLst>
                                        </p:cTn>
                                        <p:tgtEl>
                                          <p:spTgt spid="200"/>
                                        </p:tgtEl>
                                        <p:attrNameLst>
                                          <p:attrName>style.visibility</p:attrName>
                                        </p:attrNameLst>
                                      </p:cBhvr>
                                      <p:to>
                                        <p:strVal val="visible"/>
                                      </p:to>
                                    </p:set>
                                    <p:animEffect transition="in" filter="fade">
                                      <p:cBhvr>
                                        <p:cTn id="597" dur="600"/>
                                        <p:tgtEl>
                                          <p:spTgt spid="200"/>
                                        </p:tgtEl>
                                      </p:cBhvr>
                                    </p:animEffect>
                                  </p:childTnLst>
                                </p:cTn>
                              </p:par>
                              <p:par>
                                <p:cTn id="598" presetID="10" presetClass="entr" presetSubtype="0" fill="hold" nodeType="withEffect">
                                  <p:stCondLst>
                                    <p:cond delay="0"/>
                                  </p:stCondLst>
                                  <p:childTnLst>
                                    <p:set>
                                      <p:cBhvr>
                                        <p:cTn id="599" dur="1" fill="hold">
                                          <p:stCondLst>
                                            <p:cond delay="0"/>
                                          </p:stCondLst>
                                        </p:cTn>
                                        <p:tgtEl>
                                          <p:spTgt spid="201"/>
                                        </p:tgtEl>
                                        <p:attrNameLst>
                                          <p:attrName>style.visibility</p:attrName>
                                        </p:attrNameLst>
                                      </p:cBhvr>
                                      <p:to>
                                        <p:strVal val="visible"/>
                                      </p:to>
                                    </p:set>
                                    <p:animEffect transition="in" filter="fade">
                                      <p:cBhvr>
                                        <p:cTn id="600" dur="600"/>
                                        <p:tgtEl>
                                          <p:spTgt spid="201"/>
                                        </p:tgtEl>
                                      </p:cBhvr>
                                    </p:animEffect>
                                  </p:childTnLst>
                                </p:cTn>
                              </p:par>
                              <p:par>
                                <p:cTn id="601" presetID="10" presetClass="entr" presetSubtype="0" fill="hold" nodeType="withEffect">
                                  <p:stCondLst>
                                    <p:cond delay="0"/>
                                  </p:stCondLst>
                                  <p:childTnLst>
                                    <p:set>
                                      <p:cBhvr>
                                        <p:cTn id="602" dur="1" fill="hold">
                                          <p:stCondLst>
                                            <p:cond delay="0"/>
                                          </p:stCondLst>
                                        </p:cTn>
                                        <p:tgtEl>
                                          <p:spTgt spid="202"/>
                                        </p:tgtEl>
                                        <p:attrNameLst>
                                          <p:attrName>style.visibility</p:attrName>
                                        </p:attrNameLst>
                                      </p:cBhvr>
                                      <p:to>
                                        <p:strVal val="visible"/>
                                      </p:to>
                                    </p:set>
                                    <p:animEffect transition="in" filter="fade">
                                      <p:cBhvr>
                                        <p:cTn id="603" dur="600"/>
                                        <p:tgtEl>
                                          <p:spTgt spid="202"/>
                                        </p:tgtEl>
                                      </p:cBhvr>
                                    </p:animEffect>
                                  </p:childTnLst>
                                </p:cTn>
                              </p:par>
                              <p:par>
                                <p:cTn id="604" presetID="10" presetClass="entr" presetSubtype="0" fill="hold" nodeType="withEffect">
                                  <p:stCondLst>
                                    <p:cond delay="0"/>
                                  </p:stCondLst>
                                  <p:childTnLst>
                                    <p:set>
                                      <p:cBhvr>
                                        <p:cTn id="605" dur="1" fill="hold">
                                          <p:stCondLst>
                                            <p:cond delay="0"/>
                                          </p:stCondLst>
                                        </p:cTn>
                                        <p:tgtEl>
                                          <p:spTgt spid="203"/>
                                        </p:tgtEl>
                                        <p:attrNameLst>
                                          <p:attrName>style.visibility</p:attrName>
                                        </p:attrNameLst>
                                      </p:cBhvr>
                                      <p:to>
                                        <p:strVal val="visible"/>
                                      </p:to>
                                    </p:set>
                                    <p:animEffect transition="in" filter="fade">
                                      <p:cBhvr>
                                        <p:cTn id="606" dur="600"/>
                                        <p:tgtEl>
                                          <p:spTgt spid="203"/>
                                        </p:tgtEl>
                                      </p:cBhvr>
                                    </p:animEffect>
                                  </p:childTnLst>
                                </p:cTn>
                              </p:par>
                              <p:par>
                                <p:cTn id="607" presetID="10" presetClass="entr" presetSubtype="0" fill="hold" nodeType="withEffect">
                                  <p:stCondLst>
                                    <p:cond delay="0"/>
                                  </p:stCondLst>
                                  <p:childTnLst>
                                    <p:set>
                                      <p:cBhvr>
                                        <p:cTn id="608" dur="1" fill="hold">
                                          <p:stCondLst>
                                            <p:cond delay="0"/>
                                          </p:stCondLst>
                                        </p:cTn>
                                        <p:tgtEl>
                                          <p:spTgt spid="204"/>
                                        </p:tgtEl>
                                        <p:attrNameLst>
                                          <p:attrName>style.visibility</p:attrName>
                                        </p:attrNameLst>
                                      </p:cBhvr>
                                      <p:to>
                                        <p:strVal val="visible"/>
                                      </p:to>
                                    </p:set>
                                    <p:animEffect transition="in" filter="fade">
                                      <p:cBhvr>
                                        <p:cTn id="609" dur="600"/>
                                        <p:tgtEl>
                                          <p:spTgt spid="204"/>
                                        </p:tgtEl>
                                      </p:cBhvr>
                                    </p:animEffect>
                                  </p:childTnLst>
                                </p:cTn>
                              </p:par>
                              <p:par>
                                <p:cTn id="610" presetID="10" presetClass="entr" presetSubtype="0" fill="hold" nodeType="withEffect">
                                  <p:stCondLst>
                                    <p:cond delay="0"/>
                                  </p:stCondLst>
                                  <p:childTnLst>
                                    <p:set>
                                      <p:cBhvr>
                                        <p:cTn id="611" dur="1" fill="hold">
                                          <p:stCondLst>
                                            <p:cond delay="0"/>
                                          </p:stCondLst>
                                        </p:cTn>
                                        <p:tgtEl>
                                          <p:spTgt spid="205"/>
                                        </p:tgtEl>
                                        <p:attrNameLst>
                                          <p:attrName>style.visibility</p:attrName>
                                        </p:attrNameLst>
                                      </p:cBhvr>
                                      <p:to>
                                        <p:strVal val="visible"/>
                                      </p:to>
                                    </p:set>
                                    <p:animEffect transition="in" filter="fade">
                                      <p:cBhvr>
                                        <p:cTn id="612" dur="600"/>
                                        <p:tgtEl>
                                          <p:spTgt spid="205"/>
                                        </p:tgtEl>
                                      </p:cBhvr>
                                    </p:animEffect>
                                  </p:childTnLst>
                                </p:cTn>
                              </p:par>
                              <p:par>
                                <p:cTn id="613" presetID="10" presetClass="entr" presetSubtype="0" fill="hold" nodeType="withEffect">
                                  <p:stCondLst>
                                    <p:cond delay="0"/>
                                  </p:stCondLst>
                                  <p:childTnLst>
                                    <p:set>
                                      <p:cBhvr>
                                        <p:cTn id="614" dur="1" fill="hold">
                                          <p:stCondLst>
                                            <p:cond delay="0"/>
                                          </p:stCondLst>
                                        </p:cTn>
                                        <p:tgtEl>
                                          <p:spTgt spid="206"/>
                                        </p:tgtEl>
                                        <p:attrNameLst>
                                          <p:attrName>style.visibility</p:attrName>
                                        </p:attrNameLst>
                                      </p:cBhvr>
                                      <p:to>
                                        <p:strVal val="visible"/>
                                      </p:to>
                                    </p:set>
                                    <p:animEffect transition="in" filter="fade">
                                      <p:cBhvr>
                                        <p:cTn id="615" dur="600"/>
                                        <p:tgtEl>
                                          <p:spTgt spid="206"/>
                                        </p:tgtEl>
                                      </p:cBhvr>
                                    </p:animEffect>
                                  </p:childTnLst>
                                </p:cTn>
                              </p:par>
                              <p:par>
                                <p:cTn id="616" presetID="10" presetClass="entr" presetSubtype="0" fill="hold" nodeType="withEffect">
                                  <p:stCondLst>
                                    <p:cond delay="0"/>
                                  </p:stCondLst>
                                  <p:childTnLst>
                                    <p:set>
                                      <p:cBhvr>
                                        <p:cTn id="617" dur="1" fill="hold">
                                          <p:stCondLst>
                                            <p:cond delay="0"/>
                                          </p:stCondLst>
                                        </p:cTn>
                                        <p:tgtEl>
                                          <p:spTgt spid="207"/>
                                        </p:tgtEl>
                                        <p:attrNameLst>
                                          <p:attrName>style.visibility</p:attrName>
                                        </p:attrNameLst>
                                      </p:cBhvr>
                                      <p:to>
                                        <p:strVal val="visible"/>
                                      </p:to>
                                    </p:set>
                                    <p:animEffect transition="in" filter="fade">
                                      <p:cBhvr>
                                        <p:cTn id="618" dur="600"/>
                                        <p:tgtEl>
                                          <p:spTgt spid="207"/>
                                        </p:tgtEl>
                                      </p:cBhvr>
                                    </p:animEffect>
                                  </p:childTnLst>
                                </p:cTn>
                              </p:par>
                              <p:par>
                                <p:cTn id="619" presetID="10" presetClass="entr" presetSubtype="0" fill="hold" nodeType="withEffect">
                                  <p:stCondLst>
                                    <p:cond delay="0"/>
                                  </p:stCondLst>
                                  <p:childTnLst>
                                    <p:set>
                                      <p:cBhvr>
                                        <p:cTn id="620" dur="1" fill="hold">
                                          <p:stCondLst>
                                            <p:cond delay="0"/>
                                          </p:stCondLst>
                                        </p:cTn>
                                        <p:tgtEl>
                                          <p:spTgt spid="208"/>
                                        </p:tgtEl>
                                        <p:attrNameLst>
                                          <p:attrName>style.visibility</p:attrName>
                                        </p:attrNameLst>
                                      </p:cBhvr>
                                      <p:to>
                                        <p:strVal val="visible"/>
                                      </p:to>
                                    </p:set>
                                    <p:animEffect transition="in" filter="fade">
                                      <p:cBhvr>
                                        <p:cTn id="621" dur="600"/>
                                        <p:tgtEl>
                                          <p:spTgt spid="208"/>
                                        </p:tgtEl>
                                      </p:cBhvr>
                                    </p:animEffect>
                                  </p:childTnLst>
                                </p:cTn>
                              </p:par>
                              <p:par>
                                <p:cTn id="622" presetID="10" presetClass="entr" presetSubtype="0" fill="hold" nodeType="withEffect">
                                  <p:stCondLst>
                                    <p:cond delay="0"/>
                                  </p:stCondLst>
                                  <p:childTnLst>
                                    <p:set>
                                      <p:cBhvr>
                                        <p:cTn id="623" dur="1" fill="hold">
                                          <p:stCondLst>
                                            <p:cond delay="0"/>
                                          </p:stCondLst>
                                        </p:cTn>
                                        <p:tgtEl>
                                          <p:spTgt spid="209"/>
                                        </p:tgtEl>
                                        <p:attrNameLst>
                                          <p:attrName>style.visibility</p:attrName>
                                        </p:attrNameLst>
                                      </p:cBhvr>
                                      <p:to>
                                        <p:strVal val="visible"/>
                                      </p:to>
                                    </p:set>
                                    <p:animEffect transition="in" filter="fade">
                                      <p:cBhvr>
                                        <p:cTn id="624" dur="600"/>
                                        <p:tgtEl>
                                          <p:spTgt spid="209"/>
                                        </p:tgtEl>
                                      </p:cBhvr>
                                    </p:animEffect>
                                  </p:childTnLst>
                                </p:cTn>
                              </p:par>
                              <p:par>
                                <p:cTn id="625" presetID="10" presetClass="entr" presetSubtype="0" fill="hold" nodeType="withEffect">
                                  <p:stCondLst>
                                    <p:cond delay="0"/>
                                  </p:stCondLst>
                                  <p:childTnLst>
                                    <p:set>
                                      <p:cBhvr>
                                        <p:cTn id="626" dur="1" fill="hold">
                                          <p:stCondLst>
                                            <p:cond delay="0"/>
                                          </p:stCondLst>
                                        </p:cTn>
                                        <p:tgtEl>
                                          <p:spTgt spid="210"/>
                                        </p:tgtEl>
                                        <p:attrNameLst>
                                          <p:attrName>style.visibility</p:attrName>
                                        </p:attrNameLst>
                                      </p:cBhvr>
                                      <p:to>
                                        <p:strVal val="visible"/>
                                      </p:to>
                                    </p:set>
                                    <p:animEffect transition="in" filter="fade">
                                      <p:cBhvr>
                                        <p:cTn id="627" dur="600"/>
                                        <p:tgtEl>
                                          <p:spTgt spid="210"/>
                                        </p:tgtEl>
                                      </p:cBhvr>
                                    </p:animEffect>
                                  </p:childTnLst>
                                </p:cTn>
                              </p:par>
                              <p:par>
                                <p:cTn id="628" presetID="10" presetClass="entr" presetSubtype="0" fill="hold" nodeType="withEffect">
                                  <p:stCondLst>
                                    <p:cond delay="0"/>
                                  </p:stCondLst>
                                  <p:childTnLst>
                                    <p:set>
                                      <p:cBhvr>
                                        <p:cTn id="629" dur="1" fill="hold">
                                          <p:stCondLst>
                                            <p:cond delay="0"/>
                                          </p:stCondLst>
                                        </p:cTn>
                                        <p:tgtEl>
                                          <p:spTgt spid="211"/>
                                        </p:tgtEl>
                                        <p:attrNameLst>
                                          <p:attrName>style.visibility</p:attrName>
                                        </p:attrNameLst>
                                      </p:cBhvr>
                                      <p:to>
                                        <p:strVal val="visible"/>
                                      </p:to>
                                    </p:set>
                                    <p:animEffect transition="in" filter="fade">
                                      <p:cBhvr>
                                        <p:cTn id="630" dur="600"/>
                                        <p:tgtEl>
                                          <p:spTgt spid="211"/>
                                        </p:tgtEl>
                                      </p:cBhvr>
                                    </p:animEffect>
                                  </p:childTnLst>
                                </p:cTn>
                              </p:par>
                              <p:par>
                                <p:cTn id="631" presetID="10" presetClass="entr" presetSubtype="0" fill="hold" nodeType="withEffect">
                                  <p:stCondLst>
                                    <p:cond delay="0"/>
                                  </p:stCondLst>
                                  <p:childTnLst>
                                    <p:set>
                                      <p:cBhvr>
                                        <p:cTn id="632" dur="1" fill="hold">
                                          <p:stCondLst>
                                            <p:cond delay="0"/>
                                          </p:stCondLst>
                                        </p:cTn>
                                        <p:tgtEl>
                                          <p:spTgt spid="212"/>
                                        </p:tgtEl>
                                        <p:attrNameLst>
                                          <p:attrName>style.visibility</p:attrName>
                                        </p:attrNameLst>
                                      </p:cBhvr>
                                      <p:to>
                                        <p:strVal val="visible"/>
                                      </p:to>
                                    </p:set>
                                    <p:animEffect transition="in" filter="fade">
                                      <p:cBhvr>
                                        <p:cTn id="633" dur="600"/>
                                        <p:tgtEl>
                                          <p:spTgt spid="212"/>
                                        </p:tgtEl>
                                      </p:cBhvr>
                                    </p:animEffect>
                                  </p:childTnLst>
                                </p:cTn>
                              </p:par>
                              <p:par>
                                <p:cTn id="634" presetID="10" presetClass="entr" presetSubtype="0" fill="hold" nodeType="withEffect">
                                  <p:stCondLst>
                                    <p:cond delay="0"/>
                                  </p:stCondLst>
                                  <p:childTnLst>
                                    <p:set>
                                      <p:cBhvr>
                                        <p:cTn id="635" dur="1" fill="hold">
                                          <p:stCondLst>
                                            <p:cond delay="0"/>
                                          </p:stCondLst>
                                        </p:cTn>
                                        <p:tgtEl>
                                          <p:spTgt spid="213"/>
                                        </p:tgtEl>
                                        <p:attrNameLst>
                                          <p:attrName>style.visibility</p:attrName>
                                        </p:attrNameLst>
                                      </p:cBhvr>
                                      <p:to>
                                        <p:strVal val="visible"/>
                                      </p:to>
                                    </p:set>
                                    <p:animEffect transition="in" filter="fade">
                                      <p:cBhvr>
                                        <p:cTn id="636" dur="600"/>
                                        <p:tgtEl>
                                          <p:spTgt spid="213"/>
                                        </p:tgtEl>
                                      </p:cBhvr>
                                    </p:animEffect>
                                  </p:childTnLst>
                                </p:cTn>
                              </p:par>
                              <p:par>
                                <p:cTn id="637" presetID="10" presetClass="entr" presetSubtype="0" fill="hold" nodeType="withEffect">
                                  <p:stCondLst>
                                    <p:cond delay="0"/>
                                  </p:stCondLst>
                                  <p:childTnLst>
                                    <p:set>
                                      <p:cBhvr>
                                        <p:cTn id="638" dur="1" fill="hold">
                                          <p:stCondLst>
                                            <p:cond delay="0"/>
                                          </p:stCondLst>
                                        </p:cTn>
                                        <p:tgtEl>
                                          <p:spTgt spid="214"/>
                                        </p:tgtEl>
                                        <p:attrNameLst>
                                          <p:attrName>style.visibility</p:attrName>
                                        </p:attrNameLst>
                                      </p:cBhvr>
                                      <p:to>
                                        <p:strVal val="visible"/>
                                      </p:to>
                                    </p:set>
                                    <p:animEffect transition="in" filter="fade">
                                      <p:cBhvr>
                                        <p:cTn id="639" dur="600"/>
                                        <p:tgtEl>
                                          <p:spTgt spid="214"/>
                                        </p:tgtEl>
                                      </p:cBhvr>
                                    </p:animEffect>
                                  </p:childTnLst>
                                </p:cTn>
                              </p:par>
                              <p:par>
                                <p:cTn id="640" presetID="10" presetClass="entr" presetSubtype="0" fill="hold" nodeType="withEffect">
                                  <p:stCondLst>
                                    <p:cond delay="0"/>
                                  </p:stCondLst>
                                  <p:childTnLst>
                                    <p:set>
                                      <p:cBhvr>
                                        <p:cTn id="641" dur="1" fill="hold">
                                          <p:stCondLst>
                                            <p:cond delay="0"/>
                                          </p:stCondLst>
                                        </p:cTn>
                                        <p:tgtEl>
                                          <p:spTgt spid="215"/>
                                        </p:tgtEl>
                                        <p:attrNameLst>
                                          <p:attrName>style.visibility</p:attrName>
                                        </p:attrNameLst>
                                      </p:cBhvr>
                                      <p:to>
                                        <p:strVal val="visible"/>
                                      </p:to>
                                    </p:set>
                                    <p:animEffect transition="in" filter="fade">
                                      <p:cBhvr>
                                        <p:cTn id="642" dur="600"/>
                                        <p:tgtEl>
                                          <p:spTgt spid="215"/>
                                        </p:tgtEl>
                                      </p:cBhvr>
                                    </p:animEffect>
                                  </p:childTnLst>
                                </p:cTn>
                              </p:par>
                              <p:par>
                                <p:cTn id="643" presetID="10" presetClass="entr" presetSubtype="0" fill="hold" nodeType="withEffect">
                                  <p:stCondLst>
                                    <p:cond delay="0"/>
                                  </p:stCondLst>
                                  <p:childTnLst>
                                    <p:set>
                                      <p:cBhvr>
                                        <p:cTn id="644" dur="1" fill="hold">
                                          <p:stCondLst>
                                            <p:cond delay="0"/>
                                          </p:stCondLst>
                                        </p:cTn>
                                        <p:tgtEl>
                                          <p:spTgt spid="216"/>
                                        </p:tgtEl>
                                        <p:attrNameLst>
                                          <p:attrName>style.visibility</p:attrName>
                                        </p:attrNameLst>
                                      </p:cBhvr>
                                      <p:to>
                                        <p:strVal val="visible"/>
                                      </p:to>
                                    </p:set>
                                    <p:animEffect transition="in" filter="fade">
                                      <p:cBhvr>
                                        <p:cTn id="645" dur="600"/>
                                        <p:tgtEl>
                                          <p:spTgt spid="216"/>
                                        </p:tgtEl>
                                      </p:cBhvr>
                                    </p:animEffect>
                                  </p:childTnLst>
                                </p:cTn>
                              </p:par>
                              <p:par>
                                <p:cTn id="646" presetID="10" presetClass="entr" presetSubtype="0" fill="hold" nodeType="withEffect">
                                  <p:stCondLst>
                                    <p:cond delay="0"/>
                                  </p:stCondLst>
                                  <p:childTnLst>
                                    <p:set>
                                      <p:cBhvr>
                                        <p:cTn id="647" dur="1" fill="hold">
                                          <p:stCondLst>
                                            <p:cond delay="0"/>
                                          </p:stCondLst>
                                        </p:cTn>
                                        <p:tgtEl>
                                          <p:spTgt spid="217"/>
                                        </p:tgtEl>
                                        <p:attrNameLst>
                                          <p:attrName>style.visibility</p:attrName>
                                        </p:attrNameLst>
                                      </p:cBhvr>
                                      <p:to>
                                        <p:strVal val="visible"/>
                                      </p:to>
                                    </p:set>
                                    <p:animEffect transition="in" filter="fade">
                                      <p:cBhvr>
                                        <p:cTn id="648" dur="600"/>
                                        <p:tgtEl>
                                          <p:spTgt spid="217"/>
                                        </p:tgtEl>
                                      </p:cBhvr>
                                    </p:animEffect>
                                  </p:childTnLst>
                                </p:cTn>
                              </p:par>
                              <p:par>
                                <p:cTn id="649" presetID="10" presetClass="entr" presetSubtype="0" fill="hold" nodeType="withEffect">
                                  <p:stCondLst>
                                    <p:cond delay="0"/>
                                  </p:stCondLst>
                                  <p:childTnLst>
                                    <p:set>
                                      <p:cBhvr>
                                        <p:cTn id="650" dur="1" fill="hold">
                                          <p:stCondLst>
                                            <p:cond delay="0"/>
                                          </p:stCondLst>
                                        </p:cTn>
                                        <p:tgtEl>
                                          <p:spTgt spid="218"/>
                                        </p:tgtEl>
                                        <p:attrNameLst>
                                          <p:attrName>style.visibility</p:attrName>
                                        </p:attrNameLst>
                                      </p:cBhvr>
                                      <p:to>
                                        <p:strVal val="visible"/>
                                      </p:to>
                                    </p:set>
                                    <p:animEffect transition="in" filter="fade">
                                      <p:cBhvr>
                                        <p:cTn id="651" dur="600"/>
                                        <p:tgtEl>
                                          <p:spTgt spid="218"/>
                                        </p:tgtEl>
                                      </p:cBhvr>
                                    </p:animEffect>
                                  </p:childTnLst>
                                </p:cTn>
                              </p:par>
                              <p:par>
                                <p:cTn id="652" presetID="10" presetClass="entr" presetSubtype="0" fill="hold" nodeType="withEffect">
                                  <p:stCondLst>
                                    <p:cond delay="0"/>
                                  </p:stCondLst>
                                  <p:childTnLst>
                                    <p:set>
                                      <p:cBhvr>
                                        <p:cTn id="653" dur="1" fill="hold">
                                          <p:stCondLst>
                                            <p:cond delay="0"/>
                                          </p:stCondLst>
                                        </p:cTn>
                                        <p:tgtEl>
                                          <p:spTgt spid="219"/>
                                        </p:tgtEl>
                                        <p:attrNameLst>
                                          <p:attrName>style.visibility</p:attrName>
                                        </p:attrNameLst>
                                      </p:cBhvr>
                                      <p:to>
                                        <p:strVal val="visible"/>
                                      </p:to>
                                    </p:set>
                                    <p:animEffect transition="in" filter="fade">
                                      <p:cBhvr>
                                        <p:cTn id="654" dur="600"/>
                                        <p:tgtEl>
                                          <p:spTgt spid="219"/>
                                        </p:tgtEl>
                                      </p:cBhvr>
                                    </p:animEffect>
                                  </p:childTnLst>
                                </p:cTn>
                              </p:par>
                              <p:par>
                                <p:cTn id="655" presetID="10" presetClass="entr" presetSubtype="0" fill="hold" nodeType="withEffect">
                                  <p:stCondLst>
                                    <p:cond delay="0"/>
                                  </p:stCondLst>
                                  <p:childTnLst>
                                    <p:set>
                                      <p:cBhvr>
                                        <p:cTn id="656" dur="1" fill="hold">
                                          <p:stCondLst>
                                            <p:cond delay="0"/>
                                          </p:stCondLst>
                                        </p:cTn>
                                        <p:tgtEl>
                                          <p:spTgt spid="220"/>
                                        </p:tgtEl>
                                        <p:attrNameLst>
                                          <p:attrName>style.visibility</p:attrName>
                                        </p:attrNameLst>
                                      </p:cBhvr>
                                      <p:to>
                                        <p:strVal val="visible"/>
                                      </p:to>
                                    </p:set>
                                    <p:animEffect transition="in" filter="fade">
                                      <p:cBhvr>
                                        <p:cTn id="657" dur="600"/>
                                        <p:tgtEl>
                                          <p:spTgt spid="220"/>
                                        </p:tgtEl>
                                      </p:cBhvr>
                                    </p:animEffect>
                                  </p:childTnLst>
                                </p:cTn>
                              </p:par>
                              <p:par>
                                <p:cTn id="658" presetID="10" presetClass="entr" presetSubtype="0" fill="hold" nodeType="withEffect">
                                  <p:stCondLst>
                                    <p:cond delay="0"/>
                                  </p:stCondLst>
                                  <p:childTnLst>
                                    <p:set>
                                      <p:cBhvr>
                                        <p:cTn id="659" dur="1" fill="hold">
                                          <p:stCondLst>
                                            <p:cond delay="0"/>
                                          </p:stCondLst>
                                        </p:cTn>
                                        <p:tgtEl>
                                          <p:spTgt spid="221"/>
                                        </p:tgtEl>
                                        <p:attrNameLst>
                                          <p:attrName>style.visibility</p:attrName>
                                        </p:attrNameLst>
                                      </p:cBhvr>
                                      <p:to>
                                        <p:strVal val="visible"/>
                                      </p:to>
                                    </p:set>
                                    <p:animEffect transition="in" filter="fade">
                                      <p:cBhvr>
                                        <p:cTn id="660" dur="600"/>
                                        <p:tgtEl>
                                          <p:spTgt spid="221"/>
                                        </p:tgtEl>
                                      </p:cBhvr>
                                    </p:animEffect>
                                  </p:childTnLst>
                                </p:cTn>
                              </p:par>
                              <p:par>
                                <p:cTn id="661" presetID="10" presetClass="entr" presetSubtype="0" fill="hold" nodeType="withEffect">
                                  <p:stCondLst>
                                    <p:cond delay="0"/>
                                  </p:stCondLst>
                                  <p:childTnLst>
                                    <p:set>
                                      <p:cBhvr>
                                        <p:cTn id="662" dur="1" fill="hold">
                                          <p:stCondLst>
                                            <p:cond delay="0"/>
                                          </p:stCondLst>
                                        </p:cTn>
                                        <p:tgtEl>
                                          <p:spTgt spid="222"/>
                                        </p:tgtEl>
                                        <p:attrNameLst>
                                          <p:attrName>style.visibility</p:attrName>
                                        </p:attrNameLst>
                                      </p:cBhvr>
                                      <p:to>
                                        <p:strVal val="visible"/>
                                      </p:to>
                                    </p:set>
                                    <p:animEffect transition="in" filter="fade">
                                      <p:cBhvr>
                                        <p:cTn id="663" dur="600"/>
                                        <p:tgtEl>
                                          <p:spTgt spid="222"/>
                                        </p:tgtEl>
                                      </p:cBhvr>
                                    </p:animEffect>
                                  </p:childTnLst>
                                </p:cTn>
                              </p:par>
                              <p:par>
                                <p:cTn id="664" presetID="10" presetClass="entr" presetSubtype="0" fill="hold" nodeType="withEffect">
                                  <p:stCondLst>
                                    <p:cond delay="0"/>
                                  </p:stCondLst>
                                  <p:childTnLst>
                                    <p:set>
                                      <p:cBhvr>
                                        <p:cTn id="665" dur="1" fill="hold">
                                          <p:stCondLst>
                                            <p:cond delay="0"/>
                                          </p:stCondLst>
                                        </p:cTn>
                                        <p:tgtEl>
                                          <p:spTgt spid="223"/>
                                        </p:tgtEl>
                                        <p:attrNameLst>
                                          <p:attrName>style.visibility</p:attrName>
                                        </p:attrNameLst>
                                      </p:cBhvr>
                                      <p:to>
                                        <p:strVal val="visible"/>
                                      </p:to>
                                    </p:set>
                                    <p:animEffect transition="in" filter="fade">
                                      <p:cBhvr>
                                        <p:cTn id="666" dur="600"/>
                                        <p:tgtEl>
                                          <p:spTgt spid="223"/>
                                        </p:tgtEl>
                                      </p:cBhvr>
                                    </p:animEffect>
                                  </p:childTnLst>
                                </p:cTn>
                              </p:par>
                              <p:par>
                                <p:cTn id="667" presetID="10" presetClass="entr" presetSubtype="0" fill="hold" nodeType="withEffect">
                                  <p:stCondLst>
                                    <p:cond delay="0"/>
                                  </p:stCondLst>
                                  <p:childTnLst>
                                    <p:set>
                                      <p:cBhvr>
                                        <p:cTn id="668" dur="1" fill="hold">
                                          <p:stCondLst>
                                            <p:cond delay="0"/>
                                          </p:stCondLst>
                                        </p:cTn>
                                        <p:tgtEl>
                                          <p:spTgt spid="224"/>
                                        </p:tgtEl>
                                        <p:attrNameLst>
                                          <p:attrName>style.visibility</p:attrName>
                                        </p:attrNameLst>
                                      </p:cBhvr>
                                      <p:to>
                                        <p:strVal val="visible"/>
                                      </p:to>
                                    </p:set>
                                    <p:animEffect transition="in" filter="fade">
                                      <p:cBhvr>
                                        <p:cTn id="669" dur="600"/>
                                        <p:tgtEl>
                                          <p:spTgt spid="224"/>
                                        </p:tgtEl>
                                      </p:cBhvr>
                                    </p:animEffect>
                                  </p:childTnLst>
                                </p:cTn>
                              </p:par>
                              <p:par>
                                <p:cTn id="670" presetID="10" presetClass="entr" presetSubtype="0" fill="hold" nodeType="withEffect">
                                  <p:stCondLst>
                                    <p:cond delay="0"/>
                                  </p:stCondLst>
                                  <p:childTnLst>
                                    <p:set>
                                      <p:cBhvr>
                                        <p:cTn id="671" dur="1" fill="hold">
                                          <p:stCondLst>
                                            <p:cond delay="0"/>
                                          </p:stCondLst>
                                        </p:cTn>
                                        <p:tgtEl>
                                          <p:spTgt spid="225"/>
                                        </p:tgtEl>
                                        <p:attrNameLst>
                                          <p:attrName>style.visibility</p:attrName>
                                        </p:attrNameLst>
                                      </p:cBhvr>
                                      <p:to>
                                        <p:strVal val="visible"/>
                                      </p:to>
                                    </p:set>
                                    <p:animEffect transition="in" filter="fade">
                                      <p:cBhvr>
                                        <p:cTn id="672" dur="600"/>
                                        <p:tgtEl>
                                          <p:spTgt spid="225"/>
                                        </p:tgtEl>
                                      </p:cBhvr>
                                    </p:animEffect>
                                  </p:childTnLst>
                                </p:cTn>
                              </p:par>
                              <p:par>
                                <p:cTn id="673" presetID="10" presetClass="entr" presetSubtype="0" fill="hold" nodeType="withEffect">
                                  <p:stCondLst>
                                    <p:cond delay="0"/>
                                  </p:stCondLst>
                                  <p:childTnLst>
                                    <p:set>
                                      <p:cBhvr>
                                        <p:cTn id="674" dur="1" fill="hold">
                                          <p:stCondLst>
                                            <p:cond delay="0"/>
                                          </p:stCondLst>
                                        </p:cTn>
                                        <p:tgtEl>
                                          <p:spTgt spid="226"/>
                                        </p:tgtEl>
                                        <p:attrNameLst>
                                          <p:attrName>style.visibility</p:attrName>
                                        </p:attrNameLst>
                                      </p:cBhvr>
                                      <p:to>
                                        <p:strVal val="visible"/>
                                      </p:to>
                                    </p:set>
                                    <p:animEffect transition="in" filter="fade">
                                      <p:cBhvr>
                                        <p:cTn id="675" dur="600"/>
                                        <p:tgtEl>
                                          <p:spTgt spid="226"/>
                                        </p:tgtEl>
                                      </p:cBhvr>
                                    </p:animEffect>
                                  </p:childTnLst>
                                </p:cTn>
                              </p:par>
                              <p:par>
                                <p:cTn id="676" presetID="10" presetClass="entr" presetSubtype="0" fill="hold" nodeType="withEffect">
                                  <p:stCondLst>
                                    <p:cond delay="0"/>
                                  </p:stCondLst>
                                  <p:childTnLst>
                                    <p:set>
                                      <p:cBhvr>
                                        <p:cTn id="677" dur="1" fill="hold">
                                          <p:stCondLst>
                                            <p:cond delay="0"/>
                                          </p:stCondLst>
                                        </p:cTn>
                                        <p:tgtEl>
                                          <p:spTgt spid="227"/>
                                        </p:tgtEl>
                                        <p:attrNameLst>
                                          <p:attrName>style.visibility</p:attrName>
                                        </p:attrNameLst>
                                      </p:cBhvr>
                                      <p:to>
                                        <p:strVal val="visible"/>
                                      </p:to>
                                    </p:set>
                                    <p:animEffect transition="in" filter="fade">
                                      <p:cBhvr>
                                        <p:cTn id="678" dur="600"/>
                                        <p:tgtEl>
                                          <p:spTgt spid="227"/>
                                        </p:tgtEl>
                                      </p:cBhvr>
                                    </p:animEffect>
                                  </p:childTnLst>
                                </p:cTn>
                              </p:par>
                              <p:par>
                                <p:cTn id="679" presetID="10" presetClass="entr" presetSubtype="0" fill="hold" nodeType="withEffect">
                                  <p:stCondLst>
                                    <p:cond delay="0"/>
                                  </p:stCondLst>
                                  <p:childTnLst>
                                    <p:set>
                                      <p:cBhvr>
                                        <p:cTn id="680" dur="1" fill="hold">
                                          <p:stCondLst>
                                            <p:cond delay="0"/>
                                          </p:stCondLst>
                                        </p:cTn>
                                        <p:tgtEl>
                                          <p:spTgt spid="228"/>
                                        </p:tgtEl>
                                        <p:attrNameLst>
                                          <p:attrName>style.visibility</p:attrName>
                                        </p:attrNameLst>
                                      </p:cBhvr>
                                      <p:to>
                                        <p:strVal val="visible"/>
                                      </p:to>
                                    </p:set>
                                    <p:animEffect transition="in" filter="fade">
                                      <p:cBhvr>
                                        <p:cTn id="681" dur="600"/>
                                        <p:tgtEl>
                                          <p:spTgt spid="228"/>
                                        </p:tgtEl>
                                      </p:cBhvr>
                                    </p:animEffect>
                                  </p:childTnLst>
                                </p:cTn>
                              </p:par>
                              <p:par>
                                <p:cTn id="682" presetID="10" presetClass="entr" presetSubtype="0" fill="hold" nodeType="withEffect">
                                  <p:stCondLst>
                                    <p:cond delay="0"/>
                                  </p:stCondLst>
                                  <p:childTnLst>
                                    <p:set>
                                      <p:cBhvr>
                                        <p:cTn id="683" dur="1" fill="hold">
                                          <p:stCondLst>
                                            <p:cond delay="0"/>
                                          </p:stCondLst>
                                        </p:cTn>
                                        <p:tgtEl>
                                          <p:spTgt spid="229"/>
                                        </p:tgtEl>
                                        <p:attrNameLst>
                                          <p:attrName>style.visibility</p:attrName>
                                        </p:attrNameLst>
                                      </p:cBhvr>
                                      <p:to>
                                        <p:strVal val="visible"/>
                                      </p:to>
                                    </p:set>
                                    <p:animEffect transition="in" filter="fade">
                                      <p:cBhvr>
                                        <p:cTn id="684" dur="600"/>
                                        <p:tgtEl>
                                          <p:spTgt spid="229"/>
                                        </p:tgtEl>
                                      </p:cBhvr>
                                    </p:animEffect>
                                  </p:childTnLst>
                                </p:cTn>
                              </p:par>
                              <p:par>
                                <p:cTn id="685" presetID="10" presetClass="entr" presetSubtype="0" fill="hold" nodeType="withEffect">
                                  <p:stCondLst>
                                    <p:cond delay="0"/>
                                  </p:stCondLst>
                                  <p:childTnLst>
                                    <p:set>
                                      <p:cBhvr>
                                        <p:cTn id="686" dur="1" fill="hold">
                                          <p:stCondLst>
                                            <p:cond delay="0"/>
                                          </p:stCondLst>
                                        </p:cTn>
                                        <p:tgtEl>
                                          <p:spTgt spid="230"/>
                                        </p:tgtEl>
                                        <p:attrNameLst>
                                          <p:attrName>style.visibility</p:attrName>
                                        </p:attrNameLst>
                                      </p:cBhvr>
                                      <p:to>
                                        <p:strVal val="visible"/>
                                      </p:to>
                                    </p:set>
                                    <p:animEffect transition="in" filter="fade">
                                      <p:cBhvr>
                                        <p:cTn id="687" dur="600"/>
                                        <p:tgtEl>
                                          <p:spTgt spid="230"/>
                                        </p:tgtEl>
                                      </p:cBhvr>
                                    </p:animEffect>
                                  </p:childTnLst>
                                </p:cTn>
                              </p:par>
                              <p:par>
                                <p:cTn id="688" presetID="10" presetClass="entr" presetSubtype="0" fill="hold" nodeType="withEffect">
                                  <p:stCondLst>
                                    <p:cond delay="0"/>
                                  </p:stCondLst>
                                  <p:childTnLst>
                                    <p:set>
                                      <p:cBhvr>
                                        <p:cTn id="689" dur="1" fill="hold">
                                          <p:stCondLst>
                                            <p:cond delay="0"/>
                                          </p:stCondLst>
                                        </p:cTn>
                                        <p:tgtEl>
                                          <p:spTgt spid="231"/>
                                        </p:tgtEl>
                                        <p:attrNameLst>
                                          <p:attrName>style.visibility</p:attrName>
                                        </p:attrNameLst>
                                      </p:cBhvr>
                                      <p:to>
                                        <p:strVal val="visible"/>
                                      </p:to>
                                    </p:set>
                                    <p:animEffect transition="in" filter="fade">
                                      <p:cBhvr>
                                        <p:cTn id="690" dur="600"/>
                                        <p:tgtEl>
                                          <p:spTgt spid="231"/>
                                        </p:tgtEl>
                                      </p:cBhvr>
                                    </p:animEffect>
                                  </p:childTnLst>
                                </p:cTn>
                              </p:par>
                              <p:par>
                                <p:cTn id="691" presetID="10" presetClass="entr" presetSubtype="0" fill="hold" nodeType="withEffect">
                                  <p:stCondLst>
                                    <p:cond delay="0"/>
                                  </p:stCondLst>
                                  <p:childTnLst>
                                    <p:set>
                                      <p:cBhvr>
                                        <p:cTn id="692" dur="1" fill="hold">
                                          <p:stCondLst>
                                            <p:cond delay="0"/>
                                          </p:stCondLst>
                                        </p:cTn>
                                        <p:tgtEl>
                                          <p:spTgt spid="232"/>
                                        </p:tgtEl>
                                        <p:attrNameLst>
                                          <p:attrName>style.visibility</p:attrName>
                                        </p:attrNameLst>
                                      </p:cBhvr>
                                      <p:to>
                                        <p:strVal val="visible"/>
                                      </p:to>
                                    </p:set>
                                    <p:animEffect transition="in" filter="fade">
                                      <p:cBhvr>
                                        <p:cTn id="693" dur="600"/>
                                        <p:tgtEl>
                                          <p:spTgt spid="232"/>
                                        </p:tgtEl>
                                      </p:cBhvr>
                                    </p:animEffect>
                                  </p:childTnLst>
                                </p:cTn>
                              </p:par>
                              <p:par>
                                <p:cTn id="694" presetID="10" presetClass="entr" presetSubtype="0" fill="hold" nodeType="withEffect">
                                  <p:stCondLst>
                                    <p:cond delay="0"/>
                                  </p:stCondLst>
                                  <p:childTnLst>
                                    <p:set>
                                      <p:cBhvr>
                                        <p:cTn id="695" dur="1" fill="hold">
                                          <p:stCondLst>
                                            <p:cond delay="0"/>
                                          </p:stCondLst>
                                        </p:cTn>
                                        <p:tgtEl>
                                          <p:spTgt spid="233"/>
                                        </p:tgtEl>
                                        <p:attrNameLst>
                                          <p:attrName>style.visibility</p:attrName>
                                        </p:attrNameLst>
                                      </p:cBhvr>
                                      <p:to>
                                        <p:strVal val="visible"/>
                                      </p:to>
                                    </p:set>
                                    <p:animEffect transition="in" filter="fade">
                                      <p:cBhvr>
                                        <p:cTn id="696" dur="600"/>
                                        <p:tgtEl>
                                          <p:spTgt spid="233"/>
                                        </p:tgtEl>
                                      </p:cBhvr>
                                    </p:animEffect>
                                  </p:childTnLst>
                                </p:cTn>
                              </p:par>
                              <p:par>
                                <p:cTn id="697" presetID="10" presetClass="entr" presetSubtype="0" fill="hold" nodeType="withEffect">
                                  <p:stCondLst>
                                    <p:cond delay="0"/>
                                  </p:stCondLst>
                                  <p:childTnLst>
                                    <p:set>
                                      <p:cBhvr>
                                        <p:cTn id="698" dur="1" fill="hold">
                                          <p:stCondLst>
                                            <p:cond delay="0"/>
                                          </p:stCondLst>
                                        </p:cTn>
                                        <p:tgtEl>
                                          <p:spTgt spid="234"/>
                                        </p:tgtEl>
                                        <p:attrNameLst>
                                          <p:attrName>style.visibility</p:attrName>
                                        </p:attrNameLst>
                                      </p:cBhvr>
                                      <p:to>
                                        <p:strVal val="visible"/>
                                      </p:to>
                                    </p:set>
                                    <p:animEffect transition="in" filter="fade">
                                      <p:cBhvr>
                                        <p:cTn id="699" dur="600"/>
                                        <p:tgtEl>
                                          <p:spTgt spid="234"/>
                                        </p:tgtEl>
                                      </p:cBhvr>
                                    </p:animEffect>
                                  </p:childTnLst>
                                </p:cTn>
                              </p:par>
                              <p:par>
                                <p:cTn id="700" presetID="10" presetClass="entr" presetSubtype="0" fill="hold" nodeType="withEffect">
                                  <p:stCondLst>
                                    <p:cond delay="0"/>
                                  </p:stCondLst>
                                  <p:childTnLst>
                                    <p:set>
                                      <p:cBhvr>
                                        <p:cTn id="701" dur="1" fill="hold">
                                          <p:stCondLst>
                                            <p:cond delay="0"/>
                                          </p:stCondLst>
                                        </p:cTn>
                                        <p:tgtEl>
                                          <p:spTgt spid="235"/>
                                        </p:tgtEl>
                                        <p:attrNameLst>
                                          <p:attrName>style.visibility</p:attrName>
                                        </p:attrNameLst>
                                      </p:cBhvr>
                                      <p:to>
                                        <p:strVal val="visible"/>
                                      </p:to>
                                    </p:set>
                                    <p:animEffect transition="in" filter="fade">
                                      <p:cBhvr>
                                        <p:cTn id="702" dur="600"/>
                                        <p:tgtEl>
                                          <p:spTgt spid="235"/>
                                        </p:tgtEl>
                                      </p:cBhvr>
                                    </p:animEffect>
                                  </p:childTnLst>
                                </p:cTn>
                              </p:par>
                              <p:par>
                                <p:cTn id="703" presetID="10" presetClass="entr" presetSubtype="0" fill="hold" nodeType="withEffect">
                                  <p:stCondLst>
                                    <p:cond delay="0"/>
                                  </p:stCondLst>
                                  <p:childTnLst>
                                    <p:set>
                                      <p:cBhvr>
                                        <p:cTn id="704" dur="1" fill="hold">
                                          <p:stCondLst>
                                            <p:cond delay="0"/>
                                          </p:stCondLst>
                                        </p:cTn>
                                        <p:tgtEl>
                                          <p:spTgt spid="236"/>
                                        </p:tgtEl>
                                        <p:attrNameLst>
                                          <p:attrName>style.visibility</p:attrName>
                                        </p:attrNameLst>
                                      </p:cBhvr>
                                      <p:to>
                                        <p:strVal val="visible"/>
                                      </p:to>
                                    </p:set>
                                    <p:animEffect transition="in" filter="fade">
                                      <p:cBhvr>
                                        <p:cTn id="705" dur="600"/>
                                        <p:tgtEl>
                                          <p:spTgt spid="236"/>
                                        </p:tgtEl>
                                      </p:cBhvr>
                                    </p:animEffect>
                                  </p:childTnLst>
                                </p:cTn>
                              </p:par>
                              <p:par>
                                <p:cTn id="706" presetID="10" presetClass="entr" presetSubtype="0" fill="hold" nodeType="withEffect">
                                  <p:stCondLst>
                                    <p:cond delay="0"/>
                                  </p:stCondLst>
                                  <p:childTnLst>
                                    <p:set>
                                      <p:cBhvr>
                                        <p:cTn id="707" dur="1" fill="hold">
                                          <p:stCondLst>
                                            <p:cond delay="0"/>
                                          </p:stCondLst>
                                        </p:cTn>
                                        <p:tgtEl>
                                          <p:spTgt spid="237"/>
                                        </p:tgtEl>
                                        <p:attrNameLst>
                                          <p:attrName>style.visibility</p:attrName>
                                        </p:attrNameLst>
                                      </p:cBhvr>
                                      <p:to>
                                        <p:strVal val="visible"/>
                                      </p:to>
                                    </p:set>
                                    <p:animEffect transition="in" filter="fade">
                                      <p:cBhvr>
                                        <p:cTn id="708" dur="600"/>
                                        <p:tgtEl>
                                          <p:spTgt spid="237"/>
                                        </p:tgtEl>
                                      </p:cBhvr>
                                    </p:animEffect>
                                  </p:childTnLst>
                                </p:cTn>
                              </p:par>
                              <p:par>
                                <p:cTn id="709" presetID="10" presetClass="entr" presetSubtype="0" fill="hold" nodeType="withEffect">
                                  <p:stCondLst>
                                    <p:cond delay="0"/>
                                  </p:stCondLst>
                                  <p:childTnLst>
                                    <p:set>
                                      <p:cBhvr>
                                        <p:cTn id="710" dur="1" fill="hold">
                                          <p:stCondLst>
                                            <p:cond delay="0"/>
                                          </p:stCondLst>
                                        </p:cTn>
                                        <p:tgtEl>
                                          <p:spTgt spid="238"/>
                                        </p:tgtEl>
                                        <p:attrNameLst>
                                          <p:attrName>style.visibility</p:attrName>
                                        </p:attrNameLst>
                                      </p:cBhvr>
                                      <p:to>
                                        <p:strVal val="visible"/>
                                      </p:to>
                                    </p:set>
                                    <p:animEffect transition="in" filter="fade">
                                      <p:cBhvr>
                                        <p:cTn id="711" dur="600"/>
                                        <p:tgtEl>
                                          <p:spTgt spid="238"/>
                                        </p:tgtEl>
                                      </p:cBhvr>
                                    </p:animEffect>
                                  </p:childTnLst>
                                </p:cTn>
                              </p:par>
                              <p:par>
                                <p:cTn id="712" presetID="10" presetClass="entr" presetSubtype="0" fill="hold" nodeType="withEffect">
                                  <p:stCondLst>
                                    <p:cond delay="0"/>
                                  </p:stCondLst>
                                  <p:childTnLst>
                                    <p:set>
                                      <p:cBhvr>
                                        <p:cTn id="713" dur="1" fill="hold">
                                          <p:stCondLst>
                                            <p:cond delay="0"/>
                                          </p:stCondLst>
                                        </p:cTn>
                                        <p:tgtEl>
                                          <p:spTgt spid="239"/>
                                        </p:tgtEl>
                                        <p:attrNameLst>
                                          <p:attrName>style.visibility</p:attrName>
                                        </p:attrNameLst>
                                      </p:cBhvr>
                                      <p:to>
                                        <p:strVal val="visible"/>
                                      </p:to>
                                    </p:set>
                                    <p:animEffect transition="in" filter="fade">
                                      <p:cBhvr>
                                        <p:cTn id="714" dur="600"/>
                                        <p:tgtEl>
                                          <p:spTgt spid="239"/>
                                        </p:tgtEl>
                                      </p:cBhvr>
                                    </p:animEffect>
                                  </p:childTnLst>
                                </p:cTn>
                              </p:par>
                              <p:par>
                                <p:cTn id="715" presetID="10" presetClass="entr" presetSubtype="0" fill="hold" nodeType="withEffect">
                                  <p:stCondLst>
                                    <p:cond delay="0"/>
                                  </p:stCondLst>
                                  <p:childTnLst>
                                    <p:set>
                                      <p:cBhvr>
                                        <p:cTn id="716" dur="1" fill="hold">
                                          <p:stCondLst>
                                            <p:cond delay="0"/>
                                          </p:stCondLst>
                                        </p:cTn>
                                        <p:tgtEl>
                                          <p:spTgt spid="240"/>
                                        </p:tgtEl>
                                        <p:attrNameLst>
                                          <p:attrName>style.visibility</p:attrName>
                                        </p:attrNameLst>
                                      </p:cBhvr>
                                      <p:to>
                                        <p:strVal val="visible"/>
                                      </p:to>
                                    </p:set>
                                    <p:animEffect transition="in" filter="fade">
                                      <p:cBhvr>
                                        <p:cTn id="717" dur="600"/>
                                        <p:tgtEl>
                                          <p:spTgt spid="240"/>
                                        </p:tgtEl>
                                      </p:cBhvr>
                                    </p:animEffect>
                                  </p:childTnLst>
                                </p:cTn>
                              </p:par>
                              <p:par>
                                <p:cTn id="718" presetID="10" presetClass="entr" presetSubtype="0" fill="hold" nodeType="withEffect">
                                  <p:stCondLst>
                                    <p:cond delay="0"/>
                                  </p:stCondLst>
                                  <p:childTnLst>
                                    <p:set>
                                      <p:cBhvr>
                                        <p:cTn id="719" dur="1" fill="hold">
                                          <p:stCondLst>
                                            <p:cond delay="0"/>
                                          </p:stCondLst>
                                        </p:cTn>
                                        <p:tgtEl>
                                          <p:spTgt spid="241"/>
                                        </p:tgtEl>
                                        <p:attrNameLst>
                                          <p:attrName>style.visibility</p:attrName>
                                        </p:attrNameLst>
                                      </p:cBhvr>
                                      <p:to>
                                        <p:strVal val="visible"/>
                                      </p:to>
                                    </p:set>
                                    <p:animEffect transition="in" filter="fade">
                                      <p:cBhvr>
                                        <p:cTn id="720" dur="600"/>
                                        <p:tgtEl>
                                          <p:spTgt spid="241"/>
                                        </p:tgtEl>
                                      </p:cBhvr>
                                    </p:animEffect>
                                  </p:childTnLst>
                                </p:cTn>
                              </p:par>
                              <p:par>
                                <p:cTn id="721" presetID="10" presetClass="entr" presetSubtype="0" fill="hold" nodeType="withEffect">
                                  <p:stCondLst>
                                    <p:cond delay="0"/>
                                  </p:stCondLst>
                                  <p:childTnLst>
                                    <p:set>
                                      <p:cBhvr>
                                        <p:cTn id="722" dur="1" fill="hold">
                                          <p:stCondLst>
                                            <p:cond delay="0"/>
                                          </p:stCondLst>
                                        </p:cTn>
                                        <p:tgtEl>
                                          <p:spTgt spid="242"/>
                                        </p:tgtEl>
                                        <p:attrNameLst>
                                          <p:attrName>style.visibility</p:attrName>
                                        </p:attrNameLst>
                                      </p:cBhvr>
                                      <p:to>
                                        <p:strVal val="visible"/>
                                      </p:to>
                                    </p:set>
                                    <p:animEffect transition="in" filter="fade">
                                      <p:cBhvr>
                                        <p:cTn id="723" dur="600"/>
                                        <p:tgtEl>
                                          <p:spTgt spid="242"/>
                                        </p:tgtEl>
                                      </p:cBhvr>
                                    </p:animEffect>
                                  </p:childTnLst>
                                </p:cTn>
                              </p:par>
                              <p:par>
                                <p:cTn id="724" presetID="10" presetClass="entr" presetSubtype="0" fill="hold" nodeType="withEffect">
                                  <p:stCondLst>
                                    <p:cond delay="0"/>
                                  </p:stCondLst>
                                  <p:childTnLst>
                                    <p:set>
                                      <p:cBhvr>
                                        <p:cTn id="725" dur="1" fill="hold">
                                          <p:stCondLst>
                                            <p:cond delay="0"/>
                                          </p:stCondLst>
                                        </p:cTn>
                                        <p:tgtEl>
                                          <p:spTgt spid="243"/>
                                        </p:tgtEl>
                                        <p:attrNameLst>
                                          <p:attrName>style.visibility</p:attrName>
                                        </p:attrNameLst>
                                      </p:cBhvr>
                                      <p:to>
                                        <p:strVal val="visible"/>
                                      </p:to>
                                    </p:set>
                                    <p:animEffect transition="in" filter="fade">
                                      <p:cBhvr>
                                        <p:cTn id="726" dur="600"/>
                                        <p:tgtEl>
                                          <p:spTgt spid="243"/>
                                        </p:tgtEl>
                                      </p:cBhvr>
                                    </p:animEffect>
                                  </p:childTnLst>
                                </p:cTn>
                              </p:par>
                              <p:par>
                                <p:cTn id="727" presetID="10" presetClass="entr" presetSubtype="0" fill="hold" nodeType="withEffect">
                                  <p:stCondLst>
                                    <p:cond delay="0"/>
                                  </p:stCondLst>
                                  <p:childTnLst>
                                    <p:set>
                                      <p:cBhvr>
                                        <p:cTn id="728" dur="1" fill="hold">
                                          <p:stCondLst>
                                            <p:cond delay="0"/>
                                          </p:stCondLst>
                                        </p:cTn>
                                        <p:tgtEl>
                                          <p:spTgt spid="244"/>
                                        </p:tgtEl>
                                        <p:attrNameLst>
                                          <p:attrName>style.visibility</p:attrName>
                                        </p:attrNameLst>
                                      </p:cBhvr>
                                      <p:to>
                                        <p:strVal val="visible"/>
                                      </p:to>
                                    </p:set>
                                    <p:animEffect transition="in" filter="fade">
                                      <p:cBhvr>
                                        <p:cTn id="729" dur="600"/>
                                        <p:tgtEl>
                                          <p:spTgt spid="244"/>
                                        </p:tgtEl>
                                      </p:cBhvr>
                                    </p:animEffect>
                                  </p:childTnLst>
                                </p:cTn>
                              </p:par>
                              <p:par>
                                <p:cTn id="730" presetID="10" presetClass="entr" presetSubtype="0" fill="hold" nodeType="withEffect">
                                  <p:stCondLst>
                                    <p:cond delay="0"/>
                                  </p:stCondLst>
                                  <p:childTnLst>
                                    <p:set>
                                      <p:cBhvr>
                                        <p:cTn id="731" dur="1" fill="hold">
                                          <p:stCondLst>
                                            <p:cond delay="0"/>
                                          </p:stCondLst>
                                        </p:cTn>
                                        <p:tgtEl>
                                          <p:spTgt spid="245"/>
                                        </p:tgtEl>
                                        <p:attrNameLst>
                                          <p:attrName>style.visibility</p:attrName>
                                        </p:attrNameLst>
                                      </p:cBhvr>
                                      <p:to>
                                        <p:strVal val="visible"/>
                                      </p:to>
                                    </p:set>
                                    <p:animEffect transition="in" filter="fade">
                                      <p:cBhvr>
                                        <p:cTn id="732" dur="600"/>
                                        <p:tgtEl>
                                          <p:spTgt spid="245"/>
                                        </p:tgtEl>
                                      </p:cBhvr>
                                    </p:animEffect>
                                  </p:childTnLst>
                                </p:cTn>
                              </p:par>
                              <p:par>
                                <p:cTn id="733" presetID="10" presetClass="entr" presetSubtype="0" fill="hold" nodeType="withEffect">
                                  <p:stCondLst>
                                    <p:cond delay="0"/>
                                  </p:stCondLst>
                                  <p:childTnLst>
                                    <p:set>
                                      <p:cBhvr>
                                        <p:cTn id="734" dur="1" fill="hold">
                                          <p:stCondLst>
                                            <p:cond delay="0"/>
                                          </p:stCondLst>
                                        </p:cTn>
                                        <p:tgtEl>
                                          <p:spTgt spid="246"/>
                                        </p:tgtEl>
                                        <p:attrNameLst>
                                          <p:attrName>style.visibility</p:attrName>
                                        </p:attrNameLst>
                                      </p:cBhvr>
                                      <p:to>
                                        <p:strVal val="visible"/>
                                      </p:to>
                                    </p:set>
                                    <p:animEffect transition="in" filter="fade">
                                      <p:cBhvr>
                                        <p:cTn id="735" dur="600"/>
                                        <p:tgtEl>
                                          <p:spTgt spid="246"/>
                                        </p:tgtEl>
                                      </p:cBhvr>
                                    </p:animEffect>
                                  </p:childTnLst>
                                </p:cTn>
                              </p:par>
                              <p:par>
                                <p:cTn id="736" presetID="10" presetClass="entr" presetSubtype="0" fill="hold" nodeType="withEffect">
                                  <p:stCondLst>
                                    <p:cond delay="0"/>
                                  </p:stCondLst>
                                  <p:childTnLst>
                                    <p:set>
                                      <p:cBhvr>
                                        <p:cTn id="737" dur="1" fill="hold">
                                          <p:stCondLst>
                                            <p:cond delay="0"/>
                                          </p:stCondLst>
                                        </p:cTn>
                                        <p:tgtEl>
                                          <p:spTgt spid="247"/>
                                        </p:tgtEl>
                                        <p:attrNameLst>
                                          <p:attrName>style.visibility</p:attrName>
                                        </p:attrNameLst>
                                      </p:cBhvr>
                                      <p:to>
                                        <p:strVal val="visible"/>
                                      </p:to>
                                    </p:set>
                                    <p:animEffect transition="in" filter="fade">
                                      <p:cBhvr>
                                        <p:cTn id="738" dur="600"/>
                                        <p:tgtEl>
                                          <p:spTgt spid="247"/>
                                        </p:tgtEl>
                                      </p:cBhvr>
                                    </p:animEffect>
                                  </p:childTnLst>
                                </p:cTn>
                              </p:par>
                              <p:par>
                                <p:cTn id="739" presetID="10" presetClass="entr" presetSubtype="0" fill="hold" nodeType="withEffect">
                                  <p:stCondLst>
                                    <p:cond delay="0"/>
                                  </p:stCondLst>
                                  <p:childTnLst>
                                    <p:set>
                                      <p:cBhvr>
                                        <p:cTn id="740" dur="1" fill="hold">
                                          <p:stCondLst>
                                            <p:cond delay="0"/>
                                          </p:stCondLst>
                                        </p:cTn>
                                        <p:tgtEl>
                                          <p:spTgt spid="248"/>
                                        </p:tgtEl>
                                        <p:attrNameLst>
                                          <p:attrName>style.visibility</p:attrName>
                                        </p:attrNameLst>
                                      </p:cBhvr>
                                      <p:to>
                                        <p:strVal val="visible"/>
                                      </p:to>
                                    </p:set>
                                    <p:animEffect transition="in" filter="fade">
                                      <p:cBhvr>
                                        <p:cTn id="741" dur="600"/>
                                        <p:tgtEl>
                                          <p:spTgt spid="248"/>
                                        </p:tgtEl>
                                      </p:cBhvr>
                                    </p:animEffect>
                                  </p:childTnLst>
                                </p:cTn>
                              </p:par>
                              <p:par>
                                <p:cTn id="742" presetID="10" presetClass="entr" presetSubtype="0" fill="hold" nodeType="withEffect">
                                  <p:stCondLst>
                                    <p:cond delay="350"/>
                                  </p:stCondLst>
                                  <p:childTnLst>
                                    <p:set>
                                      <p:cBhvr>
                                        <p:cTn id="743" dur="1" fill="hold">
                                          <p:stCondLst>
                                            <p:cond delay="0"/>
                                          </p:stCondLst>
                                        </p:cTn>
                                        <p:tgtEl>
                                          <p:spTgt spid="249"/>
                                        </p:tgtEl>
                                        <p:attrNameLst>
                                          <p:attrName>style.visibility</p:attrName>
                                        </p:attrNameLst>
                                      </p:cBhvr>
                                      <p:to>
                                        <p:strVal val="visible"/>
                                      </p:to>
                                    </p:set>
                                    <p:animEffect transition="in" filter="fade">
                                      <p:cBhvr>
                                        <p:cTn id="744" dur="600"/>
                                        <p:tgtEl>
                                          <p:spTgt spid="249"/>
                                        </p:tgtEl>
                                      </p:cBhvr>
                                    </p:animEffect>
                                  </p:childTnLst>
                                </p:cTn>
                              </p:par>
                              <p:par>
                                <p:cTn id="745" presetID="10" presetClass="entr" presetSubtype="0" fill="hold" nodeType="withEffect">
                                  <p:stCondLst>
                                    <p:cond delay="350"/>
                                  </p:stCondLst>
                                  <p:childTnLst>
                                    <p:set>
                                      <p:cBhvr>
                                        <p:cTn id="746" dur="1" fill="hold">
                                          <p:stCondLst>
                                            <p:cond delay="0"/>
                                          </p:stCondLst>
                                        </p:cTn>
                                        <p:tgtEl>
                                          <p:spTgt spid="250"/>
                                        </p:tgtEl>
                                        <p:attrNameLst>
                                          <p:attrName>style.visibility</p:attrName>
                                        </p:attrNameLst>
                                      </p:cBhvr>
                                      <p:to>
                                        <p:strVal val="visible"/>
                                      </p:to>
                                    </p:set>
                                    <p:animEffect transition="in" filter="fade">
                                      <p:cBhvr>
                                        <p:cTn id="747" dur="6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آزمون‌های تشخیصی پیش از برآورد</a:t>
            </a:r>
            <a:endParaRPr lang="fa-IR" sz="3400" dirty="0"/>
          </a:p>
        </p:txBody>
      </p:sp>
      <p:sp>
        <p:nvSpPr>
          <p:cNvPr id="3" name="anim_1_828"/>
          <p:cNvSpPr/>
          <p:nvPr/>
        </p:nvSpPr>
        <p:spPr>
          <a:xfrm>
            <a:off x="6263640" y="14173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4" name="anim_1_829"/>
          <p:cNvSpPr/>
          <p:nvPr/>
        </p:nvSpPr>
        <p:spPr>
          <a:xfrm>
            <a:off x="10835640" y="1783080"/>
            <a:ext cx="685800" cy="685800"/>
          </a:xfrm>
          <a:prstGeom prst="ellipse">
            <a:avLst/>
          </a:prstGeom>
          <a:solidFill>
            <a:schemeClr val="accent1"/>
          </a:solidFill>
          <a:ln/>
        </p:spPr>
      </p:sp>
      <p:pic>
        <p:nvPicPr>
          <p:cNvPr id="5" name="anim_1_830" descr="preencoded.png">    </p:cNvPr>
          <p:cNvPicPr>
            <a:picLocks noChangeAspect="1"/>
          </p:cNvPicPr>
          <p:nvPr/>
        </p:nvPicPr>
        <p:blipFill>
          <a:blip r:embed="rId1"/>
          <a:stretch>
            <a:fillRect/>
          </a:stretch>
        </p:blipFill>
        <p:spPr>
          <a:xfrm>
            <a:off x="11000232" y="1947672"/>
            <a:ext cx="356616" cy="356616"/>
          </a:xfrm>
          <a:prstGeom prst="rect">
            <a:avLst/>
          </a:prstGeom>
        </p:spPr>
      </p:pic>
      <p:sp>
        <p:nvSpPr>
          <p:cNvPr id="6" name="anim_1_831"/>
          <p:cNvSpPr txBox="1"/>
          <p:nvPr/>
        </p:nvSpPr>
        <p:spPr>
          <a:xfrm>
            <a:off x="6400800" y="1490472"/>
            <a:ext cx="4206240" cy="457200"/>
          </a:xfrm>
          <a:prstGeom prst="rect">
            <a:avLst/>
          </a:prstGeom>
          <a:noFill/>
          <a:ln/>
        </p:spPr>
        <p:txBody>
          <a:bodyPr wrap="square" lIns="0" tIns="0" rIns="0" bIns="0" rtlCol="0" anchor="t"/>
          <a:lstStyle/>
          <a:p>
            <a:pPr rtl="1" algn="r" indent="0" marL="0">
              <a:buNone/>
            </a:pPr>
            <a:r>
              <a:rPr lang="fa-IR" altLang="en-US" sz="1800" dirty="0">
                <a:solidFill>
                  <a:schemeClr val="tx2"/>
                </a:solidFill>
                <a:latin typeface="B Titr" pitchFamily="34" charset="0"/>
                <a:ea typeface="B Titr" pitchFamily="34" charset="-122"/>
                <a:cs typeface="B Titr" pitchFamily="34" charset="-120"/>
              </a:rPr>
              <a:t>مانایی</a:t>
            </a:r>
            <a:endParaRPr lang="fa-IR" sz="1800" dirty="0"/>
          </a:p>
        </p:txBody>
      </p:sp>
      <p:sp>
        <p:nvSpPr>
          <p:cNvPr id="7" name="anim_1_832"/>
          <p:cNvSpPr txBox="1"/>
          <p:nvPr/>
        </p:nvSpPr>
        <p:spPr>
          <a:xfrm>
            <a:off x="6400800" y="1965960"/>
            <a:ext cx="4297680" cy="896112"/>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لگاریتم هزینه، اندازهٔ حسابرس، اهمیت مشتری، اندازهٔ شرکت و سال اول رابطه در تفاضل اول مانا؛ سایر متغیرها در سطح مانا</a:t>
            </a:r>
            <a:endParaRPr lang="fa-IR" sz="1600" dirty="0"/>
          </a:p>
        </p:txBody>
      </p:sp>
      <p:sp>
        <p:nvSpPr>
          <p:cNvPr id="8" name="anim_2_833"/>
          <p:cNvSpPr/>
          <p:nvPr/>
        </p:nvSpPr>
        <p:spPr>
          <a:xfrm>
            <a:off x="548640" y="14173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9" name="anim_2_834"/>
          <p:cNvSpPr/>
          <p:nvPr/>
        </p:nvSpPr>
        <p:spPr>
          <a:xfrm>
            <a:off x="5120640" y="1783080"/>
            <a:ext cx="685800" cy="685800"/>
          </a:xfrm>
          <a:prstGeom prst="ellipse">
            <a:avLst/>
          </a:prstGeom>
          <a:solidFill>
            <a:schemeClr val="accent5"/>
          </a:solidFill>
          <a:ln/>
        </p:spPr>
      </p:sp>
      <p:pic>
        <p:nvPicPr>
          <p:cNvPr id="10" name="anim_2_835" descr="preencoded.png">    </p:cNvPr>
          <p:cNvPicPr>
            <a:picLocks noChangeAspect="1"/>
          </p:cNvPicPr>
          <p:nvPr/>
        </p:nvPicPr>
        <p:blipFill>
          <a:blip r:embed="rId2"/>
          <a:stretch>
            <a:fillRect/>
          </a:stretch>
        </p:blipFill>
        <p:spPr>
          <a:xfrm>
            <a:off x="5285232" y="1947672"/>
            <a:ext cx="356616" cy="356616"/>
          </a:xfrm>
          <a:prstGeom prst="rect">
            <a:avLst/>
          </a:prstGeom>
        </p:spPr>
      </p:pic>
      <p:sp>
        <p:nvSpPr>
          <p:cNvPr id="11" name="anim_2_836"/>
          <p:cNvSpPr txBox="1"/>
          <p:nvPr/>
        </p:nvSpPr>
        <p:spPr>
          <a:xfrm>
            <a:off x="685800" y="1490472"/>
            <a:ext cx="4206240" cy="457200"/>
          </a:xfrm>
          <a:prstGeom prst="rect">
            <a:avLst/>
          </a:prstGeom>
          <a:noFill/>
          <a:ln/>
        </p:spPr>
        <p:txBody>
          <a:bodyPr wrap="square" lIns="0" tIns="0" rIns="0" bIns="0" rtlCol="0" anchor="t"/>
          <a:lstStyle/>
          <a:p>
            <a:pPr rtl="1" algn="r" indent="0" marL="0">
              <a:buNone/>
            </a:pPr>
            <a:r>
              <a:rPr lang="fa-IR" altLang="en-US" sz="1800" dirty="0">
                <a:solidFill>
                  <a:schemeClr val="tx2"/>
                </a:solidFill>
                <a:latin typeface="B Titr" pitchFamily="34" charset="0"/>
                <a:ea typeface="B Titr" pitchFamily="34" charset="-122"/>
                <a:cs typeface="B Titr" pitchFamily="34" charset="-120"/>
              </a:rPr>
              <a:t>هم‌انباشتگی (کائو)</a:t>
            </a:r>
            <a:endParaRPr lang="fa-IR" sz="1800" dirty="0"/>
          </a:p>
        </p:txBody>
      </p:sp>
      <p:sp>
        <p:nvSpPr>
          <p:cNvPr id="12" name="anim_2_837"/>
          <p:cNvSpPr txBox="1"/>
          <p:nvPr/>
        </p:nvSpPr>
        <p:spPr>
          <a:xfrm>
            <a:off x="685800" y="1965960"/>
            <a:ext cx="4297680" cy="896112"/>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احتمال 0.0011 تا 0.0186؛ رابطهٔ بلندمدت وجود دارد و رگرسیون کاذب نیست</a:t>
            </a:r>
            <a:endParaRPr lang="fa-IR" sz="1600" dirty="0"/>
          </a:p>
        </p:txBody>
      </p:sp>
      <p:sp>
        <p:nvSpPr>
          <p:cNvPr id="13" name="anim_3_838"/>
          <p:cNvSpPr/>
          <p:nvPr/>
        </p:nvSpPr>
        <p:spPr>
          <a:xfrm>
            <a:off x="6263640" y="30175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14" name="anim_3_839"/>
          <p:cNvSpPr/>
          <p:nvPr/>
        </p:nvSpPr>
        <p:spPr>
          <a:xfrm>
            <a:off x="10835640" y="3383280"/>
            <a:ext cx="685800" cy="685800"/>
          </a:xfrm>
          <a:prstGeom prst="ellipse">
            <a:avLst/>
          </a:prstGeom>
          <a:solidFill>
            <a:schemeClr val="accent2"/>
          </a:solidFill>
          <a:ln/>
        </p:spPr>
      </p:sp>
      <p:pic>
        <p:nvPicPr>
          <p:cNvPr id="15" name="anim_3_840" descr="preencoded.png">    </p:cNvPr>
          <p:cNvPicPr>
            <a:picLocks noChangeAspect="1"/>
          </p:cNvPicPr>
          <p:nvPr/>
        </p:nvPicPr>
        <p:blipFill>
          <a:blip r:embed="rId3"/>
          <a:stretch>
            <a:fillRect/>
          </a:stretch>
        </p:blipFill>
        <p:spPr>
          <a:xfrm>
            <a:off x="11000232" y="3547872"/>
            <a:ext cx="356616" cy="356616"/>
          </a:xfrm>
          <a:prstGeom prst="rect">
            <a:avLst/>
          </a:prstGeom>
        </p:spPr>
      </p:pic>
      <p:sp>
        <p:nvSpPr>
          <p:cNvPr id="16" name="anim_3_841"/>
          <p:cNvSpPr txBox="1"/>
          <p:nvPr/>
        </p:nvSpPr>
        <p:spPr>
          <a:xfrm>
            <a:off x="6400800" y="3090672"/>
            <a:ext cx="4206240" cy="457200"/>
          </a:xfrm>
          <a:prstGeom prst="rect">
            <a:avLst/>
          </a:prstGeom>
          <a:noFill/>
          <a:ln/>
        </p:spPr>
        <p:txBody>
          <a:bodyPr wrap="square" lIns="0" tIns="0" rIns="0" bIns="0" rtlCol="0" anchor="t"/>
          <a:lstStyle/>
          <a:p>
            <a:pPr rtl="1" algn="r" indent="0" marL="0">
              <a:buNone/>
            </a:pPr>
            <a:r>
              <a:rPr lang="fa-IR" altLang="en-US" sz="1800" dirty="0">
                <a:solidFill>
                  <a:schemeClr val="tx2"/>
                </a:solidFill>
                <a:latin typeface="B Titr" pitchFamily="34" charset="0"/>
                <a:ea typeface="B Titr" pitchFamily="34" charset="-122"/>
                <a:cs typeface="B Titr" pitchFamily="34" charset="-120"/>
              </a:rPr>
              <a:t>همخطی</a:t>
            </a:r>
            <a:endParaRPr lang="fa-IR" sz="1800" dirty="0"/>
          </a:p>
        </p:txBody>
      </p:sp>
      <p:sp>
        <p:nvSpPr>
          <p:cNvPr id="17" name="anim_3_842"/>
          <p:cNvSpPr txBox="1"/>
          <p:nvPr/>
        </p:nvSpPr>
        <p:spPr>
          <a:xfrm>
            <a:off x="6400800" y="3566160"/>
            <a:ext cx="4297680" cy="896112"/>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بیشینهٔ عامل تورم واریانس 2.333 و کمتر از 5 است</a:t>
            </a:r>
            <a:endParaRPr lang="fa-IR" sz="1600" dirty="0"/>
          </a:p>
        </p:txBody>
      </p:sp>
      <p:sp>
        <p:nvSpPr>
          <p:cNvPr id="18" name="anim_4_843"/>
          <p:cNvSpPr/>
          <p:nvPr/>
        </p:nvSpPr>
        <p:spPr>
          <a:xfrm>
            <a:off x="548640" y="30175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19" name="anim_4_844"/>
          <p:cNvSpPr/>
          <p:nvPr/>
        </p:nvSpPr>
        <p:spPr>
          <a:xfrm>
            <a:off x="5120640" y="3383280"/>
            <a:ext cx="685800" cy="685800"/>
          </a:xfrm>
          <a:prstGeom prst="ellipse">
            <a:avLst/>
          </a:prstGeom>
          <a:solidFill>
            <a:schemeClr val="accent4"/>
          </a:solidFill>
          <a:ln/>
        </p:spPr>
      </p:sp>
      <p:pic>
        <p:nvPicPr>
          <p:cNvPr id="20" name="anim_4_845" descr="preencoded.png">    </p:cNvPr>
          <p:cNvPicPr>
            <a:picLocks noChangeAspect="1"/>
          </p:cNvPicPr>
          <p:nvPr/>
        </p:nvPicPr>
        <p:blipFill>
          <a:blip r:embed="rId4"/>
          <a:stretch>
            <a:fillRect/>
          </a:stretch>
        </p:blipFill>
        <p:spPr>
          <a:xfrm>
            <a:off x="5285232" y="3547872"/>
            <a:ext cx="356616" cy="356616"/>
          </a:xfrm>
          <a:prstGeom prst="rect">
            <a:avLst/>
          </a:prstGeom>
        </p:spPr>
      </p:pic>
      <p:sp>
        <p:nvSpPr>
          <p:cNvPr id="21" name="anim_4_846"/>
          <p:cNvSpPr txBox="1"/>
          <p:nvPr/>
        </p:nvSpPr>
        <p:spPr>
          <a:xfrm>
            <a:off x="685800" y="3090672"/>
            <a:ext cx="4206240" cy="457200"/>
          </a:xfrm>
          <a:prstGeom prst="rect">
            <a:avLst/>
          </a:prstGeom>
          <a:noFill/>
          <a:ln/>
        </p:spPr>
        <p:txBody>
          <a:bodyPr wrap="square" lIns="0" tIns="0" rIns="0" bIns="0" rtlCol="0" anchor="t"/>
          <a:lstStyle/>
          <a:p>
            <a:pPr rtl="1" algn="r" indent="0" marL="0">
              <a:buNone/>
            </a:pPr>
            <a:r>
              <a:rPr lang="fa-IR" altLang="en-US" sz="1800" dirty="0">
                <a:solidFill>
                  <a:schemeClr val="tx2"/>
                </a:solidFill>
                <a:latin typeface="B Titr" pitchFamily="34" charset="0"/>
                <a:ea typeface="B Titr" pitchFamily="34" charset="-122"/>
                <a:cs typeface="B Titr" pitchFamily="34" charset="-120"/>
              </a:rPr>
              <a:t>وایت و بروش-گادفری</a:t>
            </a:r>
            <a:endParaRPr lang="fa-IR" sz="1800" dirty="0"/>
          </a:p>
        </p:txBody>
      </p:sp>
      <p:sp>
        <p:nvSpPr>
          <p:cNvPr id="22" name="anim_4_847"/>
          <p:cNvSpPr txBox="1"/>
          <p:nvPr/>
        </p:nvSpPr>
        <p:spPr>
          <a:xfrm>
            <a:off x="685800" y="3566160"/>
            <a:ext cx="4297680" cy="896112"/>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احتمال بیش از 0.05؛ ناهمسانی واریانس و خودهمبستگی وجود ندارد</a:t>
            </a:r>
            <a:endParaRPr lang="fa-IR" sz="1600" dirty="0"/>
          </a:p>
        </p:txBody>
      </p:sp>
      <p:sp>
        <p:nvSpPr>
          <p:cNvPr id="23" name="anim_5_848"/>
          <p:cNvSpPr/>
          <p:nvPr/>
        </p:nvSpPr>
        <p:spPr>
          <a:xfrm>
            <a:off x="6263640" y="46177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24" name="anim_5_849"/>
          <p:cNvSpPr/>
          <p:nvPr/>
        </p:nvSpPr>
        <p:spPr>
          <a:xfrm>
            <a:off x="10835640" y="4983480"/>
            <a:ext cx="685800" cy="685800"/>
          </a:xfrm>
          <a:prstGeom prst="ellipse">
            <a:avLst/>
          </a:prstGeom>
          <a:solidFill>
            <a:schemeClr val="accent1"/>
          </a:solidFill>
          <a:ln/>
        </p:spPr>
      </p:sp>
      <p:pic>
        <p:nvPicPr>
          <p:cNvPr id="25" name="anim_5_850" descr="preencoded.png">    </p:cNvPr>
          <p:cNvPicPr>
            <a:picLocks noChangeAspect="1"/>
          </p:cNvPicPr>
          <p:nvPr/>
        </p:nvPicPr>
        <p:blipFill>
          <a:blip r:embed="rId5"/>
          <a:stretch>
            <a:fillRect/>
          </a:stretch>
        </p:blipFill>
        <p:spPr>
          <a:xfrm>
            <a:off x="11000232" y="5148072"/>
            <a:ext cx="356616" cy="356616"/>
          </a:xfrm>
          <a:prstGeom prst="rect">
            <a:avLst/>
          </a:prstGeom>
        </p:spPr>
      </p:pic>
      <p:sp>
        <p:nvSpPr>
          <p:cNvPr id="26" name="anim_5_851"/>
          <p:cNvSpPr txBox="1"/>
          <p:nvPr/>
        </p:nvSpPr>
        <p:spPr>
          <a:xfrm>
            <a:off x="6400800" y="4690872"/>
            <a:ext cx="4206240" cy="457200"/>
          </a:xfrm>
          <a:prstGeom prst="rect">
            <a:avLst/>
          </a:prstGeom>
          <a:noFill/>
          <a:ln/>
        </p:spPr>
        <p:txBody>
          <a:bodyPr wrap="square" lIns="0" tIns="0" rIns="0" bIns="0" rtlCol="0" anchor="t"/>
          <a:lstStyle/>
          <a:p>
            <a:pPr rtl="1" algn="r" indent="0" marL="0">
              <a:buNone/>
            </a:pPr>
            <a:r>
              <a:rPr lang="fa-IR" altLang="en-US" sz="1800" dirty="0">
                <a:solidFill>
                  <a:schemeClr val="tx2"/>
                </a:solidFill>
                <a:latin typeface="B Titr" pitchFamily="34" charset="0"/>
                <a:ea typeface="B Titr" pitchFamily="34" charset="-122"/>
                <a:cs typeface="B Titr" pitchFamily="34" charset="-120"/>
              </a:rPr>
              <a:t>F لیمر</a:t>
            </a:r>
            <a:endParaRPr lang="fa-IR" sz="1800" dirty="0"/>
          </a:p>
        </p:txBody>
      </p:sp>
      <p:sp>
        <p:nvSpPr>
          <p:cNvPr id="27" name="anim_5_852"/>
          <p:cNvSpPr txBox="1"/>
          <p:nvPr/>
        </p:nvSpPr>
        <p:spPr>
          <a:xfrm>
            <a:off x="6400800" y="5166360"/>
            <a:ext cx="4297680" cy="896112"/>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احتمال 0.0000؛ مدل پانل به‌جای تجمیعی</a:t>
            </a:r>
            <a:endParaRPr lang="fa-IR" sz="1600" dirty="0"/>
          </a:p>
        </p:txBody>
      </p:sp>
      <p:sp>
        <p:nvSpPr>
          <p:cNvPr id="28" name="anim_6_853"/>
          <p:cNvSpPr/>
          <p:nvPr/>
        </p:nvSpPr>
        <p:spPr>
          <a:xfrm>
            <a:off x="548640" y="4617720"/>
            <a:ext cx="544068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29" name="anim_6_854"/>
          <p:cNvSpPr/>
          <p:nvPr/>
        </p:nvSpPr>
        <p:spPr>
          <a:xfrm>
            <a:off x="5120640" y="4983480"/>
            <a:ext cx="685800" cy="685800"/>
          </a:xfrm>
          <a:prstGeom prst="ellipse">
            <a:avLst/>
          </a:prstGeom>
          <a:solidFill>
            <a:schemeClr val="accent5"/>
          </a:solidFill>
          <a:ln/>
        </p:spPr>
      </p:sp>
      <p:pic>
        <p:nvPicPr>
          <p:cNvPr id="30" name="anim_6_855" descr="preencoded.png">    </p:cNvPr>
          <p:cNvPicPr>
            <a:picLocks noChangeAspect="1"/>
          </p:cNvPicPr>
          <p:nvPr/>
        </p:nvPicPr>
        <p:blipFill>
          <a:blip r:embed="rId6"/>
          <a:stretch>
            <a:fillRect/>
          </a:stretch>
        </p:blipFill>
        <p:spPr>
          <a:xfrm>
            <a:off x="5285232" y="5148072"/>
            <a:ext cx="356616" cy="356616"/>
          </a:xfrm>
          <a:prstGeom prst="rect">
            <a:avLst/>
          </a:prstGeom>
        </p:spPr>
      </p:pic>
      <p:sp>
        <p:nvSpPr>
          <p:cNvPr id="31" name="anim_6_856"/>
          <p:cNvSpPr txBox="1"/>
          <p:nvPr/>
        </p:nvSpPr>
        <p:spPr>
          <a:xfrm>
            <a:off x="685800" y="4690872"/>
            <a:ext cx="4206240" cy="457200"/>
          </a:xfrm>
          <a:prstGeom prst="rect">
            <a:avLst/>
          </a:prstGeom>
          <a:noFill/>
          <a:ln/>
        </p:spPr>
        <p:txBody>
          <a:bodyPr wrap="square" lIns="0" tIns="0" rIns="0" bIns="0" rtlCol="0" anchor="t"/>
          <a:lstStyle/>
          <a:p>
            <a:pPr rtl="1" algn="r" indent="0" marL="0">
              <a:buNone/>
            </a:pPr>
            <a:r>
              <a:rPr lang="fa-IR" altLang="en-US" sz="1800" dirty="0">
                <a:solidFill>
                  <a:schemeClr val="tx2"/>
                </a:solidFill>
                <a:latin typeface="B Titr" pitchFamily="34" charset="0"/>
                <a:ea typeface="B Titr" pitchFamily="34" charset="-122"/>
                <a:cs typeface="B Titr" pitchFamily="34" charset="-120"/>
              </a:rPr>
              <a:t>هاسمن</a:t>
            </a:r>
            <a:endParaRPr lang="fa-IR" sz="1800" dirty="0"/>
          </a:p>
        </p:txBody>
      </p:sp>
      <p:sp>
        <p:nvSpPr>
          <p:cNvPr id="32" name="anim_6_857"/>
          <p:cNvSpPr txBox="1"/>
          <p:nvPr/>
        </p:nvSpPr>
        <p:spPr>
          <a:xfrm>
            <a:off x="685800" y="5166360"/>
            <a:ext cx="4297680" cy="896112"/>
          </a:xfrm>
          <a:prstGeom prst="rect">
            <a:avLst/>
          </a:prstGeom>
          <a:noFill/>
          <a:ln/>
        </p:spPr>
        <p:txBody>
          <a:bodyPr wrap="square" lIns="0" tIns="0" rIns="0" bIns="0" rtlCol="0" anchor="t"/>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احتمال کمتر از 0.05؛ اثرات ثابت مناسب‌تر است</a:t>
            </a:r>
            <a:endParaRPr lang="fa-IR" sz="16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19</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7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7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0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0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0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10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10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14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14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14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140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14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17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17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17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17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17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نتیجهٔ فرضیهٔ اول: خدمات غیرحسابرسی و کاهش هزینه</a:t>
            </a:r>
            <a:endParaRPr lang="fa-IR" sz="3400" dirty="0"/>
          </a:p>
        </p:txBody>
      </p:sp>
      <p:sp>
        <p:nvSpPr>
          <p:cNvPr id="3" name="anim_1_858"/>
          <p:cNvSpPr/>
          <p:nvPr/>
        </p:nvSpPr>
        <p:spPr>
          <a:xfrm>
            <a:off x="548640" y="1234440"/>
            <a:ext cx="11091672" cy="731520"/>
          </a:xfrm>
          <a:prstGeom prst="roundRect">
            <a:avLst>
              <a:gd name="adj" fmla="val 15000"/>
            </a:avLst>
          </a:prstGeom>
          <a:solidFill>
            <a:schemeClr val="tx2"/>
          </a:solidFill>
          <a:ln/>
          <a:effectLst>
            <a:outerShdw sx="100000" sy="100000" kx="0" ky="0" algn="bl" rotWithShape="0" blurRad="101600" dist="25400" dir="5400000">
              <a:srgbClr val="000000">
                <a:alpha val="12000"/>
              </a:srgbClr>
            </a:outerShdw>
          </a:effectLst>
        </p:spPr>
      </p:sp>
      <p:sp>
        <p:nvSpPr>
          <p:cNvPr id="4" name="anim_1_859"/>
          <p:cNvSpPr txBox="1"/>
          <p:nvPr/>
        </p:nvSpPr>
        <p:spPr>
          <a:xfrm>
            <a:off x="2286000" y="1252728"/>
            <a:ext cx="9171432" cy="694944"/>
          </a:xfrm>
          <a:prstGeom prst="rect">
            <a:avLst/>
          </a:prstGeom>
          <a:noFill/>
          <a:ln/>
        </p:spPr>
        <p:txBody>
          <a:bodyPr wrap="square" lIns="0" tIns="0" rIns="0" bIns="0" rtlCol="0" anchor="ctr"/>
          <a:lstStyle/>
          <a:p>
            <a:pPr rtl="1" algn="r" indent="0" marL="0">
              <a:buNone/>
            </a:pPr>
            <a:r>
              <a:rPr lang="fa-IR" altLang="en-US" sz="1800" dirty="0">
                <a:solidFill>
                  <a:schemeClr val="bg1"/>
                </a:solidFill>
                <a:latin typeface="B Nazanin" pitchFamily="34" charset="0"/>
                <a:ea typeface="B Nazanin" pitchFamily="34" charset="-122"/>
                <a:cs typeface="B Nazanin" pitchFamily="34" charset="-120"/>
              </a:rPr>
              <a:t>کاهش هزینهٔ حسابرسی در سال اول با سطح حق‌الزحمه‌های غیرحسابرسی رابطهٔ معناداری ندارد</a:t>
            </a:r>
            <a:endParaRPr lang="fa-IR" sz="1800" dirty="0"/>
          </a:p>
        </p:txBody>
      </p:sp>
      <p:sp>
        <p:nvSpPr>
          <p:cNvPr id="5" name="anim_1_860"/>
          <p:cNvSpPr/>
          <p:nvPr/>
        </p:nvSpPr>
        <p:spPr>
          <a:xfrm>
            <a:off x="731520" y="1344168"/>
            <a:ext cx="1371600" cy="512064"/>
          </a:xfrm>
          <a:prstGeom prst="roundRect">
            <a:avLst>
              <a:gd name="adj" fmla="val 21429"/>
            </a:avLst>
          </a:prstGeom>
          <a:solidFill>
            <a:schemeClr val="accent4"/>
          </a:solidFill>
          <a:ln/>
        </p:spPr>
      </p:sp>
      <p:sp>
        <p:nvSpPr>
          <p:cNvPr id="6" name="anim_1_861"/>
          <p:cNvSpPr txBox="1"/>
          <p:nvPr/>
        </p:nvSpPr>
        <p:spPr>
          <a:xfrm>
            <a:off x="731520" y="1344168"/>
            <a:ext cx="1371600" cy="512064"/>
          </a:xfrm>
          <a:prstGeom prst="rect">
            <a:avLst/>
          </a:prstGeom>
          <a:noFill/>
          <a:ln/>
        </p:spPr>
        <p:txBody>
          <a:bodyPr wrap="square" lIns="0" tIns="0" rIns="0" bIns="0" rtlCol="0" anchor="ctr"/>
          <a:lstStyle/>
          <a:p>
            <a:pPr rtl="1" algn="ctr" indent="0" marL="0">
              <a:buNone/>
            </a:pPr>
            <a:r>
              <a:rPr lang="fa-IR" altLang="en-US" sz="2000" dirty="0">
                <a:solidFill>
                  <a:schemeClr val="bg1"/>
                </a:solidFill>
                <a:latin typeface="B Titr" pitchFamily="34" charset="0"/>
                <a:ea typeface="B Titr" pitchFamily="34" charset="-122"/>
                <a:cs typeface="B Titr" pitchFamily="34" charset="-120"/>
              </a:rPr>
              <a:t>تأیید</a:t>
            </a:r>
            <a:endParaRPr lang="fa-IR" sz="2000" dirty="0"/>
          </a:p>
        </p:txBody>
      </p:sp>
      <p:sp>
        <p:nvSpPr>
          <p:cNvPr id="7" name="anim_2_862"/>
          <p:cNvSpPr/>
          <p:nvPr/>
        </p:nvSpPr>
        <p:spPr>
          <a:xfrm>
            <a:off x="4663440" y="2084832"/>
            <a:ext cx="1828800" cy="310896"/>
          </a:xfrm>
          <a:prstGeom prst="rect">
            <a:avLst/>
          </a:prstGeom>
          <a:solidFill>
            <a:schemeClr val="tx2"/>
          </a:solidFill>
          <a:ln w="9525">
            <a:solidFill>
              <a:srgbClr val="C9D3DF"/>
            </a:solidFill>
            <a:prstDash val="solid"/>
          </a:ln>
        </p:spPr>
      </p:sp>
      <p:sp>
        <p:nvSpPr>
          <p:cNvPr id="8" name="anim_2_863"/>
          <p:cNvSpPr txBox="1"/>
          <p:nvPr/>
        </p:nvSpPr>
        <p:spPr>
          <a:xfrm>
            <a:off x="4700016" y="2084832"/>
            <a:ext cx="17556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متغیر</a:t>
            </a:r>
            <a:endParaRPr lang="fa-IR" sz="1300" dirty="0"/>
          </a:p>
        </p:txBody>
      </p:sp>
      <p:sp>
        <p:nvSpPr>
          <p:cNvPr id="9" name="anim_2_864"/>
          <p:cNvSpPr/>
          <p:nvPr/>
        </p:nvSpPr>
        <p:spPr>
          <a:xfrm>
            <a:off x="3657600" y="2084832"/>
            <a:ext cx="1005840" cy="310896"/>
          </a:xfrm>
          <a:prstGeom prst="rect">
            <a:avLst/>
          </a:prstGeom>
          <a:solidFill>
            <a:schemeClr val="tx2"/>
          </a:solidFill>
          <a:ln w="9525">
            <a:solidFill>
              <a:srgbClr val="C9D3DF"/>
            </a:solidFill>
            <a:prstDash val="solid"/>
          </a:ln>
        </p:spPr>
      </p:sp>
      <p:sp>
        <p:nvSpPr>
          <p:cNvPr id="10" name="anim_2_865"/>
          <p:cNvSpPr txBox="1"/>
          <p:nvPr/>
        </p:nvSpPr>
        <p:spPr>
          <a:xfrm>
            <a:off x="369417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ضریب</a:t>
            </a:r>
            <a:endParaRPr lang="fa-IR" sz="1300" dirty="0"/>
          </a:p>
        </p:txBody>
      </p:sp>
      <p:sp>
        <p:nvSpPr>
          <p:cNvPr id="11" name="anim_2_866"/>
          <p:cNvSpPr/>
          <p:nvPr/>
        </p:nvSpPr>
        <p:spPr>
          <a:xfrm>
            <a:off x="2468880" y="2084832"/>
            <a:ext cx="1188720" cy="310896"/>
          </a:xfrm>
          <a:prstGeom prst="rect">
            <a:avLst/>
          </a:prstGeom>
          <a:solidFill>
            <a:schemeClr val="tx2"/>
          </a:solidFill>
          <a:ln w="9525">
            <a:solidFill>
              <a:srgbClr val="C9D3DF"/>
            </a:solidFill>
            <a:prstDash val="solid"/>
          </a:ln>
        </p:spPr>
      </p:sp>
      <p:sp>
        <p:nvSpPr>
          <p:cNvPr id="12" name="anim_2_867"/>
          <p:cNvSpPr txBox="1"/>
          <p:nvPr/>
        </p:nvSpPr>
        <p:spPr>
          <a:xfrm>
            <a:off x="2505456" y="2084832"/>
            <a:ext cx="111556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خطای معیار</a:t>
            </a:r>
            <a:endParaRPr lang="fa-IR" sz="1300" dirty="0"/>
          </a:p>
        </p:txBody>
      </p:sp>
      <p:sp>
        <p:nvSpPr>
          <p:cNvPr id="13" name="anim_2_868"/>
          <p:cNvSpPr/>
          <p:nvPr/>
        </p:nvSpPr>
        <p:spPr>
          <a:xfrm>
            <a:off x="1463040" y="2084832"/>
            <a:ext cx="1005840" cy="310896"/>
          </a:xfrm>
          <a:prstGeom prst="rect">
            <a:avLst/>
          </a:prstGeom>
          <a:solidFill>
            <a:schemeClr val="tx2"/>
          </a:solidFill>
          <a:ln w="9525">
            <a:solidFill>
              <a:srgbClr val="C9D3DF"/>
            </a:solidFill>
            <a:prstDash val="solid"/>
          </a:ln>
        </p:spPr>
      </p:sp>
      <p:sp>
        <p:nvSpPr>
          <p:cNvPr id="14" name="anim_2_869"/>
          <p:cNvSpPr txBox="1"/>
          <p:nvPr/>
        </p:nvSpPr>
        <p:spPr>
          <a:xfrm>
            <a:off x="149961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آمارهٔ t</a:t>
            </a:r>
            <a:endParaRPr lang="fa-IR" sz="1300" dirty="0"/>
          </a:p>
        </p:txBody>
      </p:sp>
      <p:sp>
        <p:nvSpPr>
          <p:cNvPr id="15" name="anim_2_870"/>
          <p:cNvSpPr/>
          <p:nvPr/>
        </p:nvSpPr>
        <p:spPr>
          <a:xfrm>
            <a:off x="548640" y="2084832"/>
            <a:ext cx="914400" cy="310896"/>
          </a:xfrm>
          <a:prstGeom prst="rect">
            <a:avLst/>
          </a:prstGeom>
          <a:solidFill>
            <a:schemeClr val="tx2"/>
          </a:solidFill>
          <a:ln w="9525">
            <a:solidFill>
              <a:srgbClr val="C9D3DF"/>
            </a:solidFill>
            <a:prstDash val="solid"/>
          </a:ln>
        </p:spPr>
      </p:sp>
      <p:sp>
        <p:nvSpPr>
          <p:cNvPr id="16" name="anim_2_871"/>
          <p:cNvSpPr txBox="1"/>
          <p:nvPr/>
        </p:nvSpPr>
        <p:spPr>
          <a:xfrm>
            <a:off x="585216" y="2084832"/>
            <a:ext cx="8412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احتمال</a:t>
            </a:r>
            <a:endParaRPr lang="fa-IR" sz="1300" dirty="0"/>
          </a:p>
        </p:txBody>
      </p:sp>
      <p:sp>
        <p:nvSpPr>
          <p:cNvPr id="17" name="anim_2_872"/>
          <p:cNvSpPr/>
          <p:nvPr/>
        </p:nvSpPr>
        <p:spPr>
          <a:xfrm>
            <a:off x="4663440" y="2395728"/>
            <a:ext cx="1828800" cy="310896"/>
          </a:xfrm>
          <a:prstGeom prst="rect">
            <a:avLst/>
          </a:prstGeom>
          <a:solidFill>
            <a:srgbClr val="FFFFFF"/>
          </a:solidFill>
          <a:ln w="9525">
            <a:solidFill>
              <a:srgbClr val="C9D3DF"/>
            </a:solidFill>
            <a:prstDash val="solid"/>
          </a:ln>
        </p:spPr>
      </p:sp>
      <p:sp>
        <p:nvSpPr>
          <p:cNvPr id="18" name="anim_2_873"/>
          <p:cNvSpPr/>
          <p:nvPr/>
        </p:nvSpPr>
        <p:spPr>
          <a:xfrm>
            <a:off x="5206594" y="2427732"/>
            <a:ext cx="742493" cy="246888"/>
          </a:xfrm>
          <a:prstGeom prst="roundRect">
            <a:avLst>
              <a:gd name="adj" fmla="val 22222"/>
            </a:avLst>
          </a:prstGeom>
          <a:solidFill>
            <a:schemeClr val="accent1"/>
          </a:solidFill>
          <a:ln/>
        </p:spPr>
      </p:sp>
      <p:sp>
        <p:nvSpPr>
          <p:cNvPr id="19" name="anim_2_874"/>
          <p:cNvSpPr txBox="1"/>
          <p:nvPr/>
        </p:nvSpPr>
        <p:spPr>
          <a:xfrm>
            <a:off x="5206594" y="2427732"/>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NASR</a:t>
            </a:r>
            <a:endParaRPr lang="en-US" sz="1100" dirty="0"/>
          </a:p>
        </p:txBody>
      </p:sp>
      <p:sp>
        <p:nvSpPr>
          <p:cNvPr id="20" name="anim_2_875"/>
          <p:cNvSpPr/>
          <p:nvPr/>
        </p:nvSpPr>
        <p:spPr>
          <a:xfrm>
            <a:off x="3657600" y="2395728"/>
            <a:ext cx="1005840" cy="310896"/>
          </a:xfrm>
          <a:prstGeom prst="rect">
            <a:avLst/>
          </a:prstGeom>
          <a:solidFill>
            <a:srgbClr val="FFFFFF"/>
          </a:solidFill>
          <a:ln w="9525">
            <a:solidFill>
              <a:srgbClr val="C9D3DF"/>
            </a:solidFill>
            <a:prstDash val="solid"/>
          </a:ln>
        </p:spPr>
      </p:sp>
      <p:sp>
        <p:nvSpPr>
          <p:cNvPr id="21" name="anim_2_876"/>
          <p:cNvSpPr txBox="1"/>
          <p:nvPr/>
        </p:nvSpPr>
        <p:spPr>
          <a:xfrm>
            <a:off x="369417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‪-0.5916‬</a:t>
            </a:r>
            <a:endParaRPr lang="fa-IR" sz="1300" dirty="0"/>
          </a:p>
        </p:txBody>
      </p:sp>
      <p:sp>
        <p:nvSpPr>
          <p:cNvPr id="22" name="anim_2_877"/>
          <p:cNvSpPr/>
          <p:nvPr/>
        </p:nvSpPr>
        <p:spPr>
          <a:xfrm>
            <a:off x="2468880" y="2395728"/>
            <a:ext cx="1188720" cy="310896"/>
          </a:xfrm>
          <a:prstGeom prst="rect">
            <a:avLst/>
          </a:prstGeom>
          <a:solidFill>
            <a:srgbClr val="FFFFFF"/>
          </a:solidFill>
          <a:ln w="9525">
            <a:solidFill>
              <a:srgbClr val="C9D3DF"/>
            </a:solidFill>
            <a:prstDash val="solid"/>
          </a:ln>
        </p:spPr>
      </p:sp>
      <p:sp>
        <p:nvSpPr>
          <p:cNvPr id="23" name="anim_2_878"/>
          <p:cNvSpPr txBox="1"/>
          <p:nvPr/>
        </p:nvSpPr>
        <p:spPr>
          <a:xfrm>
            <a:off x="2505456" y="239572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‪0.3750‬</a:t>
            </a:r>
            <a:endParaRPr lang="fa-IR" sz="1300" dirty="0"/>
          </a:p>
        </p:txBody>
      </p:sp>
      <p:sp>
        <p:nvSpPr>
          <p:cNvPr id="24" name="anim_2_879"/>
          <p:cNvSpPr/>
          <p:nvPr/>
        </p:nvSpPr>
        <p:spPr>
          <a:xfrm>
            <a:off x="1463040" y="2395728"/>
            <a:ext cx="1005840" cy="310896"/>
          </a:xfrm>
          <a:prstGeom prst="rect">
            <a:avLst/>
          </a:prstGeom>
          <a:solidFill>
            <a:srgbClr val="FFFFFF"/>
          </a:solidFill>
          <a:ln w="9525">
            <a:solidFill>
              <a:srgbClr val="C9D3DF"/>
            </a:solidFill>
            <a:prstDash val="solid"/>
          </a:ln>
        </p:spPr>
      </p:sp>
      <p:sp>
        <p:nvSpPr>
          <p:cNvPr id="25" name="anim_2_880"/>
          <p:cNvSpPr txBox="1"/>
          <p:nvPr/>
        </p:nvSpPr>
        <p:spPr>
          <a:xfrm>
            <a:off x="149961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‪-1.5776‬</a:t>
            </a:r>
            <a:endParaRPr lang="fa-IR" sz="1300" dirty="0"/>
          </a:p>
        </p:txBody>
      </p:sp>
      <p:sp>
        <p:nvSpPr>
          <p:cNvPr id="26" name="anim_2_881"/>
          <p:cNvSpPr/>
          <p:nvPr/>
        </p:nvSpPr>
        <p:spPr>
          <a:xfrm>
            <a:off x="548640" y="2395728"/>
            <a:ext cx="914400" cy="310896"/>
          </a:xfrm>
          <a:prstGeom prst="rect">
            <a:avLst/>
          </a:prstGeom>
          <a:solidFill>
            <a:srgbClr val="FFFFFF"/>
          </a:solidFill>
          <a:ln w="9525">
            <a:solidFill>
              <a:srgbClr val="C9D3DF"/>
            </a:solidFill>
            <a:prstDash val="solid"/>
          </a:ln>
        </p:spPr>
      </p:sp>
      <p:sp>
        <p:nvSpPr>
          <p:cNvPr id="27" name="anim_2_882"/>
          <p:cNvSpPr txBox="1"/>
          <p:nvPr/>
        </p:nvSpPr>
        <p:spPr>
          <a:xfrm>
            <a:off x="585216" y="239572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‪0.1151‬</a:t>
            </a:r>
            <a:endParaRPr lang="fa-IR" sz="1300" dirty="0"/>
          </a:p>
        </p:txBody>
      </p:sp>
      <p:sp>
        <p:nvSpPr>
          <p:cNvPr id="28" name="anim_2_883"/>
          <p:cNvSpPr/>
          <p:nvPr/>
        </p:nvSpPr>
        <p:spPr>
          <a:xfrm>
            <a:off x="4663440" y="2706624"/>
            <a:ext cx="1828800" cy="310896"/>
          </a:xfrm>
          <a:prstGeom prst="rect">
            <a:avLst/>
          </a:prstGeom>
          <a:solidFill>
            <a:srgbClr val="EEF3F8"/>
          </a:solidFill>
          <a:ln w="9525">
            <a:solidFill>
              <a:srgbClr val="C9D3DF"/>
            </a:solidFill>
            <a:prstDash val="solid"/>
          </a:ln>
        </p:spPr>
      </p:sp>
      <p:sp>
        <p:nvSpPr>
          <p:cNvPr id="29" name="anim_2_884"/>
          <p:cNvSpPr/>
          <p:nvPr/>
        </p:nvSpPr>
        <p:spPr>
          <a:xfrm>
            <a:off x="5206594" y="2738628"/>
            <a:ext cx="742493" cy="246888"/>
          </a:xfrm>
          <a:prstGeom prst="roundRect">
            <a:avLst>
              <a:gd name="adj" fmla="val 22222"/>
            </a:avLst>
          </a:prstGeom>
          <a:solidFill>
            <a:schemeClr val="accent1"/>
          </a:solidFill>
          <a:ln/>
        </p:spPr>
      </p:sp>
      <p:sp>
        <p:nvSpPr>
          <p:cNvPr id="30" name="anim_2_885"/>
          <p:cNvSpPr txBox="1"/>
          <p:nvPr/>
        </p:nvSpPr>
        <p:spPr>
          <a:xfrm>
            <a:off x="5206594" y="2738628"/>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SIZE</a:t>
            </a:r>
            <a:endParaRPr lang="en-US" sz="1100" dirty="0"/>
          </a:p>
        </p:txBody>
      </p:sp>
      <p:sp>
        <p:nvSpPr>
          <p:cNvPr id="31" name="anim_2_886"/>
          <p:cNvSpPr/>
          <p:nvPr/>
        </p:nvSpPr>
        <p:spPr>
          <a:xfrm>
            <a:off x="3657600" y="2706624"/>
            <a:ext cx="1005840" cy="310896"/>
          </a:xfrm>
          <a:prstGeom prst="rect">
            <a:avLst/>
          </a:prstGeom>
          <a:solidFill>
            <a:srgbClr val="EEF3F8"/>
          </a:solidFill>
          <a:ln w="9525">
            <a:solidFill>
              <a:srgbClr val="C9D3DF"/>
            </a:solidFill>
            <a:prstDash val="solid"/>
          </a:ln>
        </p:spPr>
      </p:sp>
      <p:sp>
        <p:nvSpPr>
          <p:cNvPr id="32" name="anim_2_887"/>
          <p:cNvSpPr txBox="1"/>
          <p:nvPr/>
        </p:nvSpPr>
        <p:spPr>
          <a:xfrm>
            <a:off x="369417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‪0.0907‬</a:t>
            </a:r>
            <a:endParaRPr lang="fa-IR" sz="1300" dirty="0"/>
          </a:p>
        </p:txBody>
      </p:sp>
      <p:sp>
        <p:nvSpPr>
          <p:cNvPr id="33" name="anim_2_888"/>
          <p:cNvSpPr/>
          <p:nvPr/>
        </p:nvSpPr>
        <p:spPr>
          <a:xfrm>
            <a:off x="2468880" y="2706624"/>
            <a:ext cx="1188720" cy="310896"/>
          </a:xfrm>
          <a:prstGeom prst="rect">
            <a:avLst/>
          </a:prstGeom>
          <a:solidFill>
            <a:srgbClr val="EEF3F8"/>
          </a:solidFill>
          <a:ln w="9525">
            <a:solidFill>
              <a:srgbClr val="C9D3DF"/>
            </a:solidFill>
            <a:prstDash val="solid"/>
          </a:ln>
        </p:spPr>
      </p:sp>
      <p:sp>
        <p:nvSpPr>
          <p:cNvPr id="34" name="anim_2_889"/>
          <p:cNvSpPr txBox="1"/>
          <p:nvPr/>
        </p:nvSpPr>
        <p:spPr>
          <a:xfrm>
            <a:off x="2505456" y="2706624"/>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‪0.0027‬</a:t>
            </a:r>
            <a:endParaRPr lang="fa-IR" sz="1300" dirty="0"/>
          </a:p>
        </p:txBody>
      </p:sp>
      <p:sp>
        <p:nvSpPr>
          <p:cNvPr id="35" name="anim_2_890"/>
          <p:cNvSpPr/>
          <p:nvPr/>
        </p:nvSpPr>
        <p:spPr>
          <a:xfrm>
            <a:off x="1463040" y="2706624"/>
            <a:ext cx="1005840" cy="310896"/>
          </a:xfrm>
          <a:prstGeom prst="rect">
            <a:avLst/>
          </a:prstGeom>
          <a:solidFill>
            <a:srgbClr val="EEF3F8"/>
          </a:solidFill>
          <a:ln w="9525">
            <a:solidFill>
              <a:srgbClr val="C9D3DF"/>
            </a:solidFill>
            <a:prstDash val="solid"/>
          </a:ln>
        </p:spPr>
      </p:sp>
      <p:sp>
        <p:nvSpPr>
          <p:cNvPr id="36" name="anim_2_891"/>
          <p:cNvSpPr txBox="1"/>
          <p:nvPr/>
        </p:nvSpPr>
        <p:spPr>
          <a:xfrm>
            <a:off x="149961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‪33.9358‬</a:t>
            </a:r>
            <a:endParaRPr lang="fa-IR" sz="1300" dirty="0"/>
          </a:p>
        </p:txBody>
      </p:sp>
      <p:sp>
        <p:nvSpPr>
          <p:cNvPr id="37" name="anim_2_892"/>
          <p:cNvSpPr/>
          <p:nvPr/>
        </p:nvSpPr>
        <p:spPr>
          <a:xfrm>
            <a:off x="548640" y="2706624"/>
            <a:ext cx="914400" cy="310896"/>
          </a:xfrm>
          <a:prstGeom prst="rect">
            <a:avLst/>
          </a:prstGeom>
          <a:solidFill>
            <a:srgbClr val="EEF3F8"/>
          </a:solidFill>
          <a:ln w="9525">
            <a:solidFill>
              <a:srgbClr val="C9D3DF"/>
            </a:solidFill>
            <a:prstDash val="solid"/>
          </a:ln>
        </p:spPr>
      </p:sp>
      <p:sp>
        <p:nvSpPr>
          <p:cNvPr id="38" name="anim_2_893"/>
          <p:cNvSpPr txBox="1"/>
          <p:nvPr/>
        </p:nvSpPr>
        <p:spPr>
          <a:xfrm>
            <a:off x="585216" y="2706624"/>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39" name="anim_2_894"/>
          <p:cNvSpPr/>
          <p:nvPr/>
        </p:nvSpPr>
        <p:spPr>
          <a:xfrm>
            <a:off x="4663440" y="3017520"/>
            <a:ext cx="1828800" cy="310896"/>
          </a:xfrm>
          <a:prstGeom prst="rect">
            <a:avLst/>
          </a:prstGeom>
          <a:solidFill>
            <a:srgbClr val="FFFFFF"/>
          </a:solidFill>
          <a:ln w="9525">
            <a:solidFill>
              <a:srgbClr val="C9D3DF"/>
            </a:solidFill>
            <a:prstDash val="solid"/>
          </a:ln>
        </p:spPr>
      </p:sp>
      <p:sp>
        <p:nvSpPr>
          <p:cNvPr id="40" name="anim_2_895"/>
          <p:cNvSpPr/>
          <p:nvPr/>
        </p:nvSpPr>
        <p:spPr>
          <a:xfrm>
            <a:off x="5260543" y="3049524"/>
            <a:ext cx="634594" cy="246888"/>
          </a:xfrm>
          <a:prstGeom prst="roundRect">
            <a:avLst>
              <a:gd name="adj" fmla="val 22222"/>
            </a:avLst>
          </a:prstGeom>
          <a:solidFill>
            <a:schemeClr val="accent1"/>
          </a:solidFill>
          <a:ln/>
        </p:spPr>
      </p:sp>
      <p:sp>
        <p:nvSpPr>
          <p:cNvPr id="41" name="anim_2_896"/>
          <p:cNvSpPr txBox="1"/>
          <p:nvPr/>
        </p:nvSpPr>
        <p:spPr>
          <a:xfrm>
            <a:off x="5260543" y="3049524"/>
            <a:ext cx="634594"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ROA</a:t>
            </a:r>
            <a:endParaRPr lang="en-US" sz="1100" dirty="0"/>
          </a:p>
        </p:txBody>
      </p:sp>
      <p:sp>
        <p:nvSpPr>
          <p:cNvPr id="42" name="anim_2_897"/>
          <p:cNvSpPr/>
          <p:nvPr/>
        </p:nvSpPr>
        <p:spPr>
          <a:xfrm>
            <a:off x="3657600" y="3017520"/>
            <a:ext cx="1005840" cy="310896"/>
          </a:xfrm>
          <a:prstGeom prst="rect">
            <a:avLst/>
          </a:prstGeom>
          <a:solidFill>
            <a:srgbClr val="FFFFFF"/>
          </a:solidFill>
          <a:ln w="9525">
            <a:solidFill>
              <a:srgbClr val="C9D3DF"/>
            </a:solidFill>
            <a:prstDash val="solid"/>
          </a:ln>
        </p:spPr>
      </p:sp>
      <p:sp>
        <p:nvSpPr>
          <p:cNvPr id="43" name="anim_2_898"/>
          <p:cNvSpPr txBox="1"/>
          <p:nvPr/>
        </p:nvSpPr>
        <p:spPr>
          <a:xfrm>
            <a:off x="369417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‪-0.0148‬</a:t>
            </a:r>
            <a:endParaRPr lang="fa-IR" sz="1300" dirty="0"/>
          </a:p>
        </p:txBody>
      </p:sp>
      <p:sp>
        <p:nvSpPr>
          <p:cNvPr id="44" name="anim_2_899"/>
          <p:cNvSpPr/>
          <p:nvPr/>
        </p:nvSpPr>
        <p:spPr>
          <a:xfrm>
            <a:off x="2468880" y="3017520"/>
            <a:ext cx="1188720" cy="310896"/>
          </a:xfrm>
          <a:prstGeom prst="rect">
            <a:avLst/>
          </a:prstGeom>
          <a:solidFill>
            <a:srgbClr val="FFFFFF"/>
          </a:solidFill>
          <a:ln w="9525">
            <a:solidFill>
              <a:srgbClr val="C9D3DF"/>
            </a:solidFill>
            <a:prstDash val="solid"/>
          </a:ln>
        </p:spPr>
      </p:sp>
      <p:sp>
        <p:nvSpPr>
          <p:cNvPr id="45" name="anim_2_900"/>
          <p:cNvSpPr txBox="1"/>
          <p:nvPr/>
        </p:nvSpPr>
        <p:spPr>
          <a:xfrm>
            <a:off x="2505456" y="3017520"/>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‪0.0195‬</a:t>
            </a:r>
            <a:endParaRPr lang="fa-IR" sz="1300" dirty="0"/>
          </a:p>
        </p:txBody>
      </p:sp>
      <p:sp>
        <p:nvSpPr>
          <p:cNvPr id="46" name="anim_2_901"/>
          <p:cNvSpPr/>
          <p:nvPr/>
        </p:nvSpPr>
        <p:spPr>
          <a:xfrm>
            <a:off x="1463040" y="3017520"/>
            <a:ext cx="1005840" cy="310896"/>
          </a:xfrm>
          <a:prstGeom prst="rect">
            <a:avLst/>
          </a:prstGeom>
          <a:solidFill>
            <a:srgbClr val="FFFFFF"/>
          </a:solidFill>
          <a:ln w="9525">
            <a:solidFill>
              <a:srgbClr val="C9D3DF"/>
            </a:solidFill>
            <a:prstDash val="solid"/>
          </a:ln>
        </p:spPr>
      </p:sp>
      <p:sp>
        <p:nvSpPr>
          <p:cNvPr id="47" name="anim_2_902"/>
          <p:cNvSpPr txBox="1"/>
          <p:nvPr/>
        </p:nvSpPr>
        <p:spPr>
          <a:xfrm>
            <a:off x="149961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‪-0.7590‬</a:t>
            </a:r>
            <a:endParaRPr lang="fa-IR" sz="1300" dirty="0"/>
          </a:p>
        </p:txBody>
      </p:sp>
      <p:sp>
        <p:nvSpPr>
          <p:cNvPr id="48" name="anim_2_903"/>
          <p:cNvSpPr/>
          <p:nvPr/>
        </p:nvSpPr>
        <p:spPr>
          <a:xfrm>
            <a:off x="548640" y="3017520"/>
            <a:ext cx="914400" cy="310896"/>
          </a:xfrm>
          <a:prstGeom prst="rect">
            <a:avLst/>
          </a:prstGeom>
          <a:solidFill>
            <a:srgbClr val="FFFFFF"/>
          </a:solidFill>
          <a:ln w="9525">
            <a:solidFill>
              <a:srgbClr val="C9D3DF"/>
            </a:solidFill>
            <a:prstDash val="solid"/>
          </a:ln>
        </p:spPr>
      </p:sp>
      <p:sp>
        <p:nvSpPr>
          <p:cNvPr id="49" name="anim_2_904"/>
          <p:cNvSpPr txBox="1"/>
          <p:nvPr/>
        </p:nvSpPr>
        <p:spPr>
          <a:xfrm>
            <a:off x="585216" y="3017520"/>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‪0.4481‬</a:t>
            </a:r>
            <a:endParaRPr lang="fa-IR" sz="1300" dirty="0"/>
          </a:p>
        </p:txBody>
      </p:sp>
      <p:sp>
        <p:nvSpPr>
          <p:cNvPr id="50" name="anim_2_905"/>
          <p:cNvSpPr/>
          <p:nvPr/>
        </p:nvSpPr>
        <p:spPr>
          <a:xfrm>
            <a:off x="4663440" y="3328416"/>
            <a:ext cx="1828800" cy="310896"/>
          </a:xfrm>
          <a:prstGeom prst="rect">
            <a:avLst/>
          </a:prstGeom>
          <a:solidFill>
            <a:srgbClr val="EEF3F8"/>
          </a:solidFill>
          <a:ln w="9525">
            <a:solidFill>
              <a:srgbClr val="C9D3DF"/>
            </a:solidFill>
            <a:prstDash val="solid"/>
          </a:ln>
        </p:spPr>
      </p:sp>
      <p:sp>
        <p:nvSpPr>
          <p:cNvPr id="51" name="anim_2_906"/>
          <p:cNvSpPr/>
          <p:nvPr/>
        </p:nvSpPr>
        <p:spPr>
          <a:xfrm>
            <a:off x="5098694" y="3360420"/>
            <a:ext cx="958291" cy="246888"/>
          </a:xfrm>
          <a:prstGeom prst="roundRect">
            <a:avLst>
              <a:gd name="adj" fmla="val 22222"/>
            </a:avLst>
          </a:prstGeom>
          <a:solidFill>
            <a:schemeClr val="accent1"/>
          </a:solidFill>
          <a:ln/>
        </p:spPr>
      </p:sp>
      <p:sp>
        <p:nvSpPr>
          <p:cNvPr id="52" name="anim_2_907"/>
          <p:cNvSpPr txBox="1"/>
          <p:nvPr/>
        </p:nvSpPr>
        <p:spPr>
          <a:xfrm>
            <a:off x="5098694" y="3360420"/>
            <a:ext cx="958291"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GROWTH</a:t>
            </a:r>
            <a:endParaRPr lang="en-US" sz="1100" dirty="0"/>
          </a:p>
        </p:txBody>
      </p:sp>
      <p:sp>
        <p:nvSpPr>
          <p:cNvPr id="53" name="anim_2_908"/>
          <p:cNvSpPr/>
          <p:nvPr/>
        </p:nvSpPr>
        <p:spPr>
          <a:xfrm>
            <a:off x="3657600" y="3328416"/>
            <a:ext cx="1005840" cy="310896"/>
          </a:xfrm>
          <a:prstGeom prst="rect">
            <a:avLst/>
          </a:prstGeom>
          <a:solidFill>
            <a:srgbClr val="EEF3F8"/>
          </a:solidFill>
          <a:ln w="9525">
            <a:solidFill>
              <a:srgbClr val="C9D3DF"/>
            </a:solidFill>
            <a:prstDash val="solid"/>
          </a:ln>
        </p:spPr>
      </p:sp>
      <p:sp>
        <p:nvSpPr>
          <p:cNvPr id="54" name="anim_2_909"/>
          <p:cNvSpPr txBox="1"/>
          <p:nvPr/>
        </p:nvSpPr>
        <p:spPr>
          <a:xfrm>
            <a:off x="369417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‪0.0052‬</a:t>
            </a:r>
            <a:endParaRPr lang="fa-IR" sz="1300" dirty="0"/>
          </a:p>
        </p:txBody>
      </p:sp>
      <p:sp>
        <p:nvSpPr>
          <p:cNvPr id="55" name="anim_2_910"/>
          <p:cNvSpPr/>
          <p:nvPr/>
        </p:nvSpPr>
        <p:spPr>
          <a:xfrm>
            <a:off x="2468880" y="3328416"/>
            <a:ext cx="1188720" cy="310896"/>
          </a:xfrm>
          <a:prstGeom prst="rect">
            <a:avLst/>
          </a:prstGeom>
          <a:solidFill>
            <a:srgbClr val="EEF3F8"/>
          </a:solidFill>
          <a:ln w="9525">
            <a:solidFill>
              <a:srgbClr val="C9D3DF"/>
            </a:solidFill>
            <a:prstDash val="solid"/>
          </a:ln>
        </p:spPr>
      </p:sp>
      <p:sp>
        <p:nvSpPr>
          <p:cNvPr id="56" name="anim_2_911"/>
          <p:cNvSpPr txBox="1"/>
          <p:nvPr/>
        </p:nvSpPr>
        <p:spPr>
          <a:xfrm>
            <a:off x="2505456" y="3328416"/>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‪0.0044‬</a:t>
            </a:r>
            <a:endParaRPr lang="fa-IR" sz="1300" dirty="0"/>
          </a:p>
        </p:txBody>
      </p:sp>
      <p:sp>
        <p:nvSpPr>
          <p:cNvPr id="57" name="anim_2_912"/>
          <p:cNvSpPr/>
          <p:nvPr/>
        </p:nvSpPr>
        <p:spPr>
          <a:xfrm>
            <a:off x="1463040" y="3328416"/>
            <a:ext cx="1005840" cy="310896"/>
          </a:xfrm>
          <a:prstGeom prst="rect">
            <a:avLst/>
          </a:prstGeom>
          <a:solidFill>
            <a:srgbClr val="EEF3F8"/>
          </a:solidFill>
          <a:ln w="9525">
            <a:solidFill>
              <a:srgbClr val="C9D3DF"/>
            </a:solidFill>
            <a:prstDash val="solid"/>
          </a:ln>
        </p:spPr>
      </p:sp>
      <p:sp>
        <p:nvSpPr>
          <p:cNvPr id="58" name="anim_2_913"/>
          <p:cNvSpPr txBox="1"/>
          <p:nvPr/>
        </p:nvSpPr>
        <p:spPr>
          <a:xfrm>
            <a:off x="149961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‪1.1699‬</a:t>
            </a:r>
            <a:endParaRPr lang="fa-IR" sz="1300" dirty="0"/>
          </a:p>
        </p:txBody>
      </p:sp>
      <p:sp>
        <p:nvSpPr>
          <p:cNvPr id="59" name="anim_2_914"/>
          <p:cNvSpPr/>
          <p:nvPr/>
        </p:nvSpPr>
        <p:spPr>
          <a:xfrm>
            <a:off x="548640" y="3328416"/>
            <a:ext cx="914400" cy="310896"/>
          </a:xfrm>
          <a:prstGeom prst="rect">
            <a:avLst/>
          </a:prstGeom>
          <a:solidFill>
            <a:srgbClr val="EEF3F8"/>
          </a:solidFill>
          <a:ln w="9525">
            <a:solidFill>
              <a:srgbClr val="C9D3DF"/>
            </a:solidFill>
            <a:prstDash val="solid"/>
          </a:ln>
        </p:spPr>
      </p:sp>
      <p:sp>
        <p:nvSpPr>
          <p:cNvPr id="60" name="anim_2_915"/>
          <p:cNvSpPr txBox="1"/>
          <p:nvPr/>
        </p:nvSpPr>
        <p:spPr>
          <a:xfrm>
            <a:off x="585216" y="3328416"/>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‪0.2424‬</a:t>
            </a:r>
            <a:endParaRPr lang="fa-IR" sz="1300" dirty="0"/>
          </a:p>
        </p:txBody>
      </p:sp>
      <p:sp>
        <p:nvSpPr>
          <p:cNvPr id="61" name="anim_2_916"/>
          <p:cNvSpPr/>
          <p:nvPr/>
        </p:nvSpPr>
        <p:spPr>
          <a:xfrm>
            <a:off x="4663440" y="3639312"/>
            <a:ext cx="1828800" cy="310896"/>
          </a:xfrm>
          <a:prstGeom prst="rect">
            <a:avLst/>
          </a:prstGeom>
          <a:solidFill>
            <a:srgbClr val="FFFFFF"/>
          </a:solidFill>
          <a:ln w="9525">
            <a:solidFill>
              <a:srgbClr val="C9D3DF"/>
            </a:solidFill>
            <a:prstDash val="solid"/>
          </a:ln>
        </p:spPr>
      </p:sp>
      <p:sp>
        <p:nvSpPr>
          <p:cNvPr id="62" name="anim_2_917"/>
          <p:cNvSpPr/>
          <p:nvPr/>
        </p:nvSpPr>
        <p:spPr>
          <a:xfrm>
            <a:off x="5294376" y="3671316"/>
            <a:ext cx="566928" cy="246888"/>
          </a:xfrm>
          <a:prstGeom prst="roundRect">
            <a:avLst>
              <a:gd name="adj" fmla="val 22222"/>
            </a:avLst>
          </a:prstGeom>
          <a:solidFill>
            <a:schemeClr val="accent1"/>
          </a:solidFill>
          <a:ln/>
        </p:spPr>
      </p:sp>
      <p:sp>
        <p:nvSpPr>
          <p:cNvPr id="63" name="anim_2_918"/>
          <p:cNvSpPr txBox="1"/>
          <p:nvPr/>
        </p:nvSpPr>
        <p:spPr>
          <a:xfrm>
            <a:off x="5294376" y="3671316"/>
            <a:ext cx="566928"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a:t>
            </a:r>
            <a:endParaRPr lang="en-US" sz="1100" dirty="0"/>
          </a:p>
        </p:txBody>
      </p:sp>
      <p:sp>
        <p:nvSpPr>
          <p:cNvPr id="64" name="anim_2_919"/>
          <p:cNvSpPr/>
          <p:nvPr/>
        </p:nvSpPr>
        <p:spPr>
          <a:xfrm>
            <a:off x="3657600" y="3639312"/>
            <a:ext cx="1005840" cy="310896"/>
          </a:xfrm>
          <a:prstGeom prst="rect">
            <a:avLst/>
          </a:prstGeom>
          <a:solidFill>
            <a:srgbClr val="FFFFFF"/>
          </a:solidFill>
          <a:ln w="9525">
            <a:solidFill>
              <a:srgbClr val="C9D3DF"/>
            </a:solidFill>
            <a:prstDash val="solid"/>
          </a:ln>
        </p:spPr>
      </p:sp>
      <p:sp>
        <p:nvSpPr>
          <p:cNvPr id="65" name="anim_2_920"/>
          <p:cNvSpPr txBox="1"/>
          <p:nvPr/>
        </p:nvSpPr>
        <p:spPr>
          <a:xfrm>
            <a:off x="369417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‪1.1466‬</a:t>
            </a:r>
            <a:endParaRPr lang="fa-IR" sz="1300" dirty="0"/>
          </a:p>
        </p:txBody>
      </p:sp>
      <p:sp>
        <p:nvSpPr>
          <p:cNvPr id="66" name="anim_2_921"/>
          <p:cNvSpPr/>
          <p:nvPr/>
        </p:nvSpPr>
        <p:spPr>
          <a:xfrm>
            <a:off x="2468880" y="3639312"/>
            <a:ext cx="1188720" cy="310896"/>
          </a:xfrm>
          <a:prstGeom prst="rect">
            <a:avLst/>
          </a:prstGeom>
          <a:solidFill>
            <a:srgbClr val="FFFFFF"/>
          </a:solidFill>
          <a:ln w="9525">
            <a:solidFill>
              <a:srgbClr val="C9D3DF"/>
            </a:solidFill>
            <a:prstDash val="solid"/>
          </a:ln>
        </p:spPr>
      </p:sp>
      <p:sp>
        <p:nvSpPr>
          <p:cNvPr id="67" name="anim_2_922"/>
          <p:cNvSpPr txBox="1"/>
          <p:nvPr/>
        </p:nvSpPr>
        <p:spPr>
          <a:xfrm>
            <a:off x="2505456" y="3639312"/>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‪0.0560‬</a:t>
            </a:r>
            <a:endParaRPr lang="fa-IR" sz="1300" dirty="0"/>
          </a:p>
        </p:txBody>
      </p:sp>
      <p:sp>
        <p:nvSpPr>
          <p:cNvPr id="68" name="anim_2_923"/>
          <p:cNvSpPr/>
          <p:nvPr/>
        </p:nvSpPr>
        <p:spPr>
          <a:xfrm>
            <a:off x="1463040" y="3639312"/>
            <a:ext cx="1005840" cy="310896"/>
          </a:xfrm>
          <a:prstGeom prst="rect">
            <a:avLst/>
          </a:prstGeom>
          <a:solidFill>
            <a:srgbClr val="FFFFFF"/>
          </a:solidFill>
          <a:ln w="9525">
            <a:solidFill>
              <a:srgbClr val="C9D3DF"/>
            </a:solidFill>
            <a:prstDash val="solid"/>
          </a:ln>
        </p:spPr>
      </p:sp>
      <p:sp>
        <p:nvSpPr>
          <p:cNvPr id="69" name="anim_2_924"/>
          <p:cNvSpPr txBox="1"/>
          <p:nvPr/>
        </p:nvSpPr>
        <p:spPr>
          <a:xfrm>
            <a:off x="149961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‪20.4614‬</a:t>
            </a:r>
            <a:endParaRPr lang="fa-IR" sz="1300" dirty="0"/>
          </a:p>
        </p:txBody>
      </p:sp>
      <p:sp>
        <p:nvSpPr>
          <p:cNvPr id="70" name="anim_2_925"/>
          <p:cNvSpPr/>
          <p:nvPr/>
        </p:nvSpPr>
        <p:spPr>
          <a:xfrm>
            <a:off x="548640" y="3639312"/>
            <a:ext cx="914400" cy="310896"/>
          </a:xfrm>
          <a:prstGeom prst="rect">
            <a:avLst/>
          </a:prstGeom>
          <a:solidFill>
            <a:srgbClr val="FFFFFF"/>
          </a:solidFill>
          <a:ln w="9525">
            <a:solidFill>
              <a:srgbClr val="C9D3DF"/>
            </a:solidFill>
            <a:prstDash val="solid"/>
          </a:ln>
        </p:spPr>
      </p:sp>
      <p:sp>
        <p:nvSpPr>
          <p:cNvPr id="71" name="anim_2_926"/>
          <p:cNvSpPr txBox="1"/>
          <p:nvPr/>
        </p:nvSpPr>
        <p:spPr>
          <a:xfrm>
            <a:off x="585216" y="3639312"/>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72" name="anim_3_927"/>
          <p:cNvSpPr/>
          <p:nvPr/>
        </p:nvSpPr>
        <p:spPr>
          <a:xfrm>
            <a:off x="5577840" y="4041648"/>
            <a:ext cx="914400" cy="310896"/>
          </a:xfrm>
          <a:prstGeom prst="rect">
            <a:avLst/>
          </a:prstGeom>
          <a:solidFill>
            <a:schemeClr val="tx2"/>
          </a:solidFill>
          <a:ln w="9525">
            <a:solidFill>
              <a:srgbClr val="C9D3DF"/>
            </a:solidFill>
            <a:prstDash val="solid"/>
          </a:ln>
        </p:spPr>
      </p:sp>
      <p:sp>
        <p:nvSpPr>
          <p:cNvPr id="73" name="anim_3_928"/>
          <p:cNvSpPr txBox="1"/>
          <p:nvPr/>
        </p:nvSpPr>
        <p:spPr>
          <a:xfrm>
            <a:off x="5614416" y="4041648"/>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a:t>
            </a:r>
            <a:endParaRPr lang="fa-IR" sz="1200" dirty="0"/>
          </a:p>
        </p:txBody>
      </p:sp>
      <p:sp>
        <p:nvSpPr>
          <p:cNvPr id="74" name="anim_3_929"/>
          <p:cNvSpPr/>
          <p:nvPr/>
        </p:nvSpPr>
        <p:spPr>
          <a:xfrm>
            <a:off x="4663440" y="4041648"/>
            <a:ext cx="914400" cy="310896"/>
          </a:xfrm>
          <a:prstGeom prst="rect">
            <a:avLst/>
          </a:prstGeom>
          <a:solidFill>
            <a:schemeClr val="tx2"/>
          </a:solidFill>
          <a:ln w="9525">
            <a:solidFill>
              <a:srgbClr val="C9D3DF"/>
            </a:solidFill>
            <a:prstDash val="solid"/>
          </a:ln>
        </p:spPr>
      </p:sp>
      <p:sp>
        <p:nvSpPr>
          <p:cNvPr id="75" name="anim_3_930"/>
          <p:cNvSpPr txBox="1"/>
          <p:nvPr/>
        </p:nvSpPr>
        <p:spPr>
          <a:xfrm>
            <a:off x="4700016" y="4041648"/>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 تعدیل</a:t>
            </a:r>
            <a:endParaRPr lang="fa-IR" sz="1200" dirty="0"/>
          </a:p>
        </p:txBody>
      </p:sp>
      <p:sp>
        <p:nvSpPr>
          <p:cNvPr id="76" name="anim_3_931"/>
          <p:cNvSpPr/>
          <p:nvPr/>
        </p:nvSpPr>
        <p:spPr>
          <a:xfrm>
            <a:off x="3657600" y="4041648"/>
            <a:ext cx="1005840" cy="310896"/>
          </a:xfrm>
          <a:prstGeom prst="rect">
            <a:avLst/>
          </a:prstGeom>
          <a:solidFill>
            <a:schemeClr val="tx2"/>
          </a:solidFill>
          <a:ln w="9525">
            <a:solidFill>
              <a:srgbClr val="C9D3DF"/>
            </a:solidFill>
            <a:prstDash val="solid"/>
          </a:ln>
        </p:spPr>
      </p:sp>
      <p:sp>
        <p:nvSpPr>
          <p:cNvPr id="77" name="anim_3_932"/>
          <p:cNvSpPr txBox="1"/>
          <p:nvPr/>
        </p:nvSpPr>
        <p:spPr>
          <a:xfrm>
            <a:off x="3694176" y="4041648"/>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D-W</a:t>
            </a:r>
            <a:endParaRPr lang="fa-IR" sz="1200" dirty="0"/>
          </a:p>
        </p:txBody>
      </p:sp>
      <p:sp>
        <p:nvSpPr>
          <p:cNvPr id="78" name="anim_3_933"/>
          <p:cNvSpPr/>
          <p:nvPr/>
        </p:nvSpPr>
        <p:spPr>
          <a:xfrm>
            <a:off x="2743200" y="4041648"/>
            <a:ext cx="914400" cy="310896"/>
          </a:xfrm>
          <a:prstGeom prst="rect">
            <a:avLst/>
          </a:prstGeom>
          <a:solidFill>
            <a:schemeClr val="tx2"/>
          </a:solidFill>
          <a:ln w="9525">
            <a:solidFill>
              <a:srgbClr val="C9D3DF"/>
            </a:solidFill>
            <a:prstDash val="solid"/>
          </a:ln>
        </p:spPr>
      </p:sp>
      <p:sp>
        <p:nvSpPr>
          <p:cNvPr id="79" name="anim_3_934"/>
          <p:cNvSpPr txBox="1"/>
          <p:nvPr/>
        </p:nvSpPr>
        <p:spPr>
          <a:xfrm>
            <a:off x="2779776" y="4041648"/>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آمارهٔ F</a:t>
            </a:r>
            <a:endParaRPr lang="fa-IR" sz="1200" dirty="0"/>
          </a:p>
        </p:txBody>
      </p:sp>
      <p:sp>
        <p:nvSpPr>
          <p:cNvPr id="80" name="anim_3_935"/>
          <p:cNvSpPr/>
          <p:nvPr/>
        </p:nvSpPr>
        <p:spPr>
          <a:xfrm>
            <a:off x="1737360" y="4041648"/>
            <a:ext cx="1005840" cy="310896"/>
          </a:xfrm>
          <a:prstGeom prst="rect">
            <a:avLst/>
          </a:prstGeom>
          <a:solidFill>
            <a:schemeClr val="tx2"/>
          </a:solidFill>
          <a:ln w="9525">
            <a:solidFill>
              <a:srgbClr val="C9D3DF"/>
            </a:solidFill>
            <a:prstDash val="solid"/>
          </a:ln>
        </p:spPr>
      </p:sp>
      <p:sp>
        <p:nvSpPr>
          <p:cNvPr id="81" name="anim_3_936"/>
          <p:cNvSpPr txBox="1"/>
          <p:nvPr/>
        </p:nvSpPr>
        <p:spPr>
          <a:xfrm>
            <a:off x="1773936" y="4041648"/>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Prob(F)</a:t>
            </a:r>
            <a:endParaRPr lang="fa-IR" sz="1200" dirty="0"/>
          </a:p>
        </p:txBody>
      </p:sp>
      <p:sp>
        <p:nvSpPr>
          <p:cNvPr id="82" name="anim_3_937"/>
          <p:cNvSpPr/>
          <p:nvPr/>
        </p:nvSpPr>
        <p:spPr>
          <a:xfrm>
            <a:off x="548640" y="4041648"/>
            <a:ext cx="1188720" cy="310896"/>
          </a:xfrm>
          <a:prstGeom prst="rect">
            <a:avLst/>
          </a:prstGeom>
          <a:solidFill>
            <a:schemeClr val="tx2"/>
          </a:solidFill>
          <a:ln w="9525">
            <a:solidFill>
              <a:srgbClr val="C9D3DF"/>
            </a:solidFill>
            <a:prstDash val="solid"/>
          </a:ln>
        </p:spPr>
      </p:sp>
      <p:sp>
        <p:nvSpPr>
          <p:cNvPr id="83" name="anim_3_938"/>
          <p:cNvSpPr txBox="1"/>
          <p:nvPr/>
        </p:nvSpPr>
        <p:spPr>
          <a:xfrm>
            <a:off x="585216" y="4041648"/>
            <a:ext cx="111556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مشاهده/مقطع</a:t>
            </a:r>
            <a:endParaRPr lang="fa-IR" sz="1200" dirty="0"/>
          </a:p>
        </p:txBody>
      </p:sp>
      <p:sp>
        <p:nvSpPr>
          <p:cNvPr id="84" name="anim_3_939"/>
          <p:cNvSpPr/>
          <p:nvPr/>
        </p:nvSpPr>
        <p:spPr>
          <a:xfrm>
            <a:off x="5577840" y="4352544"/>
            <a:ext cx="914400" cy="310896"/>
          </a:xfrm>
          <a:prstGeom prst="rect">
            <a:avLst/>
          </a:prstGeom>
          <a:solidFill>
            <a:srgbClr val="FFFFFF"/>
          </a:solidFill>
          <a:ln w="9525">
            <a:solidFill>
              <a:srgbClr val="C9D3DF"/>
            </a:solidFill>
            <a:prstDash val="solid"/>
          </a:ln>
        </p:spPr>
      </p:sp>
      <p:sp>
        <p:nvSpPr>
          <p:cNvPr id="85" name="anim_3_940"/>
          <p:cNvSpPr txBox="1"/>
          <p:nvPr/>
        </p:nvSpPr>
        <p:spPr>
          <a:xfrm>
            <a:off x="5614416" y="4352544"/>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‪0.1502‬</a:t>
            </a:r>
            <a:endParaRPr lang="fa-IR" sz="1200" dirty="0"/>
          </a:p>
        </p:txBody>
      </p:sp>
      <p:sp>
        <p:nvSpPr>
          <p:cNvPr id="86" name="anim_3_941"/>
          <p:cNvSpPr/>
          <p:nvPr/>
        </p:nvSpPr>
        <p:spPr>
          <a:xfrm>
            <a:off x="4663440" y="4352544"/>
            <a:ext cx="914400" cy="310896"/>
          </a:xfrm>
          <a:prstGeom prst="rect">
            <a:avLst/>
          </a:prstGeom>
          <a:solidFill>
            <a:srgbClr val="FFFFFF"/>
          </a:solidFill>
          <a:ln w="9525">
            <a:solidFill>
              <a:srgbClr val="C9D3DF"/>
            </a:solidFill>
            <a:prstDash val="solid"/>
          </a:ln>
        </p:spPr>
      </p:sp>
      <p:sp>
        <p:nvSpPr>
          <p:cNvPr id="87" name="anim_3_942"/>
          <p:cNvSpPr txBox="1"/>
          <p:nvPr/>
        </p:nvSpPr>
        <p:spPr>
          <a:xfrm>
            <a:off x="4700016" y="4352544"/>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‪0.1407‬</a:t>
            </a:r>
            <a:endParaRPr lang="fa-IR" sz="1200" dirty="0"/>
          </a:p>
        </p:txBody>
      </p:sp>
      <p:sp>
        <p:nvSpPr>
          <p:cNvPr id="88" name="anim_3_943"/>
          <p:cNvSpPr/>
          <p:nvPr/>
        </p:nvSpPr>
        <p:spPr>
          <a:xfrm>
            <a:off x="3657600" y="4352544"/>
            <a:ext cx="1005840" cy="310896"/>
          </a:xfrm>
          <a:prstGeom prst="rect">
            <a:avLst/>
          </a:prstGeom>
          <a:solidFill>
            <a:srgbClr val="FFFFFF"/>
          </a:solidFill>
          <a:ln w="9525">
            <a:solidFill>
              <a:srgbClr val="C9D3DF"/>
            </a:solidFill>
            <a:prstDash val="solid"/>
          </a:ln>
        </p:spPr>
      </p:sp>
      <p:sp>
        <p:nvSpPr>
          <p:cNvPr id="89" name="anim_3_944"/>
          <p:cNvSpPr txBox="1"/>
          <p:nvPr/>
        </p:nvSpPr>
        <p:spPr>
          <a:xfrm>
            <a:off x="3694176" y="4352544"/>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‪1.7591‬</a:t>
            </a:r>
            <a:endParaRPr lang="fa-IR" sz="1200" dirty="0"/>
          </a:p>
        </p:txBody>
      </p:sp>
      <p:sp>
        <p:nvSpPr>
          <p:cNvPr id="90" name="anim_3_945"/>
          <p:cNvSpPr/>
          <p:nvPr/>
        </p:nvSpPr>
        <p:spPr>
          <a:xfrm>
            <a:off x="2743200" y="4352544"/>
            <a:ext cx="914400" cy="310896"/>
          </a:xfrm>
          <a:prstGeom prst="rect">
            <a:avLst/>
          </a:prstGeom>
          <a:solidFill>
            <a:srgbClr val="FFFFFF"/>
          </a:solidFill>
          <a:ln w="9525">
            <a:solidFill>
              <a:srgbClr val="C9D3DF"/>
            </a:solidFill>
            <a:prstDash val="solid"/>
          </a:ln>
        </p:spPr>
      </p:sp>
      <p:sp>
        <p:nvSpPr>
          <p:cNvPr id="91" name="anim_3_946"/>
          <p:cNvSpPr txBox="1"/>
          <p:nvPr/>
        </p:nvSpPr>
        <p:spPr>
          <a:xfrm>
            <a:off x="2779776" y="4352544"/>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‪3.0271‬</a:t>
            </a:r>
            <a:endParaRPr lang="fa-IR" sz="1200" dirty="0"/>
          </a:p>
        </p:txBody>
      </p:sp>
      <p:sp>
        <p:nvSpPr>
          <p:cNvPr id="92" name="anim_3_947"/>
          <p:cNvSpPr/>
          <p:nvPr/>
        </p:nvSpPr>
        <p:spPr>
          <a:xfrm>
            <a:off x="1737360" y="4352544"/>
            <a:ext cx="1005840" cy="310896"/>
          </a:xfrm>
          <a:prstGeom prst="rect">
            <a:avLst/>
          </a:prstGeom>
          <a:solidFill>
            <a:srgbClr val="FFFFFF"/>
          </a:solidFill>
          <a:ln w="9525">
            <a:solidFill>
              <a:srgbClr val="C9D3DF"/>
            </a:solidFill>
            <a:prstDash val="solid"/>
          </a:ln>
        </p:spPr>
      </p:sp>
      <p:sp>
        <p:nvSpPr>
          <p:cNvPr id="93" name="anim_3_948"/>
          <p:cNvSpPr txBox="1"/>
          <p:nvPr/>
        </p:nvSpPr>
        <p:spPr>
          <a:xfrm>
            <a:off x="1773936" y="4352544"/>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‪0.0055‬</a:t>
            </a:r>
            <a:endParaRPr lang="fa-IR" sz="1200" dirty="0"/>
          </a:p>
        </p:txBody>
      </p:sp>
      <p:sp>
        <p:nvSpPr>
          <p:cNvPr id="94" name="anim_3_949"/>
          <p:cNvSpPr/>
          <p:nvPr/>
        </p:nvSpPr>
        <p:spPr>
          <a:xfrm>
            <a:off x="548640" y="4352544"/>
            <a:ext cx="1188720" cy="310896"/>
          </a:xfrm>
          <a:prstGeom prst="rect">
            <a:avLst/>
          </a:prstGeom>
          <a:solidFill>
            <a:srgbClr val="FFFFFF"/>
          </a:solidFill>
          <a:ln w="9525">
            <a:solidFill>
              <a:srgbClr val="C9D3DF"/>
            </a:solidFill>
            <a:prstDash val="solid"/>
          </a:ln>
        </p:spPr>
      </p:sp>
      <p:sp>
        <p:nvSpPr>
          <p:cNvPr id="95" name="anim_3_950"/>
          <p:cNvSpPr txBox="1"/>
          <p:nvPr/>
        </p:nvSpPr>
        <p:spPr>
          <a:xfrm>
            <a:off x="585216" y="4352544"/>
            <a:ext cx="111556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‪849 / 132‬</a:t>
            </a:r>
            <a:endParaRPr lang="fa-IR" sz="1200" dirty="0"/>
          </a:p>
        </p:txBody>
      </p:sp>
      <p:sp>
        <p:nvSpPr>
          <p:cNvPr id="96" name="anim_4_951"/>
          <p:cNvSpPr/>
          <p:nvPr/>
        </p:nvSpPr>
        <p:spPr>
          <a:xfrm>
            <a:off x="548640" y="4754880"/>
            <a:ext cx="5943600" cy="1554480"/>
          </a:xfrm>
          <a:prstGeom prst="roundRect">
            <a:avLst>
              <a:gd name="adj" fmla="val 7059"/>
            </a:avLst>
          </a:prstGeom>
          <a:solidFill>
            <a:schemeClr val="bg2"/>
          </a:solidFill>
          <a:ln/>
          <a:effectLst>
            <a:outerShdw sx="100000" sy="100000" kx="0" ky="0" algn="bl" rotWithShape="0" blurRad="101600" dist="25400" dir="5400000">
              <a:srgbClr val="000000">
                <a:alpha val="12000"/>
              </a:srgbClr>
            </a:outerShdw>
          </a:effectLst>
        </p:spPr>
      </p:sp>
      <p:sp>
        <p:nvSpPr>
          <p:cNvPr id="97" name="anim_4_952"/>
          <p:cNvSpPr txBox="1"/>
          <p:nvPr/>
        </p:nvSpPr>
        <p:spPr>
          <a:xfrm>
            <a:off x="731520" y="4782312"/>
            <a:ext cx="5577840" cy="1499616"/>
          </a:xfrm>
          <a:prstGeom prst="rect">
            <a:avLst/>
          </a:prstGeom>
          <a:noFill/>
          <a:ln/>
        </p:spPr>
        <p:txBody>
          <a:bodyPr wrap="square" lIns="0" tIns="0" rIns="0" bIns="0" rtlCol="0" anchor="ctr"/>
          <a:lstStyle/>
          <a:p>
            <a:pPr rtl="1" algn="r" indent="0" marL="0">
              <a:buNone/>
            </a:pPr>
            <a:r>
              <a:rPr lang="fa-IR" altLang="en-US" sz="1500" b="1" dirty="0">
                <a:solidFill>
                  <a:schemeClr val="tx2"/>
                </a:solidFill>
                <a:latin typeface="B Nazanin" pitchFamily="34" charset="0"/>
                <a:ea typeface="B Nazanin" pitchFamily="34" charset="-122"/>
                <a:cs typeface="B Nazanin" pitchFamily="34" charset="-120"/>
              </a:rPr>
              <a:t>در مدل هزینه، سهم خدمات غیرحسابرسی اثر معناداری ندارد؛ یعنی شواهدی از جبران زیان سال اول با فروش خدمات دیگر دیده نمی‌شود.</a:t>
            </a:r>
            <a:endParaRPr lang="fa-IR" sz="1500" dirty="0"/>
          </a:p>
        </p:txBody>
      </p:sp>
      <p:sp>
        <p:nvSpPr>
          <p:cNvPr id="98" name="anim_5_953"/>
          <p:cNvSpPr/>
          <p:nvPr/>
        </p:nvSpPr>
        <p:spPr>
          <a:xfrm>
            <a:off x="6720840" y="2084832"/>
            <a:ext cx="4919472" cy="3017520"/>
          </a:xfrm>
          <a:prstGeom prst="roundRect">
            <a:avLst>
              <a:gd name="adj" fmla="val 3636"/>
            </a:avLst>
          </a:prstGeom>
          <a:solidFill>
            <a:schemeClr val="bg2"/>
          </a:solidFill>
          <a:ln/>
          <a:effectLst>
            <a:outerShdw sx="100000" sy="100000" kx="0" ky="0" algn="bl" rotWithShape="0" blurRad="101600" dist="25400" dir="5400000">
              <a:srgbClr val="000000">
                <a:alpha val="12000"/>
              </a:srgbClr>
            </a:outerShdw>
          </a:effectLst>
        </p:spPr>
      </p:sp>
      <p:sp>
        <p:nvSpPr>
          <p:cNvPr id="99" name="anim_5_954"/>
          <p:cNvSpPr txBox="1"/>
          <p:nvPr/>
        </p:nvSpPr>
        <p:spPr>
          <a:xfrm>
            <a:off x="6858000" y="2130552"/>
            <a:ext cx="4663440" cy="2926080"/>
          </a:xfrm>
          <a:prstGeom prst="rect">
            <a:avLst/>
          </a:prstGeom>
          <a:noFill/>
          <a:ln/>
        </p:spPr>
        <p:txBody>
          <a:bodyPr wrap="square" lIns="0" tIns="0" rIns="0" bIns="0" rtlCol="0" anchor="t"/>
          <a:lstStyle/>
          <a:p>
            <a:pPr algn="r" indent="0" marL="0">
              <a:spcAft>
                <a:spcPts val="300"/>
              </a:spcAft>
              <a:buNone/>
            </a:pPr>
            <a:r>
              <a:rPr lang="fa-IR" altLang="en-US" sz="1600" b="1" dirty="0">
                <a:solidFill>
                  <a:schemeClr val="accent1"/>
                </a:solidFill>
                <a:latin typeface="B Nazanin" pitchFamily="34" charset="0"/>
                <a:ea typeface="B Nazanin" pitchFamily="34" charset="-122"/>
                <a:cs typeface="B Nazanin" pitchFamily="34" charset="-120"/>
              </a:rPr>
              <a:t>تفسیر نتیجه</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ضریب سهم خدمات غیرحسابرسی (0.592-) در سطح 5٪ معنادار نیست (احتمال 0.1151) و فرضیه تأیید می‌شود</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تنها اندازهٔ شرکت اثر مثبت و معنادار دارد؛ شرکت‌های بزرگ‌تر حق‌الزحمهٔ بیشتری می‌پردازند</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مدل در کل معنادار است (F = 3.027)، اما قدرت توضیحی متوسط (0.150) است؛ هدف، آزمون ضریب است نه پیش‌بینی</a:t>
            </a:r>
            <a:endParaRPr lang="fa-IR" sz="1400" dirty="0"/>
          </a:p>
        </p:txBody>
      </p:sp>
      <p:sp>
        <p:nvSpPr>
          <p:cNvPr id="100" name="anim_6_955"/>
          <p:cNvSpPr/>
          <p:nvPr/>
        </p:nvSpPr>
        <p:spPr>
          <a:xfrm>
            <a:off x="6720840" y="5193792"/>
            <a:ext cx="4919472" cy="1115568"/>
          </a:xfrm>
          <a:prstGeom prst="roundRect">
            <a:avLst>
              <a:gd name="adj" fmla="val 9836"/>
            </a:avLst>
          </a:prstGeom>
          <a:solidFill>
            <a:schemeClr val="bg2"/>
          </a:solidFill>
          <a:ln/>
          <a:effectLst>
            <a:outerShdw sx="100000" sy="100000" kx="0" ky="0" algn="bl" rotWithShape="0" blurRad="101600" dist="25400" dir="5400000">
              <a:srgbClr val="000000">
                <a:alpha val="12000"/>
              </a:srgbClr>
            </a:outerShdw>
          </a:effectLst>
        </p:spPr>
      </p:sp>
      <p:sp>
        <p:nvSpPr>
          <p:cNvPr id="101" name="anim_6_956"/>
          <p:cNvSpPr txBox="1"/>
          <p:nvPr/>
        </p:nvSpPr>
        <p:spPr>
          <a:xfrm>
            <a:off x="6858000" y="5212080"/>
            <a:ext cx="4663440" cy="1078992"/>
          </a:xfrm>
          <a:prstGeom prst="rect">
            <a:avLst/>
          </a:prstGeom>
          <a:noFill/>
          <a:ln/>
        </p:spPr>
        <p:txBody>
          <a:bodyPr wrap="square" lIns="0" tIns="0" rIns="0" bIns="0" rtlCol="0" anchor="t"/>
          <a:lstStyle/>
          <a:p>
            <a:pPr algn="r" indent="0" marL="0">
              <a:spcAft>
                <a:spcPts val="100"/>
              </a:spcAft>
              <a:buNone/>
            </a:pPr>
            <a:r>
              <a:rPr lang="fa-IR" altLang="en-US" sz="1500" b="1" dirty="0">
                <a:solidFill>
                  <a:schemeClr val="accent3"/>
                </a:solidFill>
                <a:latin typeface="B Nazanin" pitchFamily="34" charset="0"/>
                <a:ea typeface="B Nazanin" pitchFamily="34" charset="-122"/>
                <a:cs typeface="B Nazanin" pitchFamily="34" charset="-120"/>
              </a:rPr>
              <a:t>مقایسه با پیشینه</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همسو: کروب و همکاران (2014)، باروا و همکاران (2020) و نواک و نچل (2023)؛ تخفیف اولیه ابزار فروش خدمات دیگر نیست</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ناهمسو: چو و همکاران (2020) رابطهٔ معکوس معنادار یافتند</a:t>
            </a:r>
            <a:endParaRPr lang="fa-IR" sz="13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01"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3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3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3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3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3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3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3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3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3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35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35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35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35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3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3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3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3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3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3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3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35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35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35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35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35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35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35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35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35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35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35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35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35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35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35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35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35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35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3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35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35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35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35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35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35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35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35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35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35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35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35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35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35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35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35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35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70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70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70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70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70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70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70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70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70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70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70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70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70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70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70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70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70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70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70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70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70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70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70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70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105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105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140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140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par>
                                <p:cTn id="295" presetID="10" presetClass="entr" presetSubtype="0" fill="hold" nodeType="withEffect">
                                  <p:stCondLst>
                                    <p:cond delay="175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600"/>
                                        <p:tgtEl>
                                          <p:spTgt spid="100"/>
                                        </p:tgtEl>
                                      </p:cBhvr>
                                    </p:animEffect>
                                  </p:childTnLst>
                                </p:cTn>
                              </p:par>
                              <p:par>
                                <p:cTn id="298" presetID="10" presetClass="entr" presetSubtype="0" fill="hold" nodeType="withEffect">
                                  <p:stCondLst>
                                    <p:cond delay="175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6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نتیجهٔ فرضیهٔ دوم: اهمیت مشتری و اندازهٔ مؤسسه</a:t>
            </a:r>
            <a:endParaRPr lang="fa-IR" sz="3400" dirty="0"/>
          </a:p>
        </p:txBody>
      </p:sp>
      <p:sp>
        <p:nvSpPr>
          <p:cNvPr id="3" name="anim_1_957"/>
          <p:cNvSpPr/>
          <p:nvPr/>
        </p:nvSpPr>
        <p:spPr>
          <a:xfrm>
            <a:off x="548640" y="1234440"/>
            <a:ext cx="11091672" cy="731520"/>
          </a:xfrm>
          <a:prstGeom prst="roundRect">
            <a:avLst>
              <a:gd name="adj" fmla="val 15000"/>
            </a:avLst>
          </a:prstGeom>
          <a:solidFill>
            <a:schemeClr val="tx2"/>
          </a:solidFill>
          <a:ln/>
          <a:effectLst>
            <a:outerShdw sx="100000" sy="100000" kx="0" ky="0" algn="bl" rotWithShape="0" blurRad="101600" dist="25400" dir="5400000">
              <a:srgbClr val="000000">
                <a:alpha val="12000"/>
              </a:srgbClr>
            </a:outerShdw>
          </a:effectLst>
        </p:spPr>
      </p:sp>
      <p:sp>
        <p:nvSpPr>
          <p:cNvPr id="4" name="anim_1_958"/>
          <p:cNvSpPr txBox="1"/>
          <p:nvPr/>
        </p:nvSpPr>
        <p:spPr>
          <a:xfrm>
            <a:off x="2286000" y="1252728"/>
            <a:ext cx="9171432" cy="694944"/>
          </a:xfrm>
          <a:prstGeom prst="rect">
            <a:avLst/>
          </a:prstGeom>
          <a:noFill/>
          <a:ln/>
        </p:spPr>
        <p:txBody>
          <a:bodyPr wrap="square" lIns="0" tIns="0" rIns="0" bIns="0" rtlCol="0" anchor="ctr"/>
          <a:lstStyle/>
          <a:p>
            <a:pPr rtl="1" algn="r" indent="0" marL="0">
              <a:buNone/>
            </a:pPr>
            <a:r>
              <a:rPr lang="fa-IR" altLang="en-US" sz="1800" dirty="0">
                <a:solidFill>
                  <a:schemeClr val="bg1"/>
                </a:solidFill>
                <a:latin typeface="B Nazanin" pitchFamily="34" charset="0"/>
                <a:ea typeface="B Nazanin" pitchFamily="34" charset="-122"/>
                <a:cs typeface="B Nazanin" pitchFamily="34" charset="-120"/>
              </a:rPr>
              <a:t>اهمیت مشتری در مؤسسات کوچک با کاهش هزینه رابطه دارد و این رابطه در مؤسسات بزرگ ضعیف‌تر است</a:t>
            </a:r>
            <a:endParaRPr lang="fa-IR" sz="1800" dirty="0"/>
          </a:p>
        </p:txBody>
      </p:sp>
      <p:sp>
        <p:nvSpPr>
          <p:cNvPr id="5" name="anim_1_959"/>
          <p:cNvSpPr/>
          <p:nvPr/>
        </p:nvSpPr>
        <p:spPr>
          <a:xfrm>
            <a:off x="731520" y="1344168"/>
            <a:ext cx="1371600" cy="512064"/>
          </a:xfrm>
          <a:prstGeom prst="roundRect">
            <a:avLst>
              <a:gd name="adj" fmla="val 21429"/>
            </a:avLst>
          </a:prstGeom>
          <a:solidFill>
            <a:schemeClr val="accent4"/>
          </a:solidFill>
          <a:ln/>
        </p:spPr>
      </p:sp>
      <p:sp>
        <p:nvSpPr>
          <p:cNvPr id="6" name="anim_1_960"/>
          <p:cNvSpPr txBox="1"/>
          <p:nvPr/>
        </p:nvSpPr>
        <p:spPr>
          <a:xfrm>
            <a:off x="731520" y="1344168"/>
            <a:ext cx="1371600" cy="512064"/>
          </a:xfrm>
          <a:prstGeom prst="rect">
            <a:avLst/>
          </a:prstGeom>
          <a:noFill/>
          <a:ln/>
        </p:spPr>
        <p:txBody>
          <a:bodyPr wrap="square" lIns="0" tIns="0" rIns="0" bIns="0" rtlCol="0" anchor="ctr"/>
          <a:lstStyle/>
          <a:p>
            <a:pPr rtl="1" algn="ctr" indent="0" marL="0">
              <a:buNone/>
            </a:pPr>
            <a:r>
              <a:rPr lang="fa-IR" altLang="en-US" sz="2000" dirty="0">
                <a:solidFill>
                  <a:schemeClr val="bg1"/>
                </a:solidFill>
                <a:latin typeface="B Titr" pitchFamily="34" charset="0"/>
                <a:ea typeface="B Titr" pitchFamily="34" charset="-122"/>
                <a:cs typeface="B Titr" pitchFamily="34" charset="-120"/>
              </a:rPr>
              <a:t>تأیید</a:t>
            </a:r>
            <a:endParaRPr lang="fa-IR" sz="2000" dirty="0"/>
          </a:p>
        </p:txBody>
      </p:sp>
      <p:sp>
        <p:nvSpPr>
          <p:cNvPr id="7" name="anim_2_961"/>
          <p:cNvSpPr/>
          <p:nvPr/>
        </p:nvSpPr>
        <p:spPr>
          <a:xfrm>
            <a:off x="4663440" y="2084832"/>
            <a:ext cx="1828800" cy="310896"/>
          </a:xfrm>
          <a:prstGeom prst="rect">
            <a:avLst/>
          </a:prstGeom>
          <a:solidFill>
            <a:schemeClr val="tx2"/>
          </a:solidFill>
          <a:ln w="9525">
            <a:solidFill>
              <a:srgbClr val="C9D3DF"/>
            </a:solidFill>
            <a:prstDash val="solid"/>
          </a:ln>
        </p:spPr>
      </p:sp>
      <p:sp>
        <p:nvSpPr>
          <p:cNvPr id="8" name="anim_2_962"/>
          <p:cNvSpPr txBox="1"/>
          <p:nvPr/>
        </p:nvSpPr>
        <p:spPr>
          <a:xfrm>
            <a:off x="4700016" y="2084832"/>
            <a:ext cx="17556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متغیر</a:t>
            </a:r>
            <a:endParaRPr lang="fa-IR" sz="1300" dirty="0"/>
          </a:p>
        </p:txBody>
      </p:sp>
      <p:sp>
        <p:nvSpPr>
          <p:cNvPr id="9" name="anim_2_963"/>
          <p:cNvSpPr/>
          <p:nvPr/>
        </p:nvSpPr>
        <p:spPr>
          <a:xfrm>
            <a:off x="3657600" y="2084832"/>
            <a:ext cx="1005840" cy="310896"/>
          </a:xfrm>
          <a:prstGeom prst="rect">
            <a:avLst/>
          </a:prstGeom>
          <a:solidFill>
            <a:schemeClr val="tx2"/>
          </a:solidFill>
          <a:ln w="9525">
            <a:solidFill>
              <a:srgbClr val="C9D3DF"/>
            </a:solidFill>
            <a:prstDash val="solid"/>
          </a:ln>
        </p:spPr>
      </p:sp>
      <p:sp>
        <p:nvSpPr>
          <p:cNvPr id="10" name="anim_2_964"/>
          <p:cNvSpPr txBox="1"/>
          <p:nvPr/>
        </p:nvSpPr>
        <p:spPr>
          <a:xfrm>
            <a:off x="369417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ضریب</a:t>
            </a:r>
            <a:endParaRPr lang="fa-IR" sz="1300" dirty="0"/>
          </a:p>
        </p:txBody>
      </p:sp>
      <p:sp>
        <p:nvSpPr>
          <p:cNvPr id="11" name="anim_2_965"/>
          <p:cNvSpPr/>
          <p:nvPr/>
        </p:nvSpPr>
        <p:spPr>
          <a:xfrm>
            <a:off x="2468880" y="2084832"/>
            <a:ext cx="1188720" cy="310896"/>
          </a:xfrm>
          <a:prstGeom prst="rect">
            <a:avLst/>
          </a:prstGeom>
          <a:solidFill>
            <a:schemeClr val="tx2"/>
          </a:solidFill>
          <a:ln w="9525">
            <a:solidFill>
              <a:srgbClr val="C9D3DF"/>
            </a:solidFill>
            <a:prstDash val="solid"/>
          </a:ln>
        </p:spPr>
      </p:sp>
      <p:sp>
        <p:nvSpPr>
          <p:cNvPr id="12" name="anim_2_966"/>
          <p:cNvSpPr txBox="1"/>
          <p:nvPr/>
        </p:nvSpPr>
        <p:spPr>
          <a:xfrm>
            <a:off x="2505456" y="2084832"/>
            <a:ext cx="111556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خطای معیار</a:t>
            </a:r>
            <a:endParaRPr lang="fa-IR" sz="1300" dirty="0"/>
          </a:p>
        </p:txBody>
      </p:sp>
      <p:sp>
        <p:nvSpPr>
          <p:cNvPr id="13" name="anim_2_967"/>
          <p:cNvSpPr/>
          <p:nvPr/>
        </p:nvSpPr>
        <p:spPr>
          <a:xfrm>
            <a:off x="1463040" y="2084832"/>
            <a:ext cx="1005840" cy="310896"/>
          </a:xfrm>
          <a:prstGeom prst="rect">
            <a:avLst/>
          </a:prstGeom>
          <a:solidFill>
            <a:schemeClr val="tx2"/>
          </a:solidFill>
          <a:ln w="9525">
            <a:solidFill>
              <a:srgbClr val="C9D3DF"/>
            </a:solidFill>
            <a:prstDash val="solid"/>
          </a:ln>
        </p:spPr>
      </p:sp>
      <p:sp>
        <p:nvSpPr>
          <p:cNvPr id="14" name="anim_2_968"/>
          <p:cNvSpPr txBox="1"/>
          <p:nvPr/>
        </p:nvSpPr>
        <p:spPr>
          <a:xfrm>
            <a:off x="149961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آمارهٔ t</a:t>
            </a:r>
            <a:endParaRPr lang="fa-IR" sz="1300" dirty="0"/>
          </a:p>
        </p:txBody>
      </p:sp>
      <p:sp>
        <p:nvSpPr>
          <p:cNvPr id="15" name="anim_2_969"/>
          <p:cNvSpPr/>
          <p:nvPr/>
        </p:nvSpPr>
        <p:spPr>
          <a:xfrm>
            <a:off x="548640" y="2084832"/>
            <a:ext cx="914400" cy="310896"/>
          </a:xfrm>
          <a:prstGeom prst="rect">
            <a:avLst/>
          </a:prstGeom>
          <a:solidFill>
            <a:schemeClr val="tx2"/>
          </a:solidFill>
          <a:ln w="9525">
            <a:solidFill>
              <a:srgbClr val="C9D3DF"/>
            </a:solidFill>
            <a:prstDash val="solid"/>
          </a:ln>
        </p:spPr>
      </p:sp>
      <p:sp>
        <p:nvSpPr>
          <p:cNvPr id="16" name="anim_2_970"/>
          <p:cNvSpPr txBox="1"/>
          <p:nvPr/>
        </p:nvSpPr>
        <p:spPr>
          <a:xfrm>
            <a:off x="585216" y="2084832"/>
            <a:ext cx="8412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احتمال</a:t>
            </a:r>
            <a:endParaRPr lang="fa-IR" sz="1300" dirty="0"/>
          </a:p>
        </p:txBody>
      </p:sp>
      <p:sp>
        <p:nvSpPr>
          <p:cNvPr id="17" name="anim_2_971"/>
          <p:cNvSpPr/>
          <p:nvPr/>
        </p:nvSpPr>
        <p:spPr>
          <a:xfrm>
            <a:off x="4663440" y="2395728"/>
            <a:ext cx="1828800" cy="310896"/>
          </a:xfrm>
          <a:prstGeom prst="rect">
            <a:avLst/>
          </a:prstGeom>
          <a:solidFill>
            <a:srgbClr val="FFFFFF"/>
          </a:solidFill>
          <a:ln w="9525">
            <a:solidFill>
              <a:srgbClr val="C9D3DF"/>
            </a:solidFill>
            <a:prstDash val="solid"/>
          </a:ln>
        </p:spPr>
      </p:sp>
      <p:sp>
        <p:nvSpPr>
          <p:cNvPr id="18" name="anim_2_972"/>
          <p:cNvSpPr/>
          <p:nvPr/>
        </p:nvSpPr>
        <p:spPr>
          <a:xfrm>
            <a:off x="5044745" y="2427732"/>
            <a:ext cx="1066190" cy="246888"/>
          </a:xfrm>
          <a:prstGeom prst="roundRect">
            <a:avLst>
              <a:gd name="adj" fmla="val 22222"/>
            </a:avLst>
          </a:prstGeom>
          <a:solidFill>
            <a:schemeClr val="accent1"/>
          </a:solidFill>
          <a:ln/>
        </p:spPr>
      </p:sp>
      <p:sp>
        <p:nvSpPr>
          <p:cNvPr id="19" name="anim_2_973"/>
          <p:cNvSpPr txBox="1"/>
          <p:nvPr/>
        </p:nvSpPr>
        <p:spPr>
          <a:xfrm>
            <a:off x="5044745" y="2427732"/>
            <a:ext cx="1066190"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COMPLEX</a:t>
            </a:r>
            <a:endParaRPr lang="en-US" sz="1100" dirty="0"/>
          </a:p>
        </p:txBody>
      </p:sp>
      <p:sp>
        <p:nvSpPr>
          <p:cNvPr id="20" name="anim_2_974"/>
          <p:cNvSpPr/>
          <p:nvPr/>
        </p:nvSpPr>
        <p:spPr>
          <a:xfrm>
            <a:off x="3657600" y="2395728"/>
            <a:ext cx="1005840" cy="310896"/>
          </a:xfrm>
          <a:prstGeom prst="rect">
            <a:avLst/>
          </a:prstGeom>
          <a:solidFill>
            <a:srgbClr val="FFFFFF"/>
          </a:solidFill>
          <a:ln w="9525">
            <a:solidFill>
              <a:srgbClr val="C9D3DF"/>
            </a:solidFill>
            <a:prstDash val="solid"/>
          </a:ln>
        </p:spPr>
      </p:sp>
      <p:sp>
        <p:nvSpPr>
          <p:cNvPr id="21" name="anim_2_975"/>
          <p:cNvSpPr txBox="1"/>
          <p:nvPr/>
        </p:nvSpPr>
        <p:spPr>
          <a:xfrm>
            <a:off x="369417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‪-0.2959‬</a:t>
            </a:r>
            <a:endParaRPr lang="fa-IR" sz="1300" dirty="0"/>
          </a:p>
        </p:txBody>
      </p:sp>
      <p:sp>
        <p:nvSpPr>
          <p:cNvPr id="22" name="anim_2_976"/>
          <p:cNvSpPr/>
          <p:nvPr/>
        </p:nvSpPr>
        <p:spPr>
          <a:xfrm>
            <a:off x="2468880" y="2395728"/>
            <a:ext cx="1188720" cy="310896"/>
          </a:xfrm>
          <a:prstGeom prst="rect">
            <a:avLst/>
          </a:prstGeom>
          <a:solidFill>
            <a:srgbClr val="FFFFFF"/>
          </a:solidFill>
          <a:ln w="9525">
            <a:solidFill>
              <a:srgbClr val="C9D3DF"/>
            </a:solidFill>
            <a:prstDash val="solid"/>
          </a:ln>
        </p:spPr>
      </p:sp>
      <p:sp>
        <p:nvSpPr>
          <p:cNvPr id="23" name="anim_2_977"/>
          <p:cNvSpPr txBox="1"/>
          <p:nvPr/>
        </p:nvSpPr>
        <p:spPr>
          <a:xfrm>
            <a:off x="2505456" y="239572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‪0.1158‬</a:t>
            </a:r>
            <a:endParaRPr lang="fa-IR" sz="1300" dirty="0"/>
          </a:p>
        </p:txBody>
      </p:sp>
      <p:sp>
        <p:nvSpPr>
          <p:cNvPr id="24" name="anim_2_978"/>
          <p:cNvSpPr/>
          <p:nvPr/>
        </p:nvSpPr>
        <p:spPr>
          <a:xfrm>
            <a:off x="1463040" y="2395728"/>
            <a:ext cx="1005840" cy="310896"/>
          </a:xfrm>
          <a:prstGeom prst="rect">
            <a:avLst/>
          </a:prstGeom>
          <a:solidFill>
            <a:srgbClr val="FFFFFF"/>
          </a:solidFill>
          <a:ln w="9525">
            <a:solidFill>
              <a:srgbClr val="C9D3DF"/>
            </a:solidFill>
            <a:prstDash val="solid"/>
          </a:ln>
        </p:spPr>
      </p:sp>
      <p:sp>
        <p:nvSpPr>
          <p:cNvPr id="25" name="anim_2_979"/>
          <p:cNvSpPr txBox="1"/>
          <p:nvPr/>
        </p:nvSpPr>
        <p:spPr>
          <a:xfrm>
            <a:off x="149961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‪-2.5543‬</a:t>
            </a:r>
            <a:endParaRPr lang="fa-IR" sz="1300" dirty="0"/>
          </a:p>
        </p:txBody>
      </p:sp>
      <p:sp>
        <p:nvSpPr>
          <p:cNvPr id="26" name="anim_2_980"/>
          <p:cNvSpPr/>
          <p:nvPr/>
        </p:nvSpPr>
        <p:spPr>
          <a:xfrm>
            <a:off x="548640" y="2395728"/>
            <a:ext cx="914400" cy="310896"/>
          </a:xfrm>
          <a:prstGeom prst="rect">
            <a:avLst/>
          </a:prstGeom>
          <a:solidFill>
            <a:srgbClr val="FFFFFF"/>
          </a:solidFill>
          <a:ln w="9525">
            <a:solidFill>
              <a:srgbClr val="C9D3DF"/>
            </a:solidFill>
            <a:prstDash val="solid"/>
          </a:ln>
        </p:spPr>
      </p:sp>
      <p:sp>
        <p:nvSpPr>
          <p:cNvPr id="27" name="anim_2_981"/>
          <p:cNvSpPr txBox="1"/>
          <p:nvPr/>
        </p:nvSpPr>
        <p:spPr>
          <a:xfrm>
            <a:off x="585216" y="239572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‪0.0108‬</a:t>
            </a:r>
            <a:endParaRPr lang="fa-IR" sz="1300" dirty="0"/>
          </a:p>
        </p:txBody>
      </p:sp>
      <p:sp>
        <p:nvSpPr>
          <p:cNvPr id="28" name="anim_2_982"/>
          <p:cNvSpPr/>
          <p:nvPr/>
        </p:nvSpPr>
        <p:spPr>
          <a:xfrm>
            <a:off x="4663440" y="2706624"/>
            <a:ext cx="1828800" cy="310896"/>
          </a:xfrm>
          <a:prstGeom prst="rect">
            <a:avLst/>
          </a:prstGeom>
          <a:solidFill>
            <a:srgbClr val="EEF3F8"/>
          </a:solidFill>
          <a:ln w="9525">
            <a:solidFill>
              <a:srgbClr val="C9D3DF"/>
            </a:solidFill>
            <a:prstDash val="solid"/>
          </a:ln>
        </p:spPr>
      </p:sp>
      <p:sp>
        <p:nvSpPr>
          <p:cNvPr id="29" name="anim_2_983"/>
          <p:cNvSpPr/>
          <p:nvPr/>
        </p:nvSpPr>
        <p:spPr>
          <a:xfrm>
            <a:off x="5206594" y="2738628"/>
            <a:ext cx="742493" cy="246888"/>
          </a:xfrm>
          <a:prstGeom prst="roundRect">
            <a:avLst>
              <a:gd name="adj" fmla="val 22222"/>
            </a:avLst>
          </a:prstGeom>
          <a:solidFill>
            <a:schemeClr val="accent1"/>
          </a:solidFill>
          <a:ln/>
        </p:spPr>
      </p:sp>
      <p:sp>
        <p:nvSpPr>
          <p:cNvPr id="30" name="anim_2_984"/>
          <p:cNvSpPr txBox="1"/>
          <p:nvPr/>
        </p:nvSpPr>
        <p:spPr>
          <a:xfrm>
            <a:off x="5206594" y="2738628"/>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BIG4</a:t>
            </a:r>
            <a:endParaRPr lang="en-US" sz="1100" dirty="0"/>
          </a:p>
        </p:txBody>
      </p:sp>
      <p:sp>
        <p:nvSpPr>
          <p:cNvPr id="31" name="anim_2_985"/>
          <p:cNvSpPr/>
          <p:nvPr/>
        </p:nvSpPr>
        <p:spPr>
          <a:xfrm>
            <a:off x="3657600" y="2706624"/>
            <a:ext cx="1005840" cy="310896"/>
          </a:xfrm>
          <a:prstGeom prst="rect">
            <a:avLst/>
          </a:prstGeom>
          <a:solidFill>
            <a:srgbClr val="EEF3F8"/>
          </a:solidFill>
          <a:ln w="9525">
            <a:solidFill>
              <a:srgbClr val="C9D3DF"/>
            </a:solidFill>
            <a:prstDash val="solid"/>
          </a:ln>
        </p:spPr>
      </p:sp>
      <p:sp>
        <p:nvSpPr>
          <p:cNvPr id="32" name="anim_2_986"/>
          <p:cNvSpPr txBox="1"/>
          <p:nvPr/>
        </p:nvSpPr>
        <p:spPr>
          <a:xfrm>
            <a:off x="369417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‪0.0224‬</a:t>
            </a:r>
            <a:endParaRPr lang="fa-IR" sz="1300" dirty="0"/>
          </a:p>
        </p:txBody>
      </p:sp>
      <p:sp>
        <p:nvSpPr>
          <p:cNvPr id="33" name="anim_2_987"/>
          <p:cNvSpPr/>
          <p:nvPr/>
        </p:nvSpPr>
        <p:spPr>
          <a:xfrm>
            <a:off x="2468880" y="2706624"/>
            <a:ext cx="1188720" cy="310896"/>
          </a:xfrm>
          <a:prstGeom prst="rect">
            <a:avLst/>
          </a:prstGeom>
          <a:solidFill>
            <a:srgbClr val="EEF3F8"/>
          </a:solidFill>
          <a:ln w="9525">
            <a:solidFill>
              <a:srgbClr val="C9D3DF"/>
            </a:solidFill>
            <a:prstDash val="solid"/>
          </a:ln>
        </p:spPr>
      </p:sp>
      <p:sp>
        <p:nvSpPr>
          <p:cNvPr id="34" name="anim_2_988"/>
          <p:cNvSpPr txBox="1"/>
          <p:nvPr/>
        </p:nvSpPr>
        <p:spPr>
          <a:xfrm>
            <a:off x="2505456" y="2706624"/>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‪0.1412‬</a:t>
            </a:r>
            <a:endParaRPr lang="fa-IR" sz="1300" dirty="0"/>
          </a:p>
        </p:txBody>
      </p:sp>
      <p:sp>
        <p:nvSpPr>
          <p:cNvPr id="35" name="anim_2_989"/>
          <p:cNvSpPr/>
          <p:nvPr/>
        </p:nvSpPr>
        <p:spPr>
          <a:xfrm>
            <a:off x="1463040" y="2706624"/>
            <a:ext cx="1005840" cy="310896"/>
          </a:xfrm>
          <a:prstGeom prst="rect">
            <a:avLst/>
          </a:prstGeom>
          <a:solidFill>
            <a:srgbClr val="EEF3F8"/>
          </a:solidFill>
          <a:ln w="9525">
            <a:solidFill>
              <a:srgbClr val="C9D3DF"/>
            </a:solidFill>
            <a:prstDash val="solid"/>
          </a:ln>
        </p:spPr>
      </p:sp>
      <p:sp>
        <p:nvSpPr>
          <p:cNvPr id="36" name="anim_2_990"/>
          <p:cNvSpPr txBox="1"/>
          <p:nvPr/>
        </p:nvSpPr>
        <p:spPr>
          <a:xfrm>
            <a:off x="149961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‪0.1583‬</a:t>
            </a:r>
            <a:endParaRPr lang="fa-IR" sz="1300" dirty="0"/>
          </a:p>
        </p:txBody>
      </p:sp>
      <p:sp>
        <p:nvSpPr>
          <p:cNvPr id="37" name="anim_2_991"/>
          <p:cNvSpPr/>
          <p:nvPr/>
        </p:nvSpPr>
        <p:spPr>
          <a:xfrm>
            <a:off x="548640" y="2706624"/>
            <a:ext cx="914400" cy="310896"/>
          </a:xfrm>
          <a:prstGeom prst="rect">
            <a:avLst/>
          </a:prstGeom>
          <a:solidFill>
            <a:srgbClr val="EEF3F8"/>
          </a:solidFill>
          <a:ln w="9525">
            <a:solidFill>
              <a:srgbClr val="C9D3DF"/>
            </a:solidFill>
            <a:prstDash val="solid"/>
          </a:ln>
        </p:spPr>
      </p:sp>
      <p:sp>
        <p:nvSpPr>
          <p:cNvPr id="38" name="anim_2_992"/>
          <p:cNvSpPr txBox="1"/>
          <p:nvPr/>
        </p:nvSpPr>
        <p:spPr>
          <a:xfrm>
            <a:off x="585216" y="2706624"/>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‪0.8743‬</a:t>
            </a:r>
            <a:endParaRPr lang="fa-IR" sz="1300" dirty="0"/>
          </a:p>
        </p:txBody>
      </p:sp>
      <p:sp>
        <p:nvSpPr>
          <p:cNvPr id="39" name="anim_2_993"/>
          <p:cNvSpPr/>
          <p:nvPr/>
        </p:nvSpPr>
        <p:spPr>
          <a:xfrm>
            <a:off x="4663440" y="3017520"/>
            <a:ext cx="1828800" cy="310896"/>
          </a:xfrm>
          <a:prstGeom prst="rect">
            <a:avLst/>
          </a:prstGeom>
          <a:solidFill>
            <a:srgbClr val="FFFFFF"/>
          </a:solidFill>
          <a:ln w="9525">
            <a:solidFill>
              <a:srgbClr val="C9D3DF"/>
            </a:solidFill>
            <a:prstDash val="solid"/>
          </a:ln>
        </p:spPr>
      </p:sp>
      <p:sp>
        <p:nvSpPr>
          <p:cNvPr id="40" name="anim_2_994"/>
          <p:cNvSpPr/>
          <p:nvPr/>
        </p:nvSpPr>
        <p:spPr>
          <a:xfrm>
            <a:off x="4667098" y="3049524"/>
            <a:ext cx="1821485" cy="246888"/>
          </a:xfrm>
          <a:prstGeom prst="roundRect">
            <a:avLst>
              <a:gd name="adj" fmla="val 22222"/>
            </a:avLst>
          </a:prstGeom>
          <a:solidFill>
            <a:schemeClr val="accent1"/>
          </a:solidFill>
          <a:ln/>
        </p:spPr>
      </p:sp>
      <p:sp>
        <p:nvSpPr>
          <p:cNvPr id="41" name="anim_2_995"/>
          <p:cNvSpPr txBox="1"/>
          <p:nvPr/>
        </p:nvSpPr>
        <p:spPr>
          <a:xfrm>
            <a:off x="4667098" y="3049524"/>
            <a:ext cx="1821485"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COMPLEX × BIG4</a:t>
            </a:r>
            <a:endParaRPr lang="en-US" sz="1100" dirty="0"/>
          </a:p>
        </p:txBody>
      </p:sp>
      <p:sp>
        <p:nvSpPr>
          <p:cNvPr id="42" name="anim_2_996"/>
          <p:cNvSpPr/>
          <p:nvPr/>
        </p:nvSpPr>
        <p:spPr>
          <a:xfrm>
            <a:off x="3657600" y="3017520"/>
            <a:ext cx="1005840" cy="310896"/>
          </a:xfrm>
          <a:prstGeom prst="rect">
            <a:avLst/>
          </a:prstGeom>
          <a:solidFill>
            <a:srgbClr val="FFFFFF"/>
          </a:solidFill>
          <a:ln w="9525">
            <a:solidFill>
              <a:srgbClr val="C9D3DF"/>
            </a:solidFill>
            <a:prstDash val="solid"/>
          </a:ln>
        </p:spPr>
      </p:sp>
      <p:sp>
        <p:nvSpPr>
          <p:cNvPr id="43" name="anim_2_997"/>
          <p:cNvSpPr txBox="1"/>
          <p:nvPr/>
        </p:nvSpPr>
        <p:spPr>
          <a:xfrm>
            <a:off x="369417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‪0.1866‬</a:t>
            </a:r>
            <a:endParaRPr lang="fa-IR" sz="1300" dirty="0"/>
          </a:p>
        </p:txBody>
      </p:sp>
      <p:sp>
        <p:nvSpPr>
          <p:cNvPr id="44" name="anim_2_998"/>
          <p:cNvSpPr/>
          <p:nvPr/>
        </p:nvSpPr>
        <p:spPr>
          <a:xfrm>
            <a:off x="2468880" y="3017520"/>
            <a:ext cx="1188720" cy="310896"/>
          </a:xfrm>
          <a:prstGeom prst="rect">
            <a:avLst/>
          </a:prstGeom>
          <a:solidFill>
            <a:srgbClr val="FFFFFF"/>
          </a:solidFill>
          <a:ln w="9525">
            <a:solidFill>
              <a:srgbClr val="C9D3DF"/>
            </a:solidFill>
            <a:prstDash val="solid"/>
          </a:ln>
        </p:spPr>
      </p:sp>
      <p:sp>
        <p:nvSpPr>
          <p:cNvPr id="45" name="anim_2_999"/>
          <p:cNvSpPr txBox="1"/>
          <p:nvPr/>
        </p:nvSpPr>
        <p:spPr>
          <a:xfrm>
            <a:off x="2505456" y="3017520"/>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‪0.0691‬</a:t>
            </a:r>
            <a:endParaRPr lang="fa-IR" sz="1300" dirty="0"/>
          </a:p>
        </p:txBody>
      </p:sp>
      <p:sp>
        <p:nvSpPr>
          <p:cNvPr id="46" name="anim_2_1000"/>
          <p:cNvSpPr/>
          <p:nvPr/>
        </p:nvSpPr>
        <p:spPr>
          <a:xfrm>
            <a:off x="1463040" y="3017520"/>
            <a:ext cx="1005840" cy="310896"/>
          </a:xfrm>
          <a:prstGeom prst="rect">
            <a:avLst/>
          </a:prstGeom>
          <a:solidFill>
            <a:srgbClr val="FFFFFF"/>
          </a:solidFill>
          <a:ln w="9525">
            <a:solidFill>
              <a:srgbClr val="C9D3DF"/>
            </a:solidFill>
            <a:prstDash val="solid"/>
          </a:ln>
        </p:spPr>
      </p:sp>
      <p:sp>
        <p:nvSpPr>
          <p:cNvPr id="47" name="anim_2_1001"/>
          <p:cNvSpPr txBox="1"/>
          <p:nvPr/>
        </p:nvSpPr>
        <p:spPr>
          <a:xfrm>
            <a:off x="149961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‪2.6998‬</a:t>
            </a:r>
            <a:endParaRPr lang="fa-IR" sz="1300" dirty="0"/>
          </a:p>
        </p:txBody>
      </p:sp>
      <p:sp>
        <p:nvSpPr>
          <p:cNvPr id="48" name="anim_2_1002"/>
          <p:cNvSpPr/>
          <p:nvPr/>
        </p:nvSpPr>
        <p:spPr>
          <a:xfrm>
            <a:off x="548640" y="3017520"/>
            <a:ext cx="914400" cy="310896"/>
          </a:xfrm>
          <a:prstGeom prst="rect">
            <a:avLst/>
          </a:prstGeom>
          <a:solidFill>
            <a:srgbClr val="FFFFFF"/>
          </a:solidFill>
          <a:ln w="9525">
            <a:solidFill>
              <a:srgbClr val="C9D3DF"/>
            </a:solidFill>
            <a:prstDash val="solid"/>
          </a:ln>
        </p:spPr>
      </p:sp>
      <p:sp>
        <p:nvSpPr>
          <p:cNvPr id="49" name="anim_2_1003"/>
          <p:cNvSpPr txBox="1"/>
          <p:nvPr/>
        </p:nvSpPr>
        <p:spPr>
          <a:xfrm>
            <a:off x="585216" y="3017520"/>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‪0.0071‬</a:t>
            </a:r>
            <a:endParaRPr lang="fa-IR" sz="1300" dirty="0"/>
          </a:p>
        </p:txBody>
      </p:sp>
      <p:sp>
        <p:nvSpPr>
          <p:cNvPr id="50" name="anim_2_1004"/>
          <p:cNvSpPr/>
          <p:nvPr/>
        </p:nvSpPr>
        <p:spPr>
          <a:xfrm>
            <a:off x="4663440" y="3328416"/>
            <a:ext cx="1828800" cy="310896"/>
          </a:xfrm>
          <a:prstGeom prst="rect">
            <a:avLst/>
          </a:prstGeom>
          <a:solidFill>
            <a:srgbClr val="EEF3F8"/>
          </a:solidFill>
          <a:ln w="9525">
            <a:solidFill>
              <a:srgbClr val="C9D3DF"/>
            </a:solidFill>
            <a:prstDash val="solid"/>
          </a:ln>
        </p:spPr>
      </p:sp>
      <p:sp>
        <p:nvSpPr>
          <p:cNvPr id="51" name="anim_2_1005"/>
          <p:cNvSpPr/>
          <p:nvPr/>
        </p:nvSpPr>
        <p:spPr>
          <a:xfrm>
            <a:off x="5206594" y="3360420"/>
            <a:ext cx="742493" cy="246888"/>
          </a:xfrm>
          <a:prstGeom prst="roundRect">
            <a:avLst>
              <a:gd name="adj" fmla="val 22222"/>
            </a:avLst>
          </a:prstGeom>
          <a:solidFill>
            <a:schemeClr val="accent1"/>
          </a:solidFill>
          <a:ln/>
        </p:spPr>
      </p:sp>
      <p:sp>
        <p:nvSpPr>
          <p:cNvPr id="52" name="anim_2_1006"/>
          <p:cNvSpPr txBox="1"/>
          <p:nvPr/>
        </p:nvSpPr>
        <p:spPr>
          <a:xfrm>
            <a:off x="5206594" y="3360420"/>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SIZE</a:t>
            </a:r>
            <a:endParaRPr lang="en-US" sz="1100" dirty="0"/>
          </a:p>
        </p:txBody>
      </p:sp>
      <p:sp>
        <p:nvSpPr>
          <p:cNvPr id="53" name="anim_2_1007"/>
          <p:cNvSpPr/>
          <p:nvPr/>
        </p:nvSpPr>
        <p:spPr>
          <a:xfrm>
            <a:off x="3657600" y="3328416"/>
            <a:ext cx="1005840" cy="310896"/>
          </a:xfrm>
          <a:prstGeom prst="rect">
            <a:avLst/>
          </a:prstGeom>
          <a:solidFill>
            <a:srgbClr val="EEF3F8"/>
          </a:solidFill>
          <a:ln w="9525">
            <a:solidFill>
              <a:srgbClr val="C9D3DF"/>
            </a:solidFill>
            <a:prstDash val="solid"/>
          </a:ln>
        </p:spPr>
      </p:sp>
      <p:sp>
        <p:nvSpPr>
          <p:cNvPr id="54" name="anim_2_1008"/>
          <p:cNvSpPr txBox="1"/>
          <p:nvPr/>
        </p:nvSpPr>
        <p:spPr>
          <a:xfrm>
            <a:off x="369417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‪0.0705‬</a:t>
            </a:r>
            <a:endParaRPr lang="fa-IR" sz="1300" dirty="0"/>
          </a:p>
        </p:txBody>
      </p:sp>
      <p:sp>
        <p:nvSpPr>
          <p:cNvPr id="55" name="anim_2_1009"/>
          <p:cNvSpPr/>
          <p:nvPr/>
        </p:nvSpPr>
        <p:spPr>
          <a:xfrm>
            <a:off x="2468880" y="3328416"/>
            <a:ext cx="1188720" cy="310896"/>
          </a:xfrm>
          <a:prstGeom prst="rect">
            <a:avLst/>
          </a:prstGeom>
          <a:solidFill>
            <a:srgbClr val="EEF3F8"/>
          </a:solidFill>
          <a:ln w="9525">
            <a:solidFill>
              <a:srgbClr val="C9D3DF"/>
            </a:solidFill>
            <a:prstDash val="solid"/>
          </a:ln>
        </p:spPr>
      </p:sp>
      <p:sp>
        <p:nvSpPr>
          <p:cNvPr id="56" name="anim_2_1010"/>
          <p:cNvSpPr txBox="1"/>
          <p:nvPr/>
        </p:nvSpPr>
        <p:spPr>
          <a:xfrm>
            <a:off x="2505456" y="3328416"/>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‪0.0149‬</a:t>
            </a:r>
            <a:endParaRPr lang="fa-IR" sz="1300" dirty="0"/>
          </a:p>
        </p:txBody>
      </p:sp>
      <p:sp>
        <p:nvSpPr>
          <p:cNvPr id="57" name="anim_2_1011"/>
          <p:cNvSpPr/>
          <p:nvPr/>
        </p:nvSpPr>
        <p:spPr>
          <a:xfrm>
            <a:off x="1463040" y="3328416"/>
            <a:ext cx="1005840" cy="310896"/>
          </a:xfrm>
          <a:prstGeom prst="rect">
            <a:avLst/>
          </a:prstGeom>
          <a:solidFill>
            <a:srgbClr val="EEF3F8"/>
          </a:solidFill>
          <a:ln w="9525">
            <a:solidFill>
              <a:srgbClr val="C9D3DF"/>
            </a:solidFill>
            <a:prstDash val="solid"/>
          </a:ln>
        </p:spPr>
      </p:sp>
      <p:sp>
        <p:nvSpPr>
          <p:cNvPr id="58" name="anim_2_1012"/>
          <p:cNvSpPr txBox="1"/>
          <p:nvPr/>
        </p:nvSpPr>
        <p:spPr>
          <a:xfrm>
            <a:off x="149961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‪4.7353‬</a:t>
            </a:r>
            <a:endParaRPr lang="fa-IR" sz="1300" dirty="0"/>
          </a:p>
        </p:txBody>
      </p:sp>
      <p:sp>
        <p:nvSpPr>
          <p:cNvPr id="59" name="anim_2_1013"/>
          <p:cNvSpPr/>
          <p:nvPr/>
        </p:nvSpPr>
        <p:spPr>
          <a:xfrm>
            <a:off x="548640" y="3328416"/>
            <a:ext cx="914400" cy="310896"/>
          </a:xfrm>
          <a:prstGeom prst="rect">
            <a:avLst/>
          </a:prstGeom>
          <a:solidFill>
            <a:srgbClr val="EEF3F8"/>
          </a:solidFill>
          <a:ln w="9525">
            <a:solidFill>
              <a:srgbClr val="C9D3DF"/>
            </a:solidFill>
            <a:prstDash val="solid"/>
          </a:ln>
        </p:spPr>
      </p:sp>
      <p:sp>
        <p:nvSpPr>
          <p:cNvPr id="60" name="anim_2_1014"/>
          <p:cNvSpPr txBox="1"/>
          <p:nvPr/>
        </p:nvSpPr>
        <p:spPr>
          <a:xfrm>
            <a:off x="585216" y="3328416"/>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61" name="anim_2_1015"/>
          <p:cNvSpPr/>
          <p:nvPr/>
        </p:nvSpPr>
        <p:spPr>
          <a:xfrm>
            <a:off x="4663440" y="3639312"/>
            <a:ext cx="1828800" cy="310896"/>
          </a:xfrm>
          <a:prstGeom prst="rect">
            <a:avLst/>
          </a:prstGeom>
          <a:solidFill>
            <a:srgbClr val="FFFFFF"/>
          </a:solidFill>
          <a:ln w="9525">
            <a:solidFill>
              <a:srgbClr val="C9D3DF"/>
            </a:solidFill>
            <a:prstDash val="solid"/>
          </a:ln>
        </p:spPr>
      </p:sp>
      <p:sp>
        <p:nvSpPr>
          <p:cNvPr id="62" name="anim_2_1016"/>
          <p:cNvSpPr/>
          <p:nvPr/>
        </p:nvSpPr>
        <p:spPr>
          <a:xfrm>
            <a:off x="5260543" y="3671316"/>
            <a:ext cx="634594" cy="246888"/>
          </a:xfrm>
          <a:prstGeom prst="roundRect">
            <a:avLst>
              <a:gd name="adj" fmla="val 22222"/>
            </a:avLst>
          </a:prstGeom>
          <a:solidFill>
            <a:schemeClr val="accent1"/>
          </a:solidFill>
          <a:ln/>
        </p:spPr>
      </p:sp>
      <p:sp>
        <p:nvSpPr>
          <p:cNvPr id="63" name="anim_2_1017"/>
          <p:cNvSpPr txBox="1"/>
          <p:nvPr/>
        </p:nvSpPr>
        <p:spPr>
          <a:xfrm>
            <a:off x="5260543" y="3671316"/>
            <a:ext cx="634594"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ROA</a:t>
            </a:r>
            <a:endParaRPr lang="en-US" sz="1100" dirty="0"/>
          </a:p>
        </p:txBody>
      </p:sp>
      <p:sp>
        <p:nvSpPr>
          <p:cNvPr id="64" name="anim_2_1018"/>
          <p:cNvSpPr/>
          <p:nvPr/>
        </p:nvSpPr>
        <p:spPr>
          <a:xfrm>
            <a:off x="3657600" y="3639312"/>
            <a:ext cx="1005840" cy="310896"/>
          </a:xfrm>
          <a:prstGeom prst="rect">
            <a:avLst/>
          </a:prstGeom>
          <a:solidFill>
            <a:srgbClr val="FFFFFF"/>
          </a:solidFill>
          <a:ln w="9525">
            <a:solidFill>
              <a:srgbClr val="C9D3DF"/>
            </a:solidFill>
            <a:prstDash val="solid"/>
          </a:ln>
        </p:spPr>
      </p:sp>
      <p:sp>
        <p:nvSpPr>
          <p:cNvPr id="65" name="anim_2_1019"/>
          <p:cNvSpPr txBox="1"/>
          <p:nvPr/>
        </p:nvSpPr>
        <p:spPr>
          <a:xfrm>
            <a:off x="369417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‪-0.2333‬</a:t>
            </a:r>
            <a:endParaRPr lang="fa-IR" sz="1300" dirty="0"/>
          </a:p>
        </p:txBody>
      </p:sp>
      <p:sp>
        <p:nvSpPr>
          <p:cNvPr id="66" name="anim_2_1020"/>
          <p:cNvSpPr/>
          <p:nvPr/>
        </p:nvSpPr>
        <p:spPr>
          <a:xfrm>
            <a:off x="2468880" y="3639312"/>
            <a:ext cx="1188720" cy="310896"/>
          </a:xfrm>
          <a:prstGeom prst="rect">
            <a:avLst/>
          </a:prstGeom>
          <a:solidFill>
            <a:srgbClr val="FFFFFF"/>
          </a:solidFill>
          <a:ln w="9525">
            <a:solidFill>
              <a:srgbClr val="C9D3DF"/>
            </a:solidFill>
            <a:prstDash val="solid"/>
          </a:ln>
        </p:spPr>
      </p:sp>
      <p:sp>
        <p:nvSpPr>
          <p:cNvPr id="67" name="anim_2_1021"/>
          <p:cNvSpPr txBox="1"/>
          <p:nvPr/>
        </p:nvSpPr>
        <p:spPr>
          <a:xfrm>
            <a:off x="2505456" y="3639312"/>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‪0.0363‬</a:t>
            </a:r>
            <a:endParaRPr lang="fa-IR" sz="1300" dirty="0"/>
          </a:p>
        </p:txBody>
      </p:sp>
      <p:sp>
        <p:nvSpPr>
          <p:cNvPr id="68" name="anim_2_1022"/>
          <p:cNvSpPr/>
          <p:nvPr/>
        </p:nvSpPr>
        <p:spPr>
          <a:xfrm>
            <a:off x="1463040" y="3639312"/>
            <a:ext cx="1005840" cy="310896"/>
          </a:xfrm>
          <a:prstGeom prst="rect">
            <a:avLst/>
          </a:prstGeom>
          <a:solidFill>
            <a:srgbClr val="FFFFFF"/>
          </a:solidFill>
          <a:ln w="9525">
            <a:solidFill>
              <a:srgbClr val="C9D3DF"/>
            </a:solidFill>
            <a:prstDash val="solid"/>
          </a:ln>
        </p:spPr>
      </p:sp>
      <p:sp>
        <p:nvSpPr>
          <p:cNvPr id="69" name="anim_2_1023"/>
          <p:cNvSpPr txBox="1"/>
          <p:nvPr/>
        </p:nvSpPr>
        <p:spPr>
          <a:xfrm>
            <a:off x="149961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‪-6.4221‬</a:t>
            </a:r>
            <a:endParaRPr lang="fa-IR" sz="1300" dirty="0"/>
          </a:p>
        </p:txBody>
      </p:sp>
      <p:sp>
        <p:nvSpPr>
          <p:cNvPr id="70" name="anim_2_1024"/>
          <p:cNvSpPr/>
          <p:nvPr/>
        </p:nvSpPr>
        <p:spPr>
          <a:xfrm>
            <a:off x="548640" y="3639312"/>
            <a:ext cx="914400" cy="310896"/>
          </a:xfrm>
          <a:prstGeom prst="rect">
            <a:avLst/>
          </a:prstGeom>
          <a:solidFill>
            <a:srgbClr val="FFFFFF"/>
          </a:solidFill>
          <a:ln w="9525">
            <a:solidFill>
              <a:srgbClr val="C9D3DF"/>
            </a:solidFill>
            <a:prstDash val="solid"/>
          </a:ln>
        </p:spPr>
      </p:sp>
      <p:sp>
        <p:nvSpPr>
          <p:cNvPr id="71" name="anim_2_1025"/>
          <p:cNvSpPr txBox="1"/>
          <p:nvPr/>
        </p:nvSpPr>
        <p:spPr>
          <a:xfrm>
            <a:off x="585216" y="3639312"/>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72" name="anim_2_1026"/>
          <p:cNvSpPr/>
          <p:nvPr/>
        </p:nvSpPr>
        <p:spPr>
          <a:xfrm>
            <a:off x="4663440" y="3950208"/>
            <a:ext cx="1828800" cy="310896"/>
          </a:xfrm>
          <a:prstGeom prst="rect">
            <a:avLst/>
          </a:prstGeom>
          <a:solidFill>
            <a:srgbClr val="EEF3F8"/>
          </a:solidFill>
          <a:ln w="9525">
            <a:solidFill>
              <a:srgbClr val="C9D3DF"/>
            </a:solidFill>
            <a:prstDash val="solid"/>
          </a:ln>
        </p:spPr>
      </p:sp>
      <p:sp>
        <p:nvSpPr>
          <p:cNvPr id="73" name="anim_2_1027"/>
          <p:cNvSpPr/>
          <p:nvPr/>
        </p:nvSpPr>
        <p:spPr>
          <a:xfrm>
            <a:off x="5260543" y="3982212"/>
            <a:ext cx="634594" cy="246888"/>
          </a:xfrm>
          <a:prstGeom prst="roundRect">
            <a:avLst>
              <a:gd name="adj" fmla="val 22222"/>
            </a:avLst>
          </a:prstGeom>
          <a:solidFill>
            <a:schemeClr val="accent1"/>
          </a:solidFill>
          <a:ln/>
        </p:spPr>
      </p:sp>
      <p:sp>
        <p:nvSpPr>
          <p:cNvPr id="74" name="anim_2_1028"/>
          <p:cNvSpPr txBox="1"/>
          <p:nvPr/>
        </p:nvSpPr>
        <p:spPr>
          <a:xfrm>
            <a:off x="5260543" y="3982212"/>
            <a:ext cx="634594"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LEV</a:t>
            </a:r>
            <a:endParaRPr lang="en-US" sz="1100" dirty="0"/>
          </a:p>
        </p:txBody>
      </p:sp>
      <p:sp>
        <p:nvSpPr>
          <p:cNvPr id="75" name="anim_2_1029"/>
          <p:cNvSpPr/>
          <p:nvPr/>
        </p:nvSpPr>
        <p:spPr>
          <a:xfrm>
            <a:off x="3657600" y="3950208"/>
            <a:ext cx="1005840" cy="310896"/>
          </a:xfrm>
          <a:prstGeom prst="rect">
            <a:avLst/>
          </a:prstGeom>
          <a:solidFill>
            <a:srgbClr val="EEF3F8"/>
          </a:solidFill>
          <a:ln w="9525">
            <a:solidFill>
              <a:srgbClr val="C9D3DF"/>
            </a:solidFill>
            <a:prstDash val="solid"/>
          </a:ln>
        </p:spPr>
      </p:sp>
      <p:sp>
        <p:nvSpPr>
          <p:cNvPr id="76" name="anim_2_1030"/>
          <p:cNvSpPr txBox="1"/>
          <p:nvPr/>
        </p:nvSpPr>
        <p:spPr>
          <a:xfrm>
            <a:off x="3694176" y="395020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‪0.1437‬</a:t>
            </a:r>
            <a:endParaRPr lang="fa-IR" sz="1300" dirty="0"/>
          </a:p>
        </p:txBody>
      </p:sp>
      <p:sp>
        <p:nvSpPr>
          <p:cNvPr id="77" name="anim_2_1031"/>
          <p:cNvSpPr/>
          <p:nvPr/>
        </p:nvSpPr>
        <p:spPr>
          <a:xfrm>
            <a:off x="2468880" y="3950208"/>
            <a:ext cx="1188720" cy="310896"/>
          </a:xfrm>
          <a:prstGeom prst="rect">
            <a:avLst/>
          </a:prstGeom>
          <a:solidFill>
            <a:srgbClr val="EEF3F8"/>
          </a:solidFill>
          <a:ln w="9525">
            <a:solidFill>
              <a:srgbClr val="C9D3DF"/>
            </a:solidFill>
            <a:prstDash val="solid"/>
          </a:ln>
        </p:spPr>
      </p:sp>
      <p:sp>
        <p:nvSpPr>
          <p:cNvPr id="78" name="anim_2_1032"/>
          <p:cNvSpPr txBox="1"/>
          <p:nvPr/>
        </p:nvSpPr>
        <p:spPr>
          <a:xfrm>
            <a:off x="2505456" y="395020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‪0.0366‬</a:t>
            </a:r>
            <a:endParaRPr lang="fa-IR" sz="1300" dirty="0"/>
          </a:p>
        </p:txBody>
      </p:sp>
      <p:sp>
        <p:nvSpPr>
          <p:cNvPr id="79" name="anim_2_1033"/>
          <p:cNvSpPr/>
          <p:nvPr/>
        </p:nvSpPr>
        <p:spPr>
          <a:xfrm>
            <a:off x="1463040" y="3950208"/>
            <a:ext cx="1005840" cy="310896"/>
          </a:xfrm>
          <a:prstGeom prst="rect">
            <a:avLst/>
          </a:prstGeom>
          <a:solidFill>
            <a:srgbClr val="EEF3F8"/>
          </a:solidFill>
          <a:ln w="9525">
            <a:solidFill>
              <a:srgbClr val="C9D3DF"/>
            </a:solidFill>
            <a:prstDash val="solid"/>
          </a:ln>
        </p:spPr>
      </p:sp>
      <p:sp>
        <p:nvSpPr>
          <p:cNvPr id="80" name="anim_2_1034"/>
          <p:cNvSpPr txBox="1"/>
          <p:nvPr/>
        </p:nvSpPr>
        <p:spPr>
          <a:xfrm>
            <a:off x="1499616" y="395020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‪3.9259‬</a:t>
            </a:r>
            <a:endParaRPr lang="fa-IR" sz="1300" dirty="0"/>
          </a:p>
        </p:txBody>
      </p:sp>
      <p:sp>
        <p:nvSpPr>
          <p:cNvPr id="81" name="anim_2_1035"/>
          <p:cNvSpPr/>
          <p:nvPr/>
        </p:nvSpPr>
        <p:spPr>
          <a:xfrm>
            <a:off x="548640" y="3950208"/>
            <a:ext cx="914400" cy="310896"/>
          </a:xfrm>
          <a:prstGeom prst="rect">
            <a:avLst/>
          </a:prstGeom>
          <a:solidFill>
            <a:srgbClr val="EEF3F8"/>
          </a:solidFill>
          <a:ln w="9525">
            <a:solidFill>
              <a:srgbClr val="C9D3DF"/>
            </a:solidFill>
            <a:prstDash val="solid"/>
          </a:ln>
        </p:spPr>
      </p:sp>
      <p:sp>
        <p:nvSpPr>
          <p:cNvPr id="82" name="anim_2_1036"/>
          <p:cNvSpPr txBox="1"/>
          <p:nvPr/>
        </p:nvSpPr>
        <p:spPr>
          <a:xfrm>
            <a:off x="585216" y="395020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‪0.0001‬</a:t>
            </a:r>
            <a:endParaRPr lang="fa-IR" sz="1300" dirty="0"/>
          </a:p>
        </p:txBody>
      </p:sp>
      <p:sp>
        <p:nvSpPr>
          <p:cNvPr id="83" name="anim_2_1037"/>
          <p:cNvSpPr/>
          <p:nvPr/>
        </p:nvSpPr>
        <p:spPr>
          <a:xfrm>
            <a:off x="4663440" y="4261104"/>
            <a:ext cx="1828800" cy="310896"/>
          </a:xfrm>
          <a:prstGeom prst="rect">
            <a:avLst/>
          </a:prstGeom>
          <a:solidFill>
            <a:srgbClr val="FFFFFF"/>
          </a:solidFill>
          <a:ln w="9525">
            <a:solidFill>
              <a:srgbClr val="C9D3DF"/>
            </a:solidFill>
            <a:prstDash val="solid"/>
          </a:ln>
        </p:spPr>
      </p:sp>
      <p:sp>
        <p:nvSpPr>
          <p:cNvPr id="84" name="anim_2_1038"/>
          <p:cNvSpPr/>
          <p:nvPr/>
        </p:nvSpPr>
        <p:spPr>
          <a:xfrm>
            <a:off x="5294376" y="4293108"/>
            <a:ext cx="566928" cy="246888"/>
          </a:xfrm>
          <a:prstGeom prst="roundRect">
            <a:avLst>
              <a:gd name="adj" fmla="val 22222"/>
            </a:avLst>
          </a:prstGeom>
          <a:solidFill>
            <a:schemeClr val="accent1"/>
          </a:solidFill>
          <a:ln/>
        </p:spPr>
      </p:sp>
      <p:sp>
        <p:nvSpPr>
          <p:cNvPr id="85" name="anim_2_1039"/>
          <p:cNvSpPr txBox="1"/>
          <p:nvPr/>
        </p:nvSpPr>
        <p:spPr>
          <a:xfrm>
            <a:off x="5294376" y="4293108"/>
            <a:ext cx="566928"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a:t>
            </a:r>
            <a:endParaRPr lang="en-US" sz="1100" dirty="0"/>
          </a:p>
        </p:txBody>
      </p:sp>
      <p:sp>
        <p:nvSpPr>
          <p:cNvPr id="86" name="anim_2_1040"/>
          <p:cNvSpPr/>
          <p:nvPr/>
        </p:nvSpPr>
        <p:spPr>
          <a:xfrm>
            <a:off x="3657600" y="4261104"/>
            <a:ext cx="1005840" cy="310896"/>
          </a:xfrm>
          <a:prstGeom prst="rect">
            <a:avLst/>
          </a:prstGeom>
          <a:solidFill>
            <a:srgbClr val="FFFFFF"/>
          </a:solidFill>
          <a:ln w="9525">
            <a:solidFill>
              <a:srgbClr val="C9D3DF"/>
            </a:solidFill>
            <a:prstDash val="solid"/>
          </a:ln>
        </p:spPr>
      </p:sp>
      <p:sp>
        <p:nvSpPr>
          <p:cNvPr id="87" name="anim_2_1041"/>
          <p:cNvSpPr txBox="1"/>
          <p:nvPr/>
        </p:nvSpPr>
        <p:spPr>
          <a:xfrm>
            <a:off x="3694176" y="426110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‪-0.2746‬</a:t>
            </a:r>
            <a:endParaRPr lang="fa-IR" sz="1300" dirty="0"/>
          </a:p>
        </p:txBody>
      </p:sp>
      <p:sp>
        <p:nvSpPr>
          <p:cNvPr id="88" name="anim_2_1042"/>
          <p:cNvSpPr/>
          <p:nvPr/>
        </p:nvSpPr>
        <p:spPr>
          <a:xfrm>
            <a:off x="2468880" y="4261104"/>
            <a:ext cx="1188720" cy="310896"/>
          </a:xfrm>
          <a:prstGeom prst="rect">
            <a:avLst/>
          </a:prstGeom>
          <a:solidFill>
            <a:srgbClr val="FFFFFF"/>
          </a:solidFill>
          <a:ln w="9525">
            <a:solidFill>
              <a:srgbClr val="C9D3DF"/>
            </a:solidFill>
            <a:prstDash val="solid"/>
          </a:ln>
        </p:spPr>
      </p:sp>
      <p:sp>
        <p:nvSpPr>
          <p:cNvPr id="89" name="anim_2_1043"/>
          <p:cNvSpPr txBox="1"/>
          <p:nvPr/>
        </p:nvSpPr>
        <p:spPr>
          <a:xfrm>
            <a:off x="2505456" y="4261104"/>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‪0.0795‬</a:t>
            </a:r>
            <a:endParaRPr lang="fa-IR" sz="1300" dirty="0"/>
          </a:p>
        </p:txBody>
      </p:sp>
      <p:sp>
        <p:nvSpPr>
          <p:cNvPr id="90" name="anim_2_1044"/>
          <p:cNvSpPr/>
          <p:nvPr/>
        </p:nvSpPr>
        <p:spPr>
          <a:xfrm>
            <a:off x="1463040" y="4261104"/>
            <a:ext cx="1005840" cy="310896"/>
          </a:xfrm>
          <a:prstGeom prst="rect">
            <a:avLst/>
          </a:prstGeom>
          <a:solidFill>
            <a:srgbClr val="FFFFFF"/>
          </a:solidFill>
          <a:ln w="9525">
            <a:solidFill>
              <a:srgbClr val="C9D3DF"/>
            </a:solidFill>
            <a:prstDash val="solid"/>
          </a:ln>
        </p:spPr>
      </p:sp>
      <p:sp>
        <p:nvSpPr>
          <p:cNvPr id="91" name="anim_2_1045"/>
          <p:cNvSpPr txBox="1"/>
          <p:nvPr/>
        </p:nvSpPr>
        <p:spPr>
          <a:xfrm>
            <a:off x="1499616" y="426110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‪-3.4528‬</a:t>
            </a:r>
            <a:endParaRPr lang="fa-IR" sz="1300" dirty="0"/>
          </a:p>
        </p:txBody>
      </p:sp>
      <p:sp>
        <p:nvSpPr>
          <p:cNvPr id="92" name="anim_2_1046"/>
          <p:cNvSpPr/>
          <p:nvPr/>
        </p:nvSpPr>
        <p:spPr>
          <a:xfrm>
            <a:off x="548640" y="4261104"/>
            <a:ext cx="914400" cy="310896"/>
          </a:xfrm>
          <a:prstGeom prst="rect">
            <a:avLst/>
          </a:prstGeom>
          <a:solidFill>
            <a:srgbClr val="FFFFFF"/>
          </a:solidFill>
          <a:ln w="9525">
            <a:solidFill>
              <a:srgbClr val="C9D3DF"/>
            </a:solidFill>
            <a:prstDash val="solid"/>
          </a:ln>
        </p:spPr>
      </p:sp>
      <p:sp>
        <p:nvSpPr>
          <p:cNvPr id="93" name="anim_2_1047"/>
          <p:cNvSpPr txBox="1"/>
          <p:nvPr/>
        </p:nvSpPr>
        <p:spPr>
          <a:xfrm>
            <a:off x="585216" y="4261104"/>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‪0.0006‬</a:t>
            </a:r>
            <a:endParaRPr lang="fa-IR" sz="1300" dirty="0"/>
          </a:p>
        </p:txBody>
      </p:sp>
      <p:sp>
        <p:nvSpPr>
          <p:cNvPr id="94" name="anim_3_1048"/>
          <p:cNvSpPr/>
          <p:nvPr/>
        </p:nvSpPr>
        <p:spPr>
          <a:xfrm>
            <a:off x="5577840" y="4663440"/>
            <a:ext cx="914400" cy="310896"/>
          </a:xfrm>
          <a:prstGeom prst="rect">
            <a:avLst/>
          </a:prstGeom>
          <a:solidFill>
            <a:schemeClr val="tx2"/>
          </a:solidFill>
          <a:ln w="9525">
            <a:solidFill>
              <a:srgbClr val="C9D3DF"/>
            </a:solidFill>
            <a:prstDash val="solid"/>
          </a:ln>
        </p:spPr>
      </p:sp>
      <p:sp>
        <p:nvSpPr>
          <p:cNvPr id="95" name="anim_3_1049"/>
          <p:cNvSpPr txBox="1"/>
          <p:nvPr/>
        </p:nvSpPr>
        <p:spPr>
          <a:xfrm>
            <a:off x="5614416" y="4663440"/>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a:t>
            </a:r>
            <a:endParaRPr lang="fa-IR" sz="1200" dirty="0"/>
          </a:p>
        </p:txBody>
      </p:sp>
      <p:sp>
        <p:nvSpPr>
          <p:cNvPr id="96" name="anim_3_1050"/>
          <p:cNvSpPr/>
          <p:nvPr/>
        </p:nvSpPr>
        <p:spPr>
          <a:xfrm>
            <a:off x="4663440" y="4663440"/>
            <a:ext cx="914400" cy="310896"/>
          </a:xfrm>
          <a:prstGeom prst="rect">
            <a:avLst/>
          </a:prstGeom>
          <a:solidFill>
            <a:schemeClr val="tx2"/>
          </a:solidFill>
          <a:ln w="9525">
            <a:solidFill>
              <a:srgbClr val="C9D3DF"/>
            </a:solidFill>
            <a:prstDash val="solid"/>
          </a:ln>
        </p:spPr>
      </p:sp>
      <p:sp>
        <p:nvSpPr>
          <p:cNvPr id="97" name="anim_3_1051"/>
          <p:cNvSpPr txBox="1"/>
          <p:nvPr/>
        </p:nvSpPr>
        <p:spPr>
          <a:xfrm>
            <a:off x="4700016" y="4663440"/>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 تعدیل</a:t>
            </a:r>
            <a:endParaRPr lang="fa-IR" sz="1200" dirty="0"/>
          </a:p>
        </p:txBody>
      </p:sp>
      <p:sp>
        <p:nvSpPr>
          <p:cNvPr id="98" name="anim_3_1052"/>
          <p:cNvSpPr/>
          <p:nvPr/>
        </p:nvSpPr>
        <p:spPr>
          <a:xfrm>
            <a:off x="3657600" y="4663440"/>
            <a:ext cx="1005840" cy="310896"/>
          </a:xfrm>
          <a:prstGeom prst="rect">
            <a:avLst/>
          </a:prstGeom>
          <a:solidFill>
            <a:schemeClr val="tx2"/>
          </a:solidFill>
          <a:ln w="9525">
            <a:solidFill>
              <a:srgbClr val="C9D3DF"/>
            </a:solidFill>
            <a:prstDash val="solid"/>
          </a:ln>
        </p:spPr>
      </p:sp>
      <p:sp>
        <p:nvSpPr>
          <p:cNvPr id="99" name="anim_3_1053"/>
          <p:cNvSpPr txBox="1"/>
          <p:nvPr/>
        </p:nvSpPr>
        <p:spPr>
          <a:xfrm>
            <a:off x="3694176" y="4663440"/>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D-W</a:t>
            </a:r>
            <a:endParaRPr lang="fa-IR" sz="1200" dirty="0"/>
          </a:p>
        </p:txBody>
      </p:sp>
      <p:sp>
        <p:nvSpPr>
          <p:cNvPr id="100" name="anim_3_1054"/>
          <p:cNvSpPr/>
          <p:nvPr/>
        </p:nvSpPr>
        <p:spPr>
          <a:xfrm>
            <a:off x="2743200" y="4663440"/>
            <a:ext cx="914400" cy="310896"/>
          </a:xfrm>
          <a:prstGeom prst="rect">
            <a:avLst/>
          </a:prstGeom>
          <a:solidFill>
            <a:schemeClr val="tx2"/>
          </a:solidFill>
          <a:ln w="9525">
            <a:solidFill>
              <a:srgbClr val="C9D3DF"/>
            </a:solidFill>
            <a:prstDash val="solid"/>
          </a:ln>
        </p:spPr>
      </p:sp>
      <p:sp>
        <p:nvSpPr>
          <p:cNvPr id="101" name="anim_3_1055"/>
          <p:cNvSpPr txBox="1"/>
          <p:nvPr/>
        </p:nvSpPr>
        <p:spPr>
          <a:xfrm>
            <a:off x="2779776" y="4663440"/>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آمارهٔ F</a:t>
            </a:r>
            <a:endParaRPr lang="fa-IR" sz="1200" dirty="0"/>
          </a:p>
        </p:txBody>
      </p:sp>
      <p:sp>
        <p:nvSpPr>
          <p:cNvPr id="102" name="anim_3_1056"/>
          <p:cNvSpPr/>
          <p:nvPr/>
        </p:nvSpPr>
        <p:spPr>
          <a:xfrm>
            <a:off x="1737360" y="4663440"/>
            <a:ext cx="1005840" cy="310896"/>
          </a:xfrm>
          <a:prstGeom prst="rect">
            <a:avLst/>
          </a:prstGeom>
          <a:solidFill>
            <a:schemeClr val="tx2"/>
          </a:solidFill>
          <a:ln w="9525">
            <a:solidFill>
              <a:srgbClr val="C9D3DF"/>
            </a:solidFill>
            <a:prstDash val="solid"/>
          </a:ln>
        </p:spPr>
      </p:sp>
      <p:sp>
        <p:nvSpPr>
          <p:cNvPr id="103" name="anim_3_1057"/>
          <p:cNvSpPr txBox="1"/>
          <p:nvPr/>
        </p:nvSpPr>
        <p:spPr>
          <a:xfrm>
            <a:off x="1773936" y="4663440"/>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Prob(F)</a:t>
            </a:r>
            <a:endParaRPr lang="fa-IR" sz="1200" dirty="0"/>
          </a:p>
        </p:txBody>
      </p:sp>
      <p:sp>
        <p:nvSpPr>
          <p:cNvPr id="104" name="anim_3_1058"/>
          <p:cNvSpPr/>
          <p:nvPr/>
        </p:nvSpPr>
        <p:spPr>
          <a:xfrm>
            <a:off x="548640" y="4663440"/>
            <a:ext cx="1188720" cy="310896"/>
          </a:xfrm>
          <a:prstGeom prst="rect">
            <a:avLst/>
          </a:prstGeom>
          <a:solidFill>
            <a:schemeClr val="tx2"/>
          </a:solidFill>
          <a:ln w="9525">
            <a:solidFill>
              <a:srgbClr val="C9D3DF"/>
            </a:solidFill>
            <a:prstDash val="solid"/>
          </a:ln>
        </p:spPr>
      </p:sp>
      <p:sp>
        <p:nvSpPr>
          <p:cNvPr id="105" name="anim_3_1059"/>
          <p:cNvSpPr txBox="1"/>
          <p:nvPr/>
        </p:nvSpPr>
        <p:spPr>
          <a:xfrm>
            <a:off x="585216" y="4663440"/>
            <a:ext cx="111556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مشاهده/مقطع</a:t>
            </a:r>
            <a:endParaRPr lang="fa-IR" sz="1200" dirty="0"/>
          </a:p>
        </p:txBody>
      </p:sp>
      <p:sp>
        <p:nvSpPr>
          <p:cNvPr id="106" name="anim_3_1060"/>
          <p:cNvSpPr/>
          <p:nvPr/>
        </p:nvSpPr>
        <p:spPr>
          <a:xfrm>
            <a:off x="5577840" y="4974336"/>
            <a:ext cx="914400" cy="310896"/>
          </a:xfrm>
          <a:prstGeom prst="rect">
            <a:avLst/>
          </a:prstGeom>
          <a:solidFill>
            <a:srgbClr val="FFFFFF"/>
          </a:solidFill>
          <a:ln w="9525">
            <a:solidFill>
              <a:srgbClr val="C9D3DF"/>
            </a:solidFill>
            <a:prstDash val="solid"/>
          </a:ln>
        </p:spPr>
      </p:sp>
      <p:sp>
        <p:nvSpPr>
          <p:cNvPr id="107" name="anim_3_1061"/>
          <p:cNvSpPr txBox="1"/>
          <p:nvPr/>
        </p:nvSpPr>
        <p:spPr>
          <a:xfrm>
            <a:off x="5614416" y="4974336"/>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‪0.4690‬</a:t>
            </a:r>
            <a:endParaRPr lang="fa-IR" sz="1200" dirty="0"/>
          </a:p>
        </p:txBody>
      </p:sp>
      <p:sp>
        <p:nvSpPr>
          <p:cNvPr id="108" name="anim_3_1062"/>
          <p:cNvSpPr/>
          <p:nvPr/>
        </p:nvSpPr>
        <p:spPr>
          <a:xfrm>
            <a:off x="4663440" y="4974336"/>
            <a:ext cx="914400" cy="310896"/>
          </a:xfrm>
          <a:prstGeom prst="rect">
            <a:avLst/>
          </a:prstGeom>
          <a:solidFill>
            <a:srgbClr val="FFFFFF"/>
          </a:solidFill>
          <a:ln w="9525">
            <a:solidFill>
              <a:srgbClr val="C9D3DF"/>
            </a:solidFill>
            <a:prstDash val="solid"/>
          </a:ln>
        </p:spPr>
      </p:sp>
      <p:sp>
        <p:nvSpPr>
          <p:cNvPr id="109" name="anim_3_1063"/>
          <p:cNvSpPr txBox="1"/>
          <p:nvPr/>
        </p:nvSpPr>
        <p:spPr>
          <a:xfrm>
            <a:off x="4700016" y="4974336"/>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‪0.4439‬</a:t>
            </a:r>
            <a:endParaRPr lang="fa-IR" sz="1200" dirty="0"/>
          </a:p>
        </p:txBody>
      </p:sp>
      <p:sp>
        <p:nvSpPr>
          <p:cNvPr id="110" name="anim_3_1064"/>
          <p:cNvSpPr/>
          <p:nvPr/>
        </p:nvSpPr>
        <p:spPr>
          <a:xfrm>
            <a:off x="3657600" y="4974336"/>
            <a:ext cx="1005840" cy="310896"/>
          </a:xfrm>
          <a:prstGeom prst="rect">
            <a:avLst/>
          </a:prstGeom>
          <a:solidFill>
            <a:srgbClr val="FFFFFF"/>
          </a:solidFill>
          <a:ln w="9525">
            <a:solidFill>
              <a:srgbClr val="C9D3DF"/>
            </a:solidFill>
            <a:prstDash val="solid"/>
          </a:ln>
        </p:spPr>
      </p:sp>
      <p:sp>
        <p:nvSpPr>
          <p:cNvPr id="111" name="anim_3_1065"/>
          <p:cNvSpPr txBox="1"/>
          <p:nvPr/>
        </p:nvSpPr>
        <p:spPr>
          <a:xfrm>
            <a:off x="3694176" y="4974336"/>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‪1.6732‬</a:t>
            </a:r>
            <a:endParaRPr lang="fa-IR" sz="1200" dirty="0"/>
          </a:p>
        </p:txBody>
      </p:sp>
      <p:sp>
        <p:nvSpPr>
          <p:cNvPr id="112" name="anim_3_1066"/>
          <p:cNvSpPr/>
          <p:nvPr/>
        </p:nvSpPr>
        <p:spPr>
          <a:xfrm>
            <a:off x="2743200" y="4974336"/>
            <a:ext cx="914400" cy="310896"/>
          </a:xfrm>
          <a:prstGeom prst="rect">
            <a:avLst/>
          </a:prstGeom>
          <a:solidFill>
            <a:srgbClr val="FFFFFF"/>
          </a:solidFill>
          <a:ln w="9525">
            <a:solidFill>
              <a:srgbClr val="C9D3DF"/>
            </a:solidFill>
            <a:prstDash val="solid"/>
          </a:ln>
        </p:spPr>
      </p:sp>
      <p:sp>
        <p:nvSpPr>
          <p:cNvPr id="113" name="anim_3_1067"/>
          <p:cNvSpPr txBox="1"/>
          <p:nvPr/>
        </p:nvSpPr>
        <p:spPr>
          <a:xfrm>
            <a:off x="2779776" y="4974336"/>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‪34.5807‬</a:t>
            </a:r>
            <a:endParaRPr lang="fa-IR" sz="1200" dirty="0"/>
          </a:p>
        </p:txBody>
      </p:sp>
      <p:sp>
        <p:nvSpPr>
          <p:cNvPr id="114" name="anim_3_1068"/>
          <p:cNvSpPr/>
          <p:nvPr/>
        </p:nvSpPr>
        <p:spPr>
          <a:xfrm>
            <a:off x="1737360" y="4974336"/>
            <a:ext cx="1005840" cy="310896"/>
          </a:xfrm>
          <a:prstGeom prst="rect">
            <a:avLst/>
          </a:prstGeom>
          <a:solidFill>
            <a:srgbClr val="FFFFFF"/>
          </a:solidFill>
          <a:ln w="9525">
            <a:solidFill>
              <a:srgbClr val="C9D3DF"/>
            </a:solidFill>
            <a:prstDash val="solid"/>
          </a:ln>
        </p:spPr>
      </p:sp>
      <p:sp>
        <p:nvSpPr>
          <p:cNvPr id="115" name="anim_3_1069"/>
          <p:cNvSpPr txBox="1"/>
          <p:nvPr/>
        </p:nvSpPr>
        <p:spPr>
          <a:xfrm>
            <a:off x="1773936" y="4974336"/>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‪&lt; 0.0001‬</a:t>
            </a:r>
            <a:endParaRPr lang="fa-IR" sz="1200" dirty="0"/>
          </a:p>
        </p:txBody>
      </p:sp>
      <p:sp>
        <p:nvSpPr>
          <p:cNvPr id="116" name="anim_3_1070"/>
          <p:cNvSpPr/>
          <p:nvPr/>
        </p:nvSpPr>
        <p:spPr>
          <a:xfrm>
            <a:off x="548640" y="4974336"/>
            <a:ext cx="1188720" cy="310896"/>
          </a:xfrm>
          <a:prstGeom prst="rect">
            <a:avLst/>
          </a:prstGeom>
          <a:solidFill>
            <a:srgbClr val="FFFFFF"/>
          </a:solidFill>
          <a:ln w="9525">
            <a:solidFill>
              <a:srgbClr val="C9D3DF"/>
            </a:solidFill>
            <a:prstDash val="solid"/>
          </a:ln>
        </p:spPr>
      </p:sp>
      <p:sp>
        <p:nvSpPr>
          <p:cNvPr id="117" name="anim_3_1071"/>
          <p:cNvSpPr txBox="1"/>
          <p:nvPr/>
        </p:nvSpPr>
        <p:spPr>
          <a:xfrm>
            <a:off x="585216" y="4974336"/>
            <a:ext cx="111556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‪852 / 132‬</a:t>
            </a:r>
            <a:endParaRPr lang="fa-IR" sz="1200" dirty="0"/>
          </a:p>
        </p:txBody>
      </p:sp>
      <p:sp>
        <p:nvSpPr>
          <p:cNvPr id="118" name="anim_4_1072"/>
          <p:cNvSpPr/>
          <p:nvPr/>
        </p:nvSpPr>
        <p:spPr>
          <a:xfrm>
            <a:off x="548640" y="5376672"/>
            <a:ext cx="5943600" cy="932688"/>
          </a:xfrm>
          <a:prstGeom prst="roundRect">
            <a:avLst>
              <a:gd name="adj" fmla="val 11765"/>
            </a:avLst>
          </a:prstGeom>
          <a:solidFill>
            <a:schemeClr val="bg2"/>
          </a:solidFill>
          <a:ln/>
          <a:effectLst>
            <a:outerShdw sx="100000" sy="100000" kx="0" ky="0" algn="bl" rotWithShape="0" blurRad="101600" dist="25400" dir="5400000">
              <a:srgbClr val="000000">
                <a:alpha val="12000"/>
              </a:srgbClr>
            </a:outerShdw>
          </a:effectLst>
        </p:spPr>
      </p:sp>
      <p:sp>
        <p:nvSpPr>
          <p:cNvPr id="119" name="anim_4_1073"/>
          <p:cNvSpPr txBox="1"/>
          <p:nvPr/>
        </p:nvSpPr>
        <p:spPr>
          <a:xfrm>
            <a:off x="731520" y="5404104"/>
            <a:ext cx="5577840" cy="877824"/>
          </a:xfrm>
          <a:prstGeom prst="rect">
            <a:avLst/>
          </a:prstGeom>
          <a:noFill/>
          <a:ln/>
        </p:spPr>
        <p:txBody>
          <a:bodyPr wrap="square" lIns="0" tIns="0" rIns="0" bIns="0" rtlCol="0" anchor="ctr"/>
          <a:lstStyle/>
          <a:p>
            <a:pPr rtl="1" algn="r" indent="0" marL="0">
              <a:buNone/>
            </a:pPr>
            <a:r>
              <a:rPr lang="fa-IR" altLang="en-US" sz="1500" b="1" dirty="0">
                <a:solidFill>
                  <a:schemeClr val="tx2"/>
                </a:solidFill>
                <a:latin typeface="B Nazanin" pitchFamily="34" charset="0"/>
                <a:ea typeface="B Nazanin" pitchFamily="34" charset="-122"/>
                <a:cs typeface="B Nazanin" pitchFamily="34" charset="-120"/>
              </a:rPr>
              <a:t>مؤسسات کوچک برای حفظ مشتریان مهم تخفیف می‌دهند؛ در مؤسسات بزرگ به دلیل تنوع سبد مشتریان این فشار ضعیف‌تر است.</a:t>
            </a:r>
            <a:endParaRPr lang="fa-IR" sz="1500" dirty="0"/>
          </a:p>
        </p:txBody>
      </p:sp>
      <p:sp>
        <p:nvSpPr>
          <p:cNvPr id="120" name="anim_5_1074"/>
          <p:cNvSpPr/>
          <p:nvPr/>
        </p:nvSpPr>
        <p:spPr>
          <a:xfrm>
            <a:off x="6720840" y="2084832"/>
            <a:ext cx="4919472" cy="3017520"/>
          </a:xfrm>
          <a:prstGeom prst="roundRect">
            <a:avLst>
              <a:gd name="adj" fmla="val 3636"/>
            </a:avLst>
          </a:prstGeom>
          <a:solidFill>
            <a:schemeClr val="bg2"/>
          </a:solidFill>
          <a:ln/>
          <a:effectLst>
            <a:outerShdw sx="100000" sy="100000" kx="0" ky="0" algn="bl" rotWithShape="0" blurRad="101600" dist="25400" dir="5400000">
              <a:srgbClr val="000000">
                <a:alpha val="12000"/>
              </a:srgbClr>
            </a:outerShdw>
          </a:effectLst>
        </p:spPr>
      </p:sp>
      <p:sp>
        <p:nvSpPr>
          <p:cNvPr id="121" name="anim_5_1075"/>
          <p:cNvSpPr txBox="1"/>
          <p:nvPr/>
        </p:nvSpPr>
        <p:spPr>
          <a:xfrm>
            <a:off x="6858000" y="2130552"/>
            <a:ext cx="4663440" cy="2926080"/>
          </a:xfrm>
          <a:prstGeom prst="rect">
            <a:avLst/>
          </a:prstGeom>
          <a:noFill/>
          <a:ln/>
        </p:spPr>
        <p:txBody>
          <a:bodyPr wrap="square" lIns="0" tIns="0" rIns="0" bIns="0" rtlCol="0" anchor="t"/>
          <a:lstStyle/>
          <a:p>
            <a:pPr algn="r" indent="0" marL="0">
              <a:spcAft>
                <a:spcPts val="300"/>
              </a:spcAft>
              <a:buNone/>
            </a:pPr>
            <a:r>
              <a:rPr lang="fa-IR" altLang="en-US" sz="1600" b="1" dirty="0">
                <a:solidFill>
                  <a:schemeClr val="accent1"/>
                </a:solidFill>
                <a:latin typeface="B Nazanin" pitchFamily="34" charset="0"/>
                <a:ea typeface="B Nazanin" pitchFamily="34" charset="-122"/>
                <a:cs typeface="B Nazanin" pitchFamily="34" charset="-120"/>
              </a:rPr>
              <a:t>تفسیر نتیجه</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در مؤسسات کوچک، هر واحد افزایش اهمیت مشتری با 0.296 واحد کاهش لگاریتم هزینه همراه است (احتمال 0.0108)</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ضریب تعاملی مثبت و معنادار است (0.187)؛ اثر خالص مؤسسات بزرگ 0.109- و حدود 63٪ ضعیف‌تر است</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اندازه و اهرم اثر مثبت و سودآوری اثر منفی دارند؛ مطابق نظریه</a:t>
            </a:r>
            <a:endParaRPr lang="fa-IR" sz="1400" dirty="0"/>
          </a:p>
        </p:txBody>
      </p:sp>
      <p:sp>
        <p:nvSpPr>
          <p:cNvPr id="122" name="anim_6_1076"/>
          <p:cNvSpPr/>
          <p:nvPr/>
        </p:nvSpPr>
        <p:spPr>
          <a:xfrm>
            <a:off x="6720840" y="5193792"/>
            <a:ext cx="4919472" cy="1115568"/>
          </a:xfrm>
          <a:prstGeom prst="roundRect">
            <a:avLst>
              <a:gd name="adj" fmla="val 9836"/>
            </a:avLst>
          </a:prstGeom>
          <a:solidFill>
            <a:schemeClr val="bg2"/>
          </a:solidFill>
          <a:ln/>
          <a:effectLst>
            <a:outerShdw sx="100000" sy="100000" kx="0" ky="0" algn="bl" rotWithShape="0" blurRad="101600" dist="25400" dir="5400000">
              <a:srgbClr val="000000">
                <a:alpha val="12000"/>
              </a:srgbClr>
            </a:outerShdw>
          </a:effectLst>
        </p:spPr>
      </p:sp>
      <p:sp>
        <p:nvSpPr>
          <p:cNvPr id="123" name="anim_6_1077"/>
          <p:cNvSpPr txBox="1"/>
          <p:nvPr/>
        </p:nvSpPr>
        <p:spPr>
          <a:xfrm>
            <a:off x="6858000" y="5212080"/>
            <a:ext cx="4663440" cy="1078992"/>
          </a:xfrm>
          <a:prstGeom prst="rect">
            <a:avLst/>
          </a:prstGeom>
          <a:noFill/>
          <a:ln/>
        </p:spPr>
        <p:txBody>
          <a:bodyPr wrap="square" lIns="0" tIns="0" rIns="0" bIns="0" rtlCol="0" anchor="t"/>
          <a:lstStyle/>
          <a:p>
            <a:pPr algn="r" indent="0" marL="0">
              <a:spcAft>
                <a:spcPts val="100"/>
              </a:spcAft>
              <a:buNone/>
            </a:pPr>
            <a:r>
              <a:rPr lang="fa-IR" altLang="en-US" sz="1500" b="1" dirty="0">
                <a:solidFill>
                  <a:schemeClr val="accent3"/>
                </a:solidFill>
                <a:latin typeface="B Nazanin" pitchFamily="34" charset="0"/>
                <a:ea typeface="B Nazanin" pitchFamily="34" charset="-122"/>
                <a:cs typeface="B Nazanin" pitchFamily="34" charset="-120"/>
              </a:rPr>
              <a:t>مقایسه با پیشینه</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همسو: رشیدی و حاجی‌زاده (1403)، چو و همکاران (2020) و کارسون و فارگر (2007)</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ناهمسو: چو و همکاران (2020) در جمع‌بندی کلی وابستگی را عامل اصلی نمی‌دانند</a:t>
            </a:r>
            <a:endParaRPr lang="fa-IR" sz="13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6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3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3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3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3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3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3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3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3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3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35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35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35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35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3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3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3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3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3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3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3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35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35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35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35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35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35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35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35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35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35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35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35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35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35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35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35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35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35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3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35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35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35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35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35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35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35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35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35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35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35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35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35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35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35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35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35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35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35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35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35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35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35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35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35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35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35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35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35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35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35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35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35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35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35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35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35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35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35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70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70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70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70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70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70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par>
                                <p:cTn id="295" presetID="10" presetClass="entr" presetSubtype="0" fill="hold" nodeType="withEffect">
                                  <p:stCondLst>
                                    <p:cond delay="70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600"/>
                                        <p:tgtEl>
                                          <p:spTgt spid="100"/>
                                        </p:tgtEl>
                                      </p:cBhvr>
                                    </p:animEffect>
                                  </p:childTnLst>
                                </p:cTn>
                              </p:par>
                              <p:par>
                                <p:cTn id="298" presetID="10" presetClass="entr" presetSubtype="0" fill="hold" nodeType="withEffect">
                                  <p:stCondLst>
                                    <p:cond delay="70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600"/>
                                        <p:tgtEl>
                                          <p:spTgt spid="101"/>
                                        </p:tgtEl>
                                      </p:cBhvr>
                                    </p:animEffect>
                                  </p:childTnLst>
                                </p:cTn>
                              </p:par>
                              <p:par>
                                <p:cTn id="301" presetID="10" presetClass="entr" presetSubtype="0" fill="hold" nodeType="withEffect">
                                  <p:stCondLst>
                                    <p:cond delay="700"/>
                                  </p:stCondLst>
                                  <p:childTnLst>
                                    <p:set>
                                      <p:cBhvr>
                                        <p:cTn id="302" dur="1" fill="hold">
                                          <p:stCondLst>
                                            <p:cond delay="0"/>
                                          </p:stCondLst>
                                        </p:cTn>
                                        <p:tgtEl>
                                          <p:spTgt spid="102"/>
                                        </p:tgtEl>
                                        <p:attrNameLst>
                                          <p:attrName>style.visibility</p:attrName>
                                        </p:attrNameLst>
                                      </p:cBhvr>
                                      <p:to>
                                        <p:strVal val="visible"/>
                                      </p:to>
                                    </p:set>
                                    <p:animEffect transition="in" filter="fade">
                                      <p:cBhvr>
                                        <p:cTn id="303" dur="600"/>
                                        <p:tgtEl>
                                          <p:spTgt spid="102"/>
                                        </p:tgtEl>
                                      </p:cBhvr>
                                    </p:animEffect>
                                  </p:childTnLst>
                                </p:cTn>
                              </p:par>
                              <p:par>
                                <p:cTn id="304" presetID="10" presetClass="entr" presetSubtype="0" fill="hold" nodeType="withEffect">
                                  <p:stCondLst>
                                    <p:cond delay="700"/>
                                  </p:stCondLst>
                                  <p:childTnLst>
                                    <p:set>
                                      <p:cBhvr>
                                        <p:cTn id="305" dur="1" fill="hold">
                                          <p:stCondLst>
                                            <p:cond delay="0"/>
                                          </p:stCondLst>
                                        </p:cTn>
                                        <p:tgtEl>
                                          <p:spTgt spid="103"/>
                                        </p:tgtEl>
                                        <p:attrNameLst>
                                          <p:attrName>style.visibility</p:attrName>
                                        </p:attrNameLst>
                                      </p:cBhvr>
                                      <p:to>
                                        <p:strVal val="visible"/>
                                      </p:to>
                                    </p:set>
                                    <p:animEffect transition="in" filter="fade">
                                      <p:cBhvr>
                                        <p:cTn id="306" dur="600"/>
                                        <p:tgtEl>
                                          <p:spTgt spid="103"/>
                                        </p:tgtEl>
                                      </p:cBhvr>
                                    </p:animEffect>
                                  </p:childTnLst>
                                </p:cTn>
                              </p:par>
                              <p:par>
                                <p:cTn id="307" presetID="10" presetClass="entr" presetSubtype="0" fill="hold" nodeType="withEffect">
                                  <p:stCondLst>
                                    <p:cond delay="700"/>
                                  </p:stCondLst>
                                  <p:childTnLst>
                                    <p:set>
                                      <p:cBhvr>
                                        <p:cTn id="308" dur="1" fill="hold">
                                          <p:stCondLst>
                                            <p:cond delay="0"/>
                                          </p:stCondLst>
                                        </p:cTn>
                                        <p:tgtEl>
                                          <p:spTgt spid="104"/>
                                        </p:tgtEl>
                                        <p:attrNameLst>
                                          <p:attrName>style.visibility</p:attrName>
                                        </p:attrNameLst>
                                      </p:cBhvr>
                                      <p:to>
                                        <p:strVal val="visible"/>
                                      </p:to>
                                    </p:set>
                                    <p:animEffect transition="in" filter="fade">
                                      <p:cBhvr>
                                        <p:cTn id="309" dur="600"/>
                                        <p:tgtEl>
                                          <p:spTgt spid="104"/>
                                        </p:tgtEl>
                                      </p:cBhvr>
                                    </p:animEffect>
                                  </p:childTnLst>
                                </p:cTn>
                              </p:par>
                              <p:par>
                                <p:cTn id="310" presetID="10" presetClass="entr" presetSubtype="0" fill="hold" nodeType="withEffect">
                                  <p:stCondLst>
                                    <p:cond delay="700"/>
                                  </p:stCondLst>
                                  <p:childTnLst>
                                    <p:set>
                                      <p:cBhvr>
                                        <p:cTn id="311" dur="1" fill="hold">
                                          <p:stCondLst>
                                            <p:cond delay="0"/>
                                          </p:stCondLst>
                                        </p:cTn>
                                        <p:tgtEl>
                                          <p:spTgt spid="105"/>
                                        </p:tgtEl>
                                        <p:attrNameLst>
                                          <p:attrName>style.visibility</p:attrName>
                                        </p:attrNameLst>
                                      </p:cBhvr>
                                      <p:to>
                                        <p:strVal val="visible"/>
                                      </p:to>
                                    </p:set>
                                    <p:animEffect transition="in" filter="fade">
                                      <p:cBhvr>
                                        <p:cTn id="312" dur="600"/>
                                        <p:tgtEl>
                                          <p:spTgt spid="105"/>
                                        </p:tgtEl>
                                      </p:cBhvr>
                                    </p:animEffect>
                                  </p:childTnLst>
                                </p:cTn>
                              </p:par>
                              <p:par>
                                <p:cTn id="313" presetID="10" presetClass="entr" presetSubtype="0" fill="hold" nodeType="withEffect">
                                  <p:stCondLst>
                                    <p:cond delay="700"/>
                                  </p:stCondLst>
                                  <p:childTnLst>
                                    <p:set>
                                      <p:cBhvr>
                                        <p:cTn id="314" dur="1" fill="hold">
                                          <p:stCondLst>
                                            <p:cond delay="0"/>
                                          </p:stCondLst>
                                        </p:cTn>
                                        <p:tgtEl>
                                          <p:spTgt spid="106"/>
                                        </p:tgtEl>
                                        <p:attrNameLst>
                                          <p:attrName>style.visibility</p:attrName>
                                        </p:attrNameLst>
                                      </p:cBhvr>
                                      <p:to>
                                        <p:strVal val="visible"/>
                                      </p:to>
                                    </p:set>
                                    <p:animEffect transition="in" filter="fade">
                                      <p:cBhvr>
                                        <p:cTn id="315" dur="600"/>
                                        <p:tgtEl>
                                          <p:spTgt spid="106"/>
                                        </p:tgtEl>
                                      </p:cBhvr>
                                    </p:animEffect>
                                  </p:childTnLst>
                                </p:cTn>
                              </p:par>
                              <p:par>
                                <p:cTn id="316" presetID="10" presetClass="entr" presetSubtype="0" fill="hold" nodeType="withEffect">
                                  <p:stCondLst>
                                    <p:cond delay="700"/>
                                  </p:stCondLst>
                                  <p:childTnLst>
                                    <p:set>
                                      <p:cBhvr>
                                        <p:cTn id="317" dur="1" fill="hold">
                                          <p:stCondLst>
                                            <p:cond delay="0"/>
                                          </p:stCondLst>
                                        </p:cTn>
                                        <p:tgtEl>
                                          <p:spTgt spid="107"/>
                                        </p:tgtEl>
                                        <p:attrNameLst>
                                          <p:attrName>style.visibility</p:attrName>
                                        </p:attrNameLst>
                                      </p:cBhvr>
                                      <p:to>
                                        <p:strVal val="visible"/>
                                      </p:to>
                                    </p:set>
                                    <p:animEffect transition="in" filter="fade">
                                      <p:cBhvr>
                                        <p:cTn id="318" dur="600"/>
                                        <p:tgtEl>
                                          <p:spTgt spid="107"/>
                                        </p:tgtEl>
                                      </p:cBhvr>
                                    </p:animEffect>
                                  </p:childTnLst>
                                </p:cTn>
                              </p:par>
                              <p:par>
                                <p:cTn id="319" presetID="10" presetClass="entr" presetSubtype="0" fill="hold" nodeType="withEffect">
                                  <p:stCondLst>
                                    <p:cond delay="700"/>
                                  </p:stCondLst>
                                  <p:childTnLst>
                                    <p:set>
                                      <p:cBhvr>
                                        <p:cTn id="320" dur="1" fill="hold">
                                          <p:stCondLst>
                                            <p:cond delay="0"/>
                                          </p:stCondLst>
                                        </p:cTn>
                                        <p:tgtEl>
                                          <p:spTgt spid="108"/>
                                        </p:tgtEl>
                                        <p:attrNameLst>
                                          <p:attrName>style.visibility</p:attrName>
                                        </p:attrNameLst>
                                      </p:cBhvr>
                                      <p:to>
                                        <p:strVal val="visible"/>
                                      </p:to>
                                    </p:set>
                                    <p:animEffect transition="in" filter="fade">
                                      <p:cBhvr>
                                        <p:cTn id="321" dur="600"/>
                                        <p:tgtEl>
                                          <p:spTgt spid="108"/>
                                        </p:tgtEl>
                                      </p:cBhvr>
                                    </p:animEffect>
                                  </p:childTnLst>
                                </p:cTn>
                              </p:par>
                              <p:par>
                                <p:cTn id="322" presetID="10" presetClass="entr" presetSubtype="0" fill="hold" nodeType="withEffect">
                                  <p:stCondLst>
                                    <p:cond delay="700"/>
                                  </p:stCondLst>
                                  <p:childTnLst>
                                    <p:set>
                                      <p:cBhvr>
                                        <p:cTn id="323" dur="1" fill="hold">
                                          <p:stCondLst>
                                            <p:cond delay="0"/>
                                          </p:stCondLst>
                                        </p:cTn>
                                        <p:tgtEl>
                                          <p:spTgt spid="109"/>
                                        </p:tgtEl>
                                        <p:attrNameLst>
                                          <p:attrName>style.visibility</p:attrName>
                                        </p:attrNameLst>
                                      </p:cBhvr>
                                      <p:to>
                                        <p:strVal val="visible"/>
                                      </p:to>
                                    </p:set>
                                    <p:animEffect transition="in" filter="fade">
                                      <p:cBhvr>
                                        <p:cTn id="324" dur="600"/>
                                        <p:tgtEl>
                                          <p:spTgt spid="109"/>
                                        </p:tgtEl>
                                      </p:cBhvr>
                                    </p:animEffect>
                                  </p:childTnLst>
                                </p:cTn>
                              </p:par>
                              <p:par>
                                <p:cTn id="325" presetID="10" presetClass="entr" presetSubtype="0" fill="hold" nodeType="withEffect">
                                  <p:stCondLst>
                                    <p:cond delay="700"/>
                                  </p:stCondLst>
                                  <p:childTnLst>
                                    <p:set>
                                      <p:cBhvr>
                                        <p:cTn id="326" dur="1" fill="hold">
                                          <p:stCondLst>
                                            <p:cond delay="0"/>
                                          </p:stCondLst>
                                        </p:cTn>
                                        <p:tgtEl>
                                          <p:spTgt spid="110"/>
                                        </p:tgtEl>
                                        <p:attrNameLst>
                                          <p:attrName>style.visibility</p:attrName>
                                        </p:attrNameLst>
                                      </p:cBhvr>
                                      <p:to>
                                        <p:strVal val="visible"/>
                                      </p:to>
                                    </p:set>
                                    <p:animEffect transition="in" filter="fade">
                                      <p:cBhvr>
                                        <p:cTn id="327" dur="600"/>
                                        <p:tgtEl>
                                          <p:spTgt spid="110"/>
                                        </p:tgtEl>
                                      </p:cBhvr>
                                    </p:animEffect>
                                  </p:childTnLst>
                                </p:cTn>
                              </p:par>
                              <p:par>
                                <p:cTn id="328" presetID="10" presetClass="entr" presetSubtype="0" fill="hold" nodeType="withEffect">
                                  <p:stCondLst>
                                    <p:cond delay="700"/>
                                  </p:stCondLst>
                                  <p:childTnLst>
                                    <p:set>
                                      <p:cBhvr>
                                        <p:cTn id="329" dur="1" fill="hold">
                                          <p:stCondLst>
                                            <p:cond delay="0"/>
                                          </p:stCondLst>
                                        </p:cTn>
                                        <p:tgtEl>
                                          <p:spTgt spid="111"/>
                                        </p:tgtEl>
                                        <p:attrNameLst>
                                          <p:attrName>style.visibility</p:attrName>
                                        </p:attrNameLst>
                                      </p:cBhvr>
                                      <p:to>
                                        <p:strVal val="visible"/>
                                      </p:to>
                                    </p:set>
                                    <p:animEffect transition="in" filter="fade">
                                      <p:cBhvr>
                                        <p:cTn id="330" dur="600"/>
                                        <p:tgtEl>
                                          <p:spTgt spid="111"/>
                                        </p:tgtEl>
                                      </p:cBhvr>
                                    </p:animEffect>
                                  </p:childTnLst>
                                </p:cTn>
                              </p:par>
                              <p:par>
                                <p:cTn id="331" presetID="10" presetClass="entr" presetSubtype="0" fill="hold" nodeType="withEffect">
                                  <p:stCondLst>
                                    <p:cond delay="700"/>
                                  </p:stCondLst>
                                  <p:childTnLst>
                                    <p:set>
                                      <p:cBhvr>
                                        <p:cTn id="332" dur="1" fill="hold">
                                          <p:stCondLst>
                                            <p:cond delay="0"/>
                                          </p:stCondLst>
                                        </p:cTn>
                                        <p:tgtEl>
                                          <p:spTgt spid="112"/>
                                        </p:tgtEl>
                                        <p:attrNameLst>
                                          <p:attrName>style.visibility</p:attrName>
                                        </p:attrNameLst>
                                      </p:cBhvr>
                                      <p:to>
                                        <p:strVal val="visible"/>
                                      </p:to>
                                    </p:set>
                                    <p:animEffect transition="in" filter="fade">
                                      <p:cBhvr>
                                        <p:cTn id="333" dur="600"/>
                                        <p:tgtEl>
                                          <p:spTgt spid="112"/>
                                        </p:tgtEl>
                                      </p:cBhvr>
                                    </p:animEffect>
                                  </p:childTnLst>
                                </p:cTn>
                              </p:par>
                              <p:par>
                                <p:cTn id="334" presetID="10" presetClass="entr" presetSubtype="0" fill="hold" nodeType="withEffect">
                                  <p:stCondLst>
                                    <p:cond delay="700"/>
                                  </p:stCondLst>
                                  <p:childTnLst>
                                    <p:set>
                                      <p:cBhvr>
                                        <p:cTn id="335" dur="1" fill="hold">
                                          <p:stCondLst>
                                            <p:cond delay="0"/>
                                          </p:stCondLst>
                                        </p:cTn>
                                        <p:tgtEl>
                                          <p:spTgt spid="113"/>
                                        </p:tgtEl>
                                        <p:attrNameLst>
                                          <p:attrName>style.visibility</p:attrName>
                                        </p:attrNameLst>
                                      </p:cBhvr>
                                      <p:to>
                                        <p:strVal val="visible"/>
                                      </p:to>
                                    </p:set>
                                    <p:animEffect transition="in" filter="fade">
                                      <p:cBhvr>
                                        <p:cTn id="336" dur="600"/>
                                        <p:tgtEl>
                                          <p:spTgt spid="113"/>
                                        </p:tgtEl>
                                      </p:cBhvr>
                                    </p:animEffect>
                                  </p:childTnLst>
                                </p:cTn>
                              </p:par>
                              <p:par>
                                <p:cTn id="337" presetID="10" presetClass="entr" presetSubtype="0" fill="hold" nodeType="withEffect">
                                  <p:stCondLst>
                                    <p:cond delay="700"/>
                                  </p:stCondLst>
                                  <p:childTnLst>
                                    <p:set>
                                      <p:cBhvr>
                                        <p:cTn id="338" dur="1" fill="hold">
                                          <p:stCondLst>
                                            <p:cond delay="0"/>
                                          </p:stCondLst>
                                        </p:cTn>
                                        <p:tgtEl>
                                          <p:spTgt spid="114"/>
                                        </p:tgtEl>
                                        <p:attrNameLst>
                                          <p:attrName>style.visibility</p:attrName>
                                        </p:attrNameLst>
                                      </p:cBhvr>
                                      <p:to>
                                        <p:strVal val="visible"/>
                                      </p:to>
                                    </p:set>
                                    <p:animEffect transition="in" filter="fade">
                                      <p:cBhvr>
                                        <p:cTn id="339" dur="600"/>
                                        <p:tgtEl>
                                          <p:spTgt spid="114"/>
                                        </p:tgtEl>
                                      </p:cBhvr>
                                    </p:animEffect>
                                  </p:childTnLst>
                                </p:cTn>
                              </p:par>
                              <p:par>
                                <p:cTn id="340" presetID="10" presetClass="entr" presetSubtype="0" fill="hold" nodeType="withEffect">
                                  <p:stCondLst>
                                    <p:cond delay="700"/>
                                  </p:stCondLst>
                                  <p:childTnLst>
                                    <p:set>
                                      <p:cBhvr>
                                        <p:cTn id="341" dur="1" fill="hold">
                                          <p:stCondLst>
                                            <p:cond delay="0"/>
                                          </p:stCondLst>
                                        </p:cTn>
                                        <p:tgtEl>
                                          <p:spTgt spid="115"/>
                                        </p:tgtEl>
                                        <p:attrNameLst>
                                          <p:attrName>style.visibility</p:attrName>
                                        </p:attrNameLst>
                                      </p:cBhvr>
                                      <p:to>
                                        <p:strVal val="visible"/>
                                      </p:to>
                                    </p:set>
                                    <p:animEffect transition="in" filter="fade">
                                      <p:cBhvr>
                                        <p:cTn id="342" dur="600"/>
                                        <p:tgtEl>
                                          <p:spTgt spid="115"/>
                                        </p:tgtEl>
                                      </p:cBhvr>
                                    </p:animEffect>
                                  </p:childTnLst>
                                </p:cTn>
                              </p:par>
                              <p:par>
                                <p:cTn id="343" presetID="10" presetClass="entr" presetSubtype="0" fill="hold" nodeType="withEffect">
                                  <p:stCondLst>
                                    <p:cond delay="700"/>
                                  </p:stCondLst>
                                  <p:childTnLst>
                                    <p:set>
                                      <p:cBhvr>
                                        <p:cTn id="344" dur="1" fill="hold">
                                          <p:stCondLst>
                                            <p:cond delay="0"/>
                                          </p:stCondLst>
                                        </p:cTn>
                                        <p:tgtEl>
                                          <p:spTgt spid="116"/>
                                        </p:tgtEl>
                                        <p:attrNameLst>
                                          <p:attrName>style.visibility</p:attrName>
                                        </p:attrNameLst>
                                      </p:cBhvr>
                                      <p:to>
                                        <p:strVal val="visible"/>
                                      </p:to>
                                    </p:set>
                                    <p:animEffect transition="in" filter="fade">
                                      <p:cBhvr>
                                        <p:cTn id="345" dur="600"/>
                                        <p:tgtEl>
                                          <p:spTgt spid="116"/>
                                        </p:tgtEl>
                                      </p:cBhvr>
                                    </p:animEffect>
                                  </p:childTnLst>
                                </p:cTn>
                              </p:par>
                              <p:par>
                                <p:cTn id="346" presetID="10" presetClass="entr" presetSubtype="0" fill="hold" nodeType="withEffect">
                                  <p:stCondLst>
                                    <p:cond delay="700"/>
                                  </p:stCondLst>
                                  <p:childTnLst>
                                    <p:set>
                                      <p:cBhvr>
                                        <p:cTn id="347" dur="1" fill="hold">
                                          <p:stCondLst>
                                            <p:cond delay="0"/>
                                          </p:stCondLst>
                                        </p:cTn>
                                        <p:tgtEl>
                                          <p:spTgt spid="117"/>
                                        </p:tgtEl>
                                        <p:attrNameLst>
                                          <p:attrName>style.visibility</p:attrName>
                                        </p:attrNameLst>
                                      </p:cBhvr>
                                      <p:to>
                                        <p:strVal val="visible"/>
                                      </p:to>
                                    </p:set>
                                    <p:animEffect transition="in" filter="fade">
                                      <p:cBhvr>
                                        <p:cTn id="348" dur="600"/>
                                        <p:tgtEl>
                                          <p:spTgt spid="117"/>
                                        </p:tgtEl>
                                      </p:cBhvr>
                                    </p:animEffect>
                                  </p:childTnLst>
                                </p:cTn>
                              </p:par>
                              <p:par>
                                <p:cTn id="349" presetID="10" presetClass="entr" presetSubtype="0" fill="hold" nodeType="withEffect">
                                  <p:stCondLst>
                                    <p:cond delay="1050"/>
                                  </p:stCondLst>
                                  <p:childTnLst>
                                    <p:set>
                                      <p:cBhvr>
                                        <p:cTn id="350" dur="1" fill="hold">
                                          <p:stCondLst>
                                            <p:cond delay="0"/>
                                          </p:stCondLst>
                                        </p:cTn>
                                        <p:tgtEl>
                                          <p:spTgt spid="118"/>
                                        </p:tgtEl>
                                        <p:attrNameLst>
                                          <p:attrName>style.visibility</p:attrName>
                                        </p:attrNameLst>
                                      </p:cBhvr>
                                      <p:to>
                                        <p:strVal val="visible"/>
                                      </p:to>
                                    </p:set>
                                    <p:animEffect transition="in" filter="fade">
                                      <p:cBhvr>
                                        <p:cTn id="351" dur="600"/>
                                        <p:tgtEl>
                                          <p:spTgt spid="118"/>
                                        </p:tgtEl>
                                      </p:cBhvr>
                                    </p:animEffect>
                                  </p:childTnLst>
                                </p:cTn>
                              </p:par>
                              <p:par>
                                <p:cTn id="352" presetID="10" presetClass="entr" presetSubtype="0" fill="hold" nodeType="withEffect">
                                  <p:stCondLst>
                                    <p:cond delay="1050"/>
                                  </p:stCondLst>
                                  <p:childTnLst>
                                    <p:set>
                                      <p:cBhvr>
                                        <p:cTn id="353" dur="1" fill="hold">
                                          <p:stCondLst>
                                            <p:cond delay="0"/>
                                          </p:stCondLst>
                                        </p:cTn>
                                        <p:tgtEl>
                                          <p:spTgt spid="119"/>
                                        </p:tgtEl>
                                        <p:attrNameLst>
                                          <p:attrName>style.visibility</p:attrName>
                                        </p:attrNameLst>
                                      </p:cBhvr>
                                      <p:to>
                                        <p:strVal val="visible"/>
                                      </p:to>
                                    </p:set>
                                    <p:animEffect transition="in" filter="fade">
                                      <p:cBhvr>
                                        <p:cTn id="354" dur="600"/>
                                        <p:tgtEl>
                                          <p:spTgt spid="119"/>
                                        </p:tgtEl>
                                      </p:cBhvr>
                                    </p:animEffect>
                                  </p:childTnLst>
                                </p:cTn>
                              </p:par>
                              <p:par>
                                <p:cTn id="355" presetID="10" presetClass="entr" presetSubtype="0" fill="hold" nodeType="withEffect">
                                  <p:stCondLst>
                                    <p:cond delay="1400"/>
                                  </p:stCondLst>
                                  <p:childTnLst>
                                    <p:set>
                                      <p:cBhvr>
                                        <p:cTn id="356" dur="1" fill="hold">
                                          <p:stCondLst>
                                            <p:cond delay="0"/>
                                          </p:stCondLst>
                                        </p:cTn>
                                        <p:tgtEl>
                                          <p:spTgt spid="120"/>
                                        </p:tgtEl>
                                        <p:attrNameLst>
                                          <p:attrName>style.visibility</p:attrName>
                                        </p:attrNameLst>
                                      </p:cBhvr>
                                      <p:to>
                                        <p:strVal val="visible"/>
                                      </p:to>
                                    </p:set>
                                    <p:animEffect transition="in" filter="fade">
                                      <p:cBhvr>
                                        <p:cTn id="357" dur="600"/>
                                        <p:tgtEl>
                                          <p:spTgt spid="120"/>
                                        </p:tgtEl>
                                      </p:cBhvr>
                                    </p:animEffect>
                                  </p:childTnLst>
                                </p:cTn>
                              </p:par>
                              <p:par>
                                <p:cTn id="358" presetID="10" presetClass="entr" presetSubtype="0" fill="hold" nodeType="withEffect">
                                  <p:stCondLst>
                                    <p:cond delay="1400"/>
                                  </p:stCondLst>
                                  <p:childTnLst>
                                    <p:set>
                                      <p:cBhvr>
                                        <p:cTn id="359" dur="1" fill="hold">
                                          <p:stCondLst>
                                            <p:cond delay="0"/>
                                          </p:stCondLst>
                                        </p:cTn>
                                        <p:tgtEl>
                                          <p:spTgt spid="121"/>
                                        </p:tgtEl>
                                        <p:attrNameLst>
                                          <p:attrName>style.visibility</p:attrName>
                                        </p:attrNameLst>
                                      </p:cBhvr>
                                      <p:to>
                                        <p:strVal val="visible"/>
                                      </p:to>
                                    </p:set>
                                    <p:animEffect transition="in" filter="fade">
                                      <p:cBhvr>
                                        <p:cTn id="360" dur="600"/>
                                        <p:tgtEl>
                                          <p:spTgt spid="121"/>
                                        </p:tgtEl>
                                      </p:cBhvr>
                                    </p:animEffect>
                                  </p:childTnLst>
                                </p:cTn>
                              </p:par>
                              <p:par>
                                <p:cTn id="361" presetID="10" presetClass="entr" presetSubtype="0" fill="hold" nodeType="withEffect">
                                  <p:stCondLst>
                                    <p:cond delay="1750"/>
                                  </p:stCondLst>
                                  <p:childTnLst>
                                    <p:set>
                                      <p:cBhvr>
                                        <p:cTn id="362" dur="1" fill="hold">
                                          <p:stCondLst>
                                            <p:cond delay="0"/>
                                          </p:stCondLst>
                                        </p:cTn>
                                        <p:tgtEl>
                                          <p:spTgt spid="122"/>
                                        </p:tgtEl>
                                        <p:attrNameLst>
                                          <p:attrName>style.visibility</p:attrName>
                                        </p:attrNameLst>
                                      </p:cBhvr>
                                      <p:to>
                                        <p:strVal val="visible"/>
                                      </p:to>
                                    </p:set>
                                    <p:animEffect transition="in" filter="fade">
                                      <p:cBhvr>
                                        <p:cTn id="363" dur="600"/>
                                        <p:tgtEl>
                                          <p:spTgt spid="122"/>
                                        </p:tgtEl>
                                      </p:cBhvr>
                                    </p:animEffect>
                                  </p:childTnLst>
                                </p:cTn>
                              </p:par>
                              <p:par>
                                <p:cTn id="364" presetID="10" presetClass="entr" presetSubtype="0" fill="hold" nodeType="withEffect">
                                  <p:stCondLst>
                                    <p:cond delay="1750"/>
                                  </p:stCondLst>
                                  <p:childTnLst>
                                    <p:set>
                                      <p:cBhvr>
                                        <p:cTn id="365" dur="1" fill="hold">
                                          <p:stCondLst>
                                            <p:cond delay="0"/>
                                          </p:stCondLst>
                                        </p:cTn>
                                        <p:tgtEl>
                                          <p:spTgt spid="123"/>
                                        </p:tgtEl>
                                        <p:attrNameLst>
                                          <p:attrName>style.visibility</p:attrName>
                                        </p:attrNameLst>
                                      </p:cBhvr>
                                      <p:to>
                                        <p:strVal val="visible"/>
                                      </p:to>
                                    </p:set>
                                    <p:animEffect transition="in" filter="fade">
                                      <p:cBhvr>
                                        <p:cTn id="366" dur="6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نتیجهٔ فرضیهٔ سوم: الگوی ریکاوری حق‌الزحمه</a:t>
            </a:r>
            <a:endParaRPr lang="fa-IR" sz="3400" dirty="0"/>
          </a:p>
        </p:txBody>
      </p:sp>
      <p:sp>
        <p:nvSpPr>
          <p:cNvPr id="3" name="anim_1_1078"/>
          <p:cNvSpPr/>
          <p:nvPr/>
        </p:nvSpPr>
        <p:spPr>
          <a:xfrm>
            <a:off x="548640" y="1234440"/>
            <a:ext cx="11091672" cy="731520"/>
          </a:xfrm>
          <a:prstGeom prst="roundRect">
            <a:avLst>
              <a:gd name="adj" fmla="val 15000"/>
            </a:avLst>
          </a:prstGeom>
          <a:solidFill>
            <a:schemeClr val="tx2"/>
          </a:solidFill>
          <a:ln/>
          <a:effectLst>
            <a:outerShdw sx="100000" sy="100000" kx="0" ky="0" algn="bl" rotWithShape="0" blurRad="101600" dist="25400" dir="5400000">
              <a:srgbClr val="000000">
                <a:alpha val="12000"/>
              </a:srgbClr>
            </a:outerShdw>
          </a:effectLst>
        </p:spPr>
      </p:sp>
      <p:sp>
        <p:nvSpPr>
          <p:cNvPr id="4" name="anim_1_1079"/>
          <p:cNvSpPr txBox="1"/>
          <p:nvPr/>
        </p:nvSpPr>
        <p:spPr>
          <a:xfrm>
            <a:off x="2286000" y="1252728"/>
            <a:ext cx="9171432" cy="694944"/>
          </a:xfrm>
          <a:prstGeom prst="rect">
            <a:avLst/>
          </a:prstGeom>
          <a:noFill/>
          <a:ln/>
        </p:spPr>
        <p:txBody>
          <a:bodyPr wrap="square" lIns="0" tIns="0" rIns="0" bIns="0" rtlCol="0" anchor="ctr"/>
          <a:lstStyle/>
          <a:p>
            <a:pPr rtl="1" algn="r" indent="0" marL="0">
              <a:buNone/>
            </a:pPr>
            <a:r>
              <a:rPr lang="fa-IR" altLang="en-US" sz="1800" dirty="0">
                <a:solidFill>
                  <a:schemeClr val="bg1"/>
                </a:solidFill>
                <a:latin typeface="B Nazanin" pitchFamily="34" charset="0"/>
                <a:ea typeface="B Nazanin" pitchFamily="34" charset="-122"/>
                <a:cs typeface="B Nazanin" pitchFamily="34" charset="-120"/>
              </a:rPr>
              <a:t>افزایش حق‌الزحمهٔ سال‌های بعد در مؤسسات با هزینهٔ اولیهٔ پایین معناداراً بیشتر است</a:t>
            </a:r>
            <a:endParaRPr lang="fa-IR" sz="1800" dirty="0"/>
          </a:p>
        </p:txBody>
      </p:sp>
      <p:sp>
        <p:nvSpPr>
          <p:cNvPr id="5" name="anim_1_1080"/>
          <p:cNvSpPr/>
          <p:nvPr/>
        </p:nvSpPr>
        <p:spPr>
          <a:xfrm>
            <a:off x="731520" y="1344168"/>
            <a:ext cx="1371600" cy="512064"/>
          </a:xfrm>
          <a:prstGeom prst="roundRect">
            <a:avLst>
              <a:gd name="adj" fmla="val 21429"/>
            </a:avLst>
          </a:prstGeom>
          <a:solidFill>
            <a:schemeClr val="accent4"/>
          </a:solidFill>
          <a:ln/>
        </p:spPr>
      </p:sp>
      <p:sp>
        <p:nvSpPr>
          <p:cNvPr id="6" name="anim_1_1081"/>
          <p:cNvSpPr txBox="1"/>
          <p:nvPr/>
        </p:nvSpPr>
        <p:spPr>
          <a:xfrm>
            <a:off x="731520" y="1344168"/>
            <a:ext cx="1371600" cy="512064"/>
          </a:xfrm>
          <a:prstGeom prst="rect">
            <a:avLst/>
          </a:prstGeom>
          <a:noFill/>
          <a:ln/>
        </p:spPr>
        <p:txBody>
          <a:bodyPr wrap="square" lIns="0" tIns="0" rIns="0" bIns="0" rtlCol="0" anchor="ctr"/>
          <a:lstStyle/>
          <a:p>
            <a:pPr rtl="1" algn="ctr" indent="0" marL="0">
              <a:buNone/>
            </a:pPr>
            <a:r>
              <a:rPr lang="fa-IR" altLang="en-US" sz="2000" dirty="0">
                <a:solidFill>
                  <a:schemeClr val="bg1"/>
                </a:solidFill>
                <a:latin typeface="B Titr" pitchFamily="34" charset="0"/>
                <a:ea typeface="B Titr" pitchFamily="34" charset="-122"/>
                <a:cs typeface="B Titr" pitchFamily="34" charset="-120"/>
              </a:rPr>
              <a:t>تأیید</a:t>
            </a:r>
            <a:endParaRPr lang="fa-IR" sz="2000" dirty="0"/>
          </a:p>
        </p:txBody>
      </p:sp>
      <p:sp>
        <p:nvSpPr>
          <p:cNvPr id="7" name="anim_2_1082"/>
          <p:cNvSpPr/>
          <p:nvPr/>
        </p:nvSpPr>
        <p:spPr>
          <a:xfrm>
            <a:off x="4663440" y="2084832"/>
            <a:ext cx="1828800" cy="310896"/>
          </a:xfrm>
          <a:prstGeom prst="rect">
            <a:avLst/>
          </a:prstGeom>
          <a:solidFill>
            <a:schemeClr val="tx2"/>
          </a:solidFill>
          <a:ln w="9525">
            <a:solidFill>
              <a:srgbClr val="C9D3DF"/>
            </a:solidFill>
            <a:prstDash val="solid"/>
          </a:ln>
        </p:spPr>
      </p:sp>
      <p:sp>
        <p:nvSpPr>
          <p:cNvPr id="8" name="anim_2_1083"/>
          <p:cNvSpPr txBox="1"/>
          <p:nvPr/>
        </p:nvSpPr>
        <p:spPr>
          <a:xfrm>
            <a:off x="4700016" y="2084832"/>
            <a:ext cx="17556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متغیر</a:t>
            </a:r>
            <a:endParaRPr lang="fa-IR" sz="1300" dirty="0"/>
          </a:p>
        </p:txBody>
      </p:sp>
      <p:sp>
        <p:nvSpPr>
          <p:cNvPr id="9" name="anim_2_1084"/>
          <p:cNvSpPr/>
          <p:nvPr/>
        </p:nvSpPr>
        <p:spPr>
          <a:xfrm>
            <a:off x="3657600" y="2084832"/>
            <a:ext cx="1005840" cy="310896"/>
          </a:xfrm>
          <a:prstGeom prst="rect">
            <a:avLst/>
          </a:prstGeom>
          <a:solidFill>
            <a:schemeClr val="tx2"/>
          </a:solidFill>
          <a:ln w="9525">
            <a:solidFill>
              <a:srgbClr val="C9D3DF"/>
            </a:solidFill>
            <a:prstDash val="solid"/>
          </a:ln>
        </p:spPr>
      </p:sp>
      <p:sp>
        <p:nvSpPr>
          <p:cNvPr id="10" name="anim_2_1085"/>
          <p:cNvSpPr txBox="1"/>
          <p:nvPr/>
        </p:nvSpPr>
        <p:spPr>
          <a:xfrm>
            <a:off x="369417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ضریب</a:t>
            </a:r>
            <a:endParaRPr lang="fa-IR" sz="1300" dirty="0"/>
          </a:p>
        </p:txBody>
      </p:sp>
      <p:sp>
        <p:nvSpPr>
          <p:cNvPr id="11" name="anim_2_1086"/>
          <p:cNvSpPr/>
          <p:nvPr/>
        </p:nvSpPr>
        <p:spPr>
          <a:xfrm>
            <a:off x="2468880" y="2084832"/>
            <a:ext cx="1188720" cy="310896"/>
          </a:xfrm>
          <a:prstGeom prst="rect">
            <a:avLst/>
          </a:prstGeom>
          <a:solidFill>
            <a:schemeClr val="tx2"/>
          </a:solidFill>
          <a:ln w="9525">
            <a:solidFill>
              <a:srgbClr val="C9D3DF"/>
            </a:solidFill>
            <a:prstDash val="solid"/>
          </a:ln>
        </p:spPr>
      </p:sp>
      <p:sp>
        <p:nvSpPr>
          <p:cNvPr id="12" name="anim_2_1087"/>
          <p:cNvSpPr txBox="1"/>
          <p:nvPr/>
        </p:nvSpPr>
        <p:spPr>
          <a:xfrm>
            <a:off x="2505456" y="2084832"/>
            <a:ext cx="111556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خطای معیار</a:t>
            </a:r>
            <a:endParaRPr lang="fa-IR" sz="1300" dirty="0"/>
          </a:p>
        </p:txBody>
      </p:sp>
      <p:sp>
        <p:nvSpPr>
          <p:cNvPr id="13" name="anim_2_1088"/>
          <p:cNvSpPr/>
          <p:nvPr/>
        </p:nvSpPr>
        <p:spPr>
          <a:xfrm>
            <a:off x="1463040" y="2084832"/>
            <a:ext cx="1005840" cy="310896"/>
          </a:xfrm>
          <a:prstGeom prst="rect">
            <a:avLst/>
          </a:prstGeom>
          <a:solidFill>
            <a:schemeClr val="tx2"/>
          </a:solidFill>
          <a:ln w="9525">
            <a:solidFill>
              <a:srgbClr val="C9D3DF"/>
            </a:solidFill>
            <a:prstDash val="solid"/>
          </a:ln>
        </p:spPr>
      </p:sp>
      <p:sp>
        <p:nvSpPr>
          <p:cNvPr id="14" name="anim_2_1089"/>
          <p:cNvSpPr txBox="1"/>
          <p:nvPr/>
        </p:nvSpPr>
        <p:spPr>
          <a:xfrm>
            <a:off x="149961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آمارهٔ t</a:t>
            </a:r>
            <a:endParaRPr lang="fa-IR" sz="1300" dirty="0"/>
          </a:p>
        </p:txBody>
      </p:sp>
      <p:sp>
        <p:nvSpPr>
          <p:cNvPr id="15" name="anim_2_1090"/>
          <p:cNvSpPr/>
          <p:nvPr/>
        </p:nvSpPr>
        <p:spPr>
          <a:xfrm>
            <a:off x="548640" y="2084832"/>
            <a:ext cx="914400" cy="310896"/>
          </a:xfrm>
          <a:prstGeom prst="rect">
            <a:avLst/>
          </a:prstGeom>
          <a:solidFill>
            <a:schemeClr val="tx2"/>
          </a:solidFill>
          <a:ln w="9525">
            <a:solidFill>
              <a:srgbClr val="C9D3DF"/>
            </a:solidFill>
            <a:prstDash val="solid"/>
          </a:ln>
        </p:spPr>
      </p:sp>
      <p:sp>
        <p:nvSpPr>
          <p:cNvPr id="16" name="anim_2_1091"/>
          <p:cNvSpPr txBox="1"/>
          <p:nvPr/>
        </p:nvSpPr>
        <p:spPr>
          <a:xfrm>
            <a:off x="585216" y="2084832"/>
            <a:ext cx="8412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احتمال</a:t>
            </a:r>
            <a:endParaRPr lang="fa-IR" sz="1300" dirty="0"/>
          </a:p>
        </p:txBody>
      </p:sp>
      <p:sp>
        <p:nvSpPr>
          <p:cNvPr id="17" name="anim_2_1092"/>
          <p:cNvSpPr/>
          <p:nvPr/>
        </p:nvSpPr>
        <p:spPr>
          <a:xfrm>
            <a:off x="4663440" y="2395728"/>
            <a:ext cx="1828800" cy="310896"/>
          </a:xfrm>
          <a:prstGeom prst="rect">
            <a:avLst/>
          </a:prstGeom>
          <a:solidFill>
            <a:srgbClr val="FFFFFF"/>
          </a:solidFill>
          <a:ln w="9525">
            <a:solidFill>
              <a:srgbClr val="C9D3DF"/>
            </a:solidFill>
            <a:prstDash val="solid"/>
          </a:ln>
        </p:spPr>
      </p:sp>
      <p:sp>
        <p:nvSpPr>
          <p:cNvPr id="18" name="anim_2_1093"/>
          <p:cNvSpPr/>
          <p:nvPr/>
        </p:nvSpPr>
        <p:spPr>
          <a:xfrm>
            <a:off x="5294376" y="2427732"/>
            <a:ext cx="566928" cy="246888"/>
          </a:xfrm>
          <a:prstGeom prst="roundRect">
            <a:avLst>
              <a:gd name="adj" fmla="val 22222"/>
            </a:avLst>
          </a:prstGeom>
          <a:solidFill>
            <a:schemeClr val="accent1"/>
          </a:solidFill>
          <a:ln/>
        </p:spPr>
      </p:sp>
      <p:sp>
        <p:nvSpPr>
          <p:cNvPr id="19" name="anim_2_1094"/>
          <p:cNvSpPr txBox="1"/>
          <p:nvPr/>
        </p:nvSpPr>
        <p:spPr>
          <a:xfrm>
            <a:off x="5294376" y="2427732"/>
            <a:ext cx="566928"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AF</a:t>
            </a:r>
            <a:endParaRPr lang="en-US" sz="1100" dirty="0"/>
          </a:p>
        </p:txBody>
      </p:sp>
      <p:sp>
        <p:nvSpPr>
          <p:cNvPr id="20" name="anim_2_1095"/>
          <p:cNvSpPr/>
          <p:nvPr/>
        </p:nvSpPr>
        <p:spPr>
          <a:xfrm>
            <a:off x="3657600" y="2395728"/>
            <a:ext cx="1005840" cy="310896"/>
          </a:xfrm>
          <a:prstGeom prst="rect">
            <a:avLst/>
          </a:prstGeom>
          <a:solidFill>
            <a:srgbClr val="FFFFFF"/>
          </a:solidFill>
          <a:ln w="9525">
            <a:solidFill>
              <a:srgbClr val="C9D3DF"/>
            </a:solidFill>
            <a:prstDash val="solid"/>
          </a:ln>
        </p:spPr>
      </p:sp>
      <p:sp>
        <p:nvSpPr>
          <p:cNvPr id="21" name="anim_2_1096"/>
          <p:cNvSpPr txBox="1"/>
          <p:nvPr/>
        </p:nvSpPr>
        <p:spPr>
          <a:xfrm>
            <a:off x="369417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‪-0.6491‬</a:t>
            </a:r>
            <a:endParaRPr lang="fa-IR" sz="1300" dirty="0"/>
          </a:p>
        </p:txBody>
      </p:sp>
      <p:sp>
        <p:nvSpPr>
          <p:cNvPr id="22" name="anim_2_1097"/>
          <p:cNvSpPr/>
          <p:nvPr/>
        </p:nvSpPr>
        <p:spPr>
          <a:xfrm>
            <a:off x="2468880" y="2395728"/>
            <a:ext cx="1188720" cy="310896"/>
          </a:xfrm>
          <a:prstGeom prst="rect">
            <a:avLst/>
          </a:prstGeom>
          <a:solidFill>
            <a:srgbClr val="FFFFFF"/>
          </a:solidFill>
          <a:ln w="9525">
            <a:solidFill>
              <a:srgbClr val="C9D3DF"/>
            </a:solidFill>
            <a:prstDash val="solid"/>
          </a:ln>
        </p:spPr>
      </p:sp>
      <p:sp>
        <p:nvSpPr>
          <p:cNvPr id="23" name="anim_2_1098"/>
          <p:cNvSpPr txBox="1"/>
          <p:nvPr/>
        </p:nvSpPr>
        <p:spPr>
          <a:xfrm>
            <a:off x="2505456" y="239572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‪0.0384‬</a:t>
            </a:r>
            <a:endParaRPr lang="fa-IR" sz="1300" dirty="0"/>
          </a:p>
        </p:txBody>
      </p:sp>
      <p:sp>
        <p:nvSpPr>
          <p:cNvPr id="24" name="anim_2_1099"/>
          <p:cNvSpPr/>
          <p:nvPr/>
        </p:nvSpPr>
        <p:spPr>
          <a:xfrm>
            <a:off x="1463040" y="2395728"/>
            <a:ext cx="1005840" cy="310896"/>
          </a:xfrm>
          <a:prstGeom prst="rect">
            <a:avLst/>
          </a:prstGeom>
          <a:solidFill>
            <a:srgbClr val="FFFFFF"/>
          </a:solidFill>
          <a:ln w="9525">
            <a:solidFill>
              <a:srgbClr val="C9D3DF"/>
            </a:solidFill>
            <a:prstDash val="solid"/>
          </a:ln>
        </p:spPr>
      </p:sp>
      <p:sp>
        <p:nvSpPr>
          <p:cNvPr id="25" name="anim_2_1100"/>
          <p:cNvSpPr txBox="1"/>
          <p:nvPr/>
        </p:nvSpPr>
        <p:spPr>
          <a:xfrm>
            <a:off x="149961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‪-16.9052‬</a:t>
            </a:r>
            <a:endParaRPr lang="fa-IR" sz="1300" dirty="0"/>
          </a:p>
        </p:txBody>
      </p:sp>
      <p:sp>
        <p:nvSpPr>
          <p:cNvPr id="26" name="anim_2_1101"/>
          <p:cNvSpPr/>
          <p:nvPr/>
        </p:nvSpPr>
        <p:spPr>
          <a:xfrm>
            <a:off x="548640" y="2395728"/>
            <a:ext cx="914400" cy="310896"/>
          </a:xfrm>
          <a:prstGeom prst="rect">
            <a:avLst/>
          </a:prstGeom>
          <a:solidFill>
            <a:srgbClr val="FFFFFF"/>
          </a:solidFill>
          <a:ln w="9525">
            <a:solidFill>
              <a:srgbClr val="C9D3DF"/>
            </a:solidFill>
            <a:prstDash val="solid"/>
          </a:ln>
        </p:spPr>
      </p:sp>
      <p:sp>
        <p:nvSpPr>
          <p:cNvPr id="27" name="anim_2_1102"/>
          <p:cNvSpPr txBox="1"/>
          <p:nvPr/>
        </p:nvSpPr>
        <p:spPr>
          <a:xfrm>
            <a:off x="585216" y="239572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28" name="anim_2_1103"/>
          <p:cNvSpPr/>
          <p:nvPr/>
        </p:nvSpPr>
        <p:spPr>
          <a:xfrm>
            <a:off x="4663440" y="2706624"/>
            <a:ext cx="1828800" cy="310896"/>
          </a:xfrm>
          <a:prstGeom prst="rect">
            <a:avLst/>
          </a:prstGeom>
          <a:solidFill>
            <a:srgbClr val="EEF3F8"/>
          </a:solidFill>
          <a:ln w="9525">
            <a:solidFill>
              <a:srgbClr val="C9D3DF"/>
            </a:solidFill>
            <a:prstDash val="solid"/>
          </a:ln>
        </p:spPr>
      </p:sp>
      <p:sp>
        <p:nvSpPr>
          <p:cNvPr id="29" name="anim_2_1104"/>
          <p:cNvSpPr/>
          <p:nvPr/>
        </p:nvSpPr>
        <p:spPr>
          <a:xfrm>
            <a:off x="5206594" y="2738628"/>
            <a:ext cx="742493" cy="246888"/>
          </a:xfrm>
          <a:prstGeom prst="roundRect">
            <a:avLst>
              <a:gd name="adj" fmla="val 22222"/>
            </a:avLst>
          </a:prstGeom>
          <a:solidFill>
            <a:schemeClr val="accent1"/>
          </a:solidFill>
          <a:ln/>
        </p:spPr>
      </p:sp>
      <p:sp>
        <p:nvSpPr>
          <p:cNvPr id="30" name="anim_2_1105"/>
          <p:cNvSpPr txBox="1"/>
          <p:nvPr/>
        </p:nvSpPr>
        <p:spPr>
          <a:xfrm>
            <a:off x="5206594" y="2738628"/>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SIZE</a:t>
            </a:r>
            <a:endParaRPr lang="en-US" sz="1100" dirty="0"/>
          </a:p>
        </p:txBody>
      </p:sp>
      <p:sp>
        <p:nvSpPr>
          <p:cNvPr id="31" name="anim_2_1106"/>
          <p:cNvSpPr/>
          <p:nvPr/>
        </p:nvSpPr>
        <p:spPr>
          <a:xfrm>
            <a:off x="3657600" y="2706624"/>
            <a:ext cx="1005840" cy="310896"/>
          </a:xfrm>
          <a:prstGeom prst="rect">
            <a:avLst/>
          </a:prstGeom>
          <a:solidFill>
            <a:srgbClr val="EEF3F8"/>
          </a:solidFill>
          <a:ln w="9525">
            <a:solidFill>
              <a:srgbClr val="C9D3DF"/>
            </a:solidFill>
            <a:prstDash val="solid"/>
          </a:ln>
        </p:spPr>
      </p:sp>
      <p:sp>
        <p:nvSpPr>
          <p:cNvPr id="32" name="anim_2_1107"/>
          <p:cNvSpPr txBox="1"/>
          <p:nvPr/>
        </p:nvSpPr>
        <p:spPr>
          <a:xfrm>
            <a:off x="369417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‪0.0355‬</a:t>
            </a:r>
            <a:endParaRPr lang="fa-IR" sz="1300" dirty="0"/>
          </a:p>
        </p:txBody>
      </p:sp>
      <p:sp>
        <p:nvSpPr>
          <p:cNvPr id="33" name="anim_2_1108"/>
          <p:cNvSpPr/>
          <p:nvPr/>
        </p:nvSpPr>
        <p:spPr>
          <a:xfrm>
            <a:off x="2468880" y="2706624"/>
            <a:ext cx="1188720" cy="310896"/>
          </a:xfrm>
          <a:prstGeom prst="rect">
            <a:avLst/>
          </a:prstGeom>
          <a:solidFill>
            <a:srgbClr val="EEF3F8"/>
          </a:solidFill>
          <a:ln w="9525">
            <a:solidFill>
              <a:srgbClr val="C9D3DF"/>
            </a:solidFill>
            <a:prstDash val="solid"/>
          </a:ln>
        </p:spPr>
      </p:sp>
      <p:sp>
        <p:nvSpPr>
          <p:cNvPr id="34" name="anim_2_1109"/>
          <p:cNvSpPr txBox="1"/>
          <p:nvPr/>
        </p:nvSpPr>
        <p:spPr>
          <a:xfrm>
            <a:off x="2505456" y="2706624"/>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‪0.0056‬</a:t>
            </a:r>
            <a:endParaRPr lang="fa-IR" sz="1300" dirty="0"/>
          </a:p>
        </p:txBody>
      </p:sp>
      <p:sp>
        <p:nvSpPr>
          <p:cNvPr id="35" name="anim_2_1110"/>
          <p:cNvSpPr/>
          <p:nvPr/>
        </p:nvSpPr>
        <p:spPr>
          <a:xfrm>
            <a:off x="1463040" y="2706624"/>
            <a:ext cx="1005840" cy="310896"/>
          </a:xfrm>
          <a:prstGeom prst="rect">
            <a:avLst/>
          </a:prstGeom>
          <a:solidFill>
            <a:srgbClr val="EEF3F8"/>
          </a:solidFill>
          <a:ln w="9525">
            <a:solidFill>
              <a:srgbClr val="C9D3DF"/>
            </a:solidFill>
            <a:prstDash val="solid"/>
          </a:ln>
        </p:spPr>
      </p:sp>
      <p:sp>
        <p:nvSpPr>
          <p:cNvPr id="36" name="anim_2_1111"/>
          <p:cNvSpPr txBox="1"/>
          <p:nvPr/>
        </p:nvSpPr>
        <p:spPr>
          <a:xfrm>
            <a:off x="149961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‪6.3444‬</a:t>
            </a:r>
            <a:endParaRPr lang="fa-IR" sz="1300" dirty="0"/>
          </a:p>
        </p:txBody>
      </p:sp>
      <p:sp>
        <p:nvSpPr>
          <p:cNvPr id="37" name="anim_2_1112"/>
          <p:cNvSpPr/>
          <p:nvPr/>
        </p:nvSpPr>
        <p:spPr>
          <a:xfrm>
            <a:off x="548640" y="2706624"/>
            <a:ext cx="914400" cy="310896"/>
          </a:xfrm>
          <a:prstGeom prst="rect">
            <a:avLst/>
          </a:prstGeom>
          <a:solidFill>
            <a:srgbClr val="EEF3F8"/>
          </a:solidFill>
          <a:ln w="9525">
            <a:solidFill>
              <a:srgbClr val="C9D3DF"/>
            </a:solidFill>
            <a:prstDash val="solid"/>
          </a:ln>
        </p:spPr>
      </p:sp>
      <p:sp>
        <p:nvSpPr>
          <p:cNvPr id="38" name="anim_2_1113"/>
          <p:cNvSpPr txBox="1"/>
          <p:nvPr/>
        </p:nvSpPr>
        <p:spPr>
          <a:xfrm>
            <a:off x="585216" y="2706624"/>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39" name="anim_2_1114"/>
          <p:cNvSpPr/>
          <p:nvPr/>
        </p:nvSpPr>
        <p:spPr>
          <a:xfrm>
            <a:off x="4663440" y="3017520"/>
            <a:ext cx="1828800" cy="310896"/>
          </a:xfrm>
          <a:prstGeom prst="rect">
            <a:avLst/>
          </a:prstGeom>
          <a:solidFill>
            <a:srgbClr val="FFFFFF"/>
          </a:solidFill>
          <a:ln w="9525">
            <a:solidFill>
              <a:srgbClr val="C9D3DF"/>
            </a:solidFill>
            <a:prstDash val="solid"/>
          </a:ln>
        </p:spPr>
      </p:sp>
      <p:sp>
        <p:nvSpPr>
          <p:cNvPr id="40" name="anim_2_1115"/>
          <p:cNvSpPr/>
          <p:nvPr/>
        </p:nvSpPr>
        <p:spPr>
          <a:xfrm>
            <a:off x="5206594" y="3049524"/>
            <a:ext cx="742493" cy="246888"/>
          </a:xfrm>
          <a:prstGeom prst="roundRect">
            <a:avLst>
              <a:gd name="adj" fmla="val 22222"/>
            </a:avLst>
          </a:prstGeom>
          <a:solidFill>
            <a:schemeClr val="accent1"/>
          </a:solidFill>
          <a:ln/>
        </p:spPr>
      </p:sp>
      <p:sp>
        <p:nvSpPr>
          <p:cNvPr id="41" name="anim_2_1116"/>
          <p:cNvSpPr txBox="1"/>
          <p:nvPr/>
        </p:nvSpPr>
        <p:spPr>
          <a:xfrm>
            <a:off x="5206594" y="3049524"/>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RISK</a:t>
            </a:r>
            <a:endParaRPr lang="en-US" sz="1100" dirty="0"/>
          </a:p>
        </p:txBody>
      </p:sp>
      <p:sp>
        <p:nvSpPr>
          <p:cNvPr id="42" name="anim_2_1117"/>
          <p:cNvSpPr/>
          <p:nvPr/>
        </p:nvSpPr>
        <p:spPr>
          <a:xfrm>
            <a:off x="3657600" y="3017520"/>
            <a:ext cx="1005840" cy="310896"/>
          </a:xfrm>
          <a:prstGeom prst="rect">
            <a:avLst/>
          </a:prstGeom>
          <a:solidFill>
            <a:srgbClr val="FFFFFF"/>
          </a:solidFill>
          <a:ln w="9525">
            <a:solidFill>
              <a:srgbClr val="C9D3DF"/>
            </a:solidFill>
            <a:prstDash val="solid"/>
          </a:ln>
        </p:spPr>
      </p:sp>
      <p:sp>
        <p:nvSpPr>
          <p:cNvPr id="43" name="anim_2_1118"/>
          <p:cNvSpPr txBox="1"/>
          <p:nvPr/>
        </p:nvSpPr>
        <p:spPr>
          <a:xfrm>
            <a:off x="369417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‪0.0790‬</a:t>
            </a:r>
            <a:endParaRPr lang="fa-IR" sz="1300" dirty="0"/>
          </a:p>
        </p:txBody>
      </p:sp>
      <p:sp>
        <p:nvSpPr>
          <p:cNvPr id="44" name="anim_2_1119"/>
          <p:cNvSpPr/>
          <p:nvPr/>
        </p:nvSpPr>
        <p:spPr>
          <a:xfrm>
            <a:off x="2468880" y="3017520"/>
            <a:ext cx="1188720" cy="310896"/>
          </a:xfrm>
          <a:prstGeom prst="rect">
            <a:avLst/>
          </a:prstGeom>
          <a:solidFill>
            <a:srgbClr val="FFFFFF"/>
          </a:solidFill>
          <a:ln w="9525">
            <a:solidFill>
              <a:srgbClr val="C9D3DF"/>
            </a:solidFill>
            <a:prstDash val="solid"/>
          </a:ln>
        </p:spPr>
      </p:sp>
      <p:sp>
        <p:nvSpPr>
          <p:cNvPr id="45" name="anim_2_1120"/>
          <p:cNvSpPr txBox="1"/>
          <p:nvPr/>
        </p:nvSpPr>
        <p:spPr>
          <a:xfrm>
            <a:off x="2505456" y="3017520"/>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‪0.1010‬</a:t>
            </a:r>
            <a:endParaRPr lang="fa-IR" sz="1300" dirty="0"/>
          </a:p>
        </p:txBody>
      </p:sp>
      <p:sp>
        <p:nvSpPr>
          <p:cNvPr id="46" name="anim_2_1121"/>
          <p:cNvSpPr/>
          <p:nvPr/>
        </p:nvSpPr>
        <p:spPr>
          <a:xfrm>
            <a:off x="1463040" y="3017520"/>
            <a:ext cx="1005840" cy="310896"/>
          </a:xfrm>
          <a:prstGeom prst="rect">
            <a:avLst/>
          </a:prstGeom>
          <a:solidFill>
            <a:srgbClr val="FFFFFF"/>
          </a:solidFill>
          <a:ln w="9525">
            <a:solidFill>
              <a:srgbClr val="C9D3DF"/>
            </a:solidFill>
            <a:prstDash val="solid"/>
          </a:ln>
        </p:spPr>
      </p:sp>
      <p:sp>
        <p:nvSpPr>
          <p:cNvPr id="47" name="anim_2_1122"/>
          <p:cNvSpPr txBox="1"/>
          <p:nvPr/>
        </p:nvSpPr>
        <p:spPr>
          <a:xfrm>
            <a:off x="149961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‪0.7819‬</a:t>
            </a:r>
            <a:endParaRPr lang="fa-IR" sz="1300" dirty="0"/>
          </a:p>
        </p:txBody>
      </p:sp>
      <p:sp>
        <p:nvSpPr>
          <p:cNvPr id="48" name="anim_2_1123"/>
          <p:cNvSpPr/>
          <p:nvPr/>
        </p:nvSpPr>
        <p:spPr>
          <a:xfrm>
            <a:off x="548640" y="3017520"/>
            <a:ext cx="914400" cy="310896"/>
          </a:xfrm>
          <a:prstGeom prst="rect">
            <a:avLst/>
          </a:prstGeom>
          <a:solidFill>
            <a:srgbClr val="FFFFFF"/>
          </a:solidFill>
          <a:ln w="9525">
            <a:solidFill>
              <a:srgbClr val="C9D3DF"/>
            </a:solidFill>
            <a:prstDash val="solid"/>
          </a:ln>
        </p:spPr>
      </p:sp>
      <p:sp>
        <p:nvSpPr>
          <p:cNvPr id="49" name="anim_2_1124"/>
          <p:cNvSpPr txBox="1"/>
          <p:nvPr/>
        </p:nvSpPr>
        <p:spPr>
          <a:xfrm>
            <a:off x="585216" y="3017520"/>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‪0.4346‬</a:t>
            </a:r>
            <a:endParaRPr lang="fa-IR" sz="1300" dirty="0"/>
          </a:p>
        </p:txBody>
      </p:sp>
      <p:sp>
        <p:nvSpPr>
          <p:cNvPr id="50" name="anim_2_1125"/>
          <p:cNvSpPr/>
          <p:nvPr/>
        </p:nvSpPr>
        <p:spPr>
          <a:xfrm>
            <a:off x="4663440" y="3328416"/>
            <a:ext cx="1828800" cy="310896"/>
          </a:xfrm>
          <a:prstGeom prst="rect">
            <a:avLst/>
          </a:prstGeom>
          <a:solidFill>
            <a:srgbClr val="EEF3F8"/>
          </a:solidFill>
          <a:ln w="9525">
            <a:solidFill>
              <a:srgbClr val="C9D3DF"/>
            </a:solidFill>
            <a:prstDash val="solid"/>
          </a:ln>
        </p:spPr>
      </p:sp>
      <p:sp>
        <p:nvSpPr>
          <p:cNvPr id="51" name="anim_2_1126"/>
          <p:cNvSpPr/>
          <p:nvPr/>
        </p:nvSpPr>
        <p:spPr>
          <a:xfrm>
            <a:off x="5260543" y="3360420"/>
            <a:ext cx="634594" cy="246888"/>
          </a:xfrm>
          <a:prstGeom prst="roundRect">
            <a:avLst>
              <a:gd name="adj" fmla="val 22222"/>
            </a:avLst>
          </a:prstGeom>
          <a:solidFill>
            <a:schemeClr val="accent1"/>
          </a:solidFill>
          <a:ln/>
        </p:spPr>
      </p:sp>
      <p:sp>
        <p:nvSpPr>
          <p:cNvPr id="52" name="anim_2_1127"/>
          <p:cNvSpPr txBox="1"/>
          <p:nvPr/>
        </p:nvSpPr>
        <p:spPr>
          <a:xfrm>
            <a:off x="5260543" y="3360420"/>
            <a:ext cx="634594"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ROA</a:t>
            </a:r>
            <a:endParaRPr lang="en-US" sz="1100" dirty="0"/>
          </a:p>
        </p:txBody>
      </p:sp>
      <p:sp>
        <p:nvSpPr>
          <p:cNvPr id="53" name="anim_2_1128"/>
          <p:cNvSpPr/>
          <p:nvPr/>
        </p:nvSpPr>
        <p:spPr>
          <a:xfrm>
            <a:off x="3657600" y="3328416"/>
            <a:ext cx="1005840" cy="310896"/>
          </a:xfrm>
          <a:prstGeom prst="rect">
            <a:avLst/>
          </a:prstGeom>
          <a:solidFill>
            <a:srgbClr val="EEF3F8"/>
          </a:solidFill>
          <a:ln w="9525">
            <a:solidFill>
              <a:srgbClr val="C9D3DF"/>
            </a:solidFill>
            <a:prstDash val="solid"/>
          </a:ln>
        </p:spPr>
      </p:sp>
      <p:sp>
        <p:nvSpPr>
          <p:cNvPr id="54" name="anim_2_1129"/>
          <p:cNvSpPr txBox="1"/>
          <p:nvPr/>
        </p:nvSpPr>
        <p:spPr>
          <a:xfrm>
            <a:off x="369417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‪-0.1364‬</a:t>
            </a:r>
            <a:endParaRPr lang="fa-IR" sz="1300" dirty="0"/>
          </a:p>
        </p:txBody>
      </p:sp>
      <p:sp>
        <p:nvSpPr>
          <p:cNvPr id="55" name="anim_2_1130"/>
          <p:cNvSpPr/>
          <p:nvPr/>
        </p:nvSpPr>
        <p:spPr>
          <a:xfrm>
            <a:off x="2468880" y="3328416"/>
            <a:ext cx="1188720" cy="310896"/>
          </a:xfrm>
          <a:prstGeom prst="rect">
            <a:avLst/>
          </a:prstGeom>
          <a:solidFill>
            <a:srgbClr val="EEF3F8"/>
          </a:solidFill>
          <a:ln w="9525">
            <a:solidFill>
              <a:srgbClr val="C9D3DF"/>
            </a:solidFill>
            <a:prstDash val="solid"/>
          </a:ln>
        </p:spPr>
      </p:sp>
      <p:sp>
        <p:nvSpPr>
          <p:cNvPr id="56" name="anim_2_1131"/>
          <p:cNvSpPr txBox="1"/>
          <p:nvPr/>
        </p:nvSpPr>
        <p:spPr>
          <a:xfrm>
            <a:off x="2505456" y="3328416"/>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‪0.0329‬</a:t>
            </a:r>
            <a:endParaRPr lang="fa-IR" sz="1300" dirty="0"/>
          </a:p>
        </p:txBody>
      </p:sp>
      <p:sp>
        <p:nvSpPr>
          <p:cNvPr id="57" name="anim_2_1132"/>
          <p:cNvSpPr/>
          <p:nvPr/>
        </p:nvSpPr>
        <p:spPr>
          <a:xfrm>
            <a:off x="1463040" y="3328416"/>
            <a:ext cx="1005840" cy="310896"/>
          </a:xfrm>
          <a:prstGeom prst="rect">
            <a:avLst/>
          </a:prstGeom>
          <a:solidFill>
            <a:srgbClr val="EEF3F8"/>
          </a:solidFill>
          <a:ln w="9525">
            <a:solidFill>
              <a:srgbClr val="C9D3DF"/>
            </a:solidFill>
            <a:prstDash val="solid"/>
          </a:ln>
        </p:spPr>
      </p:sp>
      <p:sp>
        <p:nvSpPr>
          <p:cNvPr id="58" name="anim_2_1133"/>
          <p:cNvSpPr txBox="1"/>
          <p:nvPr/>
        </p:nvSpPr>
        <p:spPr>
          <a:xfrm>
            <a:off x="149961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‪-4.1482‬</a:t>
            </a:r>
            <a:endParaRPr lang="fa-IR" sz="1300" dirty="0"/>
          </a:p>
        </p:txBody>
      </p:sp>
      <p:sp>
        <p:nvSpPr>
          <p:cNvPr id="59" name="anim_2_1134"/>
          <p:cNvSpPr/>
          <p:nvPr/>
        </p:nvSpPr>
        <p:spPr>
          <a:xfrm>
            <a:off x="548640" y="3328416"/>
            <a:ext cx="914400" cy="310896"/>
          </a:xfrm>
          <a:prstGeom prst="rect">
            <a:avLst/>
          </a:prstGeom>
          <a:solidFill>
            <a:srgbClr val="EEF3F8"/>
          </a:solidFill>
          <a:ln w="9525">
            <a:solidFill>
              <a:srgbClr val="C9D3DF"/>
            </a:solidFill>
            <a:prstDash val="solid"/>
          </a:ln>
        </p:spPr>
      </p:sp>
      <p:sp>
        <p:nvSpPr>
          <p:cNvPr id="60" name="anim_2_1135"/>
          <p:cNvSpPr txBox="1"/>
          <p:nvPr/>
        </p:nvSpPr>
        <p:spPr>
          <a:xfrm>
            <a:off x="585216" y="3328416"/>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61" name="anim_2_1136"/>
          <p:cNvSpPr/>
          <p:nvPr/>
        </p:nvSpPr>
        <p:spPr>
          <a:xfrm>
            <a:off x="4663440" y="3639312"/>
            <a:ext cx="1828800" cy="310896"/>
          </a:xfrm>
          <a:prstGeom prst="rect">
            <a:avLst/>
          </a:prstGeom>
          <a:solidFill>
            <a:srgbClr val="FFFFFF"/>
          </a:solidFill>
          <a:ln w="9525">
            <a:solidFill>
              <a:srgbClr val="C9D3DF"/>
            </a:solidFill>
            <a:prstDash val="solid"/>
          </a:ln>
        </p:spPr>
      </p:sp>
      <p:sp>
        <p:nvSpPr>
          <p:cNvPr id="62" name="anim_2_1137"/>
          <p:cNvSpPr/>
          <p:nvPr/>
        </p:nvSpPr>
        <p:spPr>
          <a:xfrm>
            <a:off x="5098694" y="3671316"/>
            <a:ext cx="958291" cy="246888"/>
          </a:xfrm>
          <a:prstGeom prst="roundRect">
            <a:avLst>
              <a:gd name="adj" fmla="val 22222"/>
            </a:avLst>
          </a:prstGeom>
          <a:solidFill>
            <a:schemeClr val="accent1"/>
          </a:solidFill>
          <a:ln/>
        </p:spPr>
      </p:sp>
      <p:sp>
        <p:nvSpPr>
          <p:cNvPr id="63" name="anim_2_1138"/>
          <p:cNvSpPr txBox="1"/>
          <p:nvPr/>
        </p:nvSpPr>
        <p:spPr>
          <a:xfrm>
            <a:off x="5098694" y="3671316"/>
            <a:ext cx="958291"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GROWTH</a:t>
            </a:r>
            <a:endParaRPr lang="en-US" sz="1100" dirty="0"/>
          </a:p>
        </p:txBody>
      </p:sp>
      <p:sp>
        <p:nvSpPr>
          <p:cNvPr id="64" name="anim_2_1139"/>
          <p:cNvSpPr/>
          <p:nvPr/>
        </p:nvSpPr>
        <p:spPr>
          <a:xfrm>
            <a:off x="3657600" y="3639312"/>
            <a:ext cx="1005840" cy="310896"/>
          </a:xfrm>
          <a:prstGeom prst="rect">
            <a:avLst/>
          </a:prstGeom>
          <a:solidFill>
            <a:srgbClr val="FFFFFF"/>
          </a:solidFill>
          <a:ln w="9525">
            <a:solidFill>
              <a:srgbClr val="C9D3DF"/>
            </a:solidFill>
            <a:prstDash val="solid"/>
          </a:ln>
        </p:spPr>
      </p:sp>
      <p:sp>
        <p:nvSpPr>
          <p:cNvPr id="65" name="anim_2_1140"/>
          <p:cNvSpPr txBox="1"/>
          <p:nvPr/>
        </p:nvSpPr>
        <p:spPr>
          <a:xfrm>
            <a:off x="369417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‪0.0032‬</a:t>
            </a:r>
            <a:endParaRPr lang="fa-IR" sz="1300" dirty="0"/>
          </a:p>
        </p:txBody>
      </p:sp>
      <p:sp>
        <p:nvSpPr>
          <p:cNvPr id="66" name="anim_2_1141"/>
          <p:cNvSpPr/>
          <p:nvPr/>
        </p:nvSpPr>
        <p:spPr>
          <a:xfrm>
            <a:off x="2468880" y="3639312"/>
            <a:ext cx="1188720" cy="310896"/>
          </a:xfrm>
          <a:prstGeom prst="rect">
            <a:avLst/>
          </a:prstGeom>
          <a:solidFill>
            <a:srgbClr val="FFFFFF"/>
          </a:solidFill>
          <a:ln w="9525">
            <a:solidFill>
              <a:srgbClr val="C9D3DF"/>
            </a:solidFill>
            <a:prstDash val="solid"/>
          </a:ln>
        </p:spPr>
      </p:sp>
      <p:sp>
        <p:nvSpPr>
          <p:cNvPr id="67" name="anim_2_1142"/>
          <p:cNvSpPr txBox="1"/>
          <p:nvPr/>
        </p:nvSpPr>
        <p:spPr>
          <a:xfrm>
            <a:off x="2505456" y="3639312"/>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‪0.0069‬</a:t>
            </a:r>
            <a:endParaRPr lang="fa-IR" sz="1300" dirty="0"/>
          </a:p>
        </p:txBody>
      </p:sp>
      <p:sp>
        <p:nvSpPr>
          <p:cNvPr id="68" name="anim_2_1143"/>
          <p:cNvSpPr/>
          <p:nvPr/>
        </p:nvSpPr>
        <p:spPr>
          <a:xfrm>
            <a:off x="1463040" y="3639312"/>
            <a:ext cx="1005840" cy="310896"/>
          </a:xfrm>
          <a:prstGeom prst="rect">
            <a:avLst/>
          </a:prstGeom>
          <a:solidFill>
            <a:srgbClr val="FFFFFF"/>
          </a:solidFill>
          <a:ln w="9525">
            <a:solidFill>
              <a:srgbClr val="C9D3DF"/>
            </a:solidFill>
            <a:prstDash val="solid"/>
          </a:ln>
        </p:spPr>
      </p:sp>
      <p:sp>
        <p:nvSpPr>
          <p:cNvPr id="69" name="anim_2_1144"/>
          <p:cNvSpPr txBox="1"/>
          <p:nvPr/>
        </p:nvSpPr>
        <p:spPr>
          <a:xfrm>
            <a:off x="149961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‪0.4636‬</a:t>
            </a:r>
            <a:endParaRPr lang="fa-IR" sz="1300" dirty="0"/>
          </a:p>
        </p:txBody>
      </p:sp>
      <p:sp>
        <p:nvSpPr>
          <p:cNvPr id="70" name="anim_2_1145"/>
          <p:cNvSpPr/>
          <p:nvPr/>
        </p:nvSpPr>
        <p:spPr>
          <a:xfrm>
            <a:off x="548640" y="3639312"/>
            <a:ext cx="914400" cy="310896"/>
          </a:xfrm>
          <a:prstGeom prst="rect">
            <a:avLst/>
          </a:prstGeom>
          <a:solidFill>
            <a:srgbClr val="FFFFFF"/>
          </a:solidFill>
          <a:ln w="9525">
            <a:solidFill>
              <a:srgbClr val="C9D3DF"/>
            </a:solidFill>
            <a:prstDash val="solid"/>
          </a:ln>
        </p:spPr>
      </p:sp>
      <p:sp>
        <p:nvSpPr>
          <p:cNvPr id="71" name="anim_2_1146"/>
          <p:cNvSpPr txBox="1"/>
          <p:nvPr/>
        </p:nvSpPr>
        <p:spPr>
          <a:xfrm>
            <a:off x="585216" y="3639312"/>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‪0.6431‬</a:t>
            </a:r>
            <a:endParaRPr lang="fa-IR" sz="1300" dirty="0"/>
          </a:p>
        </p:txBody>
      </p:sp>
      <p:sp>
        <p:nvSpPr>
          <p:cNvPr id="72" name="anim_2_1147"/>
          <p:cNvSpPr/>
          <p:nvPr/>
        </p:nvSpPr>
        <p:spPr>
          <a:xfrm>
            <a:off x="4663440" y="3950208"/>
            <a:ext cx="1828800" cy="310896"/>
          </a:xfrm>
          <a:prstGeom prst="rect">
            <a:avLst/>
          </a:prstGeom>
          <a:solidFill>
            <a:srgbClr val="EEF3F8"/>
          </a:solidFill>
          <a:ln w="9525">
            <a:solidFill>
              <a:srgbClr val="C9D3DF"/>
            </a:solidFill>
            <a:prstDash val="solid"/>
          </a:ln>
        </p:spPr>
      </p:sp>
      <p:sp>
        <p:nvSpPr>
          <p:cNvPr id="73" name="anim_2_1148"/>
          <p:cNvSpPr/>
          <p:nvPr/>
        </p:nvSpPr>
        <p:spPr>
          <a:xfrm>
            <a:off x="5294376" y="3982212"/>
            <a:ext cx="566928" cy="246888"/>
          </a:xfrm>
          <a:prstGeom prst="roundRect">
            <a:avLst>
              <a:gd name="adj" fmla="val 22222"/>
            </a:avLst>
          </a:prstGeom>
          <a:solidFill>
            <a:schemeClr val="accent1"/>
          </a:solidFill>
          <a:ln/>
        </p:spPr>
      </p:sp>
      <p:sp>
        <p:nvSpPr>
          <p:cNvPr id="74" name="anim_2_1149"/>
          <p:cNvSpPr txBox="1"/>
          <p:nvPr/>
        </p:nvSpPr>
        <p:spPr>
          <a:xfrm>
            <a:off x="5294376" y="3982212"/>
            <a:ext cx="566928"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a:t>
            </a:r>
            <a:endParaRPr lang="en-US" sz="1100" dirty="0"/>
          </a:p>
        </p:txBody>
      </p:sp>
      <p:sp>
        <p:nvSpPr>
          <p:cNvPr id="75" name="anim_2_1150"/>
          <p:cNvSpPr/>
          <p:nvPr/>
        </p:nvSpPr>
        <p:spPr>
          <a:xfrm>
            <a:off x="3657600" y="3950208"/>
            <a:ext cx="1005840" cy="310896"/>
          </a:xfrm>
          <a:prstGeom prst="rect">
            <a:avLst/>
          </a:prstGeom>
          <a:solidFill>
            <a:srgbClr val="EEF3F8"/>
          </a:solidFill>
          <a:ln w="9525">
            <a:solidFill>
              <a:srgbClr val="C9D3DF"/>
            </a:solidFill>
            <a:prstDash val="solid"/>
          </a:ln>
        </p:spPr>
      </p:sp>
      <p:sp>
        <p:nvSpPr>
          <p:cNvPr id="76" name="anim_2_1151"/>
          <p:cNvSpPr txBox="1"/>
          <p:nvPr/>
        </p:nvSpPr>
        <p:spPr>
          <a:xfrm>
            <a:off x="3694176" y="395020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‪0.2495‬</a:t>
            </a:r>
            <a:endParaRPr lang="fa-IR" sz="1300" dirty="0"/>
          </a:p>
        </p:txBody>
      </p:sp>
      <p:sp>
        <p:nvSpPr>
          <p:cNvPr id="77" name="anim_2_1152"/>
          <p:cNvSpPr/>
          <p:nvPr/>
        </p:nvSpPr>
        <p:spPr>
          <a:xfrm>
            <a:off x="2468880" y="3950208"/>
            <a:ext cx="1188720" cy="310896"/>
          </a:xfrm>
          <a:prstGeom prst="rect">
            <a:avLst/>
          </a:prstGeom>
          <a:solidFill>
            <a:srgbClr val="EEF3F8"/>
          </a:solidFill>
          <a:ln w="9525">
            <a:solidFill>
              <a:srgbClr val="C9D3DF"/>
            </a:solidFill>
            <a:prstDash val="solid"/>
          </a:ln>
        </p:spPr>
      </p:sp>
      <p:sp>
        <p:nvSpPr>
          <p:cNvPr id="78" name="anim_2_1153"/>
          <p:cNvSpPr txBox="1"/>
          <p:nvPr/>
        </p:nvSpPr>
        <p:spPr>
          <a:xfrm>
            <a:off x="2505456" y="395020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‪0.0735‬</a:t>
            </a:r>
            <a:endParaRPr lang="fa-IR" sz="1300" dirty="0"/>
          </a:p>
        </p:txBody>
      </p:sp>
      <p:sp>
        <p:nvSpPr>
          <p:cNvPr id="79" name="anim_2_1154"/>
          <p:cNvSpPr/>
          <p:nvPr/>
        </p:nvSpPr>
        <p:spPr>
          <a:xfrm>
            <a:off x="1463040" y="3950208"/>
            <a:ext cx="1005840" cy="310896"/>
          </a:xfrm>
          <a:prstGeom prst="rect">
            <a:avLst/>
          </a:prstGeom>
          <a:solidFill>
            <a:srgbClr val="EEF3F8"/>
          </a:solidFill>
          <a:ln w="9525">
            <a:solidFill>
              <a:srgbClr val="C9D3DF"/>
            </a:solidFill>
            <a:prstDash val="solid"/>
          </a:ln>
        </p:spPr>
      </p:sp>
      <p:sp>
        <p:nvSpPr>
          <p:cNvPr id="80" name="anim_2_1155"/>
          <p:cNvSpPr txBox="1"/>
          <p:nvPr/>
        </p:nvSpPr>
        <p:spPr>
          <a:xfrm>
            <a:off x="1499616" y="395020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‪3.3938‬</a:t>
            </a:r>
            <a:endParaRPr lang="fa-IR" sz="1300" dirty="0"/>
          </a:p>
        </p:txBody>
      </p:sp>
      <p:sp>
        <p:nvSpPr>
          <p:cNvPr id="81" name="anim_2_1156"/>
          <p:cNvSpPr/>
          <p:nvPr/>
        </p:nvSpPr>
        <p:spPr>
          <a:xfrm>
            <a:off x="548640" y="3950208"/>
            <a:ext cx="914400" cy="310896"/>
          </a:xfrm>
          <a:prstGeom prst="rect">
            <a:avLst/>
          </a:prstGeom>
          <a:solidFill>
            <a:srgbClr val="EEF3F8"/>
          </a:solidFill>
          <a:ln w="9525">
            <a:solidFill>
              <a:srgbClr val="C9D3DF"/>
            </a:solidFill>
            <a:prstDash val="solid"/>
          </a:ln>
        </p:spPr>
      </p:sp>
      <p:sp>
        <p:nvSpPr>
          <p:cNvPr id="82" name="anim_2_1157"/>
          <p:cNvSpPr txBox="1"/>
          <p:nvPr/>
        </p:nvSpPr>
        <p:spPr>
          <a:xfrm>
            <a:off x="585216" y="395020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‪0.0007‬</a:t>
            </a:r>
            <a:endParaRPr lang="fa-IR" sz="1300" dirty="0"/>
          </a:p>
        </p:txBody>
      </p:sp>
      <p:sp>
        <p:nvSpPr>
          <p:cNvPr id="83" name="anim_3_1158"/>
          <p:cNvSpPr/>
          <p:nvPr/>
        </p:nvSpPr>
        <p:spPr>
          <a:xfrm>
            <a:off x="5577840" y="4352544"/>
            <a:ext cx="914400" cy="310896"/>
          </a:xfrm>
          <a:prstGeom prst="rect">
            <a:avLst/>
          </a:prstGeom>
          <a:solidFill>
            <a:schemeClr val="tx2"/>
          </a:solidFill>
          <a:ln w="9525">
            <a:solidFill>
              <a:srgbClr val="C9D3DF"/>
            </a:solidFill>
            <a:prstDash val="solid"/>
          </a:ln>
        </p:spPr>
      </p:sp>
      <p:sp>
        <p:nvSpPr>
          <p:cNvPr id="84" name="anim_3_1159"/>
          <p:cNvSpPr txBox="1"/>
          <p:nvPr/>
        </p:nvSpPr>
        <p:spPr>
          <a:xfrm>
            <a:off x="5614416" y="4352544"/>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a:t>
            </a:r>
            <a:endParaRPr lang="fa-IR" sz="1200" dirty="0"/>
          </a:p>
        </p:txBody>
      </p:sp>
      <p:sp>
        <p:nvSpPr>
          <p:cNvPr id="85" name="anim_3_1160"/>
          <p:cNvSpPr/>
          <p:nvPr/>
        </p:nvSpPr>
        <p:spPr>
          <a:xfrm>
            <a:off x="4663440" y="4352544"/>
            <a:ext cx="914400" cy="310896"/>
          </a:xfrm>
          <a:prstGeom prst="rect">
            <a:avLst/>
          </a:prstGeom>
          <a:solidFill>
            <a:schemeClr val="tx2"/>
          </a:solidFill>
          <a:ln w="9525">
            <a:solidFill>
              <a:srgbClr val="C9D3DF"/>
            </a:solidFill>
            <a:prstDash val="solid"/>
          </a:ln>
        </p:spPr>
      </p:sp>
      <p:sp>
        <p:nvSpPr>
          <p:cNvPr id="86" name="anim_3_1161"/>
          <p:cNvSpPr txBox="1"/>
          <p:nvPr/>
        </p:nvSpPr>
        <p:spPr>
          <a:xfrm>
            <a:off x="4700016" y="4352544"/>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 تعدیل</a:t>
            </a:r>
            <a:endParaRPr lang="fa-IR" sz="1200" dirty="0"/>
          </a:p>
        </p:txBody>
      </p:sp>
      <p:sp>
        <p:nvSpPr>
          <p:cNvPr id="87" name="anim_3_1162"/>
          <p:cNvSpPr/>
          <p:nvPr/>
        </p:nvSpPr>
        <p:spPr>
          <a:xfrm>
            <a:off x="3657600" y="4352544"/>
            <a:ext cx="1005840" cy="310896"/>
          </a:xfrm>
          <a:prstGeom prst="rect">
            <a:avLst/>
          </a:prstGeom>
          <a:solidFill>
            <a:schemeClr val="tx2"/>
          </a:solidFill>
          <a:ln w="9525">
            <a:solidFill>
              <a:srgbClr val="C9D3DF"/>
            </a:solidFill>
            <a:prstDash val="solid"/>
          </a:ln>
        </p:spPr>
      </p:sp>
      <p:sp>
        <p:nvSpPr>
          <p:cNvPr id="88" name="anim_3_1163"/>
          <p:cNvSpPr txBox="1"/>
          <p:nvPr/>
        </p:nvSpPr>
        <p:spPr>
          <a:xfrm>
            <a:off x="3694176" y="4352544"/>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D-W</a:t>
            </a:r>
            <a:endParaRPr lang="fa-IR" sz="1200" dirty="0"/>
          </a:p>
        </p:txBody>
      </p:sp>
      <p:sp>
        <p:nvSpPr>
          <p:cNvPr id="89" name="anim_3_1164"/>
          <p:cNvSpPr/>
          <p:nvPr/>
        </p:nvSpPr>
        <p:spPr>
          <a:xfrm>
            <a:off x="2743200" y="4352544"/>
            <a:ext cx="914400" cy="310896"/>
          </a:xfrm>
          <a:prstGeom prst="rect">
            <a:avLst/>
          </a:prstGeom>
          <a:solidFill>
            <a:schemeClr val="tx2"/>
          </a:solidFill>
          <a:ln w="9525">
            <a:solidFill>
              <a:srgbClr val="C9D3DF"/>
            </a:solidFill>
            <a:prstDash val="solid"/>
          </a:ln>
        </p:spPr>
      </p:sp>
      <p:sp>
        <p:nvSpPr>
          <p:cNvPr id="90" name="anim_3_1165"/>
          <p:cNvSpPr txBox="1"/>
          <p:nvPr/>
        </p:nvSpPr>
        <p:spPr>
          <a:xfrm>
            <a:off x="2779776" y="4352544"/>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آمارهٔ F</a:t>
            </a:r>
            <a:endParaRPr lang="fa-IR" sz="1200" dirty="0"/>
          </a:p>
        </p:txBody>
      </p:sp>
      <p:sp>
        <p:nvSpPr>
          <p:cNvPr id="91" name="anim_3_1166"/>
          <p:cNvSpPr/>
          <p:nvPr/>
        </p:nvSpPr>
        <p:spPr>
          <a:xfrm>
            <a:off x="1737360" y="4352544"/>
            <a:ext cx="1005840" cy="310896"/>
          </a:xfrm>
          <a:prstGeom prst="rect">
            <a:avLst/>
          </a:prstGeom>
          <a:solidFill>
            <a:schemeClr val="tx2"/>
          </a:solidFill>
          <a:ln w="9525">
            <a:solidFill>
              <a:srgbClr val="C9D3DF"/>
            </a:solidFill>
            <a:prstDash val="solid"/>
          </a:ln>
        </p:spPr>
      </p:sp>
      <p:sp>
        <p:nvSpPr>
          <p:cNvPr id="92" name="anim_3_1167"/>
          <p:cNvSpPr txBox="1"/>
          <p:nvPr/>
        </p:nvSpPr>
        <p:spPr>
          <a:xfrm>
            <a:off x="1773936" y="4352544"/>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Prob(F)</a:t>
            </a:r>
            <a:endParaRPr lang="fa-IR" sz="1200" dirty="0"/>
          </a:p>
        </p:txBody>
      </p:sp>
      <p:sp>
        <p:nvSpPr>
          <p:cNvPr id="93" name="anim_3_1168"/>
          <p:cNvSpPr/>
          <p:nvPr/>
        </p:nvSpPr>
        <p:spPr>
          <a:xfrm>
            <a:off x="548640" y="4352544"/>
            <a:ext cx="1188720" cy="310896"/>
          </a:xfrm>
          <a:prstGeom prst="rect">
            <a:avLst/>
          </a:prstGeom>
          <a:solidFill>
            <a:schemeClr val="tx2"/>
          </a:solidFill>
          <a:ln w="9525">
            <a:solidFill>
              <a:srgbClr val="C9D3DF"/>
            </a:solidFill>
            <a:prstDash val="solid"/>
          </a:ln>
        </p:spPr>
      </p:sp>
      <p:sp>
        <p:nvSpPr>
          <p:cNvPr id="94" name="anim_3_1169"/>
          <p:cNvSpPr txBox="1"/>
          <p:nvPr/>
        </p:nvSpPr>
        <p:spPr>
          <a:xfrm>
            <a:off x="585216" y="4352544"/>
            <a:ext cx="111556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مشاهده/مقطع</a:t>
            </a:r>
            <a:endParaRPr lang="fa-IR" sz="1200" dirty="0"/>
          </a:p>
        </p:txBody>
      </p:sp>
      <p:sp>
        <p:nvSpPr>
          <p:cNvPr id="95" name="anim_3_1170"/>
          <p:cNvSpPr/>
          <p:nvPr/>
        </p:nvSpPr>
        <p:spPr>
          <a:xfrm>
            <a:off x="5577840" y="4663440"/>
            <a:ext cx="914400" cy="310896"/>
          </a:xfrm>
          <a:prstGeom prst="rect">
            <a:avLst/>
          </a:prstGeom>
          <a:solidFill>
            <a:srgbClr val="FFFFFF"/>
          </a:solidFill>
          <a:ln w="9525">
            <a:solidFill>
              <a:srgbClr val="C9D3DF"/>
            </a:solidFill>
            <a:prstDash val="solid"/>
          </a:ln>
        </p:spPr>
      </p:sp>
      <p:sp>
        <p:nvSpPr>
          <p:cNvPr id="96" name="anim_3_1171"/>
          <p:cNvSpPr txBox="1"/>
          <p:nvPr/>
        </p:nvSpPr>
        <p:spPr>
          <a:xfrm>
            <a:off x="5614416" y="4663440"/>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‪0.5034‬</a:t>
            </a:r>
            <a:endParaRPr lang="fa-IR" sz="1200" dirty="0"/>
          </a:p>
        </p:txBody>
      </p:sp>
      <p:sp>
        <p:nvSpPr>
          <p:cNvPr id="97" name="anim_3_1172"/>
          <p:cNvSpPr/>
          <p:nvPr/>
        </p:nvSpPr>
        <p:spPr>
          <a:xfrm>
            <a:off x="4663440" y="4663440"/>
            <a:ext cx="914400" cy="310896"/>
          </a:xfrm>
          <a:prstGeom prst="rect">
            <a:avLst/>
          </a:prstGeom>
          <a:solidFill>
            <a:srgbClr val="FFFFFF"/>
          </a:solidFill>
          <a:ln w="9525">
            <a:solidFill>
              <a:srgbClr val="C9D3DF"/>
            </a:solidFill>
            <a:prstDash val="solid"/>
          </a:ln>
        </p:spPr>
      </p:sp>
      <p:sp>
        <p:nvSpPr>
          <p:cNvPr id="98" name="anim_3_1173"/>
          <p:cNvSpPr txBox="1"/>
          <p:nvPr/>
        </p:nvSpPr>
        <p:spPr>
          <a:xfrm>
            <a:off x="4700016" y="4663440"/>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‪0.3830‬</a:t>
            </a:r>
            <a:endParaRPr lang="fa-IR" sz="1200" dirty="0"/>
          </a:p>
        </p:txBody>
      </p:sp>
      <p:sp>
        <p:nvSpPr>
          <p:cNvPr id="99" name="anim_3_1174"/>
          <p:cNvSpPr/>
          <p:nvPr/>
        </p:nvSpPr>
        <p:spPr>
          <a:xfrm>
            <a:off x="3657600" y="4663440"/>
            <a:ext cx="1005840" cy="310896"/>
          </a:xfrm>
          <a:prstGeom prst="rect">
            <a:avLst/>
          </a:prstGeom>
          <a:solidFill>
            <a:srgbClr val="FFFFFF"/>
          </a:solidFill>
          <a:ln w="9525">
            <a:solidFill>
              <a:srgbClr val="C9D3DF"/>
            </a:solidFill>
            <a:prstDash val="solid"/>
          </a:ln>
        </p:spPr>
      </p:sp>
      <p:sp>
        <p:nvSpPr>
          <p:cNvPr id="100" name="anim_3_1175"/>
          <p:cNvSpPr txBox="1"/>
          <p:nvPr/>
        </p:nvSpPr>
        <p:spPr>
          <a:xfrm>
            <a:off x="3694176" y="4663440"/>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‪1.8711‬</a:t>
            </a:r>
            <a:endParaRPr lang="fa-IR" sz="1200" dirty="0"/>
          </a:p>
        </p:txBody>
      </p:sp>
      <p:sp>
        <p:nvSpPr>
          <p:cNvPr id="101" name="anim_3_1176"/>
          <p:cNvSpPr/>
          <p:nvPr/>
        </p:nvSpPr>
        <p:spPr>
          <a:xfrm>
            <a:off x="2743200" y="4663440"/>
            <a:ext cx="914400" cy="310896"/>
          </a:xfrm>
          <a:prstGeom prst="rect">
            <a:avLst/>
          </a:prstGeom>
          <a:solidFill>
            <a:srgbClr val="FFFFFF"/>
          </a:solidFill>
          <a:ln w="9525">
            <a:solidFill>
              <a:srgbClr val="C9D3DF"/>
            </a:solidFill>
            <a:prstDash val="solid"/>
          </a:ln>
        </p:spPr>
      </p:sp>
      <p:sp>
        <p:nvSpPr>
          <p:cNvPr id="102" name="anim_3_1177"/>
          <p:cNvSpPr txBox="1"/>
          <p:nvPr/>
        </p:nvSpPr>
        <p:spPr>
          <a:xfrm>
            <a:off x="2779776" y="4663440"/>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‪4.1814‬</a:t>
            </a:r>
            <a:endParaRPr lang="fa-IR" sz="1200" dirty="0"/>
          </a:p>
        </p:txBody>
      </p:sp>
      <p:sp>
        <p:nvSpPr>
          <p:cNvPr id="103" name="anim_3_1178"/>
          <p:cNvSpPr/>
          <p:nvPr/>
        </p:nvSpPr>
        <p:spPr>
          <a:xfrm>
            <a:off x="1737360" y="4663440"/>
            <a:ext cx="1005840" cy="310896"/>
          </a:xfrm>
          <a:prstGeom prst="rect">
            <a:avLst/>
          </a:prstGeom>
          <a:solidFill>
            <a:srgbClr val="FFFFFF"/>
          </a:solidFill>
          <a:ln w="9525">
            <a:solidFill>
              <a:srgbClr val="C9D3DF"/>
            </a:solidFill>
            <a:prstDash val="solid"/>
          </a:ln>
        </p:spPr>
      </p:sp>
      <p:sp>
        <p:nvSpPr>
          <p:cNvPr id="104" name="anim_3_1179"/>
          <p:cNvSpPr txBox="1"/>
          <p:nvPr/>
        </p:nvSpPr>
        <p:spPr>
          <a:xfrm>
            <a:off x="1773936" y="4663440"/>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‪&lt; 0.0001‬</a:t>
            </a:r>
            <a:endParaRPr lang="fa-IR" sz="1200" dirty="0"/>
          </a:p>
        </p:txBody>
      </p:sp>
      <p:sp>
        <p:nvSpPr>
          <p:cNvPr id="105" name="anim_3_1180"/>
          <p:cNvSpPr/>
          <p:nvPr/>
        </p:nvSpPr>
        <p:spPr>
          <a:xfrm>
            <a:off x="548640" y="4663440"/>
            <a:ext cx="1188720" cy="310896"/>
          </a:xfrm>
          <a:prstGeom prst="rect">
            <a:avLst/>
          </a:prstGeom>
          <a:solidFill>
            <a:srgbClr val="FFFFFF"/>
          </a:solidFill>
          <a:ln w="9525">
            <a:solidFill>
              <a:srgbClr val="C9D3DF"/>
            </a:solidFill>
            <a:prstDash val="solid"/>
          </a:ln>
        </p:spPr>
      </p:sp>
      <p:sp>
        <p:nvSpPr>
          <p:cNvPr id="106" name="anim_3_1181"/>
          <p:cNvSpPr txBox="1"/>
          <p:nvPr/>
        </p:nvSpPr>
        <p:spPr>
          <a:xfrm>
            <a:off x="585216" y="4663440"/>
            <a:ext cx="111556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‪698 / 132‬</a:t>
            </a:r>
            <a:endParaRPr lang="fa-IR" sz="1200" dirty="0"/>
          </a:p>
        </p:txBody>
      </p:sp>
      <p:sp>
        <p:nvSpPr>
          <p:cNvPr id="107" name="anim_4_1182"/>
          <p:cNvSpPr/>
          <p:nvPr/>
        </p:nvSpPr>
        <p:spPr>
          <a:xfrm>
            <a:off x="548640" y="5065776"/>
            <a:ext cx="5943600" cy="1243584"/>
          </a:xfrm>
          <a:prstGeom prst="roundRect">
            <a:avLst>
              <a:gd name="adj" fmla="val 8824"/>
            </a:avLst>
          </a:prstGeom>
          <a:solidFill>
            <a:schemeClr val="bg2"/>
          </a:solidFill>
          <a:ln/>
          <a:effectLst>
            <a:outerShdw sx="100000" sy="100000" kx="0" ky="0" algn="bl" rotWithShape="0" blurRad="101600" dist="25400" dir="5400000">
              <a:srgbClr val="000000">
                <a:alpha val="12000"/>
              </a:srgbClr>
            </a:outerShdw>
          </a:effectLst>
        </p:spPr>
      </p:sp>
      <p:sp>
        <p:nvSpPr>
          <p:cNvPr id="108" name="anim_4_1183"/>
          <p:cNvSpPr txBox="1"/>
          <p:nvPr/>
        </p:nvSpPr>
        <p:spPr>
          <a:xfrm>
            <a:off x="731520" y="5093208"/>
            <a:ext cx="5577840" cy="1188720"/>
          </a:xfrm>
          <a:prstGeom prst="rect">
            <a:avLst/>
          </a:prstGeom>
          <a:noFill/>
          <a:ln/>
        </p:spPr>
        <p:txBody>
          <a:bodyPr wrap="square" lIns="0" tIns="0" rIns="0" bIns="0" rtlCol="0" anchor="ctr"/>
          <a:lstStyle/>
          <a:p>
            <a:pPr rtl="1" algn="r" indent="0" marL="0">
              <a:buNone/>
            </a:pPr>
            <a:r>
              <a:rPr lang="fa-IR" altLang="en-US" sz="1500" b="1" dirty="0">
                <a:solidFill>
                  <a:schemeClr val="tx2"/>
                </a:solidFill>
                <a:latin typeface="B Nazanin" pitchFamily="34" charset="0"/>
                <a:ea typeface="B Nazanin" pitchFamily="34" charset="-122"/>
                <a:cs typeface="B Nazanin" pitchFamily="34" charset="-120"/>
              </a:rPr>
              <a:t>مؤسساتی که با هزینهٔ پایین‌تر شروع می‌کنند، در سال‌های بعد افزایش بیشتری در حق‌الزحمه دارند؛ این مهم‌ترین شاهد وجود ریکاوری است.</a:t>
            </a:r>
            <a:endParaRPr lang="fa-IR" sz="1500" dirty="0"/>
          </a:p>
        </p:txBody>
      </p:sp>
      <p:sp>
        <p:nvSpPr>
          <p:cNvPr id="109" name="anim_5_1184"/>
          <p:cNvSpPr/>
          <p:nvPr/>
        </p:nvSpPr>
        <p:spPr>
          <a:xfrm>
            <a:off x="6720840" y="2084832"/>
            <a:ext cx="4919472" cy="3017520"/>
          </a:xfrm>
          <a:prstGeom prst="roundRect">
            <a:avLst>
              <a:gd name="adj" fmla="val 3636"/>
            </a:avLst>
          </a:prstGeom>
          <a:solidFill>
            <a:schemeClr val="bg2"/>
          </a:solidFill>
          <a:ln/>
          <a:effectLst>
            <a:outerShdw sx="100000" sy="100000" kx="0" ky="0" algn="bl" rotWithShape="0" blurRad="101600" dist="25400" dir="5400000">
              <a:srgbClr val="000000">
                <a:alpha val="12000"/>
              </a:srgbClr>
            </a:outerShdw>
          </a:effectLst>
        </p:spPr>
      </p:sp>
      <p:sp>
        <p:nvSpPr>
          <p:cNvPr id="110" name="anim_5_1185"/>
          <p:cNvSpPr txBox="1"/>
          <p:nvPr/>
        </p:nvSpPr>
        <p:spPr>
          <a:xfrm>
            <a:off x="6858000" y="2130552"/>
            <a:ext cx="4663440" cy="2926080"/>
          </a:xfrm>
          <a:prstGeom prst="rect">
            <a:avLst/>
          </a:prstGeom>
          <a:noFill/>
          <a:ln/>
        </p:spPr>
        <p:txBody>
          <a:bodyPr wrap="square" lIns="0" tIns="0" rIns="0" bIns="0" rtlCol="0" anchor="t"/>
          <a:lstStyle/>
          <a:p>
            <a:pPr algn="r" indent="0" marL="0">
              <a:spcAft>
                <a:spcPts val="300"/>
              </a:spcAft>
              <a:buNone/>
            </a:pPr>
            <a:r>
              <a:rPr lang="fa-IR" altLang="en-US" sz="1600" b="1" dirty="0">
                <a:solidFill>
                  <a:schemeClr val="accent1"/>
                </a:solidFill>
                <a:latin typeface="B Nazanin" pitchFamily="34" charset="0"/>
                <a:ea typeface="B Nazanin" pitchFamily="34" charset="-122"/>
                <a:cs typeface="B Nazanin" pitchFamily="34" charset="-120"/>
              </a:rPr>
              <a:t>تفسیر نتیجه</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ضریب هزینهٔ حسابرسی 0.649- و بسیار معنادار است (آمارهٔ t برابر 16.905-)</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الگوی ریکاوری با منطق شبه‌منافع آتی در نظریهٔ دی‌آنجلو سازگار است</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اندازهٔ شرکت اثر مثبت و سودآوری اثر منفی دارد؛ ریسک معنادار نیست</a:t>
            </a:r>
            <a:endParaRPr lang="fa-IR" sz="1400" dirty="0"/>
          </a:p>
        </p:txBody>
      </p:sp>
      <p:sp>
        <p:nvSpPr>
          <p:cNvPr id="111" name="anim_6_1186"/>
          <p:cNvSpPr/>
          <p:nvPr/>
        </p:nvSpPr>
        <p:spPr>
          <a:xfrm>
            <a:off x="6720840" y="5193792"/>
            <a:ext cx="4919472" cy="1115568"/>
          </a:xfrm>
          <a:prstGeom prst="roundRect">
            <a:avLst>
              <a:gd name="adj" fmla="val 9836"/>
            </a:avLst>
          </a:prstGeom>
          <a:solidFill>
            <a:schemeClr val="bg2"/>
          </a:solidFill>
          <a:ln/>
          <a:effectLst>
            <a:outerShdw sx="100000" sy="100000" kx="0" ky="0" algn="bl" rotWithShape="0" blurRad="101600" dist="25400" dir="5400000">
              <a:srgbClr val="000000">
                <a:alpha val="12000"/>
              </a:srgbClr>
            </a:outerShdw>
          </a:effectLst>
        </p:spPr>
      </p:sp>
      <p:sp>
        <p:nvSpPr>
          <p:cNvPr id="112" name="anim_6_1187"/>
          <p:cNvSpPr txBox="1"/>
          <p:nvPr/>
        </p:nvSpPr>
        <p:spPr>
          <a:xfrm>
            <a:off x="6858000" y="5212080"/>
            <a:ext cx="4663440" cy="1078992"/>
          </a:xfrm>
          <a:prstGeom prst="rect">
            <a:avLst/>
          </a:prstGeom>
          <a:noFill/>
          <a:ln/>
        </p:spPr>
        <p:txBody>
          <a:bodyPr wrap="square" lIns="0" tIns="0" rIns="0" bIns="0" rtlCol="0" anchor="t"/>
          <a:lstStyle/>
          <a:p>
            <a:pPr algn="r" indent="0" marL="0">
              <a:spcAft>
                <a:spcPts val="100"/>
              </a:spcAft>
              <a:buNone/>
            </a:pPr>
            <a:r>
              <a:rPr lang="fa-IR" altLang="en-US" sz="1500" b="1" dirty="0">
                <a:solidFill>
                  <a:schemeClr val="accent3"/>
                </a:solidFill>
                <a:latin typeface="B Nazanin" pitchFamily="34" charset="0"/>
                <a:ea typeface="B Nazanin" pitchFamily="34" charset="-122"/>
                <a:cs typeface="B Nazanin" pitchFamily="34" charset="-120"/>
              </a:rPr>
              <a:t>مقایسه با پیشینه</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همسو: سیمون و فرانسیس (1988)، پیل (2013)، کاچر و ویلسون (2016) و چو و همکاران (2020)</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ناهمسو: عزیزخانی و آقابیگی (1392)، باروا و همکاران (2020)</a:t>
            </a:r>
            <a:endParaRPr lang="fa-IR" sz="13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3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3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3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3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3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3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3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3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3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3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35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35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35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35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3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3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3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3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3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3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3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35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35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35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35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35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35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35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35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35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35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35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35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35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35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35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35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35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35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3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35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35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35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35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35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35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35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35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35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35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35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35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35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35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35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35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35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35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35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35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35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35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35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35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35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35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35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35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70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70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70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70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70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70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70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70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70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70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70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70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70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70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70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70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70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par>
                                <p:cTn id="295" presetID="10" presetClass="entr" presetSubtype="0" fill="hold" nodeType="withEffect">
                                  <p:stCondLst>
                                    <p:cond delay="70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600"/>
                                        <p:tgtEl>
                                          <p:spTgt spid="100"/>
                                        </p:tgtEl>
                                      </p:cBhvr>
                                    </p:animEffect>
                                  </p:childTnLst>
                                </p:cTn>
                              </p:par>
                              <p:par>
                                <p:cTn id="298" presetID="10" presetClass="entr" presetSubtype="0" fill="hold" nodeType="withEffect">
                                  <p:stCondLst>
                                    <p:cond delay="70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600"/>
                                        <p:tgtEl>
                                          <p:spTgt spid="101"/>
                                        </p:tgtEl>
                                      </p:cBhvr>
                                    </p:animEffect>
                                  </p:childTnLst>
                                </p:cTn>
                              </p:par>
                              <p:par>
                                <p:cTn id="301" presetID="10" presetClass="entr" presetSubtype="0" fill="hold" nodeType="withEffect">
                                  <p:stCondLst>
                                    <p:cond delay="700"/>
                                  </p:stCondLst>
                                  <p:childTnLst>
                                    <p:set>
                                      <p:cBhvr>
                                        <p:cTn id="302" dur="1" fill="hold">
                                          <p:stCondLst>
                                            <p:cond delay="0"/>
                                          </p:stCondLst>
                                        </p:cTn>
                                        <p:tgtEl>
                                          <p:spTgt spid="102"/>
                                        </p:tgtEl>
                                        <p:attrNameLst>
                                          <p:attrName>style.visibility</p:attrName>
                                        </p:attrNameLst>
                                      </p:cBhvr>
                                      <p:to>
                                        <p:strVal val="visible"/>
                                      </p:to>
                                    </p:set>
                                    <p:animEffect transition="in" filter="fade">
                                      <p:cBhvr>
                                        <p:cTn id="303" dur="600"/>
                                        <p:tgtEl>
                                          <p:spTgt spid="102"/>
                                        </p:tgtEl>
                                      </p:cBhvr>
                                    </p:animEffect>
                                  </p:childTnLst>
                                </p:cTn>
                              </p:par>
                              <p:par>
                                <p:cTn id="304" presetID="10" presetClass="entr" presetSubtype="0" fill="hold" nodeType="withEffect">
                                  <p:stCondLst>
                                    <p:cond delay="700"/>
                                  </p:stCondLst>
                                  <p:childTnLst>
                                    <p:set>
                                      <p:cBhvr>
                                        <p:cTn id="305" dur="1" fill="hold">
                                          <p:stCondLst>
                                            <p:cond delay="0"/>
                                          </p:stCondLst>
                                        </p:cTn>
                                        <p:tgtEl>
                                          <p:spTgt spid="103"/>
                                        </p:tgtEl>
                                        <p:attrNameLst>
                                          <p:attrName>style.visibility</p:attrName>
                                        </p:attrNameLst>
                                      </p:cBhvr>
                                      <p:to>
                                        <p:strVal val="visible"/>
                                      </p:to>
                                    </p:set>
                                    <p:animEffect transition="in" filter="fade">
                                      <p:cBhvr>
                                        <p:cTn id="306" dur="600"/>
                                        <p:tgtEl>
                                          <p:spTgt spid="103"/>
                                        </p:tgtEl>
                                      </p:cBhvr>
                                    </p:animEffect>
                                  </p:childTnLst>
                                </p:cTn>
                              </p:par>
                              <p:par>
                                <p:cTn id="307" presetID="10" presetClass="entr" presetSubtype="0" fill="hold" nodeType="withEffect">
                                  <p:stCondLst>
                                    <p:cond delay="700"/>
                                  </p:stCondLst>
                                  <p:childTnLst>
                                    <p:set>
                                      <p:cBhvr>
                                        <p:cTn id="308" dur="1" fill="hold">
                                          <p:stCondLst>
                                            <p:cond delay="0"/>
                                          </p:stCondLst>
                                        </p:cTn>
                                        <p:tgtEl>
                                          <p:spTgt spid="104"/>
                                        </p:tgtEl>
                                        <p:attrNameLst>
                                          <p:attrName>style.visibility</p:attrName>
                                        </p:attrNameLst>
                                      </p:cBhvr>
                                      <p:to>
                                        <p:strVal val="visible"/>
                                      </p:to>
                                    </p:set>
                                    <p:animEffect transition="in" filter="fade">
                                      <p:cBhvr>
                                        <p:cTn id="309" dur="600"/>
                                        <p:tgtEl>
                                          <p:spTgt spid="104"/>
                                        </p:tgtEl>
                                      </p:cBhvr>
                                    </p:animEffect>
                                  </p:childTnLst>
                                </p:cTn>
                              </p:par>
                              <p:par>
                                <p:cTn id="310" presetID="10" presetClass="entr" presetSubtype="0" fill="hold" nodeType="withEffect">
                                  <p:stCondLst>
                                    <p:cond delay="700"/>
                                  </p:stCondLst>
                                  <p:childTnLst>
                                    <p:set>
                                      <p:cBhvr>
                                        <p:cTn id="311" dur="1" fill="hold">
                                          <p:stCondLst>
                                            <p:cond delay="0"/>
                                          </p:stCondLst>
                                        </p:cTn>
                                        <p:tgtEl>
                                          <p:spTgt spid="105"/>
                                        </p:tgtEl>
                                        <p:attrNameLst>
                                          <p:attrName>style.visibility</p:attrName>
                                        </p:attrNameLst>
                                      </p:cBhvr>
                                      <p:to>
                                        <p:strVal val="visible"/>
                                      </p:to>
                                    </p:set>
                                    <p:animEffect transition="in" filter="fade">
                                      <p:cBhvr>
                                        <p:cTn id="312" dur="600"/>
                                        <p:tgtEl>
                                          <p:spTgt spid="105"/>
                                        </p:tgtEl>
                                      </p:cBhvr>
                                    </p:animEffect>
                                  </p:childTnLst>
                                </p:cTn>
                              </p:par>
                              <p:par>
                                <p:cTn id="313" presetID="10" presetClass="entr" presetSubtype="0" fill="hold" nodeType="withEffect">
                                  <p:stCondLst>
                                    <p:cond delay="700"/>
                                  </p:stCondLst>
                                  <p:childTnLst>
                                    <p:set>
                                      <p:cBhvr>
                                        <p:cTn id="314" dur="1" fill="hold">
                                          <p:stCondLst>
                                            <p:cond delay="0"/>
                                          </p:stCondLst>
                                        </p:cTn>
                                        <p:tgtEl>
                                          <p:spTgt spid="106"/>
                                        </p:tgtEl>
                                        <p:attrNameLst>
                                          <p:attrName>style.visibility</p:attrName>
                                        </p:attrNameLst>
                                      </p:cBhvr>
                                      <p:to>
                                        <p:strVal val="visible"/>
                                      </p:to>
                                    </p:set>
                                    <p:animEffect transition="in" filter="fade">
                                      <p:cBhvr>
                                        <p:cTn id="315" dur="600"/>
                                        <p:tgtEl>
                                          <p:spTgt spid="106"/>
                                        </p:tgtEl>
                                      </p:cBhvr>
                                    </p:animEffect>
                                  </p:childTnLst>
                                </p:cTn>
                              </p:par>
                              <p:par>
                                <p:cTn id="316" presetID="10" presetClass="entr" presetSubtype="0" fill="hold" nodeType="withEffect">
                                  <p:stCondLst>
                                    <p:cond delay="1050"/>
                                  </p:stCondLst>
                                  <p:childTnLst>
                                    <p:set>
                                      <p:cBhvr>
                                        <p:cTn id="317" dur="1" fill="hold">
                                          <p:stCondLst>
                                            <p:cond delay="0"/>
                                          </p:stCondLst>
                                        </p:cTn>
                                        <p:tgtEl>
                                          <p:spTgt spid="107"/>
                                        </p:tgtEl>
                                        <p:attrNameLst>
                                          <p:attrName>style.visibility</p:attrName>
                                        </p:attrNameLst>
                                      </p:cBhvr>
                                      <p:to>
                                        <p:strVal val="visible"/>
                                      </p:to>
                                    </p:set>
                                    <p:animEffect transition="in" filter="fade">
                                      <p:cBhvr>
                                        <p:cTn id="318" dur="600"/>
                                        <p:tgtEl>
                                          <p:spTgt spid="107"/>
                                        </p:tgtEl>
                                      </p:cBhvr>
                                    </p:animEffect>
                                  </p:childTnLst>
                                </p:cTn>
                              </p:par>
                              <p:par>
                                <p:cTn id="319" presetID="10" presetClass="entr" presetSubtype="0" fill="hold" nodeType="withEffect">
                                  <p:stCondLst>
                                    <p:cond delay="1050"/>
                                  </p:stCondLst>
                                  <p:childTnLst>
                                    <p:set>
                                      <p:cBhvr>
                                        <p:cTn id="320" dur="1" fill="hold">
                                          <p:stCondLst>
                                            <p:cond delay="0"/>
                                          </p:stCondLst>
                                        </p:cTn>
                                        <p:tgtEl>
                                          <p:spTgt spid="108"/>
                                        </p:tgtEl>
                                        <p:attrNameLst>
                                          <p:attrName>style.visibility</p:attrName>
                                        </p:attrNameLst>
                                      </p:cBhvr>
                                      <p:to>
                                        <p:strVal val="visible"/>
                                      </p:to>
                                    </p:set>
                                    <p:animEffect transition="in" filter="fade">
                                      <p:cBhvr>
                                        <p:cTn id="321" dur="600"/>
                                        <p:tgtEl>
                                          <p:spTgt spid="108"/>
                                        </p:tgtEl>
                                      </p:cBhvr>
                                    </p:animEffect>
                                  </p:childTnLst>
                                </p:cTn>
                              </p:par>
                              <p:par>
                                <p:cTn id="322" presetID="10" presetClass="entr" presetSubtype="0" fill="hold" nodeType="withEffect">
                                  <p:stCondLst>
                                    <p:cond delay="1400"/>
                                  </p:stCondLst>
                                  <p:childTnLst>
                                    <p:set>
                                      <p:cBhvr>
                                        <p:cTn id="323" dur="1" fill="hold">
                                          <p:stCondLst>
                                            <p:cond delay="0"/>
                                          </p:stCondLst>
                                        </p:cTn>
                                        <p:tgtEl>
                                          <p:spTgt spid="109"/>
                                        </p:tgtEl>
                                        <p:attrNameLst>
                                          <p:attrName>style.visibility</p:attrName>
                                        </p:attrNameLst>
                                      </p:cBhvr>
                                      <p:to>
                                        <p:strVal val="visible"/>
                                      </p:to>
                                    </p:set>
                                    <p:animEffect transition="in" filter="fade">
                                      <p:cBhvr>
                                        <p:cTn id="324" dur="600"/>
                                        <p:tgtEl>
                                          <p:spTgt spid="109"/>
                                        </p:tgtEl>
                                      </p:cBhvr>
                                    </p:animEffect>
                                  </p:childTnLst>
                                </p:cTn>
                              </p:par>
                              <p:par>
                                <p:cTn id="325" presetID="10" presetClass="entr" presetSubtype="0" fill="hold" nodeType="withEffect">
                                  <p:stCondLst>
                                    <p:cond delay="1400"/>
                                  </p:stCondLst>
                                  <p:childTnLst>
                                    <p:set>
                                      <p:cBhvr>
                                        <p:cTn id="326" dur="1" fill="hold">
                                          <p:stCondLst>
                                            <p:cond delay="0"/>
                                          </p:stCondLst>
                                        </p:cTn>
                                        <p:tgtEl>
                                          <p:spTgt spid="110"/>
                                        </p:tgtEl>
                                        <p:attrNameLst>
                                          <p:attrName>style.visibility</p:attrName>
                                        </p:attrNameLst>
                                      </p:cBhvr>
                                      <p:to>
                                        <p:strVal val="visible"/>
                                      </p:to>
                                    </p:set>
                                    <p:animEffect transition="in" filter="fade">
                                      <p:cBhvr>
                                        <p:cTn id="327" dur="600"/>
                                        <p:tgtEl>
                                          <p:spTgt spid="110"/>
                                        </p:tgtEl>
                                      </p:cBhvr>
                                    </p:animEffect>
                                  </p:childTnLst>
                                </p:cTn>
                              </p:par>
                              <p:par>
                                <p:cTn id="328" presetID="10" presetClass="entr" presetSubtype="0" fill="hold" nodeType="withEffect">
                                  <p:stCondLst>
                                    <p:cond delay="1750"/>
                                  </p:stCondLst>
                                  <p:childTnLst>
                                    <p:set>
                                      <p:cBhvr>
                                        <p:cTn id="329" dur="1" fill="hold">
                                          <p:stCondLst>
                                            <p:cond delay="0"/>
                                          </p:stCondLst>
                                        </p:cTn>
                                        <p:tgtEl>
                                          <p:spTgt spid="111"/>
                                        </p:tgtEl>
                                        <p:attrNameLst>
                                          <p:attrName>style.visibility</p:attrName>
                                        </p:attrNameLst>
                                      </p:cBhvr>
                                      <p:to>
                                        <p:strVal val="visible"/>
                                      </p:to>
                                    </p:set>
                                    <p:animEffect transition="in" filter="fade">
                                      <p:cBhvr>
                                        <p:cTn id="330" dur="600"/>
                                        <p:tgtEl>
                                          <p:spTgt spid="111"/>
                                        </p:tgtEl>
                                      </p:cBhvr>
                                    </p:animEffect>
                                  </p:childTnLst>
                                </p:cTn>
                              </p:par>
                              <p:par>
                                <p:cTn id="331" presetID="10" presetClass="entr" presetSubtype="0" fill="hold" nodeType="withEffect">
                                  <p:stCondLst>
                                    <p:cond delay="1750"/>
                                  </p:stCondLst>
                                  <p:childTnLst>
                                    <p:set>
                                      <p:cBhvr>
                                        <p:cTn id="332" dur="1" fill="hold">
                                          <p:stCondLst>
                                            <p:cond delay="0"/>
                                          </p:stCondLst>
                                        </p:cTn>
                                        <p:tgtEl>
                                          <p:spTgt spid="112"/>
                                        </p:tgtEl>
                                        <p:attrNameLst>
                                          <p:attrName>style.visibility</p:attrName>
                                        </p:attrNameLst>
                                      </p:cBhvr>
                                      <p:to>
                                        <p:strVal val="visible"/>
                                      </p:to>
                                    </p:set>
                                    <p:animEffect transition="in" filter="fade">
                                      <p:cBhvr>
                                        <p:cTn id="333" dur="6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نتیجهٔ فرضیهٔ چهارم: ریکاوری از مجرای خدمات غیرحسابرسی</a:t>
            </a:r>
            <a:endParaRPr lang="fa-IR" sz="3400" dirty="0"/>
          </a:p>
        </p:txBody>
      </p:sp>
      <p:sp>
        <p:nvSpPr>
          <p:cNvPr id="3" name="anim_1_1188"/>
          <p:cNvSpPr/>
          <p:nvPr/>
        </p:nvSpPr>
        <p:spPr>
          <a:xfrm>
            <a:off x="548640" y="1234440"/>
            <a:ext cx="11091672" cy="731520"/>
          </a:xfrm>
          <a:prstGeom prst="roundRect">
            <a:avLst>
              <a:gd name="adj" fmla="val 15000"/>
            </a:avLst>
          </a:prstGeom>
          <a:solidFill>
            <a:schemeClr val="tx2"/>
          </a:solidFill>
          <a:ln/>
          <a:effectLst>
            <a:outerShdw sx="100000" sy="100000" kx="0" ky="0" algn="bl" rotWithShape="0" blurRad="101600" dist="25400" dir="5400000">
              <a:srgbClr val="000000">
                <a:alpha val="12000"/>
              </a:srgbClr>
            </a:outerShdw>
          </a:effectLst>
        </p:spPr>
      </p:sp>
      <p:sp>
        <p:nvSpPr>
          <p:cNvPr id="4" name="anim_1_1189"/>
          <p:cNvSpPr txBox="1"/>
          <p:nvPr/>
        </p:nvSpPr>
        <p:spPr>
          <a:xfrm>
            <a:off x="2286000" y="1252728"/>
            <a:ext cx="9171432" cy="694944"/>
          </a:xfrm>
          <a:prstGeom prst="rect">
            <a:avLst/>
          </a:prstGeom>
          <a:noFill/>
          <a:ln/>
        </p:spPr>
        <p:txBody>
          <a:bodyPr wrap="square" lIns="0" tIns="0" rIns="0" bIns="0" rtlCol="0" anchor="ctr"/>
          <a:lstStyle/>
          <a:p>
            <a:pPr rtl="1" algn="r" indent="0" marL="0">
              <a:buNone/>
            </a:pPr>
            <a:r>
              <a:rPr lang="fa-IR" altLang="en-US" sz="1800" dirty="0">
                <a:solidFill>
                  <a:schemeClr val="bg1"/>
                </a:solidFill>
                <a:latin typeface="B Nazanin" pitchFamily="34" charset="0"/>
                <a:ea typeface="B Nazanin" pitchFamily="34" charset="-122"/>
                <a:cs typeface="B Nazanin" pitchFamily="34" charset="-120"/>
              </a:rPr>
              <a:t>افزایش حق‌الزحمه‌های غیرحسابرسی بعدی در مؤسسات با هزینهٔ اولیهٔ پایین معناداراً بیشتر نیست</a:t>
            </a:r>
            <a:endParaRPr lang="fa-IR" sz="1800" dirty="0"/>
          </a:p>
        </p:txBody>
      </p:sp>
      <p:sp>
        <p:nvSpPr>
          <p:cNvPr id="5" name="anim_1_1190"/>
          <p:cNvSpPr/>
          <p:nvPr/>
        </p:nvSpPr>
        <p:spPr>
          <a:xfrm>
            <a:off x="731520" y="1344168"/>
            <a:ext cx="1371600" cy="512064"/>
          </a:xfrm>
          <a:prstGeom prst="roundRect">
            <a:avLst>
              <a:gd name="adj" fmla="val 21429"/>
            </a:avLst>
          </a:prstGeom>
          <a:solidFill>
            <a:schemeClr val="accent3"/>
          </a:solidFill>
          <a:ln/>
        </p:spPr>
      </p:sp>
      <p:sp>
        <p:nvSpPr>
          <p:cNvPr id="6" name="anim_1_1191"/>
          <p:cNvSpPr txBox="1"/>
          <p:nvPr/>
        </p:nvSpPr>
        <p:spPr>
          <a:xfrm>
            <a:off x="731520" y="1344168"/>
            <a:ext cx="1371600" cy="512064"/>
          </a:xfrm>
          <a:prstGeom prst="rect">
            <a:avLst/>
          </a:prstGeom>
          <a:noFill/>
          <a:ln/>
        </p:spPr>
        <p:txBody>
          <a:bodyPr wrap="square" lIns="0" tIns="0" rIns="0" bIns="0" rtlCol="0" anchor="ctr"/>
          <a:lstStyle/>
          <a:p>
            <a:pPr rtl="1" algn="ctr" indent="0" marL="0">
              <a:buNone/>
            </a:pPr>
            <a:r>
              <a:rPr lang="fa-IR" altLang="en-US" sz="2000" dirty="0">
                <a:solidFill>
                  <a:schemeClr val="bg1"/>
                </a:solidFill>
                <a:latin typeface="B Titr" pitchFamily="34" charset="0"/>
                <a:ea typeface="B Titr" pitchFamily="34" charset="-122"/>
                <a:cs typeface="B Titr" pitchFamily="34" charset="-120"/>
              </a:rPr>
              <a:t>عدم تأیید</a:t>
            </a:r>
            <a:endParaRPr lang="fa-IR" sz="2000" dirty="0"/>
          </a:p>
        </p:txBody>
      </p:sp>
      <p:sp>
        <p:nvSpPr>
          <p:cNvPr id="7" name="anim_2_1192"/>
          <p:cNvSpPr/>
          <p:nvPr/>
        </p:nvSpPr>
        <p:spPr>
          <a:xfrm>
            <a:off x="4663440" y="2084832"/>
            <a:ext cx="1828800" cy="310896"/>
          </a:xfrm>
          <a:prstGeom prst="rect">
            <a:avLst/>
          </a:prstGeom>
          <a:solidFill>
            <a:schemeClr val="tx2"/>
          </a:solidFill>
          <a:ln w="9525">
            <a:solidFill>
              <a:srgbClr val="C9D3DF"/>
            </a:solidFill>
            <a:prstDash val="solid"/>
          </a:ln>
        </p:spPr>
      </p:sp>
      <p:sp>
        <p:nvSpPr>
          <p:cNvPr id="8" name="anim_2_1193"/>
          <p:cNvSpPr txBox="1"/>
          <p:nvPr/>
        </p:nvSpPr>
        <p:spPr>
          <a:xfrm>
            <a:off x="4700016" y="2084832"/>
            <a:ext cx="17556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متغیر</a:t>
            </a:r>
            <a:endParaRPr lang="fa-IR" sz="1300" dirty="0"/>
          </a:p>
        </p:txBody>
      </p:sp>
      <p:sp>
        <p:nvSpPr>
          <p:cNvPr id="9" name="anim_2_1194"/>
          <p:cNvSpPr/>
          <p:nvPr/>
        </p:nvSpPr>
        <p:spPr>
          <a:xfrm>
            <a:off x="3657600" y="2084832"/>
            <a:ext cx="1005840" cy="310896"/>
          </a:xfrm>
          <a:prstGeom prst="rect">
            <a:avLst/>
          </a:prstGeom>
          <a:solidFill>
            <a:schemeClr val="tx2"/>
          </a:solidFill>
          <a:ln w="9525">
            <a:solidFill>
              <a:srgbClr val="C9D3DF"/>
            </a:solidFill>
            <a:prstDash val="solid"/>
          </a:ln>
        </p:spPr>
      </p:sp>
      <p:sp>
        <p:nvSpPr>
          <p:cNvPr id="10" name="anim_2_1195"/>
          <p:cNvSpPr txBox="1"/>
          <p:nvPr/>
        </p:nvSpPr>
        <p:spPr>
          <a:xfrm>
            <a:off x="369417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ضریب</a:t>
            </a:r>
            <a:endParaRPr lang="fa-IR" sz="1300" dirty="0"/>
          </a:p>
        </p:txBody>
      </p:sp>
      <p:sp>
        <p:nvSpPr>
          <p:cNvPr id="11" name="anim_2_1196"/>
          <p:cNvSpPr/>
          <p:nvPr/>
        </p:nvSpPr>
        <p:spPr>
          <a:xfrm>
            <a:off x="2468880" y="2084832"/>
            <a:ext cx="1188720" cy="310896"/>
          </a:xfrm>
          <a:prstGeom prst="rect">
            <a:avLst/>
          </a:prstGeom>
          <a:solidFill>
            <a:schemeClr val="tx2"/>
          </a:solidFill>
          <a:ln w="9525">
            <a:solidFill>
              <a:srgbClr val="C9D3DF"/>
            </a:solidFill>
            <a:prstDash val="solid"/>
          </a:ln>
        </p:spPr>
      </p:sp>
      <p:sp>
        <p:nvSpPr>
          <p:cNvPr id="12" name="anim_2_1197"/>
          <p:cNvSpPr txBox="1"/>
          <p:nvPr/>
        </p:nvSpPr>
        <p:spPr>
          <a:xfrm>
            <a:off x="2505456" y="2084832"/>
            <a:ext cx="111556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خطای معیار</a:t>
            </a:r>
            <a:endParaRPr lang="fa-IR" sz="1300" dirty="0"/>
          </a:p>
        </p:txBody>
      </p:sp>
      <p:sp>
        <p:nvSpPr>
          <p:cNvPr id="13" name="anim_2_1198"/>
          <p:cNvSpPr/>
          <p:nvPr/>
        </p:nvSpPr>
        <p:spPr>
          <a:xfrm>
            <a:off x="1463040" y="2084832"/>
            <a:ext cx="1005840" cy="310896"/>
          </a:xfrm>
          <a:prstGeom prst="rect">
            <a:avLst/>
          </a:prstGeom>
          <a:solidFill>
            <a:schemeClr val="tx2"/>
          </a:solidFill>
          <a:ln w="9525">
            <a:solidFill>
              <a:srgbClr val="C9D3DF"/>
            </a:solidFill>
            <a:prstDash val="solid"/>
          </a:ln>
        </p:spPr>
      </p:sp>
      <p:sp>
        <p:nvSpPr>
          <p:cNvPr id="14" name="anim_2_1199"/>
          <p:cNvSpPr txBox="1"/>
          <p:nvPr/>
        </p:nvSpPr>
        <p:spPr>
          <a:xfrm>
            <a:off x="149961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آمارهٔ t</a:t>
            </a:r>
            <a:endParaRPr lang="fa-IR" sz="1300" dirty="0"/>
          </a:p>
        </p:txBody>
      </p:sp>
      <p:sp>
        <p:nvSpPr>
          <p:cNvPr id="15" name="anim_2_1200"/>
          <p:cNvSpPr/>
          <p:nvPr/>
        </p:nvSpPr>
        <p:spPr>
          <a:xfrm>
            <a:off x="548640" y="2084832"/>
            <a:ext cx="914400" cy="310896"/>
          </a:xfrm>
          <a:prstGeom prst="rect">
            <a:avLst/>
          </a:prstGeom>
          <a:solidFill>
            <a:schemeClr val="tx2"/>
          </a:solidFill>
          <a:ln w="9525">
            <a:solidFill>
              <a:srgbClr val="C9D3DF"/>
            </a:solidFill>
            <a:prstDash val="solid"/>
          </a:ln>
        </p:spPr>
      </p:sp>
      <p:sp>
        <p:nvSpPr>
          <p:cNvPr id="16" name="anim_2_1201"/>
          <p:cNvSpPr txBox="1"/>
          <p:nvPr/>
        </p:nvSpPr>
        <p:spPr>
          <a:xfrm>
            <a:off x="585216" y="2084832"/>
            <a:ext cx="8412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احتمال</a:t>
            </a:r>
            <a:endParaRPr lang="fa-IR" sz="1300" dirty="0"/>
          </a:p>
        </p:txBody>
      </p:sp>
      <p:sp>
        <p:nvSpPr>
          <p:cNvPr id="17" name="anim_2_1202"/>
          <p:cNvSpPr/>
          <p:nvPr/>
        </p:nvSpPr>
        <p:spPr>
          <a:xfrm>
            <a:off x="4663440" y="2395728"/>
            <a:ext cx="1828800" cy="310896"/>
          </a:xfrm>
          <a:prstGeom prst="rect">
            <a:avLst/>
          </a:prstGeom>
          <a:solidFill>
            <a:srgbClr val="FFFFFF"/>
          </a:solidFill>
          <a:ln w="9525">
            <a:solidFill>
              <a:srgbClr val="C9D3DF"/>
            </a:solidFill>
            <a:prstDash val="solid"/>
          </a:ln>
        </p:spPr>
      </p:sp>
      <p:sp>
        <p:nvSpPr>
          <p:cNvPr id="18" name="anim_2_1203"/>
          <p:cNvSpPr/>
          <p:nvPr/>
        </p:nvSpPr>
        <p:spPr>
          <a:xfrm>
            <a:off x="5294376" y="2427732"/>
            <a:ext cx="566928" cy="246888"/>
          </a:xfrm>
          <a:prstGeom prst="roundRect">
            <a:avLst>
              <a:gd name="adj" fmla="val 22222"/>
            </a:avLst>
          </a:prstGeom>
          <a:solidFill>
            <a:schemeClr val="accent1"/>
          </a:solidFill>
          <a:ln/>
        </p:spPr>
      </p:sp>
      <p:sp>
        <p:nvSpPr>
          <p:cNvPr id="19" name="anim_2_1204"/>
          <p:cNvSpPr txBox="1"/>
          <p:nvPr/>
        </p:nvSpPr>
        <p:spPr>
          <a:xfrm>
            <a:off x="5294376" y="2427732"/>
            <a:ext cx="566928"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AF</a:t>
            </a:r>
            <a:endParaRPr lang="en-US" sz="1100" dirty="0"/>
          </a:p>
        </p:txBody>
      </p:sp>
      <p:sp>
        <p:nvSpPr>
          <p:cNvPr id="20" name="anim_2_1205"/>
          <p:cNvSpPr/>
          <p:nvPr/>
        </p:nvSpPr>
        <p:spPr>
          <a:xfrm>
            <a:off x="3657600" y="2395728"/>
            <a:ext cx="1005840" cy="310896"/>
          </a:xfrm>
          <a:prstGeom prst="rect">
            <a:avLst/>
          </a:prstGeom>
          <a:solidFill>
            <a:srgbClr val="FFFFFF"/>
          </a:solidFill>
          <a:ln w="9525">
            <a:solidFill>
              <a:srgbClr val="C9D3DF"/>
            </a:solidFill>
            <a:prstDash val="solid"/>
          </a:ln>
        </p:spPr>
      </p:sp>
      <p:sp>
        <p:nvSpPr>
          <p:cNvPr id="21" name="anim_2_1206"/>
          <p:cNvSpPr txBox="1"/>
          <p:nvPr/>
        </p:nvSpPr>
        <p:spPr>
          <a:xfrm>
            <a:off x="369417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‪-0.2402‬</a:t>
            </a:r>
            <a:endParaRPr lang="fa-IR" sz="1300" dirty="0"/>
          </a:p>
        </p:txBody>
      </p:sp>
      <p:sp>
        <p:nvSpPr>
          <p:cNvPr id="22" name="anim_2_1207"/>
          <p:cNvSpPr/>
          <p:nvPr/>
        </p:nvSpPr>
        <p:spPr>
          <a:xfrm>
            <a:off x="2468880" y="2395728"/>
            <a:ext cx="1188720" cy="310896"/>
          </a:xfrm>
          <a:prstGeom prst="rect">
            <a:avLst/>
          </a:prstGeom>
          <a:solidFill>
            <a:srgbClr val="FFFFFF"/>
          </a:solidFill>
          <a:ln w="9525">
            <a:solidFill>
              <a:srgbClr val="C9D3DF"/>
            </a:solidFill>
            <a:prstDash val="solid"/>
          </a:ln>
        </p:spPr>
      </p:sp>
      <p:sp>
        <p:nvSpPr>
          <p:cNvPr id="23" name="anim_2_1208"/>
          <p:cNvSpPr txBox="1"/>
          <p:nvPr/>
        </p:nvSpPr>
        <p:spPr>
          <a:xfrm>
            <a:off x="2505456" y="239572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‪0.0071‬</a:t>
            </a:r>
            <a:endParaRPr lang="fa-IR" sz="1300" dirty="0"/>
          </a:p>
        </p:txBody>
      </p:sp>
      <p:sp>
        <p:nvSpPr>
          <p:cNvPr id="24" name="anim_2_1209"/>
          <p:cNvSpPr/>
          <p:nvPr/>
        </p:nvSpPr>
        <p:spPr>
          <a:xfrm>
            <a:off x="1463040" y="2395728"/>
            <a:ext cx="1005840" cy="310896"/>
          </a:xfrm>
          <a:prstGeom prst="rect">
            <a:avLst/>
          </a:prstGeom>
          <a:solidFill>
            <a:srgbClr val="FFFFFF"/>
          </a:solidFill>
          <a:ln w="9525">
            <a:solidFill>
              <a:srgbClr val="C9D3DF"/>
            </a:solidFill>
            <a:prstDash val="solid"/>
          </a:ln>
        </p:spPr>
      </p:sp>
      <p:sp>
        <p:nvSpPr>
          <p:cNvPr id="25" name="anim_2_1210"/>
          <p:cNvSpPr txBox="1"/>
          <p:nvPr/>
        </p:nvSpPr>
        <p:spPr>
          <a:xfrm>
            <a:off x="149961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‪-34.0293‬</a:t>
            </a:r>
            <a:endParaRPr lang="fa-IR" sz="1300" dirty="0"/>
          </a:p>
        </p:txBody>
      </p:sp>
      <p:sp>
        <p:nvSpPr>
          <p:cNvPr id="26" name="anim_2_1211"/>
          <p:cNvSpPr/>
          <p:nvPr/>
        </p:nvSpPr>
        <p:spPr>
          <a:xfrm>
            <a:off x="548640" y="2395728"/>
            <a:ext cx="914400" cy="310896"/>
          </a:xfrm>
          <a:prstGeom prst="rect">
            <a:avLst/>
          </a:prstGeom>
          <a:solidFill>
            <a:srgbClr val="FFFFFF"/>
          </a:solidFill>
          <a:ln w="9525">
            <a:solidFill>
              <a:srgbClr val="C9D3DF"/>
            </a:solidFill>
            <a:prstDash val="solid"/>
          </a:ln>
        </p:spPr>
      </p:sp>
      <p:sp>
        <p:nvSpPr>
          <p:cNvPr id="27" name="anim_2_1212"/>
          <p:cNvSpPr txBox="1"/>
          <p:nvPr/>
        </p:nvSpPr>
        <p:spPr>
          <a:xfrm>
            <a:off x="585216" y="239572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28" name="anim_2_1213"/>
          <p:cNvSpPr/>
          <p:nvPr/>
        </p:nvSpPr>
        <p:spPr>
          <a:xfrm>
            <a:off x="4663440" y="2706624"/>
            <a:ext cx="1828800" cy="310896"/>
          </a:xfrm>
          <a:prstGeom prst="rect">
            <a:avLst/>
          </a:prstGeom>
          <a:solidFill>
            <a:srgbClr val="EEF3F8"/>
          </a:solidFill>
          <a:ln w="9525">
            <a:solidFill>
              <a:srgbClr val="C9D3DF"/>
            </a:solidFill>
            <a:prstDash val="solid"/>
          </a:ln>
        </p:spPr>
      </p:sp>
      <p:sp>
        <p:nvSpPr>
          <p:cNvPr id="29" name="anim_2_1214"/>
          <p:cNvSpPr/>
          <p:nvPr/>
        </p:nvSpPr>
        <p:spPr>
          <a:xfrm>
            <a:off x="5206594" y="2738628"/>
            <a:ext cx="742493" cy="246888"/>
          </a:xfrm>
          <a:prstGeom prst="roundRect">
            <a:avLst>
              <a:gd name="adj" fmla="val 22222"/>
            </a:avLst>
          </a:prstGeom>
          <a:solidFill>
            <a:schemeClr val="accent1"/>
          </a:solidFill>
          <a:ln/>
        </p:spPr>
      </p:sp>
      <p:sp>
        <p:nvSpPr>
          <p:cNvPr id="30" name="anim_2_1215"/>
          <p:cNvSpPr txBox="1"/>
          <p:nvPr/>
        </p:nvSpPr>
        <p:spPr>
          <a:xfrm>
            <a:off x="5206594" y="2738628"/>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SIZE</a:t>
            </a:r>
            <a:endParaRPr lang="en-US" sz="1100" dirty="0"/>
          </a:p>
        </p:txBody>
      </p:sp>
      <p:sp>
        <p:nvSpPr>
          <p:cNvPr id="31" name="anim_2_1216"/>
          <p:cNvSpPr/>
          <p:nvPr/>
        </p:nvSpPr>
        <p:spPr>
          <a:xfrm>
            <a:off x="3657600" y="2706624"/>
            <a:ext cx="1005840" cy="310896"/>
          </a:xfrm>
          <a:prstGeom prst="rect">
            <a:avLst/>
          </a:prstGeom>
          <a:solidFill>
            <a:srgbClr val="EEF3F8"/>
          </a:solidFill>
          <a:ln w="9525">
            <a:solidFill>
              <a:srgbClr val="C9D3DF"/>
            </a:solidFill>
            <a:prstDash val="solid"/>
          </a:ln>
        </p:spPr>
      </p:sp>
      <p:sp>
        <p:nvSpPr>
          <p:cNvPr id="32" name="anim_2_1217"/>
          <p:cNvSpPr txBox="1"/>
          <p:nvPr/>
        </p:nvSpPr>
        <p:spPr>
          <a:xfrm>
            <a:off x="369417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‪0.0218‬</a:t>
            </a:r>
            <a:endParaRPr lang="fa-IR" sz="1300" dirty="0"/>
          </a:p>
        </p:txBody>
      </p:sp>
      <p:sp>
        <p:nvSpPr>
          <p:cNvPr id="33" name="anim_2_1218"/>
          <p:cNvSpPr/>
          <p:nvPr/>
        </p:nvSpPr>
        <p:spPr>
          <a:xfrm>
            <a:off x="2468880" y="2706624"/>
            <a:ext cx="1188720" cy="310896"/>
          </a:xfrm>
          <a:prstGeom prst="rect">
            <a:avLst/>
          </a:prstGeom>
          <a:solidFill>
            <a:srgbClr val="EEF3F8"/>
          </a:solidFill>
          <a:ln w="9525">
            <a:solidFill>
              <a:srgbClr val="C9D3DF"/>
            </a:solidFill>
            <a:prstDash val="solid"/>
          </a:ln>
        </p:spPr>
      </p:sp>
      <p:sp>
        <p:nvSpPr>
          <p:cNvPr id="34" name="anim_2_1219"/>
          <p:cNvSpPr txBox="1"/>
          <p:nvPr/>
        </p:nvSpPr>
        <p:spPr>
          <a:xfrm>
            <a:off x="2505456" y="2706624"/>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‪0.0010‬</a:t>
            </a:r>
            <a:endParaRPr lang="fa-IR" sz="1300" dirty="0"/>
          </a:p>
        </p:txBody>
      </p:sp>
      <p:sp>
        <p:nvSpPr>
          <p:cNvPr id="35" name="anim_2_1220"/>
          <p:cNvSpPr/>
          <p:nvPr/>
        </p:nvSpPr>
        <p:spPr>
          <a:xfrm>
            <a:off x="1463040" y="2706624"/>
            <a:ext cx="1005840" cy="310896"/>
          </a:xfrm>
          <a:prstGeom prst="rect">
            <a:avLst/>
          </a:prstGeom>
          <a:solidFill>
            <a:srgbClr val="EEF3F8"/>
          </a:solidFill>
          <a:ln w="9525">
            <a:solidFill>
              <a:srgbClr val="C9D3DF"/>
            </a:solidFill>
            <a:prstDash val="solid"/>
          </a:ln>
        </p:spPr>
      </p:sp>
      <p:sp>
        <p:nvSpPr>
          <p:cNvPr id="36" name="anim_2_1221"/>
          <p:cNvSpPr txBox="1"/>
          <p:nvPr/>
        </p:nvSpPr>
        <p:spPr>
          <a:xfrm>
            <a:off x="149961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‪20.9311‬</a:t>
            </a:r>
            <a:endParaRPr lang="fa-IR" sz="1300" dirty="0"/>
          </a:p>
        </p:txBody>
      </p:sp>
      <p:sp>
        <p:nvSpPr>
          <p:cNvPr id="37" name="anim_2_1222"/>
          <p:cNvSpPr/>
          <p:nvPr/>
        </p:nvSpPr>
        <p:spPr>
          <a:xfrm>
            <a:off x="548640" y="2706624"/>
            <a:ext cx="914400" cy="310896"/>
          </a:xfrm>
          <a:prstGeom prst="rect">
            <a:avLst/>
          </a:prstGeom>
          <a:solidFill>
            <a:srgbClr val="EEF3F8"/>
          </a:solidFill>
          <a:ln w="9525">
            <a:solidFill>
              <a:srgbClr val="C9D3DF"/>
            </a:solidFill>
            <a:prstDash val="solid"/>
          </a:ln>
        </p:spPr>
      </p:sp>
      <p:sp>
        <p:nvSpPr>
          <p:cNvPr id="38" name="anim_2_1223"/>
          <p:cNvSpPr txBox="1"/>
          <p:nvPr/>
        </p:nvSpPr>
        <p:spPr>
          <a:xfrm>
            <a:off x="585216" y="2706624"/>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39" name="anim_2_1224"/>
          <p:cNvSpPr/>
          <p:nvPr/>
        </p:nvSpPr>
        <p:spPr>
          <a:xfrm>
            <a:off x="4663440" y="3017520"/>
            <a:ext cx="1828800" cy="310896"/>
          </a:xfrm>
          <a:prstGeom prst="rect">
            <a:avLst/>
          </a:prstGeom>
          <a:solidFill>
            <a:srgbClr val="FFFFFF"/>
          </a:solidFill>
          <a:ln w="9525">
            <a:solidFill>
              <a:srgbClr val="C9D3DF"/>
            </a:solidFill>
            <a:prstDash val="solid"/>
          </a:ln>
        </p:spPr>
      </p:sp>
      <p:sp>
        <p:nvSpPr>
          <p:cNvPr id="40" name="anim_2_1225"/>
          <p:cNvSpPr/>
          <p:nvPr/>
        </p:nvSpPr>
        <p:spPr>
          <a:xfrm>
            <a:off x="5206594" y="3049524"/>
            <a:ext cx="742493" cy="246888"/>
          </a:xfrm>
          <a:prstGeom prst="roundRect">
            <a:avLst>
              <a:gd name="adj" fmla="val 22222"/>
            </a:avLst>
          </a:prstGeom>
          <a:solidFill>
            <a:schemeClr val="accent1"/>
          </a:solidFill>
          <a:ln/>
        </p:spPr>
      </p:sp>
      <p:sp>
        <p:nvSpPr>
          <p:cNvPr id="41" name="anim_2_1226"/>
          <p:cNvSpPr txBox="1"/>
          <p:nvPr/>
        </p:nvSpPr>
        <p:spPr>
          <a:xfrm>
            <a:off x="5206594" y="3049524"/>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RISK</a:t>
            </a:r>
            <a:endParaRPr lang="en-US" sz="1100" dirty="0"/>
          </a:p>
        </p:txBody>
      </p:sp>
      <p:sp>
        <p:nvSpPr>
          <p:cNvPr id="42" name="anim_2_1227"/>
          <p:cNvSpPr/>
          <p:nvPr/>
        </p:nvSpPr>
        <p:spPr>
          <a:xfrm>
            <a:off x="3657600" y="3017520"/>
            <a:ext cx="1005840" cy="310896"/>
          </a:xfrm>
          <a:prstGeom prst="rect">
            <a:avLst/>
          </a:prstGeom>
          <a:solidFill>
            <a:srgbClr val="FFFFFF"/>
          </a:solidFill>
          <a:ln w="9525">
            <a:solidFill>
              <a:srgbClr val="C9D3DF"/>
            </a:solidFill>
            <a:prstDash val="solid"/>
          </a:ln>
        </p:spPr>
      </p:sp>
      <p:sp>
        <p:nvSpPr>
          <p:cNvPr id="43" name="anim_2_1228"/>
          <p:cNvSpPr txBox="1"/>
          <p:nvPr/>
        </p:nvSpPr>
        <p:spPr>
          <a:xfrm>
            <a:off x="369417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‪0.0475‬</a:t>
            </a:r>
            <a:endParaRPr lang="fa-IR" sz="1300" dirty="0"/>
          </a:p>
        </p:txBody>
      </p:sp>
      <p:sp>
        <p:nvSpPr>
          <p:cNvPr id="44" name="anim_2_1229"/>
          <p:cNvSpPr/>
          <p:nvPr/>
        </p:nvSpPr>
        <p:spPr>
          <a:xfrm>
            <a:off x="2468880" y="3017520"/>
            <a:ext cx="1188720" cy="310896"/>
          </a:xfrm>
          <a:prstGeom prst="rect">
            <a:avLst/>
          </a:prstGeom>
          <a:solidFill>
            <a:srgbClr val="FFFFFF"/>
          </a:solidFill>
          <a:ln w="9525">
            <a:solidFill>
              <a:srgbClr val="C9D3DF"/>
            </a:solidFill>
            <a:prstDash val="solid"/>
          </a:ln>
        </p:spPr>
      </p:sp>
      <p:sp>
        <p:nvSpPr>
          <p:cNvPr id="45" name="anim_2_1230"/>
          <p:cNvSpPr txBox="1"/>
          <p:nvPr/>
        </p:nvSpPr>
        <p:spPr>
          <a:xfrm>
            <a:off x="2505456" y="3017520"/>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‪0.0188‬</a:t>
            </a:r>
            <a:endParaRPr lang="fa-IR" sz="1300" dirty="0"/>
          </a:p>
        </p:txBody>
      </p:sp>
      <p:sp>
        <p:nvSpPr>
          <p:cNvPr id="46" name="anim_2_1231"/>
          <p:cNvSpPr/>
          <p:nvPr/>
        </p:nvSpPr>
        <p:spPr>
          <a:xfrm>
            <a:off x="1463040" y="3017520"/>
            <a:ext cx="1005840" cy="310896"/>
          </a:xfrm>
          <a:prstGeom prst="rect">
            <a:avLst/>
          </a:prstGeom>
          <a:solidFill>
            <a:srgbClr val="FFFFFF"/>
          </a:solidFill>
          <a:ln w="9525">
            <a:solidFill>
              <a:srgbClr val="C9D3DF"/>
            </a:solidFill>
            <a:prstDash val="solid"/>
          </a:ln>
        </p:spPr>
      </p:sp>
      <p:sp>
        <p:nvSpPr>
          <p:cNvPr id="47" name="anim_2_1232"/>
          <p:cNvSpPr txBox="1"/>
          <p:nvPr/>
        </p:nvSpPr>
        <p:spPr>
          <a:xfrm>
            <a:off x="149961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‪2.5322‬</a:t>
            </a:r>
            <a:endParaRPr lang="fa-IR" sz="1300" dirty="0"/>
          </a:p>
        </p:txBody>
      </p:sp>
      <p:sp>
        <p:nvSpPr>
          <p:cNvPr id="48" name="anim_2_1233"/>
          <p:cNvSpPr/>
          <p:nvPr/>
        </p:nvSpPr>
        <p:spPr>
          <a:xfrm>
            <a:off x="548640" y="3017520"/>
            <a:ext cx="914400" cy="310896"/>
          </a:xfrm>
          <a:prstGeom prst="rect">
            <a:avLst/>
          </a:prstGeom>
          <a:solidFill>
            <a:srgbClr val="FFFFFF"/>
          </a:solidFill>
          <a:ln w="9525">
            <a:solidFill>
              <a:srgbClr val="C9D3DF"/>
            </a:solidFill>
            <a:prstDash val="solid"/>
          </a:ln>
        </p:spPr>
      </p:sp>
      <p:sp>
        <p:nvSpPr>
          <p:cNvPr id="49" name="anim_2_1234"/>
          <p:cNvSpPr txBox="1"/>
          <p:nvPr/>
        </p:nvSpPr>
        <p:spPr>
          <a:xfrm>
            <a:off x="585216" y="3017520"/>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‪0.0116‬</a:t>
            </a:r>
            <a:endParaRPr lang="fa-IR" sz="1300" dirty="0"/>
          </a:p>
        </p:txBody>
      </p:sp>
      <p:sp>
        <p:nvSpPr>
          <p:cNvPr id="50" name="anim_2_1235"/>
          <p:cNvSpPr/>
          <p:nvPr/>
        </p:nvSpPr>
        <p:spPr>
          <a:xfrm>
            <a:off x="4663440" y="3328416"/>
            <a:ext cx="1828800" cy="310896"/>
          </a:xfrm>
          <a:prstGeom prst="rect">
            <a:avLst/>
          </a:prstGeom>
          <a:solidFill>
            <a:srgbClr val="EEF3F8"/>
          </a:solidFill>
          <a:ln w="9525">
            <a:solidFill>
              <a:srgbClr val="C9D3DF"/>
            </a:solidFill>
            <a:prstDash val="solid"/>
          </a:ln>
        </p:spPr>
      </p:sp>
      <p:sp>
        <p:nvSpPr>
          <p:cNvPr id="51" name="anim_2_1236"/>
          <p:cNvSpPr/>
          <p:nvPr/>
        </p:nvSpPr>
        <p:spPr>
          <a:xfrm>
            <a:off x="5260543" y="3360420"/>
            <a:ext cx="634594" cy="246888"/>
          </a:xfrm>
          <a:prstGeom prst="roundRect">
            <a:avLst>
              <a:gd name="adj" fmla="val 22222"/>
            </a:avLst>
          </a:prstGeom>
          <a:solidFill>
            <a:schemeClr val="accent1"/>
          </a:solidFill>
          <a:ln/>
        </p:spPr>
      </p:sp>
      <p:sp>
        <p:nvSpPr>
          <p:cNvPr id="52" name="anim_2_1237"/>
          <p:cNvSpPr txBox="1"/>
          <p:nvPr/>
        </p:nvSpPr>
        <p:spPr>
          <a:xfrm>
            <a:off x="5260543" y="3360420"/>
            <a:ext cx="634594"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ROA</a:t>
            </a:r>
            <a:endParaRPr lang="en-US" sz="1100" dirty="0"/>
          </a:p>
        </p:txBody>
      </p:sp>
      <p:sp>
        <p:nvSpPr>
          <p:cNvPr id="53" name="anim_2_1238"/>
          <p:cNvSpPr/>
          <p:nvPr/>
        </p:nvSpPr>
        <p:spPr>
          <a:xfrm>
            <a:off x="3657600" y="3328416"/>
            <a:ext cx="1005840" cy="310896"/>
          </a:xfrm>
          <a:prstGeom prst="rect">
            <a:avLst/>
          </a:prstGeom>
          <a:solidFill>
            <a:srgbClr val="EEF3F8"/>
          </a:solidFill>
          <a:ln w="9525">
            <a:solidFill>
              <a:srgbClr val="C9D3DF"/>
            </a:solidFill>
            <a:prstDash val="solid"/>
          </a:ln>
        </p:spPr>
      </p:sp>
      <p:sp>
        <p:nvSpPr>
          <p:cNvPr id="54" name="anim_2_1239"/>
          <p:cNvSpPr txBox="1"/>
          <p:nvPr/>
        </p:nvSpPr>
        <p:spPr>
          <a:xfrm>
            <a:off x="369417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‪0.0299‬</a:t>
            </a:r>
            <a:endParaRPr lang="fa-IR" sz="1300" dirty="0"/>
          </a:p>
        </p:txBody>
      </p:sp>
      <p:sp>
        <p:nvSpPr>
          <p:cNvPr id="55" name="anim_2_1240"/>
          <p:cNvSpPr/>
          <p:nvPr/>
        </p:nvSpPr>
        <p:spPr>
          <a:xfrm>
            <a:off x="2468880" y="3328416"/>
            <a:ext cx="1188720" cy="310896"/>
          </a:xfrm>
          <a:prstGeom prst="rect">
            <a:avLst/>
          </a:prstGeom>
          <a:solidFill>
            <a:srgbClr val="EEF3F8"/>
          </a:solidFill>
          <a:ln w="9525">
            <a:solidFill>
              <a:srgbClr val="C9D3DF"/>
            </a:solidFill>
            <a:prstDash val="solid"/>
          </a:ln>
        </p:spPr>
      </p:sp>
      <p:sp>
        <p:nvSpPr>
          <p:cNvPr id="56" name="anim_2_1241"/>
          <p:cNvSpPr txBox="1"/>
          <p:nvPr/>
        </p:nvSpPr>
        <p:spPr>
          <a:xfrm>
            <a:off x="2505456" y="3328416"/>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‪0.0060‬</a:t>
            </a:r>
            <a:endParaRPr lang="fa-IR" sz="1300" dirty="0"/>
          </a:p>
        </p:txBody>
      </p:sp>
      <p:sp>
        <p:nvSpPr>
          <p:cNvPr id="57" name="anim_2_1242"/>
          <p:cNvSpPr/>
          <p:nvPr/>
        </p:nvSpPr>
        <p:spPr>
          <a:xfrm>
            <a:off x="1463040" y="3328416"/>
            <a:ext cx="1005840" cy="310896"/>
          </a:xfrm>
          <a:prstGeom prst="rect">
            <a:avLst/>
          </a:prstGeom>
          <a:solidFill>
            <a:srgbClr val="EEF3F8"/>
          </a:solidFill>
          <a:ln w="9525">
            <a:solidFill>
              <a:srgbClr val="C9D3DF"/>
            </a:solidFill>
            <a:prstDash val="solid"/>
          </a:ln>
        </p:spPr>
      </p:sp>
      <p:sp>
        <p:nvSpPr>
          <p:cNvPr id="58" name="anim_2_1243"/>
          <p:cNvSpPr txBox="1"/>
          <p:nvPr/>
        </p:nvSpPr>
        <p:spPr>
          <a:xfrm>
            <a:off x="149961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‪5.0037‬</a:t>
            </a:r>
            <a:endParaRPr lang="fa-IR" sz="1300" dirty="0"/>
          </a:p>
        </p:txBody>
      </p:sp>
      <p:sp>
        <p:nvSpPr>
          <p:cNvPr id="59" name="anim_2_1244"/>
          <p:cNvSpPr/>
          <p:nvPr/>
        </p:nvSpPr>
        <p:spPr>
          <a:xfrm>
            <a:off x="548640" y="3328416"/>
            <a:ext cx="914400" cy="310896"/>
          </a:xfrm>
          <a:prstGeom prst="rect">
            <a:avLst/>
          </a:prstGeom>
          <a:solidFill>
            <a:srgbClr val="EEF3F8"/>
          </a:solidFill>
          <a:ln w="9525">
            <a:solidFill>
              <a:srgbClr val="C9D3DF"/>
            </a:solidFill>
            <a:prstDash val="solid"/>
          </a:ln>
        </p:spPr>
      </p:sp>
      <p:sp>
        <p:nvSpPr>
          <p:cNvPr id="60" name="anim_2_1245"/>
          <p:cNvSpPr txBox="1"/>
          <p:nvPr/>
        </p:nvSpPr>
        <p:spPr>
          <a:xfrm>
            <a:off x="585216" y="3328416"/>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61" name="anim_2_1246"/>
          <p:cNvSpPr/>
          <p:nvPr/>
        </p:nvSpPr>
        <p:spPr>
          <a:xfrm>
            <a:off x="4663440" y="3639312"/>
            <a:ext cx="1828800" cy="310896"/>
          </a:xfrm>
          <a:prstGeom prst="rect">
            <a:avLst/>
          </a:prstGeom>
          <a:solidFill>
            <a:srgbClr val="FFFFFF"/>
          </a:solidFill>
          <a:ln w="9525">
            <a:solidFill>
              <a:srgbClr val="C9D3DF"/>
            </a:solidFill>
            <a:prstDash val="solid"/>
          </a:ln>
        </p:spPr>
      </p:sp>
      <p:sp>
        <p:nvSpPr>
          <p:cNvPr id="62" name="anim_2_1247"/>
          <p:cNvSpPr/>
          <p:nvPr/>
        </p:nvSpPr>
        <p:spPr>
          <a:xfrm>
            <a:off x="5098694" y="3671316"/>
            <a:ext cx="958291" cy="246888"/>
          </a:xfrm>
          <a:prstGeom prst="roundRect">
            <a:avLst>
              <a:gd name="adj" fmla="val 22222"/>
            </a:avLst>
          </a:prstGeom>
          <a:solidFill>
            <a:schemeClr val="accent1"/>
          </a:solidFill>
          <a:ln/>
        </p:spPr>
      </p:sp>
      <p:sp>
        <p:nvSpPr>
          <p:cNvPr id="63" name="anim_2_1248"/>
          <p:cNvSpPr txBox="1"/>
          <p:nvPr/>
        </p:nvSpPr>
        <p:spPr>
          <a:xfrm>
            <a:off x="5098694" y="3671316"/>
            <a:ext cx="958291"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GROWTH</a:t>
            </a:r>
            <a:endParaRPr lang="en-US" sz="1100" dirty="0"/>
          </a:p>
        </p:txBody>
      </p:sp>
      <p:sp>
        <p:nvSpPr>
          <p:cNvPr id="64" name="anim_2_1249"/>
          <p:cNvSpPr/>
          <p:nvPr/>
        </p:nvSpPr>
        <p:spPr>
          <a:xfrm>
            <a:off x="3657600" y="3639312"/>
            <a:ext cx="1005840" cy="310896"/>
          </a:xfrm>
          <a:prstGeom prst="rect">
            <a:avLst/>
          </a:prstGeom>
          <a:solidFill>
            <a:srgbClr val="FFFFFF"/>
          </a:solidFill>
          <a:ln w="9525">
            <a:solidFill>
              <a:srgbClr val="C9D3DF"/>
            </a:solidFill>
            <a:prstDash val="solid"/>
          </a:ln>
        </p:spPr>
      </p:sp>
      <p:sp>
        <p:nvSpPr>
          <p:cNvPr id="65" name="anim_2_1250"/>
          <p:cNvSpPr txBox="1"/>
          <p:nvPr/>
        </p:nvSpPr>
        <p:spPr>
          <a:xfrm>
            <a:off x="369417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‪0.0033‬</a:t>
            </a:r>
            <a:endParaRPr lang="fa-IR" sz="1300" dirty="0"/>
          </a:p>
        </p:txBody>
      </p:sp>
      <p:sp>
        <p:nvSpPr>
          <p:cNvPr id="66" name="anim_2_1251"/>
          <p:cNvSpPr/>
          <p:nvPr/>
        </p:nvSpPr>
        <p:spPr>
          <a:xfrm>
            <a:off x="2468880" y="3639312"/>
            <a:ext cx="1188720" cy="310896"/>
          </a:xfrm>
          <a:prstGeom prst="rect">
            <a:avLst/>
          </a:prstGeom>
          <a:solidFill>
            <a:srgbClr val="FFFFFF"/>
          </a:solidFill>
          <a:ln w="9525">
            <a:solidFill>
              <a:srgbClr val="C9D3DF"/>
            </a:solidFill>
            <a:prstDash val="solid"/>
          </a:ln>
        </p:spPr>
      </p:sp>
      <p:sp>
        <p:nvSpPr>
          <p:cNvPr id="67" name="anim_2_1252"/>
          <p:cNvSpPr txBox="1"/>
          <p:nvPr/>
        </p:nvSpPr>
        <p:spPr>
          <a:xfrm>
            <a:off x="2505456" y="3639312"/>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‪0.0014‬</a:t>
            </a:r>
            <a:endParaRPr lang="fa-IR" sz="1300" dirty="0"/>
          </a:p>
        </p:txBody>
      </p:sp>
      <p:sp>
        <p:nvSpPr>
          <p:cNvPr id="68" name="anim_2_1253"/>
          <p:cNvSpPr/>
          <p:nvPr/>
        </p:nvSpPr>
        <p:spPr>
          <a:xfrm>
            <a:off x="1463040" y="3639312"/>
            <a:ext cx="1005840" cy="310896"/>
          </a:xfrm>
          <a:prstGeom prst="rect">
            <a:avLst/>
          </a:prstGeom>
          <a:solidFill>
            <a:srgbClr val="FFFFFF"/>
          </a:solidFill>
          <a:ln w="9525">
            <a:solidFill>
              <a:srgbClr val="C9D3DF"/>
            </a:solidFill>
            <a:prstDash val="solid"/>
          </a:ln>
        </p:spPr>
      </p:sp>
      <p:sp>
        <p:nvSpPr>
          <p:cNvPr id="69" name="anim_2_1254"/>
          <p:cNvSpPr txBox="1"/>
          <p:nvPr/>
        </p:nvSpPr>
        <p:spPr>
          <a:xfrm>
            <a:off x="149961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‪2.4257‬</a:t>
            </a:r>
            <a:endParaRPr lang="fa-IR" sz="1300" dirty="0"/>
          </a:p>
        </p:txBody>
      </p:sp>
      <p:sp>
        <p:nvSpPr>
          <p:cNvPr id="70" name="anim_2_1255"/>
          <p:cNvSpPr/>
          <p:nvPr/>
        </p:nvSpPr>
        <p:spPr>
          <a:xfrm>
            <a:off x="548640" y="3639312"/>
            <a:ext cx="914400" cy="310896"/>
          </a:xfrm>
          <a:prstGeom prst="rect">
            <a:avLst/>
          </a:prstGeom>
          <a:solidFill>
            <a:srgbClr val="FFFFFF"/>
          </a:solidFill>
          <a:ln w="9525">
            <a:solidFill>
              <a:srgbClr val="C9D3DF"/>
            </a:solidFill>
            <a:prstDash val="solid"/>
          </a:ln>
        </p:spPr>
      </p:sp>
      <p:sp>
        <p:nvSpPr>
          <p:cNvPr id="71" name="anim_2_1256"/>
          <p:cNvSpPr txBox="1"/>
          <p:nvPr/>
        </p:nvSpPr>
        <p:spPr>
          <a:xfrm>
            <a:off x="585216" y="3639312"/>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‪0.0155‬</a:t>
            </a:r>
            <a:endParaRPr lang="fa-IR" sz="1300" dirty="0"/>
          </a:p>
        </p:txBody>
      </p:sp>
      <p:sp>
        <p:nvSpPr>
          <p:cNvPr id="72" name="anim_2_1257"/>
          <p:cNvSpPr/>
          <p:nvPr/>
        </p:nvSpPr>
        <p:spPr>
          <a:xfrm>
            <a:off x="4663440" y="3950208"/>
            <a:ext cx="1828800" cy="310896"/>
          </a:xfrm>
          <a:prstGeom prst="rect">
            <a:avLst/>
          </a:prstGeom>
          <a:solidFill>
            <a:srgbClr val="EEF3F8"/>
          </a:solidFill>
          <a:ln w="9525">
            <a:solidFill>
              <a:srgbClr val="C9D3DF"/>
            </a:solidFill>
            <a:prstDash val="solid"/>
          </a:ln>
        </p:spPr>
      </p:sp>
      <p:sp>
        <p:nvSpPr>
          <p:cNvPr id="73" name="anim_2_1258"/>
          <p:cNvSpPr/>
          <p:nvPr/>
        </p:nvSpPr>
        <p:spPr>
          <a:xfrm>
            <a:off x="5294376" y="3982212"/>
            <a:ext cx="566928" cy="246888"/>
          </a:xfrm>
          <a:prstGeom prst="roundRect">
            <a:avLst>
              <a:gd name="adj" fmla="val 22222"/>
            </a:avLst>
          </a:prstGeom>
          <a:solidFill>
            <a:schemeClr val="accent1"/>
          </a:solidFill>
          <a:ln/>
        </p:spPr>
      </p:sp>
      <p:sp>
        <p:nvSpPr>
          <p:cNvPr id="74" name="anim_2_1259"/>
          <p:cNvSpPr txBox="1"/>
          <p:nvPr/>
        </p:nvSpPr>
        <p:spPr>
          <a:xfrm>
            <a:off x="5294376" y="3982212"/>
            <a:ext cx="566928"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a:t>
            </a:r>
            <a:endParaRPr lang="en-US" sz="1100" dirty="0"/>
          </a:p>
        </p:txBody>
      </p:sp>
      <p:sp>
        <p:nvSpPr>
          <p:cNvPr id="75" name="anim_2_1260"/>
          <p:cNvSpPr/>
          <p:nvPr/>
        </p:nvSpPr>
        <p:spPr>
          <a:xfrm>
            <a:off x="3657600" y="3950208"/>
            <a:ext cx="1005840" cy="310896"/>
          </a:xfrm>
          <a:prstGeom prst="rect">
            <a:avLst/>
          </a:prstGeom>
          <a:solidFill>
            <a:srgbClr val="EEF3F8"/>
          </a:solidFill>
          <a:ln w="9525">
            <a:solidFill>
              <a:srgbClr val="C9D3DF"/>
            </a:solidFill>
            <a:prstDash val="solid"/>
          </a:ln>
        </p:spPr>
      </p:sp>
      <p:sp>
        <p:nvSpPr>
          <p:cNvPr id="76" name="anim_2_1261"/>
          <p:cNvSpPr txBox="1"/>
          <p:nvPr/>
        </p:nvSpPr>
        <p:spPr>
          <a:xfrm>
            <a:off x="3694176" y="395020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‪0.4587‬</a:t>
            </a:r>
            <a:endParaRPr lang="fa-IR" sz="1300" dirty="0"/>
          </a:p>
        </p:txBody>
      </p:sp>
      <p:sp>
        <p:nvSpPr>
          <p:cNvPr id="77" name="anim_2_1262"/>
          <p:cNvSpPr/>
          <p:nvPr/>
        </p:nvSpPr>
        <p:spPr>
          <a:xfrm>
            <a:off x="2468880" y="3950208"/>
            <a:ext cx="1188720" cy="310896"/>
          </a:xfrm>
          <a:prstGeom prst="rect">
            <a:avLst/>
          </a:prstGeom>
          <a:solidFill>
            <a:srgbClr val="EEF3F8"/>
          </a:solidFill>
          <a:ln w="9525">
            <a:solidFill>
              <a:srgbClr val="C9D3DF"/>
            </a:solidFill>
            <a:prstDash val="solid"/>
          </a:ln>
        </p:spPr>
      </p:sp>
      <p:sp>
        <p:nvSpPr>
          <p:cNvPr id="78" name="anim_2_1263"/>
          <p:cNvSpPr txBox="1"/>
          <p:nvPr/>
        </p:nvSpPr>
        <p:spPr>
          <a:xfrm>
            <a:off x="2505456" y="395020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‪0.0130‬</a:t>
            </a:r>
            <a:endParaRPr lang="fa-IR" sz="1300" dirty="0"/>
          </a:p>
        </p:txBody>
      </p:sp>
      <p:sp>
        <p:nvSpPr>
          <p:cNvPr id="79" name="anim_2_1264"/>
          <p:cNvSpPr/>
          <p:nvPr/>
        </p:nvSpPr>
        <p:spPr>
          <a:xfrm>
            <a:off x="1463040" y="3950208"/>
            <a:ext cx="1005840" cy="310896"/>
          </a:xfrm>
          <a:prstGeom prst="rect">
            <a:avLst/>
          </a:prstGeom>
          <a:solidFill>
            <a:srgbClr val="EEF3F8"/>
          </a:solidFill>
          <a:ln w="9525">
            <a:solidFill>
              <a:srgbClr val="C9D3DF"/>
            </a:solidFill>
            <a:prstDash val="solid"/>
          </a:ln>
        </p:spPr>
      </p:sp>
      <p:sp>
        <p:nvSpPr>
          <p:cNvPr id="80" name="anim_2_1265"/>
          <p:cNvSpPr txBox="1"/>
          <p:nvPr/>
        </p:nvSpPr>
        <p:spPr>
          <a:xfrm>
            <a:off x="1499616" y="395020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‪35.2856‬</a:t>
            </a:r>
            <a:endParaRPr lang="fa-IR" sz="1300" dirty="0"/>
          </a:p>
        </p:txBody>
      </p:sp>
      <p:sp>
        <p:nvSpPr>
          <p:cNvPr id="81" name="anim_2_1266"/>
          <p:cNvSpPr/>
          <p:nvPr/>
        </p:nvSpPr>
        <p:spPr>
          <a:xfrm>
            <a:off x="548640" y="3950208"/>
            <a:ext cx="914400" cy="310896"/>
          </a:xfrm>
          <a:prstGeom prst="rect">
            <a:avLst/>
          </a:prstGeom>
          <a:solidFill>
            <a:srgbClr val="EEF3F8"/>
          </a:solidFill>
          <a:ln w="9525">
            <a:solidFill>
              <a:srgbClr val="C9D3DF"/>
            </a:solidFill>
            <a:prstDash val="solid"/>
          </a:ln>
        </p:spPr>
      </p:sp>
      <p:sp>
        <p:nvSpPr>
          <p:cNvPr id="82" name="anim_2_1267"/>
          <p:cNvSpPr txBox="1"/>
          <p:nvPr/>
        </p:nvSpPr>
        <p:spPr>
          <a:xfrm>
            <a:off x="585216" y="395020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83" name="anim_3_1268"/>
          <p:cNvSpPr/>
          <p:nvPr/>
        </p:nvSpPr>
        <p:spPr>
          <a:xfrm>
            <a:off x="5577840" y="4352544"/>
            <a:ext cx="914400" cy="310896"/>
          </a:xfrm>
          <a:prstGeom prst="rect">
            <a:avLst/>
          </a:prstGeom>
          <a:solidFill>
            <a:schemeClr val="tx2"/>
          </a:solidFill>
          <a:ln w="9525">
            <a:solidFill>
              <a:srgbClr val="C9D3DF"/>
            </a:solidFill>
            <a:prstDash val="solid"/>
          </a:ln>
        </p:spPr>
      </p:sp>
      <p:sp>
        <p:nvSpPr>
          <p:cNvPr id="84" name="anim_3_1269"/>
          <p:cNvSpPr txBox="1"/>
          <p:nvPr/>
        </p:nvSpPr>
        <p:spPr>
          <a:xfrm>
            <a:off x="5614416" y="4352544"/>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a:t>
            </a:r>
            <a:endParaRPr lang="fa-IR" sz="1200" dirty="0"/>
          </a:p>
        </p:txBody>
      </p:sp>
      <p:sp>
        <p:nvSpPr>
          <p:cNvPr id="85" name="anim_3_1270"/>
          <p:cNvSpPr/>
          <p:nvPr/>
        </p:nvSpPr>
        <p:spPr>
          <a:xfrm>
            <a:off x="4663440" y="4352544"/>
            <a:ext cx="914400" cy="310896"/>
          </a:xfrm>
          <a:prstGeom prst="rect">
            <a:avLst/>
          </a:prstGeom>
          <a:solidFill>
            <a:schemeClr val="tx2"/>
          </a:solidFill>
          <a:ln w="9525">
            <a:solidFill>
              <a:srgbClr val="C9D3DF"/>
            </a:solidFill>
            <a:prstDash val="solid"/>
          </a:ln>
        </p:spPr>
      </p:sp>
      <p:sp>
        <p:nvSpPr>
          <p:cNvPr id="86" name="anim_3_1271"/>
          <p:cNvSpPr txBox="1"/>
          <p:nvPr/>
        </p:nvSpPr>
        <p:spPr>
          <a:xfrm>
            <a:off x="4700016" y="4352544"/>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 تعدیل</a:t>
            </a:r>
            <a:endParaRPr lang="fa-IR" sz="1200" dirty="0"/>
          </a:p>
        </p:txBody>
      </p:sp>
      <p:sp>
        <p:nvSpPr>
          <p:cNvPr id="87" name="anim_3_1272"/>
          <p:cNvSpPr/>
          <p:nvPr/>
        </p:nvSpPr>
        <p:spPr>
          <a:xfrm>
            <a:off x="3657600" y="4352544"/>
            <a:ext cx="1005840" cy="310896"/>
          </a:xfrm>
          <a:prstGeom prst="rect">
            <a:avLst/>
          </a:prstGeom>
          <a:solidFill>
            <a:schemeClr val="tx2"/>
          </a:solidFill>
          <a:ln w="9525">
            <a:solidFill>
              <a:srgbClr val="C9D3DF"/>
            </a:solidFill>
            <a:prstDash val="solid"/>
          </a:ln>
        </p:spPr>
      </p:sp>
      <p:sp>
        <p:nvSpPr>
          <p:cNvPr id="88" name="anim_3_1273"/>
          <p:cNvSpPr txBox="1"/>
          <p:nvPr/>
        </p:nvSpPr>
        <p:spPr>
          <a:xfrm>
            <a:off x="3694176" y="4352544"/>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D-W</a:t>
            </a:r>
            <a:endParaRPr lang="fa-IR" sz="1200" dirty="0"/>
          </a:p>
        </p:txBody>
      </p:sp>
      <p:sp>
        <p:nvSpPr>
          <p:cNvPr id="89" name="anim_3_1274"/>
          <p:cNvSpPr/>
          <p:nvPr/>
        </p:nvSpPr>
        <p:spPr>
          <a:xfrm>
            <a:off x="2743200" y="4352544"/>
            <a:ext cx="914400" cy="310896"/>
          </a:xfrm>
          <a:prstGeom prst="rect">
            <a:avLst/>
          </a:prstGeom>
          <a:solidFill>
            <a:schemeClr val="tx2"/>
          </a:solidFill>
          <a:ln w="9525">
            <a:solidFill>
              <a:srgbClr val="C9D3DF"/>
            </a:solidFill>
            <a:prstDash val="solid"/>
          </a:ln>
        </p:spPr>
      </p:sp>
      <p:sp>
        <p:nvSpPr>
          <p:cNvPr id="90" name="anim_3_1275"/>
          <p:cNvSpPr txBox="1"/>
          <p:nvPr/>
        </p:nvSpPr>
        <p:spPr>
          <a:xfrm>
            <a:off x="2779776" y="4352544"/>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آمارهٔ F</a:t>
            </a:r>
            <a:endParaRPr lang="fa-IR" sz="1200" dirty="0"/>
          </a:p>
        </p:txBody>
      </p:sp>
      <p:sp>
        <p:nvSpPr>
          <p:cNvPr id="91" name="anim_3_1276"/>
          <p:cNvSpPr/>
          <p:nvPr/>
        </p:nvSpPr>
        <p:spPr>
          <a:xfrm>
            <a:off x="1737360" y="4352544"/>
            <a:ext cx="1005840" cy="310896"/>
          </a:xfrm>
          <a:prstGeom prst="rect">
            <a:avLst/>
          </a:prstGeom>
          <a:solidFill>
            <a:schemeClr val="tx2"/>
          </a:solidFill>
          <a:ln w="9525">
            <a:solidFill>
              <a:srgbClr val="C9D3DF"/>
            </a:solidFill>
            <a:prstDash val="solid"/>
          </a:ln>
        </p:spPr>
      </p:sp>
      <p:sp>
        <p:nvSpPr>
          <p:cNvPr id="92" name="anim_3_1277"/>
          <p:cNvSpPr txBox="1"/>
          <p:nvPr/>
        </p:nvSpPr>
        <p:spPr>
          <a:xfrm>
            <a:off x="1773936" y="4352544"/>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Prob(F)</a:t>
            </a:r>
            <a:endParaRPr lang="fa-IR" sz="1200" dirty="0"/>
          </a:p>
        </p:txBody>
      </p:sp>
      <p:sp>
        <p:nvSpPr>
          <p:cNvPr id="93" name="anim_3_1278"/>
          <p:cNvSpPr/>
          <p:nvPr/>
        </p:nvSpPr>
        <p:spPr>
          <a:xfrm>
            <a:off x="548640" y="4352544"/>
            <a:ext cx="1188720" cy="310896"/>
          </a:xfrm>
          <a:prstGeom prst="rect">
            <a:avLst/>
          </a:prstGeom>
          <a:solidFill>
            <a:schemeClr val="tx2"/>
          </a:solidFill>
          <a:ln w="9525">
            <a:solidFill>
              <a:srgbClr val="C9D3DF"/>
            </a:solidFill>
            <a:prstDash val="solid"/>
          </a:ln>
        </p:spPr>
      </p:sp>
      <p:sp>
        <p:nvSpPr>
          <p:cNvPr id="94" name="anim_3_1279"/>
          <p:cNvSpPr txBox="1"/>
          <p:nvPr/>
        </p:nvSpPr>
        <p:spPr>
          <a:xfrm>
            <a:off x="585216" y="4352544"/>
            <a:ext cx="111556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مشاهده/مقطع</a:t>
            </a:r>
            <a:endParaRPr lang="fa-IR" sz="1200" dirty="0"/>
          </a:p>
        </p:txBody>
      </p:sp>
      <p:sp>
        <p:nvSpPr>
          <p:cNvPr id="95" name="anim_3_1280"/>
          <p:cNvSpPr/>
          <p:nvPr/>
        </p:nvSpPr>
        <p:spPr>
          <a:xfrm>
            <a:off x="5577840" y="4663440"/>
            <a:ext cx="914400" cy="310896"/>
          </a:xfrm>
          <a:prstGeom prst="rect">
            <a:avLst/>
          </a:prstGeom>
          <a:solidFill>
            <a:srgbClr val="FFFFFF"/>
          </a:solidFill>
          <a:ln w="9525">
            <a:solidFill>
              <a:srgbClr val="C9D3DF"/>
            </a:solidFill>
            <a:prstDash val="solid"/>
          </a:ln>
        </p:spPr>
      </p:sp>
      <p:sp>
        <p:nvSpPr>
          <p:cNvPr id="96" name="anim_3_1281"/>
          <p:cNvSpPr txBox="1"/>
          <p:nvPr/>
        </p:nvSpPr>
        <p:spPr>
          <a:xfrm>
            <a:off x="5614416" y="4663440"/>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‪0.5749‬</a:t>
            </a:r>
            <a:endParaRPr lang="fa-IR" sz="1200" dirty="0"/>
          </a:p>
        </p:txBody>
      </p:sp>
      <p:sp>
        <p:nvSpPr>
          <p:cNvPr id="97" name="anim_3_1282"/>
          <p:cNvSpPr/>
          <p:nvPr/>
        </p:nvSpPr>
        <p:spPr>
          <a:xfrm>
            <a:off x="4663440" y="4663440"/>
            <a:ext cx="914400" cy="310896"/>
          </a:xfrm>
          <a:prstGeom prst="rect">
            <a:avLst/>
          </a:prstGeom>
          <a:solidFill>
            <a:srgbClr val="FFFFFF"/>
          </a:solidFill>
          <a:ln w="9525">
            <a:solidFill>
              <a:srgbClr val="C9D3DF"/>
            </a:solidFill>
            <a:prstDash val="solid"/>
          </a:ln>
        </p:spPr>
      </p:sp>
      <p:sp>
        <p:nvSpPr>
          <p:cNvPr id="98" name="anim_3_1283"/>
          <p:cNvSpPr txBox="1"/>
          <p:nvPr/>
        </p:nvSpPr>
        <p:spPr>
          <a:xfrm>
            <a:off x="4700016" y="4663440"/>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‪0.5507‬</a:t>
            </a:r>
            <a:endParaRPr lang="fa-IR" sz="1200" dirty="0"/>
          </a:p>
        </p:txBody>
      </p:sp>
      <p:sp>
        <p:nvSpPr>
          <p:cNvPr id="99" name="anim_3_1284"/>
          <p:cNvSpPr/>
          <p:nvPr/>
        </p:nvSpPr>
        <p:spPr>
          <a:xfrm>
            <a:off x="3657600" y="4663440"/>
            <a:ext cx="1005840" cy="310896"/>
          </a:xfrm>
          <a:prstGeom prst="rect">
            <a:avLst/>
          </a:prstGeom>
          <a:solidFill>
            <a:srgbClr val="FFFFFF"/>
          </a:solidFill>
          <a:ln w="9525">
            <a:solidFill>
              <a:srgbClr val="C9D3DF"/>
            </a:solidFill>
            <a:prstDash val="solid"/>
          </a:ln>
        </p:spPr>
      </p:sp>
      <p:sp>
        <p:nvSpPr>
          <p:cNvPr id="100" name="anim_3_1285"/>
          <p:cNvSpPr txBox="1"/>
          <p:nvPr/>
        </p:nvSpPr>
        <p:spPr>
          <a:xfrm>
            <a:off x="3694176" y="4663440"/>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‪1.5053‬</a:t>
            </a:r>
            <a:endParaRPr lang="fa-IR" sz="1200" dirty="0"/>
          </a:p>
        </p:txBody>
      </p:sp>
      <p:sp>
        <p:nvSpPr>
          <p:cNvPr id="101" name="anim_3_1286"/>
          <p:cNvSpPr/>
          <p:nvPr/>
        </p:nvSpPr>
        <p:spPr>
          <a:xfrm>
            <a:off x="2743200" y="4663440"/>
            <a:ext cx="914400" cy="310896"/>
          </a:xfrm>
          <a:prstGeom prst="rect">
            <a:avLst/>
          </a:prstGeom>
          <a:solidFill>
            <a:srgbClr val="FFFFFF"/>
          </a:solidFill>
          <a:ln w="9525">
            <a:solidFill>
              <a:srgbClr val="C9D3DF"/>
            </a:solidFill>
            <a:prstDash val="solid"/>
          </a:ln>
        </p:spPr>
      </p:sp>
      <p:sp>
        <p:nvSpPr>
          <p:cNvPr id="102" name="anim_3_1287"/>
          <p:cNvSpPr txBox="1"/>
          <p:nvPr/>
        </p:nvSpPr>
        <p:spPr>
          <a:xfrm>
            <a:off x="2779776" y="4663440"/>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‪36.1538‬</a:t>
            </a:r>
            <a:endParaRPr lang="fa-IR" sz="1200" dirty="0"/>
          </a:p>
        </p:txBody>
      </p:sp>
      <p:sp>
        <p:nvSpPr>
          <p:cNvPr id="103" name="anim_3_1288"/>
          <p:cNvSpPr/>
          <p:nvPr/>
        </p:nvSpPr>
        <p:spPr>
          <a:xfrm>
            <a:off x="1737360" y="4663440"/>
            <a:ext cx="1005840" cy="310896"/>
          </a:xfrm>
          <a:prstGeom prst="rect">
            <a:avLst/>
          </a:prstGeom>
          <a:solidFill>
            <a:srgbClr val="FFFFFF"/>
          </a:solidFill>
          <a:ln w="9525">
            <a:solidFill>
              <a:srgbClr val="C9D3DF"/>
            </a:solidFill>
            <a:prstDash val="solid"/>
          </a:ln>
        </p:spPr>
      </p:sp>
      <p:sp>
        <p:nvSpPr>
          <p:cNvPr id="104" name="anim_3_1289"/>
          <p:cNvSpPr txBox="1"/>
          <p:nvPr/>
        </p:nvSpPr>
        <p:spPr>
          <a:xfrm>
            <a:off x="1773936" y="4663440"/>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‪&lt; 0.0001‬</a:t>
            </a:r>
            <a:endParaRPr lang="fa-IR" sz="1200" dirty="0"/>
          </a:p>
        </p:txBody>
      </p:sp>
      <p:sp>
        <p:nvSpPr>
          <p:cNvPr id="105" name="anim_3_1290"/>
          <p:cNvSpPr/>
          <p:nvPr/>
        </p:nvSpPr>
        <p:spPr>
          <a:xfrm>
            <a:off x="548640" y="4663440"/>
            <a:ext cx="1188720" cy="310896"/>
          </a:xfrm>
          <a:prstGeom prst="rect">
            <a:avLst/>
          </a:prstGeom>
          <a:solidFill>
            <a:srgbClr val="FFFFFF"/>
          </a:solidFill>
          <a:ln w="9525">
            <a:solidFill>
              <a:srgbClr val="C9D3DF"/>
            </a:solidFill>
            <a:prstDash val="solid"/>
          </a:ln>
        </p:spPr>
      </p:sp>
      <p:sp>
        <p:nvSpPr>
          <p:cNvPr id="106" name="anim_3_1291"/>
          <p:cNvSpPr txBox="1"/>
          <p:nvPr/>
        </p:nvSpPr>
        <p:spPr>
          <a:xfrm>
            <a:off x="585216" y="4663440"/>
            <a:ext cx="111556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‪840 / 132‬</a:t>
            </a:r>
            <a:endParaRPr lang="fa-IR" sz="1200" dirty="0"/>
          </a:p>
        </p:txBody>
      </p:sp>
      <p:sp>
        <p:nvSpPr>
          <p:cNvPr id="107" name="anim_4_1292"/>
          <p:cNvSpPr/>
          <p:nvPr/>
        </p:nvSpPr>
        <p:spPr>
          <a:xfrm>
            <a:off x="548640" y="5065776"/>
            <a:ext cx="5943600" cy="1243584"/>
          </a:xfrm>
          <a:prstGeom prst="roundRect">
            <a:avLst>
              <a:gd name="adj" fmla="val 8824"/>
            </a:avLst>
          </a:prstGeom>
          <a:solidFill>
            <a:schemeClr val="bg2"/>
          </a:solidFill>
          <a:ln/>
          <a:effectLst>
            <a:outerShdw sx="100000" sy="100000" kx="0" ky="0" algn="bl" rotWithShape="0" blurRad="101600" dist="25400" dir="5400000">
              <a:srgbClr val="000000">
                <a:alpha val="12000"/>
              </a:srgbClr>
            </a:outerShdw>
          </a:effectLst>
        </p:spPr>
      </p:sp>
      <p:sp>
        <p:nvSpPr>
          <p:cNvPr id="108" name="anim_4_1293"/>
          <p:cNvSpPr txBox="1"/>
          <p:nvPr/>
        </p:nvSpPr>
        <p:spPr>
          <a:xfrm>
            <a:off x="731520" y="5093208"/>
            <a:ext cx="5577840" cy="1188720"/>
          </a:xfrm>
          <a:prstGeom prst="rect">
            <a:avLst/>
          </a:prstGeom>
          <a:noFill/>
          <a:ln/>
        </p:spPr>
        <p:txBody>
          <a:bodyPr wrap="square" lIns="0" tIns="0" rIns="0" bIns="0" rtlCol="0" anchor="ctr"/>
          <a:lstStyle/>
          <a:p>
            <a:pPr rtl="1" algn="r" indent="0" marL="0">
              <a:buNone/>
            </a:pPr>
            <a:r>
              <a:rPr lang="fa-IR" altLang="en-US" sz="1500" b="1" dirty="0">
                <a:solidFill>
                  <a:schemeClr val="tx2"/>
                </a:solidFill>
                <a:latin typeface="B Nazanin" pitchFamily="34" charset="0"/>
                <a:ea typeface="B Nazanin" pitchFamily="34" charset="-122"/>
                <a:cs typeface="B Nazanin" pitchFamily="34" charset="-120"/>
              </a:rPr>
              <a:t>فرضیه تأیید نشد: در مؤسسات کم‌هزینه سهم خدمات غیرحسابرسی بیشتر است؛ یعنی کانال دومی برای جبران هزینهٔ اولیه دیده می‌شود.</a:t>
            </a:r>
            <a:endParaRPr lang="fa-IR" sz="1500" dirty="0"/>
          </a:p>
        </p:txBody>
      </p:sp>
      <p:sp>
        <p:nvSpPr>
          <p:cNvPr id="109" name="anim_5_1294"/>
          <p:cNvSpPr/>
          <p:nvPr/>
        </p:nvSpPr>
        <p:spPr>
          <a:xfrm>
            <a:off x="6720840" y="2084832"/>
            <a:ext cx="4919472" cy="3017520"/>
          </a:xfrm>
          <a:prstGeom prst="roundRect">
            <a:avLst>
              <a:gd name="adj" fmla="val 3636"/>
            </a:avLst>
          </a:prstGeom>
          <a:solidFill>
            <a:schemeClr val="bg2"/>
          </a:solidFill>
          <a:ln/>
          <a:effectLst>
            <a:outerShdw sx="100000" sy="100000" kx="0" ky="0" algn="bl" rotWithShape="0" blurRad="101600" dist="25400" dir="5400000">
              <a:srgbClr val="000000">
                <a:alpha val="12000"/>
              </a:srgbClr>
            </a:outerShdw>
          </a:effectLst>
        </p:spPr>
      </p:sp>
      <p:sp>
        <p:nvSpPr>
          <p:cNvPr id="110" name="anim_5_1295"/>
          <p:cNvSpPr txBox="1"/>
          <p:nvPr/>
        </p:nvSpPr>
        <p:spPr>
          <a:xfrm>
            <a:off x="6858000" y="2130552"/>
            <a:ext cx="4663440" cy="2926080"/>
          </a:xfrm>
          <a:prstGeom prst="rect">
            <a:avLst/>
          </a:prstGeom>
          <a:noFill/>
          <a:ln/>
        </p:spPr>
        <p:txBody>
          <a:bodyPr wrap="square" lIns="0" tIns="0" rIns="0" bIns="0" rtlCol="0" anchor="t"/>
          <a:lstStyle/>
          <a:p>
            <a:pPr algn="r" indent="0" marL="0">
              <a:spcAft>
                <a:spcPts val="300"/>
              </a:spcAft>
              <a:buNone/>
            </a:pPr>
            <a:r>
              <a:rPr lang="fa-IR" altLang="en-US" sz="1600" b="1" dirty="0">
                <a:solidFill>
                  <a:schemeClr val="accent1"/>
                </a:solidFill>
                <a:latin typeface="B Nazanin" pitchFamily="34" charset="0"/>
                <a:ea typeface="B Nazanin" pitchFamily="34" charset="-122"/>
                <a:cs typeface="B Nazanin" pitchFamily="34" charset="-120"/>
              </a:rPr>
              <a:t>تفسیر نتیجه</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ضریب هزینهٔ حسابرسی 0.240- و معنادار است؛ هرچه هزینه پایین‌تر، سهم خدمات غیرحسابرسی بیشتر</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فرض نبود رابطه رد می‌شود؛ افزون بر حق‌الزحمهٔ حسابرسی، کانال خدمات غیرحسابرسی نیز مطرح است</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این نتیجه در کنار فرضیهٔ اول نشان می‌دهد رابطه پیچیده‌تر از یارانهٔ متقاطع ساده است</a:t>
            </a:r>
            <a:endParaRPr lang="fa-IR" sz="1400" dirty="0"/>
          </a:p>
        </p:txBody>
      </p:sp>
      <p:sp>
        <p:nvSpPr>
          <p:cNvPr id="111" name="anim_6_1296"/>
          <p:cNvSpPr/>
          <p:nvPr/>
        </p:nvSpPr>
        <p:spPr>
          <a:xfrm>
            <a:off x="6720840" y="5193792"/>
            <a:ext cx="4919472" cy="1115568"/>
          </a:xfrm>
          <a:prstGeom prst="roundRect">
            <a:avLst>
              <a:gd name="adj" fmla="val 9836"/>
            </a:avLst>
          </a:prstGeom>
          <a:solidFill>
            <a:schemeClr val="bg2"/>
          </a:solidFill>
          <a:ln/>
          <a:effectLst>
            <a:outerShdw sx="100000" sy="100000" kx="0" ky="0" algn="bl" rotWithShape="0" blurRad="101600" dist="25400" dir="5400000">
              <a:srgbClr val="000000">
                <a:alpha val="12000"/>
              </a:srgbClr>
            </a:outerShdw>
          </a:effectLst>
        </p:spPr>
      </p:sp>
      <p:sp>
        <p:nvSpPr>
          <p:cNvPr id="112" name="anim_6_1297"/>
          <p:cNvSpPr txBox="1"/>
          <p:nvPr/>
        </p:nvSpPr>
        <p:spPr>
          <a:xfrm>
            <a:off x="6858000" y="5212080"/>
            <a:ext cx="4663440" cy="1078992"/>
          </a:xfrm>
          <a:prstGeom prst="rect">
            <a:avLst/>
          </a:prstGeom>
          <a:noFill/>
          <a:ln/>
        </p:spPr>
        <p:txBody>
          <a:bodyPr wrap="square" lIns="0" tIns="0" rIns="0" bIns="0" rtlCol="0" anchor="t"/>
          <a:lstStyle/>
          <a:p>
            <a:pPr algn="r" indent="0" marL="0">
              <a:spcAft>
                <a:spcPts val="100"/>
              </a:spcAft>
              <a:buNone/>
            </a:pPr>
            <a:r>
              <a:rPr lang="fa-IR" altLang="en-US" sz="1500" b="1" dirty="0">
                <a:solidFill>
                  <a:schemeClr val="accent3"/>
                </a:solidFill>
                <a:latin typeface="B Nazanin" pitchFamily="34" charset="0"/>
                <a:ea typeface="B Nazanin" pitchFamily="34" charset="-122"/>
                <a:cs typeface="B Nazanin" pitchFamily="34" charset="-120"/>
              </a:rPr>
              <a:t>مقایسه با پیشینه</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همسو: پیل (2013) که بازیابی هر دو نوع حق‌الزحمه را یافت و دغدغهٔ ناظران (فرانکل و همکاران، 2002)</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ناهمسو: چو و همکاران (2020) و کروب و همکاران (2014)</a:t>
            </a:r>
            <a:endParaRPr lang="fa-IR" sz="13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23</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34"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3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3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3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3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3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3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3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3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3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35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35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35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35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3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3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3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3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3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3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3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35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35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35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35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35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35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35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35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35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35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35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35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35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35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35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35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35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35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3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35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35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35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35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35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35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35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35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35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35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35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35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35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35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35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35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35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35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35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35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35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35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35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35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35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35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35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35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70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70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70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70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70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70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70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70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70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70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70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70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70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70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70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70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70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par>
                                <p:cTn id="295" presetID="10" presetClass="entr" presetSubtype="0" fill="hold" nodeType="withEffect">
                                  <p:stCondLst>
                                    <p:cond delay="70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600"/>
                                        <p:tgtEl>
                                          <p:spTgt spid="100"/>
                                        </p:tgtEl>
                                      </p:cBhvr>
                                    </p:animEffect>
                                  </p:childTnLst>
                                </p:cTn>
                              </p:par>
                              <p:par>
                                <p:cTn id="298" presetID="10" presetClass="entr" presetSubtype="0" fill="hold" nodeType="withEffect">
                                  <p:stCondLst>
                                    <p:cond delay="70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600"/>
                                        <p:tgtEl>
                                          <p:spTgt spid="101"/>
                                        </p:tgtEl>
                                      </p:cBhvr>
                                    </p:animEffect>
                                  </p:childTnLst>
                                </p:cTn>
                              </p:par>
                              <p:par>
                                <p:cTn id="301" presetID="10" presetClass="entr" presetSubtype="0" fill="hold" nodeType="withEffect">
                                  <p:stCondLst>
                                    <p:cond delay="700"/>
                                  </p:stCondLst>
                                  <p:childTnLst>
                                    <p:set>
                                      <p:cBhvr>
                                        <p:cTn id="302" dur="1" fill="hold">
                                          <p:stCondLst>
                                            <p:cond delay="0"/>
                                          </p:stCondLst>
                                        </p:cTn>
                                        <p:tgtEl>
                                          <p:spTgt spid="102"/>
                                        </p:tgtEl>
                                        <p:attrNameLst>
                                          <p:attrName>style.visibility</p:attrName>
                                        </p:attrNameLst>
                                      </p:cBhvr>
                                      <p:to>
                                        <p:strVal val="visible"/>
                                      </p:to>
                                    </p:set>
                                    <p:animEffect transition="in" filter="fade">
                                      <p:cBhvr>
                                        <p:cTn id="303" dur="600"/>
                                        <p:tgtEl>
                                          <p:spTgt spid="102"/>
                                        </p:tgtEl>
                                      </p:cBhvr>
                                    </p:animEffect>
                                  </p:childTnLst>
                                </p:cTn>
                              </p:par>
                              <p:par>
                                <p:cTn id="304" presetID="10" presetClass="entr" presetSubtype="0" fill="hold" nodeType="withEffect">
                                  <p:stCondLst>
                                    <p:cond delay="700"/>
                                  </p:stCondLst>
                                  <p:childTnLst>
                                    <p:set>
                                      <p:cBhvr>
                                        <p:cTn id="305" dur="1" fill="hold">
                                          <p:stCondLst>
                                            <p:cond delay="0"/>
                                          </p:stCondLst>
                                        </p:cTn>
                                        <p:tgtEl>
                                          <p:spTgt spid="103"/>
                                        </p:tgtEl>
                                        <p:attrNameLst>
                                          <p:attrName>style.visibility</p:attrName>
                                        </p:attrNameLst>
                                      </p:cBhvr>
                                      <p:to>
                                        <p:strVal val="visible"/>
                                      </p:to>
                                    </p:set>
                                    <p:animEffect transition="in" filter="fade">
                                      <p:cBhvr>
                                        <p:cTn id="306" dur="600"/>
                                        <p:tgtEl>
                                          <p:spTgt spid="103"/>
                                        </p:tgtEl>
                                      </p:cBhvr>
                                    </p:animEffect>
                                  </p:childTnLst>
                                </p:cTn>
                              </p:par>
                              <p:par>
                                <p:cTn id="307" presetID="10" presetClass="entr" presetSubtype="0" fill="hold" nodeType="withEffect">
                                  <p:stCondLst>
                                    <p:cond delay="700"/>
                                  </p:stCondLst>
                                  <p:childTnLst>
                                    <p:set>
                                      <p:cBhvr>
                                        <p:cTn id="308" dur="1" fill="hold">
                                          <p:stCondLst>
                                            <p:cond delay="0"/>
                                          </p:stCondLst>
                                        </p:cTn>
                                        <p:tgtEl>
                                          <p:spTgt spid="104"/>
                                        </p:tgtEl>
                                        <p:attrNameLst>
                                          <p:attrName>style.visibility</p:attrName>
                                        </p:attrNameLst>
                                      </p:cBhvr>
                                      <p:to>
                                        <p:strVal val="visible"/>
                                      </p:to>
                                    </p:set>
                                    <p:animEffect transition="in" filter="fade">
                                      <p:cBhvr>
                                        <p:cTn id="309" dur="600"/>
                                        <p:tgtEl>
                                          <p:spTgt spid="104"/>
                                        </p:tgtEl>
                                      </p:cBhvr>
                                    </p:animEffect>
                                  </p:childTnLst>
                                </p:cTn>
                              </p:par>
                              <p:par>
                                <p:cTn id="310" presetID="10" presetClass="entr" presetSubtype="0" fill="hold" nodeType="withEffect">
                                  <p:stCondLst>
                                    <p:cond delay="700"/>
                                  </p:stCondLst>
                                  <p:childTnLst>
                                    <p:set>
                                      <p:cBhvr>
                                        <p:cTn id="311" dur="1" fill="hold">
                                          <p:stCondLst>
                                            <p:cond delay="0"/>
                                          </p:stCondLst>
                                        </p:cTn>
                                        <p:tgtEl>
                                          <p:spTgt spid="105"/>
                                        </p:tgtEl>
                                        <p:attrNameLst>
                                          <p:attrName>style.visibility</p:attrName>
                                        </p:attrNameLst>
                                      </p:cBhvr>
                                      <p:to>
                                        <p:strVal val="visible"/>
                                      </p:to>
                                    </p:set>
                                    <p:animEffect transition="in" filter="fade">
                                      <p:cBhvr>
                                        <p:cTn id="312" dur="600"/>
                                        <p:tgtEl>
                                          <p:spTgt spid="105"/>
                                        </p:tgtEl>
                                      </p:cBhvr>
                                    </p:animEffect>
                                  </p:childTnLst>
                                </p:cTn>
                              </p:par>
                              <p:par>
                                <p:cTn id="313" presetID="10" presetClass="entr" presetSubtype="0" fill="hold" nodeType="withEffect">
                                  <p:stCondLst>
                                    <p:cond delay="700"/>
                                  </p:stCondLst>
                                  <p:childTnLst>
                                    <p:set>
                                      <p:cBhvr>
                                        <p:cTn id="314" dur="1" fill="hold">
                                          <p:stCondLst>
                                            <p:cond delay="0"/>
                                          </p:stCondLst>
                                        </p:cTn>
                                        <p:tgtEl>
                                          <p:spTgt spid="106"/>
                                        </p:tgtEl>
                                        <p:attrNameLst>
                                          <p:attrName>style.visibility</p:attrName>
                                        </p:attrNameLst>
                                      </p:cBhvr>
                                      <p:to>
                                        <p:strVal val="visible"/>
                                      </p:to>
                                    </p:set>
                                    <p:animEffect transition="in" filter="fade">
                                      <p:cBhvr>
                                        <p:cTn id="315" dur="600"/>
                                        <p:tgtEl>
                                          <p:spTgt spid="106"/>
                                        </p:tgtEl>
                                      </p:cBhvr>
                                    </p:animEffect>
                                  </p:childTnLst>
                                </p:cTn>
                              </p:par>
                              <p:par>
                                <p:cTn id="316" presetID="10" presetClass="entr" presetSubtype="0" fill="hold" nodeType="withEffect">
                                  <p:stCondLst>
                                    <p:cond delay="1050"/>
                                  </p:stCondLst>
                                  <p:childTnLst>
                                    <p:set>
                                      <p:cBhvr>
                                        <p:cTn id="317" dur="1" fill="hold">
                                          <p:stCondLst>
                                            <p:cond delay="0"/>
                                          </p:stCondLst>
                                        </p:cTn>
                                        <p:tgtEl>
                                          <p:spTgt spid="107"/>
                                        </p:tgtEl>
                                        <p:attrNameLst>
                                          <p:attrName>style.visibility</p:attrName>
                                        </p:attrNameLst>
                                      </p:cBhvr>
                                      <p:to>
                                        <p:strVal val="visible"/>
                                      </p:to>
                                    </p:set>
                                    <p:animEffect transition="in" filter="fade">
                                      <p:cBhvr>
                                        <p:cTn id="318" dur="600"/>
                                        <p:tgtEl>
                                          <p:spTgt spid="107"/>
                                        </p:tgtEl>
                                      </p:cBhvr>
                                    </p:animEffect>
                                  </p:childTnLst>
                                </p:cTn>
                              </p:par>
                              <p:par>
                                <p:cTn id="319" presetID="10" presetClass="entr" presetSubtype="0" fill="hold" nodeType="withEffect">
                                  <p:stCondLst>
                                    <p:cond delay="1050"/>
                                  </p:stCondLst>
                                  <p:childTnLst>
                                    <p:set>
                                      <p:cBhvr>
                                        <p:cTn id="320" dur="1" fill="hold">
                                          <p:stCondLst>
                                            <p:cond delay="0"/>
                                          </p:stCondLst>
                                        </p:cTn>
                                        <p:tgtEl>
                                          <p:spTgt spid="108"/>
                                        </p:tgtEl>
                                        <p:attrNameLst>
                                          <p:attrName>style.visibility</p:attrName>
                                        </p:attrNameLst>
                                      </p:cBhvr>
                                      <p:to>
                                        <p:strVal val="visible"/>
                                      </p:to>
                                    </p:set>
                                    <p:animEffect transition="in" filter="fade">
                                      <p:cBhvr>
                                        <p:cTn id="321" dur="600"/>
                                        <p:tgtEl>
                                          <p:spTgt spid="108"/>
                                        </p:tgtEl>
                                      </p:cBhvr>
                                    </p:animEffect>
                                  </p:childTnLst>
                                </p:cTn>
                              </p:par>
                              <p:par>
                                <p:cTn id="322" presetID="10" presetClass="entr" presetSubtype="0" fill="hold" nodeType="withEffect">
                                  <p:stCondLst>
                                    <p:cond delay="1400"/>
                                  </p:stCondLst>
                                  <p:childTnLst>
                                    <p:set>
                                      <p:cBhvr>
                                        <p:cTn id="323" dur="1" fill="hold">
                                          <p:stCondLst>
                                            <p:cond delay="0"/>
                                          </p:stCondLst>
                                        </p:cTn>
                                        <p:tgtEl>
                                          <p:spTgt spid="109"/>
                                        </p:tgtEl>
                                        <p:attrNameLst>
                                          <p:attrName>style.visibility</p:attrName>
                                        </p:attrNameLst>
                                      </p:cBhvr>
                                      <p:to>
                                        <p:strVal val="visible"/>
                                      </p:to>
                                    </p:set>
                                    <p:animEffect transition="in" filter="fade">
                                      <p:cBhvr>
                                        <p:cTn id="324" dur="600"/>
                                        <p:tgtEl>
                                          <p:spTgt spid="109"/>
                                        </p:tgtEl>
                                      </p:cBhvr>
                                    </p:animEffect>
                                  </p:childTnLst>
                                </p:cTn>
                              </p:par>
                              <p:par>
                                <p:cTn id="325" presetID="10" presetClass="entr" presetSubtype="0" fill="hold" nodeType="withEffect">
                                  <p:stCondLst>
                                    <p:cond delay="1400"/>
                                  </p:stCondLst>
                                  <p:childTnLst>
                                    <p:set>
                                      <p:cBhvr>
                                        <p:cTn id="326" dur="1" fill="hold">
                                          <p:stCondLst>
                                            <p:cond delay="0"/>
                                          </p:stCondLst>
                                        </p:cTn>
                                        <p:tgtEl>
                                          <p:spTgt spid="110"/>
                                        </p:tgtEl>
                                        <p:attrNameLst>
                                          <p:attrName>style.visibility</p:attrName>
                                        </p:attrNameLst>
                                      </p:cBhvr>
                                      <p:to>
                                        <p:strVal val="visible"/>
                                      </p:to>
                                    </p:set>
                                    <p:animEffect transition="in" filter="fade">
                                      <p:cBhvr>
                                        <p:cTn id="327" dur="600"/>
                                        <p:tgtEl>
                                          <p:spTgt spid="110"/>
                                        </p:tgtEl>
                                      </p:cBhvr>
                                    </p:animEffect>
                                  </p:childTnLst>
                                </p:cTn>
                              </p:par>
                              <p:par>
                                <p:cTn id="328" presetID="10" presetClass="entr" presetSubtype="0" fill="hold" nodeType="withEffect">
                                  <p:stCondLst>
                                    <p:cond delay="1750"/>
                                  </p:stCondLst>
                                  <p:childTnLst>
                                    <p:set>
                                      <p:cBhvr>
                                        <p:cTn id="329" dur="1" fill="hold">
                                          <p:stCondLst>
                                            <p:cond delay="0"/>
                                          </p:stCondLst>
                                        </p:cTn>
                                        <p:tgtEl>
                                          <p:spTgt spid="111"/>
                                        </p:tgtEl>
                                        <p:attrNameLst>
                                          <p:attrName>style.visibility</p:attrName>
                                        </p:attrNameLst>
                                      </p:cBhvr>
                                      <p:to>
                                        <p:strVal val="visible"/>
                                      </p:to>
                                    </p:set>
                                    <p:animEffect transition="in" filter="fade">
                                      <p:cBhvr>
                                        <p:cTn id="330" dur="600"/>
                                        <p:tgtEl>
                                          <p:spTgt spid="111"/>
                                        </p:tgtEl>
                                      </p:cBhvr>
                                    </p:animEffect>
                                  </p:childTnLst>
                                </p:cTn>
                              </p:par>
                              <p:par>
                                <p:cTn id="331" presetID="10" presetClass="entr" presetSubtype="0" fill="hold" nodeType="withEffect">
                                  <p:stCondLst>
                                    <p:cond delay="1750"/>
                                  </p:stCondLst>
                                  <p:childTnLst>
                                    <p:set>
                                      <p:cBhvr>
                                        <p:cTn id="332" dur="1" fill="hold">
                                          <p:stCondLst>
                                            <p:cond delay="0"/>
                                          </p:stCondLst>
                                        </p:cTn>
                                        <p:tgtEl>
                                          <p:spTgt spid="112"/>
                                        </p:tgtEl>
                                        <p:attrNameLst>
                                          <p:attrName>style.visibility</p:attrName>
                                        </p:attrNameLst>
                                      </p:cBhvr>
                                      <p:to>
                                        <p:strVal val="visible"/>
                                      </p:to>
                                    </p:set>
                                    <p:animEffect transition="in" filter="fade">
                                      <p:cBhvr>
                                        <p:cTn id="333" dur="6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نتیجهٔ فرضیهٔ پنجم: بازیابی و کیفیت حسابرسی آینده</a:t>
            </a:r>
            <a:endParaRPr lang="fa-IR" sz="3400" dirty="0"/>
          </a:p>
        </p:txBody>
      </p:sp>
      <p:sp>
        <p:nvSpPr>
          <p:cNvPr id="3" name="anim_1_1298"/>
          <p:cNvSpPr/>
          <p:nvPr/>
        </p:nvSpPr>
        <p:spPr>
          <a:xfrm>
            <a:off x="548640" y="1234440"/>
            <a:ext cx="11091672" cy="731520"/>
          </a:xfrm>
          <a:prstGeom prst="roundRect">
            <a:avLst>
              <a:gd name="adj" fmla="val 15000"/>
            </a:avLst>
          </a:prstGeom>
          <a:solidFill>
            <a:schemeClr val="tx2"/>
          </a:solidFill>
          <a:ln/>
          <a:effectLst>
            <a:outerShdw sx="100000" sy="100000" kx="0" ky="0" algn="bl" rotWithShape="0" blurRad="101600" dist="25400" dir="5400000">
              <a:srgbClr val="000000">
                <a:alpha val="12000"/>
              </a:srgbClr>
            </a:outerShdw>
          </a:effectLst>
        </p:spPr>
      </p:sp>
      <p:sp>
        <p:nvSpPr>
          <p:cNvPr id="4" name="anim_1_1299"/>
          <p:cNvSpPr txBox="1"/>
          <p:nvPr/>
        </p:nvSpPr>
        <p:spPr>
          <a:xfrm>
            <a:off x="2286000" y="1252728"/>
            <a:ext cx="9171432" cy="694944"/>
          </a:xfrm>
          <a:prstGeom prst="rect">
            <a:avLst/>
          </a:prstGeom>
          <a:noFill/>
          <a:ln/>
        </p:spPr>
        <p:txBody>
          <a:bodyPr wrap="square" lIns="0" tIns="0" rIns="0" bIns="0" rtlCol="0" anchor="ctr"/>
          <a:lstStyle/>
          <a:p>
            <a:pPr rtl="1" algn="r" indent="0" marL="0">
              <a:buNone/>
            </a:pPr>
            <a:r>
              <a:rPr lang="fa-IR" altLang="en-US" sz="1800" dirty="0">
                <a:solidFill>
                  <a:schemeClr val="bg1"/>
                </a:solidFill>
                <a:latin typeface="B Nazanin" pitchFamily="34" charset="0"/>
                <a:ea typeface="B Nazanin" pitchFamily="34" charset="-122"/>
                <a:cs typeface="B Nazanin" pitchFamily="34" charset="-120"/>
              </a:rPr>
              <a:t>کیفیت حسابرسی در دوره‌های بعد به میزان بازیابی حق‌الزحمه وابسته نیست</a:t>
            </a:r>
            <a:endParaRPr lang="fa-IR" sz="1800" dirty="0"/>
          </a:p>
        </p:txBody>
      </p:sp>
      <p:sp>
        <p:nvSpPr>
          <p:cNvPr id="5" name="anim_1_1300"/>
          <p:cNvSpPr/>
          <p:nvPr/>
        </p:nvSpPr>
        <p:spPr>
          <a:xfrm>
            <a:off x="731520" y="1344168"/>
            <a:ext cx="1371600" cy="512064"/>
          </a:xfrm>
          <a:prstGeom prst="roundRect">
            <a:avLst>
              <a:gd name="adj" fmla="val 21429"/>
            </a:avLst>
          </a:prstGeom>
          <a:solidFill>
            <a:schemeClr val="accent4"/>
          </a:solidFill>
          <a:ln/>
        </p:spPr>
      </p:sp>
      <p:sp>
        <p:nvSpPr>
          <p:cNvPr id="6" name="anim_1_1301"/>
          <p:cNvSpPr txBox="1"/>
          <p:nvPr/>
        </p:nvSpPr>
        <p:spPr>
          <a:xfrm>
            <a:off x="731520" y="1344168"/>
            <a:ext cx="1371600" cy="512064"/>
          </a:xfrm>
          <a:prstGeom prst="rect">
            <a:avLst/>
          </a:prstGeom>
          <a:noFill/>
          <a:ln/>
        </p:spPr>
        <p:txBody>
          <a:bodyPr wrap="square" lIns="0" tIns="0" rIns="0" bIns="0" rtlCol="0" anchor="ctr"/>
          <a:lstStyle/>
          <a:p>
            <a:pPr rtl="1" algn="ctr" indent="0" marL="0">
              <a:buNone/>
            </a:pPr>
            <a:r>
              <a:rPr lang="fa-IR" altLang="en-US" sz="2000" dirty="0">
                <a:solidFill>
                  <a:schemeClr val="bg1"/>
                </a:solidFill>
                <a:latin typeface="B Titr" pitchFamily="34" charset="0"/>
                <a:ea typeface="B Titr" pitchFamily="34" charset="-122"/>
                <a:cs typeface="B Titr" pitchFamily="34" charset="-120"/>
              </a:rPr>
              <a:t>تأیید</a:t>
            </a:r>
            <a:endParaRPr lang="fa-IR" sz="2000" dirty="0"/>
          </a:p>
        </p:txBody>
      </p:sp>
      <p:sp>
        <p:nvSpPr>
          <p:cNvPr id="7" name="anim_2_1302"/>
          <p:cNvSpPr/>
          <p:nvPr/>
        </p:nvSpPr>
        <p:spPr>
          <a:xfrm>
            <a:off x="4663440" y="2084832"/>
            <a:ext cx="1828800" cy="310896"/>
          </a:xfrm>
          <a:prstGeom prst="rect">
            <a:avLst/>
          </a:prstGeom>
          <a:solidFill>
            <a:schemeClr val="tx2"/>
          </a:solidFill>
          <a:ln w="9525">
            <a:solidFill>
              <a:srgbClr val="C9D3DF"/>
            </a:solidFill>
            <a:prstDash val="solid"/>
          </a:ln>
        </p:spPr>
      </p:sp>
      <p:sp>
        <p:nvSpPr>
          <p:cNvPr id="8" name="anim_2_1303"/>
          <p:cNvSpPr txBox="1"/>
          <p:nvPr/>
        </p:nvSpPr>
        <p:spPr>
          <a:xfrm>
            <a:off x="4700016" y="2084832"/>
            <a:ext cx="17556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متغیر</a:t>
            </a:r>
            <a:endParaRPr lang="fa-IR" sz="1300" dirty="0"/>
          </a:p>
        </p:txBody>
      </p:sp>
      <p:sp>
        <p:nvSpPr>
          <p:cNvPr id="9" name="anim_2_1304"/>
          <p:cNvSpPr/>
          <p:nvPr/>
        </p:nvSpPr>
        <p:spPr>
          <a:xfrm>
            <a:off x="3657600" y="2084832"/>
            <a:ext cx="1005840" cy="310896"/>
          </a:xfrm>
          <a:prstGeom prst="rect">
            <a:avLst/>
          </a:prstGeom>
          <a:solidFill>
            <a:schemeClr val="tx2"/>
          </a:solidFill>
          <a:ln w="9525">
            <a:solidFill>
              <a:srgbClr val="C9D3DF"/>
            </a:solidFill>
            <a:prstDash val="solid"/>
          </a:ln>
        </p:spPr>
      </p:sp>
      <p:sp>
        <p:nvSpPr>
          <p:cNvPr id="10" name="anim_2_1305"/>
          <p:cNvSpPr txBox="1"/>
          <p:nvPr/>
        </p:nvSpPr>
        <p:spPr>
          <a:xfrm>
            <a:off x="369417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ضریب</a:t>
            </a:r>
            <a:endParaRPr lang="fa-IR" sz="1300" dirty="0"/>
          </a:p>
        </p:txBody>
      </p:sp>
      <p:sp>
        <p:nvSpPr>
          <p:cNvPr id="11" name="anim_2_1306"/>
          <p:cNvSpPr/>
          <p:nvPr/>
        </p:nvSpPr>
        <p:spPr>
          <a:xfrm>
            <a:off x="2468880" y="2084832"/>
            <a:ext cx="1188720" cy="310896"/>
          </a:xfrm>
          <a:prstGeom prst="rect">
            <a:avLst/>
          </a:prstGeom>
          <a:solidFill>
            <a:schemeClr val="tx2"/>
          </a:solidFill>
          <a:ln w="9525">
            <a:solidFill>
              <a:srgbClr val="C9D3DF"/>
            </a:solidFill>
            <a:prstDash val="solid"/>
          </a:ln>
        </p:spPr>
      </p:sp>
      <p:sp>
        <p:nvSpPr>
          <p:cNvPr id="12" name="anim_2_1307"/>
          <p:cNvSpPr txBox="1"/>
          <p:nvPr/>
        </p:nvSpPr>
        <p:spPr>
          <a:xfrm>
            <a:off x="2505456" y="2084832"/>
            <a:ext cx="111556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خطای معیار</a:t>
            </a:r>
            <a:endParaRPr lang="fa-IR" sz="1300" dirty="0"/>
          </a:p>
        </p:txBody>
      </p:sp>
      <p:sp>
        <p:nvSpPr>
          <p:cNvPr id="13" name="anim_2_1308"/>
          <p:cNvSpPr/>
          <p:nvPr/>
        </p:nvSpPr>
        <p:spPr>
          <a:xfrm>
            <a:off x="1463040" y="2084832"/>
            <a:ext cx="1005840" cy="310896"/>
          </a:xfrm>
          <a:prstGeom prst="rect">
            <a:avLst/>
          </a:prstGeom>
          <a:solidFill>
            <a:schemeClr val="tx2"/>
          </a:solidFill>
          <a:ln w="9525">
            <a:solidFill>
              <a:srgbClr val="C9D3DF"/>
            </a:solidFill>
            <a:prstDash val="solid"/>
          </a:ln>
        </p:spPr>
      </p:sp>
      <p:sp>
        <p:nvSpPr>
          <p:cNvPr id="14" name="anim_2_1309"/>
          <p:cNvSpPr txBox="1"/>
          <p:nvPr/>
        </p:nvSpPr>
        <p:spPr>
          <a:xfrm>
            <a:off x="1499616" y="2084832"/>
            <a:ext cx="93268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آمارهٔ t</a:t>
            </a:r>
            <a:endParaRPr lang="fa-IR" sz="1300" dirty="0"/>
          </a:p>
        </p:txBody>
      </p:sp>
      <p:sp>
        <p:nvSpPr>
          <p:cNvPr id="15" name="anim_2_1310"/>
          <p:cNvSpPr/>
          <p:nvPr/>
        </p:nvSpPr>
        <p:spPr>
          <a:xfrm>
            <a:off x="548640" y="2084832"/>
            <a:ext cx="914400" cy="310896"/>
          </a:xfrm>
          <a:prstGeom prst="rect">
            <a:avLst/>
          </a:prstGeom>
          <a:solidFill>
            <a:schemeClr val="tx2"/>
          </a:solidFill>
          <a:ln w="9525">
            <a:solidFill>
              <a:srgbClr val="C9D3DF"/>
            </a:solidFill>
            <a:prstDash val="solid"/>
          </a:ln>
        </p:spPr>
      </p:sp>
      <p:sp>
        <p:nvSpPr>
          <p:cNvPr id="16" name="anim_2_1311"/>
          <p:cNvSpPr txBox="1"/>
          <p:nvPr/>
        </p:nvSpPr>
        <p:spPr>
          <a:xfrm>
            <a:off x="585216" y="2084832"/>
            <a:ext cx="841248" cy="310896"/>
          </a:xfrm>
          <a:prstGeom prst="rect">
            <a:avLst/>
          </a:prstGeom>
          <a:noFill/>
          <a:ln/>
        </p:spPr>
        <p:txBody>
          <a:bodyPr wrap="square" lIns="254" tIns="254" rIns="254" bIns="254" rtlCol="0" anchor="ctr"/>
          <a:lstStyle/>
          <a:p>
            <a:pPr rtl="1" algn="ctr" indent="0" marL="0">
              <a:buNone/>
            </a:pPr>
            <a:r>
              <a:rPr lang="fa-IR" altLang="en-US" sz="1300" b="1" dirty="0">
                <a:solidFill>
                  <a:schemeClr val="bg1"/>
                </a:solidFill>
                <a:latin typeface="B Nazanin" pitchFamily="34" charset="0"/>
                <a:ea typeface="B Nazanin" pitchFamily="34" charset="-122"/>
                <a:cs typeface="B Nazanin" pitchFamily="34" charset="-120"/>
              </a:rPr>
              <a:t>احتمال</a:t>
            </a:r>
            <a:endParaRPr lang="fa-IR" sz="1300" dirty="0"/>
          </a:p>
        </p:txBody>
      </p:sp>
      <p:sp>
        <p:nvSpPr>
          <p:cNvPr id="17" name="anim_2_1312"/>
          <p:cNvSpPr/>
          <p:nvPr/>
        </p:nvSpPr>
        <p:spPr>
          <a:xfrm>
            <a:off x="4663440" y="2395728"/>
            <a:ext cx="1828800" cy="310896"/>
          </a:xfrm>
          <a:prstGeom prst="rect">
            <a:avLst/>
          </a:prstGeom>
          <a:solidFill>
            <a:srgbClr val="FFFFFF"/>
          </a:solidFill>
          <a:ln w="9525">
            <a:solidFill>
              <a:srgbClr val="C9D3DF"/>
            </a:solidFill>
            <a:prstDash val="solid"/>
          </a:ln>
        </p:spPr>
      </p:sp>
      <p:sp>
        <p:nvSpPr>
          <p:cNvPr id="18" name="anim_2_1313"/>
          <p:cNvSpPr/>
          <p:nvPr/>
        </p:nvSpPr>
        <p:spPr>
          <a:xfrm>
            <a:off x="5152644" y="2427732"/>
            <a:ext cx="850392" cy="246888"/>
          </a:xfrm>
          <a:prstGeom prst="roundRect">
            <a:avLst>
              <a:gd name="adj" fmla="val 22222"/>
            </a:avLst>
          </a:prstGeom>
          <a:solidFill>
            <a:schemeClr val="accent1"/>
          </a:solidFill>
          <a:ln/>
        </p:spPr>
      </p:sp>
      <p:sp>
        <p:nvSpPr>
          <p:cNvPr id="19" name="anim_2_1314"/>
          <p:cNvSpPr txBox="1"/>
          <p:nvPr/>
        </p:nvSpPr>
        <p:spPr>
          <a:xfrm>
            <a:off x="5152644" y="2427732"/>
            <a:ext cx="850392"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COSTP</a:t>
            </a:r>
            <a:endParaRPr lang="en-US" sz="1100" dirty="0"/>
          </a:p>
        </p:txBody>
      </p:sp>
      <p:sp>
        <p:nvSpPr>
          <p:cNvPr id="20" name="anim_2_1315"/>
          <p:cNvSpPr/>
          <p:nvPr/>
        </p:nvSpPr>
        <p:spPr>
          <a:xfrm>
            <a:off x="3657600" y="2395728"/>
            <a:ext cx="1005840" cy="310896"/>
          </a:xfrm>
          <a:prstGeom prst="rect">
            <a:avLst/>
          </a:prstGeom>
          <a:solidFill>
            <a:srgbClr val="FFFFFF"/>
          </a:solidFill>
          <a:ln w="9525">
            <a:solidFill>
              <a:srgbClr val="C9D3DF"/>
            </a:solidFill>
            <a:prstDash val="solid"/>
          </a:ln>
        </p:spPr>
      </p:sp>
      <p:sp>
        <p:nvSpPr>
          <p:cNvPr id="21" name="anim_2_1316"/>
          <p:cNvSpPr txBox="1"/>
          <p:nvPr/>
        </p:nvSpPr>
        <p:spPr>
          <a:xfrm>
            <a:off x="369417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‪0.0269‬</a:t>
            </a:r>
            <a:endParaRPr lang="fa-IR" sz="1300" dirty="0"/>
          </a:p>
        </p:txBody>
      </p:sp>
      <p:sp>
        <p:nvSpPr>
          <p:cNvPr id="22" name="anim_2_1317"/>
          <p:cNvSpPr/>
          <p:nvPr/>
        </p:nvSpPr>
        <p:spPr>
          <a:xfrm>
            <a:off x="2468880" y="2395728"/>
            <a:ext cx="1188720" cy="310896"/>
          </a:xfrm>
          <a:prstGeom prst="rect">
            <a:avLst/>
          </a:prstGeom>
          <a:solidFill>
            <a:srgbClr val="FFFFFF"/>
          </a:solidFill>
          <a:ln w="9525">
            <a:solidFill>
              <a:srgbClr val="C9D3DF"/>
            </a:solidFill>
            <a:prstDash val="solid"/>
          </a:ln>
        </p:spPr>
      </p:sp>
      <p:sp>
        <p:nvSpPr>
          <p:cNvPr id="23" name="anim_2_1318"/>
          <p:cNvSpPr txBox="1"/>
          <p:nvPr/>
        </p:nvSpPr>
        <p:spPr>
          <a:xfrm>
            <a:off x="2505456" y="2395728"/>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‪0.0324‬</a:t>
            </a:r>
            <a:endParaRPr lang="fa-IR" sz="1300" dirty="0"/>
          </a:p>
        </p:txBody>
      </p:sp>
      <p:sp>
        <p:nvSpPr>
          <p:cNvPr id="24" name="anim_2_1319"/>
          <p:cNvSpPr/>
          <p:nvPr/>
        </p:nvSpPr>
        <p:spPr>
          <a:xfrm>
            <a:off x="1463040" y="2395728"/>
            <a:ext cx="1005840" cy="310896"/>
          </a:xfrm>
          <a:prstGeom prst="rect">
            <a:avLst/>
          </a:prstGeom>
          <a:solidFill>
            <a:srgbClr val="FFFFFF"/>
          </a:solidFill>
          <a:ln w="9525">
            <a:solidFill>
              <a:srgbClr val="C9D3DF"/>
            </a:solidFill>
            <a:prstDash val="solid"/>
          </a:ln>
        </p:spPr>
      </p:sp>
      <p:sp>
        <p:nvSpPr>
          <p:cNvPr id="25" name="anim_2_1320"/>
          <p:cNvSpPr txBox="1"/>
          <p:nvPr/>
        </p:nvSpPr>
        <p:spPr>
          <a:xfrm>
            <a:off x="1499616" y="2395728"/>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‪0.8230‬</a:t>
            </a:r>
            <a:endParaRPr lang="fa-IR" sz="1300" dirty="0"/>
          </a:p>
        </p:txBody>
      </p:sp>
      <p:sp>
        <p:nvSpPr>
          <p:cNvPr id="26" name="anim_2_1321"/>
          <p:cNvSpPr/>
          <p:nvPr/>
        </p:nvSpPr>
        <p:spPr>
          <a:xfrm>
            <a:off x="548640" y="2395728"/>
            <a:ext cx="914400" cy="310896"/>
          </a:xfrm>
          <a:prstGeom prst="rect">
            <a:avLst/>
          </a:prstGeom>
          <a:solidFill>
            <a:srgbClr val="FFFFFF"/>
          </a:solidFill>
          <a:ln w="9525">
            <a:solidFill>
              <a:srgbClr val="C9D3DF"/>
            </a:solidFill>
            <a:prstDash val="solid"/>
          </a:ln>
        </p:spPr>
      </p:sp>
      <p:sp>
        <p:nvSpPr>
          <p:cNvPr id="27" name="anim_2_1322"/>
          <p:cNvSpPr txBox="1"/>
          <p:nvPr/>
        </p:nvSpPr>
        <p:spPr>
          <a:xfrm>
            <a:off x="585216" y="2395728"/>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‪0.4108‬</a:t>
            </a:r>
            <a:endParaRPr lang="fa-IR" sz="1300" dirty="0"/>
          </a:p>
        </p:txBody>
      </p:sp>
      <p:sp>
        <p:nvSpPr>
          <p:cNvPr id="28" name="anim_2_1323"/>
          <p:cNvSpPr/>
          <p:nvPr/>
        </p:nvSpPr>
        <p:spPr>
          <a:xfrm>
            <a:off x="4663440" y="2706624"/>
            <a:ext cx="1828800" cy="310896"/>
          </a:xfrm>
          <a:prstGeom prst="rect">
            <a:avLst/>
          </a:prstGeom>
          <a:solidFill>
            <a:srgbClr val="EEF3F8"/>
          </a:solidFill>
          <a:ln w="9525">
            <a:solidFill>
              <a:srgbClr val="C9D3DF"/>
            </a:solidFill>
            <a:prstDash val="solid"/>
          </a:ln>
        </p:spPr>
      </p:sp>
      <p:sp>
        <p:nvSpPr>
          <p:cNvPr id="29" name="anim_2_1324"/>
          <p:cNvSpPr/>
          <p:nvPr/>
        </p:nvSpPr>
        <p:spPr>
          <a:xfrm>
            <a:off x="5206594" y="2738628"/>
            <a:ext cx="742493" cy="246888"/>
          </a:xfrm>
          <a:prstGeom prst="roundRect">
            <a:avLst>
              <a:gd name="adj" fmla="val 22222"/>
            </a:avLst>
          </a:prstGeom>
          <a:solidFill>
            <a:schemeClr val="accent1"/>
          </a:solidFill>
          <a:ln/>
        </p:spPr>
      </p:sp>
      <p:sp>
        <p:nvSpPr>
          <p:cNvPr id="30" name="anim_2_1325"/>
          <p:cNvSpPr txBox="1"/>
          <p:nvPr/>
        </p:nvSpPr>
        <p:spPr>
          <a:xfrm>
            <a:off x="5206594" y="2738628"/>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SIZE</a:t>
            </a:r>
            <a:endParaRPr lang="en-US" sz="1100" dirty="0"/>
          </a:p>
        </p:txBody>
      </p:sp>
      <p:sp>
        <p:nvSpPr>
          <p:cNvPr id="31" name="anim_2_1326"/>
          <p:cNvSpPr/>
          <p:nvPr/>
        </p:nvSpPr>
        <p:spPr>
          <a:xfrm>
            <a:off x="3657600" y="2706624"/>
            <a:ext cx="1005840" cy="310896"/>
          </a:xfrm>
          <a:prstGeom prst="rect">
            <a:avLst/>
          </a:prstGeom>
          <a:solidFill>
            <a:srgbClr val="EEF3F8"/>
          </a:solidFill>
          <a:ln w="9525">
            <a:solidFill>
              <a:srgbClr val="C9D3DF"/>
            </a:solidFill>
            <a:prstDash val="solid"/>
          </a:ln>
        </p:spPr>
      </p:sp>
      <p:sp>
        <p:nvSpPr>
          <p:cNvPr id="32" name="anim_2_1327"/>
          <p:cNvSpPr txBox="1"/>
          <p:nvPr/>
        </p:nvSpPr>
        <p:spPr>
          <a:xfrm>
            <a:off x="369417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‪0.0713‬</a:t>
            </a:r>
            <a:endParaRPr lang="fa-IR" sz="1300" dirty="0"/>
          </a:p>
        </p:txBody>
      </p:sp>
      <p:sp>
        <p:nvSpPr>
          <p:cNvPr id="33" name="anim_2_1328"/>
          <p:cNvSpPr/>
          <p:nvPr/>
        </p:nvSpPr>
        <p:spPr>
          <a:xfrm>
            <a:off x="2468880" y="2706624"/>
            <a:ext cx="1188720" cy="310896"/>
          </a:xfrm>
          <a:prstGeom prst="rect">
            <a:avLst/>
          </a:prstGeom>
          <a:solidFill>
            <a:srgbClr val="EEF3F8"/>
          </a:solidFill>
          <a:ln w="9525">
            <a:solidFill>
              <a:srgbClr val="C9D3DF"/>
            </a:solidFill>
            <a:prstDash val="solid"/>
          </a:ln>
        </p:spPr>
      </p:sp>
      <p:sp>
        <p:nvSpPr>
          <p:cNvPr id="34" name="anim_2_1329"/>
          <p:cNvSpPr txBox="1"/>
          <p:nvPr/>
        </p:nvSpPr>
        <p:spPr>
          <a:xfrm>
            <a:off x="2505456" y="2706624"/>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‪0.0040‬</a:t>
            </a:r>
            <a:endParaRPr lang="fa-IR" sz="1300" dirty="0"/>
          </a:p>
        </p:txBody>
      </p:sp>
      <p:sp>
        <p:nvSpPr>
          <p:cNvPr id="35" name="anim_2_1330"/>
          <p:cNvSpPr/>
          <p:nvPr/>
        </p:nvSpPr>
        <p:spPr>
          <a:xfrm>
            <a:off x="1463040" y="2706624"/>
            <a:ext cx="1005840" cy="310896"/>
          </a:xfrm>
          <a:prstGeom prst="rect">
            <a:avLst/>
          </a:prstGeom>
          <a:solidFill>
            <a:srgbClr val="EEF3F8"/>
          </a:solidFill>
          <a:ln w="9525">
            <a:solidFill>
              <a:srgbClr val="C9D3DF"/>
            </a:solidFill>
            <a:prstDash val="solid"/>
          </a:ln>
        </p:spPr>
      </p:sp>
      <p:sp>
        <p:nvSpPr>
          <p:cNvPr id="36" name="anim_2_1331"/>
          <p:cNvSpPr txBox="1"/>
          <p:nvPr/>
        </p:nvSpPr>
        <p:spPr>
          <a:xfrm>
            <a:off x="1499616" y="2706624"/>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‪18.0002‬</a:t>
            </a:r>
            <a:endParaRPr lang="fa-IR" sz="1300" dirty="0"/>
          </a:p>
        </p:txBody>
      </p:sp>
      <p:sp>
        <p:nvSpPr>
          <p:cNvPr id="37" name="anim_2_1332"/>
          <p:cNvSpPr/>
          <p:nvPr/>
        </p:nvSpPr>
        <p:spPr>
          <a:xfrm>
            <a:off x="548640" y="2706624"/>
            <a:ext cx="914400" cy="310896"/>
          </a:xfrm>
          <a:prstGeom prst="rect">
            <a:avLst/>
          </a:prstGeom>
          <a:solidFill>
            <a:srgbClr val="EEF3F8"/>
          </a:solidFill>
          <a:ln w="9525">
            <a:solidFill>
              <a:srgbClr val="C9D3DF"/>
            </a:solidFill>
            <a:prstDash val="solid"/>
          </a:ln>
        </p:spPr>
      </p:sp>
      <p:sp>
        <p:nvSpPr>
          <p:cNvPr id="38" name="anim_2_1333"/>
          <p:cNvSpPr txBox="1"/>
          <p:nvPr/>
        </p:nvSpPr>
        <p:spPr>
          <a:xfrm>
            <a:off x="585216" y="2706624"/>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‪&lt; 0.0001‬</a:t>
            </a:r>
            <a:endParaRPr lang="fa-IR" sz="1300" dirty="0"/>
          </a:p>
        </p:txBody>
      </p:sp>
      <p:sp>
        <p:nvSpPr>
          <p:cNvPr id="39" name="anim_2_1334"/>
          <p:cNvSpPr/>
          <p:nvPr/>
        </p:nvSpPr>
        <p:spPr>
          <a:xfrm>
            <a:off x="4663440" y="3017520"/>
            <a:ext cx="1828800" cy="310896"/>
          </a:xfrm>
          <a:prstGeom prst="rect">
            <a:avLst/>
          </a:prstGeom>
          <a:solidFill>
            <a:srgbClr val="FFFFFF"/>
          </a:solidFill>
          <a:ln w="9525">
            <a:solidFill>
              <a:srgbClr val="C9D3DF"/>
            </a:solidFill>
            <a:prstDash val="solid"/>
          </a:ln>
        </p:spPr>
      </p:sp>
      <p:sp>
        <p:nvSpPr>
          <p:cNvPr id="40" name="anim_2_1335"/>
          <p:cNvSpPr/>
          <p:nvPr/>
        </p:nvSpPr>
        <p:spPr>
          <a:xfrm>
            <a:off x="5206594" y="3049524"/>
            <a:ext cx="742493" cy="246888"/>
          </a:xfrm>
          <a:prstGeom prst="roundRect">
            <a:avLst>
              <a:gd name="adj" fmla="val 22222"/>
            </a:avLst>
          </a:prstGeom>
          <a:solidFill>
            <a:schemeClr val="accent1"/>
          </a:solidFill>
          <a:ln/>
        </p:spPr>
      </p:sp>
      <p:sp>
        <p:nvSpPr>
          <p:cNvPr id="41" name="anim_2_1336"/>
          <p:cNvSpPr txBox="1"/>
          <p:nvPr/>
        </p:nvSpPr>
        <p:spPr>
          <a:xfrm>
            <a:off x="5206594" y="3049524"/>
            <a:ext cx="742493"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BIG4</a:t>
            </a:r>
            <a:endParaRPr lang="en-US" sz="1100" dirty="0"/>
          </a:p>
        </p:txBody>
      </p:sp>
      <p:sp>
        <p:nvSpPr>
          <p:cNvPr id="42" name="anim_2_1337"/>
          <p:cNvSpPr/>
          <p:nvPr/>
        </p:nvSpPr>
        <p:spPr>
          <a:xfrm>
            <a:off x="3657600" y="3017520"/>
            <a:ext cx="1005840" cy="310896"/>
          </a:xfrm>
          <a:prstGeom prst="rect">
            <a:avLst/>
          </a:prstGeom>
          <a:solidFill>
            <a:srgbClr val="FFFFFF"/>
          </a:solidFill>
          <a:ln w="9525">
            <a:solidFill>
              <a:srgbClr val="C9D3DF"/>
            </a:solidFill>
            <a:prstDash val="solid"/>
          </a:ln>
        </p:spPr>
      </p:sp>
      <p:sp>
        <p:nvSpPr>
          <p:cNvPr id="43" name="anim_2_1338"/>
          <p:cNvSpPr txBox="1"/>
          <p:nvPr/>
        </p:nvSpPr>
        <p:spPr>
          <a:xfrm>
            <a:off x="369417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‪-0.0052‬</a:t>
            </a:r>
            <a:endParaRPr lang="fa-IR" sz="1300" dirty="0"/>
          </a:p>
        </p:txBody>
      </p:sp>
      <p:sp>
        <p:nvSpPr>
          <p:cNvPr id="44" name="anim_2_1339"/>
          <p:cNvSpPr/>
          <p:nvPr/>
        </p:nvSpPr>
        <p:spPr>
          <a:xfrm>
            <a:off x="2468880" y="3017520"/>
            <a:ext cx="1188720" cy="310896"/>
          </a:xfrm>
          <a:prstGeom prst="rect">
            <a:avLst/>
          </a:prstGeom>
          <a:solidFill>
            <a:srgbClr val="FFFFFF"/>
          </a:solidFill>
          <a:ln w="9525">
            <a:solidFill>
              <a:srgbClr val="C9D3DF"/>
            </a:solidFill>
            <a:prstDash val="solid"/>
          </a:ln>
        </p:spPr>
      </p:sp>
      <p:sp>
        <p:nvSpPr>
          <p:cNvPr id="45" name="anim_2_1340"/>
          <p:cNvSpPr txBox="1"/>
          <p:nvPr/>
        </p:nvSpPr>
        <p:spPr>
          <a:xfrm>
            <a:off x="2505456" y="3017520"/>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‪0.0187‬</a:t>
            </a:r>
            <a:endParaRPr lang="fa-IR" sz="1300" dirty="0"/>
          </a:p>
        </p:txBody>
      </p:sp>
      <p:sp>
        <p:nvSpPr>
          <p:cNvPr id="46" name="anim_2_1341"/>
          <p:cNvSpPr/>
          <p:nvPr/>
        </p:nvSpPr>
        <p:spPr>
          <a:xfrm>
            <a:off x="1463040" y="3017520"/>
            <a:ext cx="1005840" cy="310896"/>
          </a:xfrm>
          <a:prstGeom prst="rect">
            <a:avLst/>
          </a:prstGeom>
          <a:solidFill>
            <a:srgbClr val="FFFFFF"/>
          </a:solidFill>
          <a:ln w="9525">
            <a:solidFill>
              <a:srgbClr val="C9D3DF"/>
            </a:solidFill>
            <a:prstDash val="solid"/>
          </a:ln>
        </p:spPr>
      </p:sp>
      <p:sp>
        <p:nvSpPr>
          <p:cNvPr id="47" name="anim_2_1342"/>
          <p:cNvSpPr txBox="1"/>
          <p:nvPr/>
        </p:nvSpPr>
        <p:spPr>
          <a:xfrm>
            <a:off x="1499616" y="3017520"/>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‪-0.2799‬</a:t>
            </a:r>
            <a:endParaRPr lang="fa-IR" sz="1300" dirty="0"/>
          </a:p>
        </p:txBody>
      </p:sp>
      <p:sp>
        <p:nvSpPr>
          <p:cNvPr id="48" name="anim_2_1343"/>
          <p:cNvSpPr/>
          <p:nvPr/>
        </p:nvSpPr>
        <p:spPr>
          <a:xfrm>
            <a:off x="548640" y="3017520"/>
            <a:ext cx="914400" cy="310896"/>
          </a:xfrm>
          <a:prstGeom prst="rect">
            <a:avLst/>
          </a:prstGeom>
          <a:solidFill>
            <a:srgbClr val="FFFFFF"/>
          </a:solidFill>
          <a:ln w="9525">
            <a:solidFill>
              <a:srgbClr val="C9D3DF"/>
            </a:solidFill>
            <a:prstDash val="solid"/>
          </a:ln>
        </p:spPr>
      </p:sp>
      <p:sp>
        <p:nvSpPr>
          <p:cNvPr id="49" name="anim_2_1344"/>
          <p:cNvSpPr txBox="1"/>
          <p:nvPr/>
        </p:nvSpPr>
        <p:spPr>
          <a:xfrm>
            <a:off x="585216" y="3017520"/>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‪0.7797‬</a:t>
            </a:r>
            <a:endParaRPr lang="fa-IR" sz="1300" dirty="0"/>
          </a:p>
        </p:txBody>
      </p:sp>
      <p:sp>
        <p:nvSpPr>
          <p:cNvPr id="50" name="anim_2_1345"/>
          <p:cNvSpPr/>
          <p:nvPr/>
        </p:nvSpPr>
        <p:spPr>
          <a:xfrm>
            <a:off x="4663440" y="3328416"/>
            <a:ext cx="1828800" cy="310896"/>
          </a:xfrm>
          <a:prstGeom prst="rect">
            <a:avLst/>
          </a:prstGeom>
          <a:solidFill>
            <a:srgbClr val="EEF3F8"/>
          </a:solidFill>
          <a:ln w="9525">
            <a:solidFill>
              <a:srgbClr val="C9D3DF"/>
            </a:solidFill>
            <a:prstDash val="solid"/>
          </a:ln>
        </p:spPr>
      </p:sp>
      <p:sp>
        <p:nvSpPr>
          <p:cNvPr id="51" name="anim_2_1346"/>
          <p:cNvSpPr/>
          <p:nvPr/>
        </p:nvSpPr>
        <p:spPr>
          <a:xfrm>
            <a:off x="5098694" y="3360420"/>
            <a:ext cx="958291" cy="246888"/>
          </a:xfrm>
          <a:prstGeom prst="roundRect">
            <a:avLst>
              <a:gd name="adj" fmla="val 22222"/>
            </a:avLst>
          </a:prstGeom>
          <a:solidFill>
            <a:schemeClr val="accent1"/>
          </a:solidFill>
          <a:ln/>
        </p:spPr>
      </p:sp>
      <p:sp>
        <p:nvSpPr>
          <p:cNvPr id="52" name="anim_2_1347"/>
          <p:cNvSpPr txBox="1"/>
          <p:nvPr/>
        </p:nvSpPr>
        <p:spPr>
          <a:xfrm>
            <a:off x="5098694" y="3360420"/>
            <a:ext cx="958291"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TENURE</a:t>
            </a:r>
            <a:endParaRPr lang="en-US" sz="1100" dirty="0"/>
          </a:p>
        </p:txBody>
      </p:sp>
      <p:sp>
        <p:nvSpPr>
          <p:cNvPr id="53" name="anim_2_1348"/>
          <p:cNvSpPr/>
          <p:nvPr/>
        </p:nvSpPr>
        <p:spPr>
          <a:xfrm>
            <a:off x="3657600" y="3328416"/>
            <a:ext cx="1005840" cy="310896"/>
          </a:xfrm>
          <a:prstGeom prst="rect">
            <a:avLst/>
          </a:prstGeom>
          <a:solidFill>
            <a:srgbClr val="EEF3F8"/>
          </a:solidFill>
          <a:ln w="9525">
            <a:solidFill>
              <a:srgbClr val="C9D3DF"/>
            </a:solidFill>
            <a:prstDash val="solid"/>
          </a:ln>
        </p:spPr>
      </p:sp>
      <p:sp>
        <p:nvSpPr>
          <p:cNvPr id="54" name="anim_2_1349"/>
          <p:cNvSpPr txBox="1"/>
          <p:nvPr/>
        </p:nvSpPr>
        <p:spPr>
          <a:xfrm>
            <a:off x="369417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‪-0.0185‬</a:t>
            </a:r>
            <a:endParaRPr lang="fa-IR" sz="1300" dirty="0"/>
          </a:p>
        </p:txBody>
      </p:sp>
      <p:sp>
        <p:nvSpPr>
          <p:cNvPr id="55" name="anim_2_1350"/>
          <p:cNvSpPr/>
          <p:nvPr/>
        </p:nvSpPr>
        <p:spPr>
          <a:xfrm>
            <a:off x="2468880" y="3328416"/>
            <a:ext cx="1188720" cy="310896"/>
          </a:xfrm>
          <a:prstGeom prst="rect">
            <a:avLst/>
          </a:prstGeom>
          <a:solidFill>
            <a:srgbClr val="EEF3F8"/>
          </a:solidFill>
          <a:ln w="9525">
            <a:solidFill>
              <a:srgbClr val="C9D3DF"/>
            </a:solidFill>
            <a:prstDash val="solid"/>
          </a:ln>
        </p:spPr>
      </p:sp>
      <p:sp>
        <p:nvSpPr>
          <p:cNvPr id="56" name="anim_2_1351"/>
          <p:cNvSpPr txBox="1"/>
          <p:nvPr/>
        </p:nvSpPr>
        <p:spPr>
          <a:xfrm>
            <a:off x="2505456" y="3328416"/>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‪0.0169‬</a:t>
            </a:r>
            <a:endParaRPr lang="fa-IR" sz="1300" dirty="0"/>
          </a:p>
        </p:txBody>
      </p:sp>
      <p:sp>
        <p:nvSpPr>
          <p:cNvPr id="57" name="anim_2_1352"/>
          <p:cNvSpPr/>
          <p:nvPr/>
        </p:nvSpPr>
        <p:spPr>
          <a:xfrm>
            <a:off x="1463040" y="3328416"/>
            <a:ext cx="1005840" cy="310896"/>
          </a:xfrm>
          <a:prstGeom prst="rect">
            <a:avLst/>
          </a:prstGeom>
          <a:solidFill>
            <a:srgbClr val="EEF3F8"/>
          </a:solidFill>
          <a:ln w="9525">
            <a:solidFill>
              <a:srgbClr val="C9D3DF"/>
            </a:solidFill>
            <a:prstDash val="solid"/>
          </a:ln>
        </p:spPr>
      </p:sp>
      <p:sp>
        <p:nvSpPr>
          <p:cNvPr id="58" name="anim_2_1353"/>
          <p:cNvSpPr txBox="1"/>
          <p:nvPr/>
        </p:nvSpPr>
        <p:spPr>
          <a:xfrm>
            <a:off x="1499616" y="3328416"/>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‪-1.0977‬</a:t>
            </a:r>
            <a:endParaRPr lang="fa-IR" sz="1300" dirty="0"/>
          </a:p>
        </p:txBody>
      </p:sp>
      <p:sp>
        <p:nvSpPr>
          <p:cNvPr id="59" name="anim_2_1354"/>
          <p:cNvSpPr/>
          <p:nvPr/>
        </p:nvSpPr>
        <p:spPr>
          <a:xfrm>
            <a:off x="548640" y="3328416"/>
            <a:ext cx="914400" cy="310896"/>
          </a:xfrm>
          <a:prstGeom prst="rect">
            <a:avLst/>
          </a:prstGeom>
          <a:solidFill>
            <a:srgbClr val="EEF3F8"/>
          </a:solidFill>
          <a:ln w="9525">
            <a:solidFill>
              <a:srgbClr val="C9D3DF"/>
            </a:solidFill>
            <a:prstDash val="solid"/>
          </a:ln>
        </p:spPr>
      </p:sp>
      <p:sp>
        <p:nvSpPr>
          <p:cNvPr id="60" name="anim_2_1355"/>
          <p:cNvSpPr txBox="1"/>
          <p:nvPr/>
        </p:nvSpPr>
        <p:spPr>
          <a:xfrm>
            <a:off x="585216" y="3328416"/>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‪0.2727‬</a:t>
            </a:r>
            <a:endParaRPr lang="fa-IR" sz="1300" dirty="0"/>
          </a:p>
        </p:txBody>
      </p:sp>
      <p:sp>
        <p:nvSpPr>
          <p:cNvPr id="61" name="anim_2_1356"/>
          <p:cNvSpPr/>
          <p:nvPr/>
        </p:nvSpPr>
        <p:spPr>
          <a:xfrm>
            <a:off x="4663440" y="3639312"/>
            <a:ext cx="1828800" cy="310896"/>
          </a:xfrm>
          <a:prstGeom prst="rect">
            <a:avLst/>
          </a:prstGeom>
          <a:solidFill>
            <a:srgbClr val="FFFFFF"/>
          </a:solidFill>
          <a:ln w="9525">
            <a:solidFill>
              <a:srgbClr val="C9D3DF"/>
            </a:solidFill>
            <a:prstDash val="solid"/>
          </a:ln>
        </p:spPr>
      </p:sp>
      <p:sp>
        <p:nvSpPr>
          <p:cNvPr id="62" name="anim_2_1357"/>
          <p:cNvSpPr/>
          <p:nvPr/>
        </p:nvSpPr>
        <p:spPr>
          <a:xfrm>
            <a:off x="5294376" y="3671316"/>
            <a:ext cx="566928" cy="246888"/>
          </a:xfrm>
          <a:prstGeom prst="roundRect">
            <a:avLst>
              <a:gd name="adj" fmla="val 22222"/>
            </a:avLst>
          </a:prstGeom>
          <a:solidFill>
            <a:schemeClr val="accent1"/>
          </a:solidFill>
          <a:ln/>
        </p:spPr>
      </p:sp>
      <p:sp>
        <p:nvSpPr>
          <p:cNvPr id="63" name="anim_2_1358"/>
          <p:cNvSpPr txBox="1"/>
          <p:nvPr/>
        </p:nvSpPr>
        <p:spPr>
          <a:xfrm>
            <a:off x="5294376" y="3671316"/>
            <a:ext cx="566928" cy="246888"/>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C</a:t>
            </a:r>
            <a:endParaRPr lang="en-US" sz="1100" dirty="0"/>
          </a:p>
        </p:txBody>
      </p:sp>
      <p:sp>
        <p:nvSpPr>
          <p:cNvPr id="64" name="anim_2_1359"/>
          <p:cNvSpPr/>
          <p:nvPr/>
        </p:nvSpPr>
        <p:spPr>
          <a:xfrm>
            <a:off x="3657600" y="3639312"/>
            <a:ext cx="1005840" cy="310896"/>
          </a:xfrm>
          <a:prstGeom prst="rect">
            <a:avLst/>
          </a:prstGeom>
          <a:solidFill>
            <a:srgbClr val="FFFFFF"/>
          </a:solidFill>
          <a:ln w="9525">
            <a:solidFill>
              <a:srgbClr val="C9D3DF"/>
            </a:solidFill>
            <a:prstDash val="solid"/>
          </a:ln>
        </p:spPr>
      </p:sp>
      <p:sp>
        <p:nvSpPr>
          <p:cNvPr id="65" name="anim_2_1360"/>
          <p:cNvSpPr txBox="1"/>
          <p:nvPr/>
        </p:nvSpPr>
        <p:spPr>
          <a:xfrm>
            <a:off x="369417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‪0.1069‬</a:t>
            </a:r>
            <a:endParaRPr lang="fa-IR" sz="1300" dirty="0"/>
          </a:p>
        </p:txBody>
      </p:sp>
      <p:sp>
        <p:nvSpPr>
          <p:cNvPr id="66" name="anim_2_1361"/>
          <p:cNvSpPr/>
          <p:nvPr/>
        </p:nvSpPr>
        <p:spPr>
          <a:xfrm>
            <a:off x="2468880" y="3639312"/>
            <a:ext cx="1188720" cy="310896"/>
          </a:xfrm>
          <a:prstGeom prst="rect">
            <a:avLst/>
          </a:prstGeom>
          <a:solidFill>
            <a:srgbClr val="FFFFFF"/>
          </a:solidFill>
          <a:ln w="9525">
            <a:solidFill>
              <a:srgbClr val="C9D3DF"/>
            </a:solidFill>
            <a:prstDash val="solid"/>
          </a:ln>
        </p:spPr>
      </p:sp>
      <p:sp>
        <p:nvSpPr>
          <p:cNvPr id="67" name="anim_2_1362"/>
          <p:cNvSpPr txBox="1"/>
          <p:nvPr/>
        </p:nvSpPr>
        <p:spPr>
          <a:xfrm>
            <a:off x="2505456" y="3639312"/>
            <a:ext cx="111556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‪0.0638‬</a:t>
            </a:r>
            <a:endParaRPr lang="fa-IR" sz="1300" dirty="0"/>
          </a:p>
        </p:txBody>
      </p:sp>
      <p:sp>
        <p:nvSpPr>
          <p:cNvPr id="68" name="anim_2_1363"/>
          <p:cNvSpPr/>
          <p:nvPr/>
        </p:nvSpPr>
        <p:spPr>
          <a:xfrm>
            <a:off x="1463040" y="3639312"/>
            <a:ext cx="1005840" cy="310896"/>
          </a:xfrm>
          <a:prstGeom prst="rect">
            <a:avLst/>
          </a:prstGeom>
          <a:solidFill>
            <a:srgbClr val="FFFFFF"/>
          </a:solidFill>
          <a:ln w="9525">
            <a:solidFill>
              <a:srgbClr val="C9D3DF"/>
            </a:solidFill>
            <a:prstDash val="solid"/>
          </a:ln>
        </p:spPr>
      </p:sp>
      <p:sp>
        <p:nvSpPr>
          <p:cNvPr id="69" name="anim_2_1364"/>
          <p:cNvSpPr txBox="1"/>
          <p:nvPr/>
        </p:nvSpPr>
        <p:spPr>
          <a:xfrm>
            <a:off x="1499616" y="3639312"/>
            <a:ext cx="93268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‪1.6736‬</a:t>
            </a:r>
            <a:endParaRPr lang="fa-IR" sz="1300" dirty="0"/>
          </a:p>
        </p:txBody>
      </p:sp>
      <p:sp>
        <p:nvSpPr>
          <p:cNvPr id="70" name="anim_2_1365"/>
          <p:cNvSpPr/>
          <p:nvPr/>
        </p:nvSpPr>
        <p:spPr>
          <a:xfrm>
            <a:off x="548640" y="3639312"/>
            <a:ext cx="914400" cy="310896"/>
          </a:xfrm>
          <a:prstGeom prst="rect">
            <a:avLst/>
          </a:prstGeom>
          <a:solidFill>
            <a:srgbClr val="FFFFFF"/>
          </a:solidFill>
          <a:ln w="9525">
            <a:solidFill>
              <a:srgbClr val="C9D3DF"/>
            </a:solidFill>
            <a:prstDash val="solid"/>
          </a:ln>
        </p:spPr>
      </p:sp>
      <p:sp>
        <p:nvSpPr>
          <p:cNvPr id="71" name="anim_2_1366"/>
          <p:cNvSpPr txBox="1"/>
          <p:nvPr/>
        </p:nvSpPr>
        <p:spPr>
          <a:xfrm>
            <a:off x="585216" y="3639312"/>
            <a:ext cx="841248" cy="310896"/>
          </a:xfrm>
          <a:prstGeom prst="rect">
            <a:avLst/>
          </a:prstGeom>
          <a:noFill/>
          <a:ln/>
        </p:spPr>
        <p:txBody>
          <a:bodyPr wrap="square" lIns="254" tIns="254" rIns="254" bIns="254" rtlCol="0" anchor="ctr"/>
          <a:lstStyle/>
          <a:p>
            <a:pPr rtl="1" algn="ctr" indent="0" marL="0">
              <a:buNone/>
            </a:pPr>
            <a:r>
              <a:rPr lang="fa-IR" altLang="en-US" sz="1300" dirty="0">
                <a:solidFill>
                  <a:schemeClr val="tx1"/>
                </a:solidFill>
                <a:latin typeface="B Nazanin" pitchFamily="34" charset="0"/>
                <a:ea typeface="B Nazanin" pitchFamily="34" charset="-122"/>
                <a:cs typeface="B Nazanin" pitchFamily="34" charset="-120"/>
              </a:rPr>
              <a:t>‪0.0947‬</a:t>
            </a:r>
            <a:endParaRPr lang="fa-IR" sz="1300" dirty="0"/>
          </a:p>
        </p:txBody>
      </p:sp>
      <p:sp>
        <p:nvSpPr>
          <p:cNvPr id="72" name="anim_3_1367"/>
          <p:cNvSpPr/>
          <p:nvPr/>
        </p:nvSpPr>
        <p:spPr>
          <a:xfrm>
            <a:off x="5577840" y="4041648"/>
            <a:ext cx="914400" cy="310896"/>
          </a:xfrm>
          <a:prstGeom prst="rect">
            <a:avLst/>
          </a:prstGeom>
          <a:solidFill>
            <a:schemeClr val="tx2"/>
          </a:solidFill>
          <a:ln w="9525">
            <a:solidFill>
              <a:srgbClr val="C9D3DF"/>
            </a:solidFill>
            <a:prstDash val="solid"/>
          </a:ln>
        </p:spPr>
      </p:sp>
      <p:sp>
        <p:nvSpPr>
          <p:cNvPr id="73" name="anim_3_1368"/>
          <p:cNvSpPr txBox="1"/>
          <p:nvPr/>
        </p:nvSpPr>
        <p:spPr>
          <a:xfrm>
            <a:off x="5614416" y="4041648"/>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a:t>
            </a:r>
            <a:endParaRPr lang="fa-IR" sz="1200" dirty="0"/>
          </a:p>
        </p:txBody>
      </p:sp>
      <p:sp>
        <p:nvSpPr>
          <p:cNvPr id="74" name="anim_3_1369"/>
          <p:cNvSpPr/>
          <p:nvPr/>
        </p:nvSpPr>
        <p:spPr>
          <a:xfrm>
            <a:off x="4663440" y="4041648"/>
            <a:ext cx="914400" cy="310896"/>
          </a:xfrm>
          <a:prstGeom prst="rect">
            <a:avLst/>
          </a:prstGeom>
          <a:solidFill>
            <a:schemeClr val="tx2"/>
          </a:solidFill>
          <a:ln w="9525">
            <a:solidFill>
              <a:srgbClr val="C9D3DF"/>
            </a:solidFill>
            <a:prstDash val="solid"/>
          </a:ln>
        </p:spPr>
      </p:sp>
      <p:sp>
        <p:nvSpPr>
          <p:cNvPr id="75" name="anim_3_1370"/>
          <p:cNvSpPr txBox="1"/>
          <p:nvPr/>
        </p:nvSpPr>
        <p:spPr>
          <a:xfrm>
            <a:off x="4700016" y="4041648"/>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R² تعدیل</a:t>
            </a:r>
            <a:endParaRPr lang="fa-IR" sz="1200" dirty="0"/>
          </a:p>
        </p:txBody>
      </p:sp>
      <p:sp>
        <p:nvSpPr>
          <p:cNvPr id="76" name="anim_3_1371"/>
          <p:cNvSpPr/>
          <p:nvPr/>
        </p:nvSpPr>
        <p:spPr>
          <a:xfrm>
            <a:off x="3657600" y="4041648"/>
            <a:ext cx="1005840" cy="310896"/>
          </a:xfrm>
          <a:prstGeom prst="rect">
            <a:avLst/>
          </a:prstGeom>
          <a:solidFill>
            <a:schemeClr val="tx2"/>
          </a:solidFill>
          <a:ln w="9525">
            <a:solidFill>
              <a:srgbClr val="C9D3DF"/>
            </a:solidFill>
            <a:prstDash val="solid"/>
          </a:ln>
        </p:spPr>
      </p:sp>
      <p:sp>
        <p:nvSpPr>
          <p:cNvPr id="77" name="anim_3_1372"/>
          <p:cNvSpPr txBox="1"/>
          <p:nvPr/>
        </p:nvSpPr>
        <p:spPr>
          <a:xfrm>
            <a:off x="3694176" y="4041648"/>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D-W</a:t>
            </a:r>
            <a:endParaRPr lang="fa-IR" sz="1200" dirty="0"/>
          </a:p>
        </p:txBody>
      </p:sp>
      <p:sp>
        <p:nvSpPr>
          <p:cNvPr id="78" name="anim_3_1373"/>
          <p:cNvSpPr/>
          <p:nvPr/>
        </p:nvSpPr>
        <p:spPr>
          <a:xfrm>
            <a:off x="2743200" y="4041648"/>
            <a:ext cx="914400" cy="310896"/>
          </a:xfrm>
          <a:prstGeom prst="rect">
            <a:avLst/>
          </a:prstGeom>
          <a:solidFill>
            <a:schemeClr val="tx2"/>
          </a:solidFill>
          <a:ln w="9525">
            <a:solidFill>
              <a:srgbClr val="C9D3DF"/>
            </a:solidFill>
            <a:prstDash val="solid"/>
          </a:ln>
        </p:spPr>
      </p:sp>
      <p:sp>
        <p:nvSpPr>
          <p:cNvPr id="79" name="anim_3_1374"/>
          <p:cNvSpPr txBox="1"/>
          <p:nvPr/>
        </p:nvSpPr>
        <p:spPr>
          <a:xfrm>
            <a:off x="2779776" y="4041648"/>
            <a:ext cx="84124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آمارهٔ F</a:t>
            </a:r>
            <a:endParaRPr lang="fa-IR" sz="1200" dirty="0"/>
          </a:p>
        </p:txBody>
      </p:sp>
      <p:sp>
        <p:nvSpPr>
          <p:cNvPr id="80" name="anim_3_1375"/>
          <p:cNvSpPr/>
          <p:nvPr/>
        </p:nvSpPr>
        <p:spPr>
          <a:xfrm>
            <a:off x="1737360" y="4041648"/>
            <a:ext cx="1005840" cy="310896"/>
          </a:xfrm>
          <a:prstGeom prst="rect">
            <a:avLst/>
          </a:prstGeom>
          <a:solidFill>
            <a:schemeClr val="tx2"/>
          </a:solidFill>
          <a:ln w="9525">
            <a:solidFill>
              <a:srgbClr val="C9D3DF"/>
            </a:solidFill>
            <a:prstDash val="solid"/>
          </a:ln>
        </p:spPr>
      </p:sp>
      <p:sp>
        <p:nvSpPr>
          <p:cNvPr id="81" name="anim_3_1376"/>
          <p:cNvSpPr txBox="1"/>
          <p:nvPr/>
        </p:nvSpPr>
        <p:spPr>
          <a:xfrm>
            <a:off x="1773936" y="4041648"/>
            <a:ext cx="93268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Prob(F)</a:t>
            </a:r>
            <a:endParaRPr lang="fa-IR" sz="1200" dirty="0"/>
          </a:p>
        </p:txBody>
      </p:sp>
      <p:sp>
        <p:nvSpPr>
          <p:cNvPr id="82" name="anim_3_1377"/>
          <p:cNvSpPr/>
          <p:nvPr/>
        </p:nvSpPr>
        <p:spPr>
          <a:xfrm>
            <a:off x="548640" y="4041648"/>
            <a:ext cx="1188720" cy="310896"/>
          </a:xfrm>
          <a:prstGeom prst="rect">
            <a:avLst/>
          </a:prstGeom>
          <a:solidFill>
            <a:schemeClr val="tx2"/>
          </a:solidFill>
          <a:ln w="9525">
            <a:solidFill>
              <a:srgbClr val="C9D3DF"/>
            </a:solidFill>
            <a:prstDash val="solid"/>
          </a:ln>
        </p:spPr>
      </p:sp>
      <p:sp>
        <p:nvSpPr>
          <p:cNvPr id="83" name="anim_3_1378"/>
          <p:cNvSpPr txBox="1"/>
          <p:nvPr/>
        </p:nvSpPr>
        <p:spPr>
          <a:xfrm>
            <a:off x="585216" y="4041648"/>
            <a:ext cx="1115568" cy="310896"/>
          </a:xfrm>
          <a:prstGeom prst="rect">
            <a:avLst/>
          </a:prstGeom>
          <a:noFill/>
          <a:ln/>
        </p:spPr>
        <p:txBody>
          <a:bodyPr wrap="square" lIns="254" tIns="254" rIns="254" bIns="254" rtlCol="0" anchor="ctr"/>
          <a:lstStyle/>
          <a:p>
            <a:pPr rtl="1" algn="ctr" indent="0" marL="0">
              <a:buNone/>
            </a:pPr>
            <a:r>
              <a:rPr lang="fa-IR" altLang="en-US" sz="1200" b="1" dirty="0">
                <a:solidFill>
                  <a:schemeClr val="bg1"/>
                </a:solidFill>
                <a:latin typeface="B Nazanin" pitchFamily="34" charset="0"/>
                <a:ea typeface="B Nazanin" pitchFamily="34" charset="-122"/>
                <a:cs typeface="B Nazanin" pitchFamily="34" charset="-120"/>
              </a:rPr>
              <a:t>مشاهده/مقطع</a:t>
            </a:r>
            <a:endParaRPr lang="fa-IR" sz="1200" dirty="0"/>
          </a:p>
        </p:txBody>
      </p:sp>
      <p:sp>
        <p:nvSpPr>
          <p:cNvPr id="84" name="anim_3_1379"/>
          <p:cNvSpPr/>
          <p:nvPr/>
        </p:nvSpPr>
        <p:spPr>
          <a:xfrm>
            <a:off x="5577840" y="4352544"/>
            <a:ext cx="914400" cy="310896"/>
          </a:xfrm>
          <a:prstGeom prst="rect">
            <a:avLst/>
          </a:prstGeom>
          <a:solidFill>
            <a:srgbClr val="FFFFFF"/>
          </a:solidFill>
          <a:ln w="9525">
            <a:solidFill>
              <a:srgbClr val="C9D3DF"/>
            </a:solidFill>
            <a:prstDash val="solid"/>
          </a:ln>
        </p:spPr>
      </p:sp>
      <p:sp>
        <p:nvSpPr>
          <p:cNvPr id="85" name="anim_3_1380"/>
          <p:cNvSpPr txBox="1"/>
          <p:nvPr/>
        </p:nvSpPr>
        <p:spPr>
          <a:xfrm>
            <a:off x="5614416" y="4352544"/>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‪0.2859‬</a:t>
            </a:r>
            <a:endParaRPr lang="fa-IR" sz="1200" dirty="0"/>
          </a:p>
        </p:txBody>
      </p:sp>
      <p:sp>
        <p:nvSpPr>
          <p:cNvPr id="86" name="anim_3_1381"/>
          <p:cNvSpPr/>
          <p:nvPr/>
        </p:nvSpPr>
        <p:spPr>
          <a:xfrm>
            <a:off x="4663440" y="4352544"/>
            <a:ext cx="914400" cy="310896"/>
          </a:xfrm>
          <a:prstGeom prst="rect">
            <a:avLst/>
          </a:prstGeom>
          <a:solidFill>
            <a:srgbClr val="FFFFFF"/>
          </a:solidFill>
          <a:ln w="9525">
            <a:solidFill>
              <a:srgbClr val="C9D3DF"/>
            </a:solidFill>
            <a:prstDash val="solid"/>
          </a:ln>
        </p:spPr>
      </p:sp>
      <p:sp>
        <p:nvSpPr>
          <p:cNvPr id="87" name="anim_3_1382"/>
          <p:cNvSpPr txBox="1"/>
          <p:nvPr/>
        </p:nvSpPr>
        <p:spPr>
          <a:xfrm>
            <a:off x="4700016" y="4352544"/>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‪0.2636‬</a:t>
            </a:r>
            <a:endParaRPr lang="fa-IR" sz="1200" dirty="0"/>
          </a:p>
        </p:txBody>
      </p:sp>
      <p:sp>
        <p:nvSpPr>
          <p:cNvPr id="88" name="anim_3_1383"/>
          <p:cNvSpPr/>
          <p:nvPr/>
        </p:nvSpPr>
        <p:spPr>
          <a:xfrm>
            <a:off x="3657600" y="4352544"/>
            <a:ext cx="1005840" cy="310896"/>
          </a:xfrm>
          <a:prstGeom prst="rect">
            <a:avLst/>
          </a:prstGeom>
          <a:solidFill>
            <a:srgbClr val="FFFFFF"/>
          </a:solidFill>
          <a:ln w="9525">
            <a:solidFill>
              <a:srgbClr val="C9D3DF"/>
            </a:solidFill>
            <a:prstDash val="solid"/>
          </a:ln>
        </p:spPr>
      </p:sp>
      <p:sp>
        <p:nvSpPr>
          <p:cNvPr id="89" name="anim_3_1384"/>
          <p:cNvSpPr txBox="1"/>
          <p:nvPr/>
        </p:nvSpPr>
        <p:spPr>
          <a:xfrm>
            <a:off x="3694176" y="4352544"/>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‪1.8191‬</a:t>
            </a:r>
            <a:endParaRPr lang="fa-IR" sz="1200" dirty="0"/>
          </a:p>
        </p:txBody>
      </p:sp>
      <p:sp>
        <p:nvSpPr>
          <p:cNvPr id="90" name="anim_3_1385"/>
          <p:cNvSpPr/>
          <p:nvPr/>
        </p:nvSpPr>
        <p:spPr>
          <a:xfrm>
            <a:off x="2743200" y="4352544"/>
            <a:ext cx="914400" cy="310896"/>
          </a:xfrm>
          <a:prstGeom prst="rect">
            <a:avLst/>
          </a:prstGeom>
          <a:solidFill>
            <a:srgbClr val="FFFFFF"/>
          </a:solidFill>
          <a:ln w="9525">
            <a:solidFill>
              <a:srgbClr val="C9D3DF"/>
            </a:solidFill>
            <a:prstDash val="solid"/>
          </a:ln>
        </p:spPr>
      </p:sp>
      <p:sp>
        <p:nvSpPr>
          <p:cNvPr id="91" name="anim_3_1386"/>
          <p:cNvSpPr txBox="1"/>
          <p:nvPr/>
        </p:nvSpPr>
        <p:spPr>
          <a:xfrm>
            <a:off x="2779776" y="4352544"/>
            <a:ext cx="84124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‪3.0678‬</a:t>
            </a:r>
            <a:endParaRPr lang="fa-IR" sz="1200" dirty="0"/>
          </a:p>
        </p:txBody>
      </p:sp>
      <p:sp>
        <p:nvSpPr>
          <p:cNvPr id="92" name="anim_3_1387"/>
          <p:cNvSpPr/>
          <p:nvPr/>
        </p:nvSpPr>
        <p:spPr>
          <a:xfrm>
            <a:off x="1737360" y="4352544"/>
            <a:ext cx="1005840" cy="310896"/>
          </a:xfrm>
          <a:prstGeom prst="rect">
            <a:avLst/>
          </a:prstGeom>
          <a:solidFill>
            <a:srgbClr val="FFFFFF"/>
          </a:solidFill>
          <a:ln w="9525">
            <a:solidFill>
              <a:srgbClr val="C9D3DF"/>
            </a:solidFill>
            <a:prstDash val="solid"/>
          </a:ln>
        </p:spPr>
      </p:sp>
      <p:sp>
        <p:nvSpPr>
          <p:cNvPr id="93" name="anim_3_1388"/>
          <p:cNvSpPr txBox="1"/>
          <p:nvPr/>
        </p:nvSpPr>
        <p:spPr>
          <a:xfrm>
            <a:off x="1773936" y="4352544"/>
            <a:ext cx="93268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‪0.0013‬</a:t>
            </a:r>
            <a:endParaRPr lang="fa-IR" sz="1200" dirty="0"/>
          </a:p>
        </p:txBody>
      </p:sp>
      <p:sp>
        <p:nvSpPr>
          <p:cNvPr id="94" name="anim_3_1389"/>
          <p:cNvSpPr/>
          <p:nvPr/>
        </p:nvSpPr>
        <p:spPr>
          <a:xfrm>
            <a:off x="548640" y="4352544"/>
            <a:ext cx="1188720" cy="310896"/>
          </a:xfrm>
          <a:prstGeom prst="rect">
            <a:avLst/>
          </a:prstGeom>
          <a:solidFill>
            <a:srgbClr val="FFFFFF"/>
          </a:solidFill>
          <a:ln w="9525">
            <a:solidFill>
              <a:srgbClr val="C9D3DF"/>
            </a:solidFill>
            <a:prstDash val="solid"/>
          </a:ln>
        </p:spPr>
      </p:sp>
      <p:sp>
        <p:nvSpPr>
          <p:cNvPr id="95" name="anim_3_1390"/>
          <p:cNvSpPr txBox="1"/>
          <p:nvPr/>
        </p:nvSpPr>
        <p:spPr>
          <a:xfrm>
            <a:off x="585216" y="4352544"/>
            <a:ext cx="1115568" cy="310896"/>
          </a:xfrm>
          <a:prstGeom prst="rect">
            <a:avLst/>
          </a:prstGeom>
          <a:noFill/>
          <a:ln/>
        </p:spPr>
        <p:txBody>
          <a:bodyPr wrap="square" lIns="254" tIns="254" rIns="254" bIns="254" rtlCol="0" anchor="ctr"/>
          <a:lstStyle/>
          <a:p>
            <a:pPr rtl="1" algn="ctr" indent="0" marL="0">
              <a:buNone/>
            </a:pPr>
            <a:r>
              <a:rPr lang="fa-IR" altLang="en-US" sz="1200" dirty="0">
                <a:solidFill>
                  <a:schemeClr val="tx1"/>
                </a:solidFill>
                <a:latin typeface="B Nazanin" pitchFamily="34" charset="0"/>
                <a:ea typeface="B Nazanin" pitchFamily="34" charset="-122"/>
                <a:cs typeface="B Nazanin" pitchFamily="34" charset="-120"/>
              </a:rPr>
              <a:t>‪844 / 135‬</a:t>
            </a:r>
            <a:endParaRPr lang="fa-IR" sz="1200" dirty="0"/>
          </a:p>
        </p:txBody>
      </p:sp>
      <p:sp>
        <p:nvSpPr>
          <p:cNvPr id="96" name="anim_4_1391"/>
          <p:cNvSpPr/>
          <p:nvPr/>
        </p:nvSpPr>
        <p:spPr>
          <a:xfrm>
            <a:off x="548640" y="4754880"/>
            <a:ext cx="5943600" cy="1554480"/>
          </a:xfrm>
          <a:prstGeom prst="roundRect">
            <a:avLst>
              <a:gd name="adj" fmla="val 7059"/>
            </a:avLst>
          </a:prstGeom>
          <a:solidFill>
            <a:schemeClr val="bg2"/>
          </a:solidFill>
          <a:ln/>
          <a:effectLst>
            <a:outerShdw sx="100000" sy="100000" kx="0" ky="0" algn="bl" rotWithShape="0" blurRad="101600" dist="25400" dir="5400000">
              <a:srgbClr val="000000">
                <a:alpha val="12000"/>
              </a:srgbClr>
            </a:outerShdw>
          </a:effectLst>
        </p:spPr>
      </p:sp>
      <p:sp>
        <p:nvSpPr>
          <p:cNvPr id="97" name="anim_4_1392"/>
          <p:cNvSpPr txBox="1"/>
          <p:nvPr/>
        </p:nvSpPr>
        <p:spPr>
          <a:xfrm>
            <a:off x="731520" y="4782312"/>
            <a:ext cx="5577840" cy="1499616"/>
          </a:xfrm>
          <a:prstGeom prst="rect">
            <a:avLst/>
          </a:prstGeom>
          <a:noFill/>
          <a:ln/>
        </p:spPr>
        <p:txBody>
          <a:bodyPr wrap="square" lIns="0" tIns="0" rIns="0" bIns="0" rtlCol="0" anchor="ctr"/>
          <a:lstStyle/>
          <a:p>
            <a:pPr rtl="1" algn="r" indent="0" marL="0">
              <a:buNone/>
            </a:pPr>
            <a:r>
              <a:rPr lang="fa-IR" altLang="en-US" sz="1500" b="1" dirty="0">
                <a:solidFill>
                  <a:schemeClr val="tx2"/>
                </a:solidFill>
                <a:latin typeface="B Nazanin" pitchFamily="34" charset="0"/>
                <a:ea typeface="B Nazanin" pitchFamily="34" charset="-122"/>
                <a:cs typeface="B Nazanin" pitchFamily="34" charset="-120"/>
              </a:rPr>
              <a:t>بازیابی حق‌الزحمه لزوماً به معنای افت کیفیت نیست؛ حسابرسان در مرحلهٔ بازیابی، کیفیت را قربانی فشار اقتصادی نمی‌کنند.</a:t>
            </a:r>
            <a:endParaRPr lang="fa-IR" sz="1500" dirty="0"/>
          </a:p>
        </p:txBody>
      </p:sp>
      <p:sp>
        <p:nvSpPr>
          <p:cNvPr id="98" name="anim_5_1393"/>
          <p:cNvSpPr/>
          <p:nvPr/>
        </p:nvSpPr>
        <p:spPr>
          <a:xfrm>
            <a:off x="6720840" y="2084832"/>
            <a:ext cx="4919472" cy="3017520"/>
          </a:xfrm>
          <a:prstGeom prst="roundRect">
            <a:avLst>
              <a:gd name="adj" fmla="val 3636"/>
            </a:avLst>
          </a:prstGeom>
          <a:solidFill>
            <a:schemeClr val="bg2"/>
          </a:solidFill>
          <a:ln/>
          <a:effectLst>
            <a:outerShdw sx="100000" sy="100000" kx="0" ky="0" algn="bl" rotWithShape="0" blurRad="101600" dist="25400" dir="5400000">
              <a:srgbClr val="000000">
                <a:alpha val="12000"/>
              </a:srgbClr>
            </a:outerShdw>
          </a:effectLst>
        </p:spPr>
      </p:sp>
      <p:sp>
        <p:nvSpPr>
          <p:cNvPr id="99" name="anim_5_1394"/>
          <p:cNvSpPr txBox="1"/>
          <p:nvPr/>
        </p:nvSpPr>
        <p:spPr>
          <a:xfrm>
            <a:off x="6858000" y="2130552"/>
            <a:ext cx="4663440" cy="2926080"/>
          </a:xfrm>
          <a:prstGeom prst="rect">
            <a:avLst/>
          </a:prstGeom>
          <a:noFill/>
          <a:ln/>
        </p:spPr>
        <p:txBody>
          <a:bodyPr wrap="square" lIns="0" tIns="0" rIns="0" bIns="0" rtlCol="0" anchor="t"/>
          <a:lstStyle/>
          <a:p>
            <a:pPr algn="r" indent="0" marL="0">
              <a:spcAft>
                <a:spcPts val="300"/>
              </a:spcAft>
              <a:buNone/>
            </a:pPr>
            <a:r>
              <a:rPr lang="fa-IR" altLang="en-US" sz="1600" b="1" dirty="0">
                <a:solidFill>
                  <a:schemeClr val="accent1"/>
                </a:solidFill>
                <a:latin typeface="B Nazanin" pitchFamily="34" charset="0"/>
                <a:ea typeface="B Nazanin" pitchFamily="34" charset="-122"/>
                <a:cs typeface="B Nazanin" pitchFamily="34" charset="-120"/>
              </a:rPr>
              <a:t>تفسیر نتیجه</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ضریب فشار هزینه‌ای حسابرس 0.027 و غیرمعنادار است (احتمال 0.4108)؛ فرضیه تأیید می‌شود</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توضیح: شهرت، سیستم‌های کنترل کیفیت و نظارت حرفه‌ای مانع افت کیفیت می‌شوند</a:t>
            </a:r>
            <a:endParaRPr lang="fa-IR" sz="1400" dirty="0"/>
          </a:p>
          <a:p>
            <a:pPr algn="r" marL="342900" indent="-342900">
              <a:spcAft>
                <a:spcPts val="300"/>
              </a:spcAft>
              <a:buSzPct val="100000"/>
              <a:buChar char="•"/>
            </a:pPr>
            <a:r>
              <a:rPr lang="fa-IR" altLang="en-US" sz="1400" dirty="0">
                <a:solidFill>
                  <a:schemeClr val="tx1"/>
                </a:solidFill>
                <a:latin typeface="B Nazanin" pitchFamily="34" charset="0"/>
                <a:ea typeface="B Nazanin" pitchFamily="34" charset="-122"/>
                <a:cs typeface="B Nazanin" pitchFamily="34" charset="-120"/>
              </a:rPr>
              <a:t>مدل در کل معنادار است؛ تنها اندازهٔ شرکت اثر معنادار دارد</a:t>
            </a:r>
            <a:endParaRPr lang="fa-IR" sz="1400" dirty="0"/>
          </a:p>
        </p:txBody>
      </p:sp>
      <p:sp>
        <p:nvSpPr>
          <p:cNvPr id="100" name="anim_6_1395"/>
          <p:cNvSpPr/>
          <p:nvPr/>
        </p:nvSpPr>
        <p:spPr>
          <a:xfrm>
            <a:off x="6720840" y="5193792"/>
            <a:ext cx="4919472" cy="1115568"/>
          </a:xfrm>
          <a:prstGeom prst="roundRect">
            <a:avLst>
              <a:gd name="adj" fmla="val 9836"/>
            </a:avLst>
          </a:prstGeom>
          <a:solidFill>
            <a:schemeClr val="bg2"/>
          </a:solidFill>
          <a:ln/>
          <a:effectLst>
            <a:outerShdw sx="100000" sy="100000" kx="0" ky="0" algn="bl" rotWithShape="0" blurRad="101600" dist="25400" dir="5400000">
              <a:srgbClr val="000000">
                <a:alpha val="12000"/>
              </a:srgbClr>
            </a:outerShdw>
          </a:effectLst>
        </p:spPr>
      </p:sp>
      <p:sp>
        <p:nvSpPr>
          <p:cNvPr id="101" name="anim_6_1396"/>
          <p:cNvSpPr txBox="1"/>
          <p:nvPr/>
        </p:nvSpPr>
        <p:spPr>
          <a:xfrm>
            <a:off x="6858000" y="5212080"/>
            <a:ext cx="4663440" cy="1078992"/>
          </a:xfrm>
          <a:prstGeom prst="rect">
            <a:avLst/>
          </a:prstGeom>
          <a:noFill/>
          <a:ln/>
        </p:spPr>
        <p:txBody>
          <a:bodyPr wrap="square" lIns="0" tIns="0" rIns="0" bIns="0" rtlCol="0" anchor="t"/>
          <a:lstStyle/>
          <a:p>
            <a:pPr algn="r" indent="0" marL="0">
              <a:spcAft>
                <a:spcPts val="100"/>
              </a:spcAft>
              <a:buNone/>
            </a:pPr>
            <a:r>
              <a:rPr lang="fa-IR" altLang="en-US" sz="1500" b="1" dirty="0">
                <a:solidFill>
                  <a:schemeClr val="accent3"/>
                </a:solidFill>
                <a:latin typeface="B Nazanin" pitchFamily="34" charset="0"/>
                <a:ea typeface="B Nazanin" pitchFamily="34" charset="-122"/>
                <a:cs typeface="B Nazanin" pitchFamily="34" charset="-120"/>
              </a:rPr>
              <a:t>مقایسه با پیشینه</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همسو: چو و همکاران (2020)، کروب و همکاران (2014)، کریشنان و تانی (2020) و امر و یوآن (2025)</a:t>
            </a:r>
            <a:endParaRPr lang="fa-IR" sz="1300" dirty="0"/>
          </a:p>
          <a:p>
            <a:pPr algn="r" marL="342900" indent="-342900">
              <a:spcAft>
                <a:spcPts val="200"/>
              </a:spcAft>
              <a:buSzPct val="100000"/>
              <a:buChar char="•"/>
            </a:pPr>
            <a:r>
              <a:rPr lang="fa-IR" altLang="en-US" sz="1300" dirty="0">
                <a:solidFill>
                  <a:schemeClr val="tx1"/>
                </a:solidFill>
                <a:latin typeface="B Nazanin" pitchFamily="34" charset="0"/>
                <a:ea typeface="B Nazanin" pitchFamily="34" charset="-122"/>
                <a:cs typeface="B Nazanin" pitchFamily="34" charset="-120"/>
              </a:rPr>
              <a:t>ناهمسو: سلیمانی و شکریان (1400) با معیار افشای تحریف و تقلب</a:t>
            </a:r>
            <a:endParaRPr lang="fa-IR" sz="13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24</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01"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3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3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3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3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3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3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3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35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3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35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35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35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35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3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35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35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3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3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35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3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35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35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35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35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35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35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35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35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35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35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35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35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35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35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35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35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35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35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35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35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35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35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35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35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35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35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35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35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35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35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35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35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35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35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35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35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70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70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70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70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70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70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70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70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70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70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70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70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par>
                                <p:cTn id="247" presetID="10" presetClass="entr" presetSubtype="0" fill="hold" nodeType="withEffect">
                                  <p:stCondLst>
                                    <p:cond delay="70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600"/>
                                        <p:tgtEl>
                                          <p:spTgt spid="84"/>
                                        </p:tgtEl>
                                      </p:cBhvr>
                                    </p:animEffect>
                                  </p:childTnLst>
                                </p:cTn>
                              </p:par>
                              <p:par>
                                <p:cTn id="250" presetID="10" presetClass="entr" presetSubtype="0" fill="hold" nodeType="withEffect">
                                  <p:stCondLst>
                                    <p:cond delay="70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600"/>
                                        <p:tgtEl>
                                          <p:spTgt spid="85"/>
                                        </p:tgtEl>
                                      </p:cBhvr>
                                    </p:animEffect>
                                  </p:childTnLst>
                                </p:cTn>
                              </p:par>
                              <p:par>
                                <p:cTn id="253" presetID="10" presetClass="entr" presetSubtype="0" fill="hold" nodeType="withEffect">
                                  <p:stCondLst>
                                    <p:cond delay="70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600"/>
                                        <p:tgtEl>
                                          <p:spTgt spid="86"/>
                                        </p:tgtEl>
                                      </p:cBhvr>
                                    </p:animEffect>
                                  </p:childTnLst>
                                </p:cTn>
                              </p:par>
                              <p:par>
                                <p:cTn id="256" presetID="10" presetClass="entr" presetSubtype="0" fill="hold" nodeType="withEffect">
                                  <p:stCondLst>
                                    <p:cond delay="70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600"/>
                                        <p:tgtEl>
                                          <p:spTgt spid="87"/>
                                        </p:tgtEl>
                                      </p:cBhvr>
                                    </p:animEffect>
                                  </p:childTnLst>
                                </p:cTn>
                              </p:par>
                              <p:par>
                                <p:cTn id="259" presetID="10" presetClass="entr" presetSubtype="0" fill="hold" nodeType="withEffect">
                                  <p:stCondLst>
                                    <p:cond delay="70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600"/>
                                        <p:tgtEl>
                                          <p:spTgt spid="88"/>
                                        </p:tgtEl>
                                      </p:cBhvr>
                                    </p:animEffect>
                                  </p:childTnLst>
                                </p:cTn>
                              </p:par>
                              <p:par>
                                <p:cTn id="262" presetID="10" presetClass="entr" presetSubtype="0" fill="hold" nodeType="withEffect">
                                  <p:stCondLst>
                                    <p:cond delay="70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600"/>
                                        <p:tgtEl>
                                          <p:spTgt spid="89"/>
                                        </p:tgtEl>
                                      </p:cBhvr>
                                    </p:animEffect>
                                  </p:childTnLst>
                                </p:cTn>
                              </p:par>
                              <p:par>
                                <p:cTn id="265" presetID="10" presetClass="entr" presetSubtype="0" fill="hold" nodeType="withEffect">
                                  <p:stCondLst>
                                    <p:cond delay="70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600"/>
                                        <p:tgtEl>
                                          <p:spTgt spid="90"/>
                                        </p:tgtEl>
                                      </p:cBhvr>
                                    </p:animEffect>
                                  </p:childTnLst>
                                </p:cTn>
                              </p:par>
                              <p:par>
                                <p:cTn id="268" presetID="10" presetClass="entr" presetSubtype="0" fill="hold" nodeType="withEffect">
                                  <p:stCondLst>
                                    <p:cond delay="70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600"/>
                                        <p:tgtEl>
                                          <p:spTgt spid="91"/>
                                        </p:tgtEl>
                                      </p:cBhvr>
                                    </p:animEffect>
                                  </p:childTnLst>
                                </p:cTn>
                              </p:par>
                              <p:par>
                                <p:cTn id="271" presetID="10" presetClass="entr" presetSubtype="0" fill="hold" nodeType="withEffect">
                                  <p:stCondLst>
                                    <p:cond delay="70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600"/>
                                        <p:tgtEl>
                                          <p:spTgt spid="92"/>
                                        </p:tgtEl>
                                      </p:cBhvr>
                                    </p:animEffect>
                                  </p:childTnLst>
                                </p:cTn>
                              </p:par>
                              <p:par>
                                <p:cTn id="274" presetID="10" presetClass="entr" presetSubtype="0" fill="hold" nodeType="withEffect">
                                  <p:stCondLst>
                                    <p:cond delay="70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600"/>
                                        <p:tgtEl>
                                          <p:spTgt spid="93"/>
                                        </p:tgtEl>
                                      </p:cBhvr>
                                    </p:animEffect>
                                  </p:childTnLst>
                                </p:cTn>
                              </p:par>
                              <p:par>
                                <p:cTn id="277" presetID="10" presetClass="entr" presetSubtype="0" fill="hold" nodeType="withEffect">
                                  <p:stCondLst>
                                    <p:cond delay="70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600"/>
                                        <p:tgtEl>
                                          <p:spTgt spid="94"/>
                                        </p:tgtEl>
                                      </p:cBhvr>
                                    </p:animEffect>
                                  </p:childTnLst>
                                </p:cTn>
                              </p:par>
                              <p:par>
                                <p:cTn id="280" presetID="10" presetClass="entr" presetSubtype="0" fill="hold" nodeType="withEffect">
                                  <p:stCondLst>
                                    <p:cond delay="70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600"/>
                                        <p:tgtEl>
                                          <p:spTgt spid="95"/>
                                        </p:tgtEl>
                                      </p:cBhvr>
                                    </p:animEffect>
                                  </p:childTnLst>
                                </p:cTn>
                              </p:par>
                              <p:par>
                                <p:cTn id="283" presetID="10" presetClass="entr" presetSubtype="0" fill="hold" nodeType="withEffect">
                                  <p:stCondLst>
                                    <p:cond delay="105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600"/>
                                        <p:tgtEl>
                                          <p:spTgt spid="96"/>
                                        </p:tgtEl>
                                      </p:cBhvr>
                                    </p:animEffect>
                                  </p:childTnLst>
                                </p:cTn>
                              </p:par>
                              <p:par>
                                <p:cTn id="286" presetID="10" presetClass="entr" presetSubtype="0" fill="hold" nodeType="withEffect">
                                  <p:stCondLst>
                                    <p:cond delay="105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600"/>
                                        <p:tgtEl>
                                          <p:spTgt spid="97"/>
                                        </p:tgtEl>
                                      </p:cBhvr>
                                    </p:animEffect>
                                  </p:childTnLst>
                                </p:cTn>
                              </p:par>
                              <p:par>
                                <p:cTn id="289" presetID="10" presetClass="entr" presetSubtype="0" fill="hold" nodeType="withEffect">
                                  <p:stCondLst>
                                    <p:cond delay="140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600"/>
                                        <p:tgtEl>
                                          <p:spTgt spid="98"/>
                                        </p:tgtEl>
                                      </p:cBhvr>
                                    </p:animEffect>
                                  </p:childTnLst>
                                </p:cTn>
                              </p:par>
                              <p:par>
                                <p:cTn id="292" presetID="10" presetClass="entr" presetSubtype="0" fill="hold" nodeType="withEffect">
                                  <p:stCondLst>
                                    <p:cond delay="140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600"/>
                                        <p:tgtEl>
                                          <p:spTgt spid="99"/>
                                        </p:tgtEl>
                                      </p:cBhvr>
                                    </p:animEffect>
                                  </p:childTnLst>
                                </p:cTn>
                              </p:par>
                              <p:par>
                                <p:cTn id="295" presetID="10" presetClass="entr" presetSubtype="0" fill="hold" nodeType="withEffect">
                                  <p:stCondLst>
                                    <p:cond delay="175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600"/>
                                        <p:tgtEl>
                                          <p:spTgt spid="100"/>
                                        </p:tgtEl>
                                      </p:cBhvr>
                                    </p:animEffect>
                                  </p:childTnLst>
                                </p:cTn>
                              </p:par>
                              <p:par>
                                <p:cTn id="298" presetID="10" presetClass="entr" presetSubtype="0" fill="hold" nodeType="withEffect">
                                  <p:stCondLst>
                                    <p:cond delay="175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6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خلاصهٔ نتایج آزمون فرضیه‌ها</a:t>
            </a:r>
            <a:endParaRPr lang="fa-IR" sz="3400" dirty="0"/>
          </a:p>
        </p:txBody>
      </p:sp>
      <p:sp>
        <p:nvSpPr>
          <p:cNvPr id="3" name="anim_1_1397"/>
          <p:cNvSpPr/>
          <p:nvPr/>
        </p:nvSpPr>
        <p:spPr>
          <a:xfrm>
            <a:off x="8622792" y="1371600"/>
            <a:ext cx="3017520" cy="658368"/>
          </a:xfrm>
          <a:prstGeom prst="rect">
            <a:avLst/>
          </a:prstGeom>
          <a:solidFill>
            <a:schemeClr val="tx2"/>
          </a:solidFill>
          <a:ln w="9525">
            <a:solidFill>
              <a:srgbClr val="C9D3DF"/>
            </a:solidFill>
            <a:prstDash val="solid"/>
          </a:ln>
        </p:spPr>
      </p:sp>
      <p:sp>
        <p:nvSpPr>
          <p:cNvPr id="4" name="anim_1_1398"/>
          <p:cNvSpPr txBox="1"/>
          <p:nvPr/>
        </p:nvSpPr>
        <p:spPr>
          <a:xfrm>
            <a:off x="8659368" y="1371600"/>
            <a:ext cx="2944368" cy="658368"/>
          </a:xfrm>
          <a:prstGeom prst="rect">
            <a:avLst/>
          </a:prstGeom>
          <a:noFill/>
          <a:ln/>
        </p:spPr>
        <p:txBody>
          <a:bodyPr wrap="square" lIns="254" tIns="254" rIns="254" bIns="254" rtlCol="0" anchor="ctr"/>
          <a:lstStyle/>
          <a:p>
            <a:pPr rtl="1" algn="r" indent="0" marL="0">
              <a:buNone/>
            </a:pPr>
            <a:r>
              <a:rPr lang="fa-IR" altLang="en-US" sz="1600" b="1" dirty="0">
                <a:solidFill>
                  <a:schemeClr val="bg1"/>
                </a:solidFill>
                <a:latin typeface="B Nazanin" pitchFamily="34" charset="0"/>
                <a:ea typeface="B Nazanin" pitchFamily="34" charset="-122"/>
                <a:cs typeface="B Nazanin" pitchFamily="34" charset="-120"/>
              </a:rPr>
              <a:t>فرضیه</a:t>
            </a:r>
            <a:endParaRPr lang="fa-IR" sz="1600" dirty="0"/>
          </a:p>
        </p:txBody>
      </p:sp>
      <p:sp>
        <p:nvSpPr>
          <p:cNvPr id="5" name="anim_1_1399"/>
          <p:cNvSpPr/>
          <p:nvPr/>
        </p:nvSpPr>
        <p:spPr>
          <a:xfrm>
            <a:off x="6336792" y="1371600"/>
            <a:ext cx="2286000" cy="658368"/>
          </a:xfrm>
          <a:prstGeom prst="rect">
            <a:avLst/>
          </a:prstGeom>
          <a:solidFill>
            <a:schemeClr val="tx2"/>
          </a:solidFill>
          <a:ln w="9525">
            <a:solidFill>
              <a:srgbClr val="C9D3DF"/>
            </a:solidFill>
            <a:prstDash val="solid"/>
          </a:ln>
        </p:spPr>
      </p:sp>
      <p:sp>
        <p:nvSpPr>
          <p:cNvPr id="6" name="anim_1_1400"/>
          <p:cNvSpPr txBox="1"/>
          <p:nvPr/>
        </p:nvSpPr>
        <p:spPr>
          <a:xfrm>
            <a:off x="6373368" y="1371600"/>
            <a:ext cx="2212848" cy="658368"/>
          </a:xfrm>
          <a:prstGeom prst="rect">
            <a:avLst/>
          </a:prstGeom>
          <a:noFill/>
          <a:ln/>
        </p:spPr>
        <p:txBody>
          <a:bodyPr wrap="square" lIns="254" tIns="254" rIns="254" bIns="254" rtlCol="0" anchor="ctr"/>
          <a:lstStyle/>
          <a:p>
            <a:pPr rtl="1" algn="ctr" indent="0" marL="0">
              <a:buNone/>
            </a:pPr>
            <a:r>
              <a:rPr lang="fa-IR" altLang="en-US" sz="1600" b="1" dirty="0">
                <a:solidFill>
                  <a:schemeClr val="bg1"/>
                </a:solidFill>
                <a:latin typeface="B Nazanin" pitchFamily="34" charset="0"/>
                <a:ea typeface="B Nazanin" pitchFamily="34" charset="-122"/>
                <a:cs typeface="B Nazanin" pitchFamily="34" charset="-120"/>
              </a:rPr>
              <a:t>متغیر آزمون</a:t>
            </a:r>
            <a:endParaRPr lang="fa-IR" sz="1600" dirty="0"/>
          </a:p>
        </p:txBody>
      </p:sp>
      <p:sp>
        <p:nvSpPr>
          <p:cNvPr id="7" name="anim_1_1401"/>
          <p:cNvSpPr/>
          <p:nvPr/>
        </p:nvSpPr>
        <p:spPr>
          <a:xfrm>
            <a:off x="4873752" y="1371600"/>
            <a:ext cx="1463040" cy="658368"/>
          </a:xfrm>
          <a:prstGeom prst="rect">
            <a:avLst/>
          </a:prstGeom>
          <a:solidFill>
            <a:schemeClr val="tx2"/>
          </a:solidFill>
          <a:ln w="9525">
            <a:solidFill>
              <a:srgbClr val="C9D3DF"/>
            </a:solidFill>
            <a:prstDash val="solid"/>
          </a:ln>
        </p:spPr>
      </p:sp>
      <p:sp>
        <p:nvSpPr>
          <p:cNvPr id="8" name="anim_1_1402"/>
          <p:cNvSpPr txBox="1"/>
          <p:nvPr/>
        </p:nvSpPr>
        <p:spPr>
          <a:xfrm>
            <a:off x="4910328" y="1371600"/>
            <a:ext cx="1389888" cy="658368"/>
          </a:xfrm>
          <a:prstGeom prst="rect">
            <a:avLst/>
          </a:prstGeom>
          <a:noFill/>
          <a:ln/>
        </p:spPr>
        <p:txBody>
          <a:bodyPr wrap="square" lIns="254" tIns="254" rIns="254" bIns="254" rtlCol="0" anchor="ctr"/>
          <a:lstStyle/>
          <a:p>
            <a:pPr rtl="1" algn="ctr" indent="0" marL="0">
              <a:buNone/>
            </a:pPr>
            <a:r>
              <a:rPr lang="fa-IR" altLang="en-US" sz="1600" b="1" dirty="0">
                <a:solidFill>
                  <a:schemeClr val="bg1"/>
                </a:solidFill>
                <a:latin typeface="B Nazanin" pitchFamily="34" charset="0"/>
                <a:ea typeface="B Nazanin" pitchFamily="34" charset="-122"/>
                <a:cs typeface="B Nazanin" pitchFamily="34" charset="-120"/>
              </a:rPr>
              <a:t>ضریب</a:t>
            </a:r>
            <a:endParaRPr lang="fa-IR" sz="1600" dirty="0"/>
          </a:p>
        </p:txBody>
      </p:sp>
      <p:sp>
        <p:nvSpPr>
          <p:cNvPr id="9" name="anim_1_1403"/>
          <p:cNvSpPr/>
          <p:nvPr/>
        </p:nvSpPr>
        <p:spPr>
          <a:xfrm>
            <a:off x="3319272" y="1371600"/>
            <a:ext cx="1554480" cy="658368"/>
          </a:xfrm>
          <a:prstGeom prst="rect">
            <a:avLst/>
          </a:prstGeom>
          <a:solidFill>
            <a:schemeClr val="tx2"/>
          </a:solidFill>
          <a:ln w="9525">
            <a:solidFill>
              <a:srgbClr val="C9D3DF"/>
            </a:solidFill>
            <a:prstDash val="solid"/>
          </a:ln>
        </p:spPr>
      </p:sp>
      <p:sp>
        <p:nvSpPr>
          <p:cNvPr id="10" name="anim_1_1404"/>
          <p:cNvSpPr txBox="1"/>
          <p:nvPr/>
        </p:nvSpPr>
        <p:spPr>
          <a:xfrm>
            <a:off x="3355848" y="1371600"/>
            <a:ext cx="1481328" cy="658368"/>
          </a:xfrm>
          <a:prstGeom prst="rect">
            <a:avLst/>
          </a:prstGeom>
          <a:noFill/>
          <a:ln/>
        </p:spPr>
        <p:txBody>
          <a:bodyPr wrap="square" lIns="254" tIns="254" rIns="254" bIns="254" rtlCol="0" anchor="ctr"/>
          <a:lstStyle/>
          <a:p>
            <a:pPr rtl="1" algn="ctr" indent="0" marL="0">
              <a:buNone/>
            </a:pPr>
            <a:r>
              <a:rPr lang="fa-IR" altLang="en-US" sz="1600" b="1" dirty="0">
                <a:solidFill>
                  <a:schemeClr val="bg1"/>
                </a:solidFill>
                <a:latin typeface="B Nazanin" pitchFamily="34" charset="0"/>
                <a:ea typeface="B Nazanin" pitchFamily="34" charset="-122"/>
                <a:cs typeface="B Nazanin" pitchFamily="34" charset="-120"/>
              </a:rPr>
              <a:t>t</a:t>
            </a:r>
            <a:endParaRPr lang="fa-IR" sz="1600" dirty="0"/>
          </a:p>
        </p:txBody>
      </p:sp>
      <p:sp>
        <p:nvSpPr>
          <p:cNvPr id="11" name="anim_1_1405"/>
          <p:cNvSpPr/>
          <p:nvPr/>
        </p:nvSpPr>
        <p:spPr>
          <a:xfrm>
            <a:off x="1673352" y="1371600"/>
            <a:ext cx="1645920" cy="658368"/>
          </a:xfrm>
          <a:prstGeom prst="rect">
            <a:avLst/>
          </a:prstGeom>
          <a:solidFill>
            <a:schemeClr val="tx2"/>
          </a:solidFill>
          <a:ln w="9525">
            <a:solidFill>
              <a:srgbClr val="C9D3DF"/>
            </a:solidFill>
            <a:prstDash val="solid"/>
          </a:ln>
        </p:spPr>
      </p:sp>
      <p:sp>
        <p:nvSpPr>
          <p:cNvPr id="12" name="anim_1_1406"/>
          <p:cNvSpPr txBox="1"/>
          <p:nvPr/>
        </p:nvSpPr>
        <p:spPr>
          <a:xfrm>
            <a:off x="1709928" y="1371600"/>
            <a:ext cx="1572768" cy="658368"/>
          </a:xfrm>
          <a:prstGeom prst="rect">
            <a:avLst/>
          </a:prstGeom>
          <a:noFill/>
          <a:ln/>
        </p:spPr>
        <p:txBody>
          <a:bodyPr wrap="square" lIns="254" tIns="254" rIns="254" bIns="254" rtlCol="0" anchor="ctr"/>
          <a:lstStyle/>
          <a:p>
            <a:pPr rtl="1" algn="ctr" indent="0" marL="0">
              <a:buNone/>
            </a:pPr>
            <a:r>
              <a:rPr lang="fa-IR" altLang="en-US" sz="1600" b="1" dirty="0">
                <a:solidFill>
                  <a:schemeClr val="bg1"/>
                </a:solidFill>
                <a:latin typeface="B Nazanin" pitchFamily="34" charset="0"/>
                <a:ea typeface="B Nazanin" pitchFamily="34" charset="-122"/>
                <a:cs typeface="B Nazanin" pitchFamily="34" charset="-120"/>
              </a:rPr>
              <a:t>احتمال</a:t>
            </a:r>
            <a:endParaRPr lang="fa-IR" sz="1600" dirty="0"/>
          </a:p>
        </p:txBody>
      </p:sp>
      <p:sp>
        <p:nvSpPr>
          <p:cNvPr id="13" name="anim_1_1407"/>
          <p:cNvSpPr/>
          <p:nvPr/>
        </p:nvSpPr>
        <p:spPr>
          <a:xfrm>
            <a:off x="548640" y="1371600"/>
            <a:ext cx="1124712" cy="658368"/>
          </a:xfrm>
          <a:prstGeom prst="rect">
            <a:avLst/>
          </a:prstGeom>
          <a:solidFill>
            <a:schemeClr val="tx2"/>
          </a:solidFill>
          <a:ln w="9525">
            <a:solidFill>
              <a:srgbClr val="C9D3DF"/>
            </a:solidFill>
            <a:prstDash val="solid"/>
          </a:ln>
        </p:spPr>
      </p:sp>
      <p:sp>
        <p:nvSpPr>
          <p:cNvPr id="14" name="anim_1_1408"/>
          <p:cNvSpPr txBox="1"/>
          <p:nvPr/>
        </p:nvSpPr>
        <p:spPr>
          <a:xfrm>
            <a:off x="585216" y="1371600"/>
            <a:ext cx="1051560" cy="658368"/>
          </a:xfrm>
          <a:prstGeom prst="rect">
            <a:avLst/>
          </a:prstGeom>
          <a:noFill/>
          <a:ln/>
        </p:spPr>
        <p:txBody>
          <a:bodyPr wrap="square" lIns="254" tIns="254" rIns="254" bIns="254" rtlCol="0" anchor="ctr"/>
          <a:lstStyle/>
          <a:p>
            <a:pPr rtl="1" algn="ctr" indent="0" marL="0">
              <a:buNone/>
            </a:pPr>
            <a:r>
              <a:rPr lang="fa-IR" altLang="en-US" sz="1600" b="1" dirty="0">
                <a:solidFill>
                  <a:schemeClr val="bg1"/>
                </a:solidFill>
                <a:latin typeface="B Nazanin" pitchFamily="34" charset="0"/>
                <a:ea typeface="B Nazanin" pitchFamily="34" charset="-122"/>
                <a:cs typeface="B Nazanin" pitchFamily="34" charset="-120"/>
              </a:rPr>
              <a:t>وضعیت</a:t>
            </a:r>
            <a:endParaRPr lang="fa-IR" sz="1600" dirty="0"/>
          </a:p>
        </p:txBody>
      </p:sp>
      <p:sp>
        <p:nvSpPr>
          <p:cNvPr id="15" name="anim_1_1409"/>
          <p:cNvSpPr/>
          <p:nvPr/>
        </p:nvSpPr>
        <p:spPr>
          <a:xfrm>
            <a:off x="8622792" y="2029968"/>
            <a:ext cx="3017520" cy="658368"/>
          </a:xfrm>
          <a:prstGeom prst="rect">
            <a:avLst/>
          </a:prstGeom>
          <a:solidFill>
            <a:srgbClr val="FFFFFF"/>
          </a:solidFill>
          <a:ln w="9525">
            <a:solidFill>
              <a:srgbClr val="C9D3DF"/>
            </a:solidFill>
            <a:prstDash val="solid"/>
          </a:ln>
        </p:spPr>
      </p:sp>
      <p:sp>
        <p:nvSpPr>
          <p:cNvPr id="16" name="anim_1_1410"/>
          <p:cNvSpPr txBox="1"/>
          <p:nvPr/>
        </p:nvSpPr>
        <p:spPr>
          <a:xfrm>
            <a:off x="8659368" y="2029968"/>
            <a:ext cx="2944368" cy="658368"/>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1: خدمات غیرحسابرسی و کاهش هزینه</a:t>
            </a:r>
            <a:endParaRPr lang="fa-IR" sz="1600" dirty="0"/>
          </a:p>
        </p:txBody>
      </p:sp>
      <p:sp>
        <p:nvSpPr>
          <p:cNvPr id="17" name="anim_1_1411"/>
          <p:cNvSpPr/>
          <p:nvPr/>
        </p:nvSpPr>
        <p:spPr>
          <a:xfrm>
            <a:off x="6336792" y="2029968"/>
            <a:ext cx="2286000" cy="658368"/>
          </a:xfrm>
          <a:prstGeom prst="rect">
            <a:avLst/>
          </a:prstGeom>
          <a:solidFill>
            <a:srgbClr val="FFFFFF"/>
          </a:solidFill>
          <a:ln w="9525">
            <a:solidFill>
              <a:srgbClr val="C9D3DF"/>
            </a:solidFill>
            <a:prstDash val="solid"/>
          </a:ln>
        </p:spPr>
      </p:sp>
      <p:sp>
        <p:nvSpPr>
          <p:cNvPr id="18" name="anim_1_1412"/>
          <p:cNvSpPr/>
          <p:nvPr/>
        </p:nvSpPr>
        <p:spPr>
          <a:xfrm>
            <a:off x="7108546" y="2185416"/>
            <a:ext cx="742493" cy="347472"/>
          </a:xfrm>
          <a:prstGeom prst="roundRect">
            <a:avLst>
              <a:gd name="adj" fmla="val 15789"/>
            </a:avLst>
          </a:prstGeom>
          <a:solidFill>
            <a:schemeClr val="accent1"/>
          </a:solidFill>
          <a:ln/>
        </p:spPr>
      </p:sp>
      <p:sp>
        <p:nvSpPr>
          <p:cNvPr id="19" name="anim_1_1413"/>
          <p:cNvSpPr txBox="1"/>
          <p:nvPr/>
        </p:nvSpPr>
        <p:spPr>
          <a:xfrm>
            <a:off x="7108546" y="2185416"/>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NASR</a:t>
            </a:r>
            <a:endParaRPr lang="en-US" sz="1300" dirty="0"/>
          </a:p>
        </p:txBody>
      </p:sp>
      <p:sp>
        <p:nvSpPr>
          <p:cNvPr id="20" name="anim_1_1414"/>
          <p:cNvSpPr/>
          <p:nvPr/>
        </p:nvSpPr>
        <p:spPr>
          <a:xfrm>
            <a:off x="4873752" y="2029968"/>
            <a:ext cx="1463040" cy="658368"/>
          </a:xfrm>
          <a:prstGeom prst="rect">
            <a:avLst/>
          </a:prstGeom>
          <a:solidFill>
            <a:srgbClr val="FFFFFF"/>
          </a:solidFill>
          <a:ln w="9525">
            <a:solidFill>
              <a:srgbClr val="C9D3DF"/>
            </a:solidFill>
            <a:prstDash val="solid"/>
          </a:ln>
        </p:spPr>
      </p:sp>
      <p:sp>
        <p:nvSpPr>
          <p:cNvPr id="21" name="anim_1_1415"/>
          <p:cNvSpPr txBox="1"/>
          <p:nvPr/>
        </p:nvSpPr>
        <p:spPr>
          <a:xfrm>
            <a:off x="4910328" y="2029968"/>
            <a:ext cx="138988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‪-0.592‬</a:t>
            </a:r>
            <a:endParaRPr lang="fa-IR" sz="1600" dirty="0"/>
          </a:p>
        </p:txBody>
      </p:sp>
      <p:sp>
        <p:nvSpPr>
          <p:cNvPr id="22" name="anim_1_1416"/>
          <p:cNvSpPr/>
          <p:nvPr/>
        </p:nvSpPr>
        <p:spPr>
          <a:xfrm>
            <a:off x="3319272" y="2029968"/>
            <a:ext cx="1554480" cy="658368"/>
          </a:xfrm>
          <a:prstGeom prst="rect">
            <a:avLst/>
          </a:prstGeom>
          <a:solidFill>
            <a:srgbClr val="FFFFFF"/>
          </a:solidFill>
          <a:ln w="9525">
            <a:solidFill>
              <a:srgbClr val="C9D3DF"/>
            </a:solidFill>
            <a:prstDash val="solid"/>
          </a:ln>
        </p:spPr>
      </p:sp>
      <p:sp>
        <p:nvSpPr>
          <p:cNvPr id="23" name="anim_1_1417"/>
          <p:cNvSpPr txBox="1"/>
          <p:nvPr/>
        </p:nvSpPr>
        <p:spPr>
          <a:xfrm>
            <a:off x="3355848" y="2029968"/>
            <a:ext cx="148132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‪-1.578‬</a:t>
            </a:r>
            <a:endParaRPr lang="fa-IR" sz="1600" dirty="0"/>
          </a:p>
        </p:txBody>
      </p:sp>
      <p:sp>
        <p:nvSpPr>
          <p:cNvPr id="24" name="anim_1_1418"/>
          <p:cNvSpPr/>
          <p:nvPr/>
        </p:nvSpPr>
        <p:spPr>
          <a:xfrm>
            <a:off x="1673352" y="2029968"/>
            <a:ext cx="1645920" cy="658368"/>
          </a:xfrm>
          <a:prstGeom prst="rect">
            <a:avLst/>
          </a:prstGeom>
          <a:solidFill>
            <a:srgbClr val="FFFFFF"/>
          </a:solidFill>
          <a:ln w="9525">
            <a:solidFill>
              <a:srgbClr val="C9D3DF"/>
            </a:solidFill>
            <a:prstDash val="solid"/>
          </a:ln>
        </p:spPr>
      </p:sp>
      <p:sp>
        <p:nvSpPr>
          <p:cNvPr id="25" name="anim_1_1419"/>
          <p:cNvSpPr txBox="1"/>
          <p:nvPr/>
        </p:nvSpPr>
        <p:spPr>
          <a:xfrm>
            <a:off x="1709928" y="2029968"/>
            <a:ext cx="157276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‪0.1151‬</a:t>
            </a:r>
            <a:endParaRPr lang="fa-IR" sz="1600" dirty="0"/>
          </a:p>
        </p:txBody>
      </p:sp>
      <p:sp>
        <p:nvSpPr>
          <p:cNvPr id="26" name="anim_1_1420"/>
          <p:cNvSpPr/>
          <p:nvPr/>
        </p:nvSpPr>
        <p:spPr>
          <a:xfrm>
            <a:off x="548640" y="2029968"/>
            <a:ext cx="1124712" cy="658368"/>
          </a:xfrm>
          <a:prstGeom prst="rect">
            <a:avLst/>
          </a:prstGeom>
          <a:solidFill>
            <a:srgbClr val="FFFFFF"/>
          </a:solidFill>
          <a:ln w="9525">
            <a:solidFill>
              <a:srgbClr val="C9D3DF"/>
            </a:solidFill>
            <a:prstDash val="solid"/>
          </a:ln>
        </p:spPr>
      </p:sp>
      <p:sp>
        <p:nvSpPr>
          <p:cNvPr id="27" name="anim_1_1421"/>
          <p:cNvSpPr txBox="1"/>
          <p:nvPr/>
        </p:nvSpPr>
        <p:spPr>
          <a:xfrm>
            <a:off x="585216" y="2029968"/>
            <a:ext cx="1051560"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تأیید</a:t>
            </a:r>
            <a:endParaRPr lang="fa-IR" sz="1600" dirty="0"/>
          </a:p>
        </p:txBody>
      </p:sp>
      <p:sp>
        <p:nvSpPr>
          <p:cNvPr id="28" name="anim_1_1422"/>
          <p:cNvSpPr/>
          <p:nvPr/>
        </p:nvSpPr>
        <p:spPr>
          <a:xfrm>
            <a:off x="8622792" y="2688336"/>
            <a:ext cx="3017520" cy="658368"/>
          </a:xfrm>
          <a:prstGeom prst="rect">
            <a:avLst/>
          </a:prstGeom>
          <a:solidFill>
            <a:srgbClr val="EEF3F8"/>
          </a:solidFill>
          <a:ln w="9525">
            <a:solidFill>
              <a:srgbClr val="C9D3DF"/>
            </a:solidFill>
            <a:prstDash val="solid"/>
          </a:ln>
        </p:spPr>
      </p:sp>
      <p:sp>
        <p:nvSpPr>
          <p:cNvPr id="29" name="anim_1_1423"/>
          <p:cNvSpPr txBox="1"/>
          <p:nvPr/>
        </p:nvSpPr>
        <p:spPr>
          <a:xfrm>
            <a:off x="8659368" y="2688336"/>
            <a:ext cx="2944368" cy="658368"/>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2: اهمیت مشتری و اندازهٔ مؤسسه</a:t>
            </a:r>
            <a:endParaRPr lang="fa-IR" sz="1600" dirty="0"/>
          </a:p>
        </p:txBody>
      </p:sp>
      <p:sp>
        <p:nvSpPr>
          <p:cNvPr id="30" name="anim_1_1424"/>
          <p:cNvSpPr/>
          <p:nvPr/>
        </p:nvSpPr>
        <p:spPr>
          <a:xfrm>
            <a:off x="6336792" y="2688336"/>
            <a:ext cx="2286000" cy="658368"/>
          </a:xfrm>
          <a:prstGeom prst="rect">
            <a:avLst/>
          </a:prstGeom>
          <a:solidFill>
            <a:srgbClr val="EEF3F8"/>
          </a:solidFill>
          <a:ln w="9525">
            <a:solidFill>
              <a:srgbClr val="C9D3DF"/>
            </a:solidFill>
            <a:prstDash val="solid"/>
          </a:ln>
        </p:spPr>
      </p:sp>
      <p:sp>
        <p:nvSpPr>
          <p:cNvPr id="31" name="anim_1_1425"/>
          <p:cNvSpPr/>
          <p:nvPr/>
        </p:nvSpPr>
        <p:spPr>
          <a:xfrm>
            <a:off x="6548018" y="2843784"/>
            <a:ext cx="1066190" cy="347472"/>
          </a:xfrm>
          <a:prstGeom prst="roundRect">
            <a:avLst>
              <a:gd name="adj" fmla="val 15789"/>
            </a:avLst>
          </a:prstGeom>
          <a:solidFill>
            <a:schemeClr val="accent1"/>
          </a:solidFill>
          <a:ln/>
        </p:spPr>
      </p:sp>
      <p:sp>
        <p:nvSpPr>
          <p:cNvPr id="32" name="anim_1_1426"/>
          <p:cNvSpPr txBox="1"/>
          <p:nvPr/>
        </p:nvSpPr>
        <p:spPr>
          <a:xfrm>
            <a:off x="6548018" y="2843784"/>
            <a:ext cx="106619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COMPLEX</a:t>
            </a:r>
            <a:endParaRPr lang="en-US" sz="1300" dirty="0"/>
          </a:p>
        </p:txBody>
      </p:sp>
      <p:sp>
        <p:nvSpPr>
          <p:cNvPr id="33" name="anim_1_1427"/>
          <p:cNvSpPr/>
          <p:nvPr/>
        </p:nvSpPr>
        <p:spPr>
          <a:xfrm>
            <a:off x="7669073" y="2843784"/>
            <a:ext cx="742493" cy="347472"/>
          </a:xfrm>
          <a:prstGeom prst="roundRect">
            <a:avLst>
              <a:gd name="adj" fmla="val 15789"/>
            </a:avLst>
          </a:prstGeom>
          <a:solidFill>
            <a:schemeClr val="accent1"/>
          </a:solidFill>
          <a:ln/>
        </p:spPr>
      </p:sp>
      <p:sp>
        <p:nvSpPr>
          <p:cNvPr id="34" name="anim_1_1428"/>
          <p:cNvSpPr txBox="1"/>
          <p:nvPr/>
        </p:nvSpPr>
        <p:spPr>
          <a:xfrm>
            <a:off x="7669073" y="2843784"/>
            <a:ext cx="742493"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BIG4</a:t>
            </a:r>
            <a:endParaRPr lang="en-US" sz="1300" dirty="0"/>
          </a:p>
        </p:txBody>
      </p:sp>
      <p:sp>
        <p:nvSpPr>
          <p:cNvPr id="35" name="anim_1_1429"/>
          <p:cNvSpPr/>
          <p:nvPr/>
        </p:nvSpPr>
        <p:spPr>
          <a:xfrm>
            <a:off x="4873752" y="2688336"/>
            <a:ext cx="1463040" cy="658368"/>
          </a:xfrm>
          <a:prstGeom prst="rect">
            <a:avLst/>
          </a:prstGeom>
          <a:solidFill>
            <a:srgbClr val="EEF3F8"/>
          </a:solidFill>
          <a:ln w="9525">
            <a:solidFill>
              <a:srgbClr val="C9D3DF"/>
            </a:solidFill>
            <a:prstDash val="solid"/>
          </a:ln>
        </p:spPr>
      </p:sp>
      <p:sp>
        <p:nvSpPr>
          <p:cNvPr id="36" name="anim_1_1430"/>
          <p:cNvSpPr txBox="1"/>
          <p:nvPr/>
        </p:nvSpPr>
        <p:spPr>
          <a:xfrm>
            <a:off x="4910328" y="2688336"/>
            <a:ext cx="138988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‪-0.296 / 0.187‬</a:t>
            </a:r>
            <a:endParaRPr lang="fa-IR" sz="1600" dirty="0"/>
          </a:p>
        </p:txBody>
      </p:sp>
      <p:sp>
        <p:nvSpPr>
          <p:cNvPr id="37" name="anim_1_1431"/>
          <p:cNvSpPr/>
          <p:nvPr/>
        </p:nvSpPr>
        <p:spPr>
          <a:xfrm>
            <a:off x="3319272" y="2688336"/>
            <a:ext cx="1554480" cy="658368"/>
          </a:xfrm>
          <a:prstGeom prst="rect">
            <a:avLst/>
          </a:prstGeom>
          <a:solidFill>
            <a:srgbClr val="EEF3F8"/>
          </a:solidFill>
          <a:ln w="9525">
            <a:solidFill>
              <a:srgbClr val="C9D3DF"/>
            </a:solidFill>
            <a:prstDash val="solid"/>
          </a:ln>
        </p:spPr>
      </p:sp>
      <p:sp>
        <p:nvSpPr>
          <p:cNvPr id="38" name="anim_1_1432"/>
          <p:cNvSpPr txBox="1"/>
          <p:nvPr/>
        </p:nvSpPr>
        <p:spPr>
          <a:xfrm>
            <a:off x="3355848" y="2688336"/>
            <a:ext cx="148132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‪-2.554 / 2.700‬</a:t>
            </a:r>
            <a:endParaRPr lang="fa-IR" sz="1600" dirty="0"/>
          </a:p>
        </p:txBody>
      </p:sp>
      <p:sp>
        <p:nvSpPr>
          <p:cNvPr id="39" name="anim_1_1433"/>
          <p:cNvSpPr/>
          <p:nvPr/>
        </p:nvSpPr>
        <p:spPr>
          <a:xfrm>
            <a:off x="1673352" y="2688336"/>
            <a:ext cx="1645920" cy="658368"/>
          </a:xfrm>
          <a:prstGeom prst="rect">
            <a:avLst/>
          </a:prstGeom>
          <a:solidFill>
            <a:srgbClr val="EEF3F8"/>
          </a:solidFill>
          <a:ln w="9525">
            <a:solidFill>
              <a:srgbClr val="C9D3DF"/>
            </a:solidFill>
            <a:prstDash val="solid"/>
          </a:ln>
        </p:spPr>
      </p:sp>
      <p:sp>
        <p:nvSpPr>
          <p:cNvPr id="40" name="anim_1_1434"/>
          <p:cNvSpPr txBox="1"/>
          <p:nvPr/>
        </p:nvSpPr>
        <p:spPr>
          <a:xfrm>
            <a:off x="1709928" y="2688336"/>
            <a:ext cx="157276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‪0.0108 / 0.0071‬</a:t>
            </a:r>
            <a:endParaRPr lang="fa-IR" sz="1600" dirty="0"/>
          </a:p>
        </p:txBody>
      </p:sp>
      <p:sp>
        <p:nvSpPr>
          <p:cNvPr id="41" name="anim_1_1435"/>
          <p:cNvSpPr/>
          <p:nvPr/>
        </p:nvSpPr>
        <p:spPr>
          <a:xfrm>
            <a:off x="548640" y="2688336"/>
            <a:ext cx="1124712" cy="658368"/>
          </a:xfrm>
          <a:prstGeom prst="rect">
            <a:avLst/>
          </a:prstGeom>
          <a:solidFill>
            <a:srgbClr val="EEF3F8"/>
          </a:solidFill>
          <a:ln w="9525">
            <a:solidFill>
              <a:srgbClr val="C9D3DF"/>
            </a:solidFill>
            <a:prstDash val="solid"/>
          </a:ln>
        </p:spPr>
      </p:sp>
      <p:sp>
        <p:nvSpPr>
          <p:cNvPr id="42" name="anim_1_1436"/>
          <p:cNvSpPr txBox="1"/>
          <p:nvPr/>
        </p:nvSpPr>
        <p:spPr>
          <a:xfrm>
            <a:off x="585216" y="2688336"/>
            <a:ext cx="1051560"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تأیید</a:t>
            </a:r>
            <a:endParaRPr lang="fa-IR" sz="1600" dirty="0"/>
          </a:p>
        </p:txBody>
      </p:sp>
      <p:sp>
        <p:nvSpPr>
          <p:cNvPr id="43" name="anim_1_1437"/>
          <p:cNvSpPr/>
          <p:nvPr/>
        </p:nvSpPr>
        <p:spPr>
          <a:xfrm>
            <a:off x="8622792" y="3346704"/>
            <a:ext cx="3017520" cy="658368"/>
          </a:xfrm>
          <a:prstGeom prst="rect">
            <a:avLst/>
          </a:prstGeom>
          <a:solidFill>
            <a:srgbClr val="FFFFFF"/>
          </a:solidFill>
          <a:ln w="9525">
            <a:solidFill>
              <a:srgbClr val="C9D3DF"/>
            </a:solidFill>
            <a:prstDash val="solid"/>
          </a:ln>
        </p:spPr>
      </p:sp>
      <p:sp>
        <p:nvSpPr>
          <p:cNvPr id="44" name="anim_1_1438"/>
          <p:cNvSpPr txBox="1"/>
          <p:nvPr/>
        </p:nvSpPr>
        <p:spPr>
          <a:xfrm>
            <a:off x="8659368" y="3346704"/>
            <a:ext cx="2944368" cy="658368"/>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3: ریکاوری حق‌الزحمه</a:t>
            </a:r>
            <a:endParaRPr lang="fa-IR" sz="1600" dirty="0"/>
          </a:p>
        </p:txBody>
      </p:sp>
      <p:sp>
        <p:nvSpPr>
          <p:cNvPr id="45" name="anim_1_1439"/>
          <p:cNvSpPr/>
          <p:nvPr/>
        </p:nvSpPr>
        <p:spPr>
          <a:xfrm>
            <a:off x="6336792" y="3346704"/>
            <a:ext cx="2286000" cy="658368"/>
          </a:xfrm>
          <a:prstGeom prst="rect">
            <a:avLst/>
          </a:prstGeom>
          <a:solidFill>
            <a:srgbClr val="FFFFFF"/>
          </a:solidFill>
          <a:ln w="9525">
            <a:solidFill>
              <a:srgbClr val="C9D3DF"/>
            </a:solidFill>
            <a:prstDash val="solid"/>
          </a:ln>
        </p:spPr>
      </p:sp>
      <p:sp>
        <p:nvSpPr>
          <p:cNvPr id="46" name="anim_1_1440"/>
          <p:cNvSpPr/>
          <p:nvPr/>
        </p:nvSpPr>
        <p:spPr>
          <a:xfrm>
            <a:off x="7196328" y="3502152"/>
            <a:ext cx="566928" cy="347472"/>
          </a:xfrm>
          <a:prstGeom prst="roundRect">
            <a:avLst>
              <a:gd name="adj" fmla="val 15789"/>
            </a:avLst>
          </a:prstGeom>
          <a:solidFill>
            <a:schemeClr val="accent1"/>
          </a:solidFill>
          <a:ln/>
        </p:spPr>
      </p:sp>
      <p:sp>
        <p:nvSpPr>
          <p:cNvPr id="47" name="anim_1_1441"/>
          <p:cNvSpPr txBox="1"/>
          <p:nvPr/>
        </p:nvSpPr>
        <p:spPr>
          <a:xfrm>
            <a:off x="7196328" y="3502152"/>
            <a:ext cx="566928"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AF</a:t>
            </a:r>
            <a:endParaRPr lang="en-US" sz="1300" dirty="0"/>
          </a:p>
        </p:txBody>
      </p:sp>
      <p:sp>
        <p:nvSpPr>
          <p:cNvPr id="48" name="anim_1_1442"/>
          <p:cNvSpPr/>
          <p:nvPr/>
        </p:nvSpPr>
        <p:spPr>
          <a:xfrm>
            <a:off x="4873752" y="3346704"/>
            <a:ext cx="1463040" cy="658368"/>
          </a:xfrm>
          <a:prstGeom prst="rect">
            <a:avLst/>
          </a:prstGeom>
          <a:solidFill>
            <a:srgbClr val="FFFFFF"/>
          </a:solidFill>
          <a:ln w="9525">
            <a:solidFill>
              <a:srgbClr val="C9D3DF"/>
            </a:solidFill>
            <a:prstDash val="solid"/>
          </a:ln>
        </p:spPr>
      </p:sp>
      <p:sp>
        <p:nvSpPr>
          <p:cNvPr id="49" name="anim_1_1443"/>
          <p:cNvSpPr txBox="1"/>
          <p:nvPr/>
        </p:nvSpPr>
        <p:spPr>
          <a:xfrm>
            <a:off x="4910328" y="3346704"/>
            <a:ext cx="138988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‪-0.649‬</a:t>
            </a:r>
            <a:endParaRPr lang="fa-IR" sz="1600" dirty="0"/>
          </a:p>
        </p:txBody>
      </p:sp>
      <p:sp>
        <p:nvSpPr>
          <p:cNvPr id="50" name="anim_1_1444"/>
          <p:cNvSpPr/>
          <p:nvPr/>
        </p:nvSpPr>
        <p:spPr>
          <a:xfrm>
            <a:off x="3319272" y="3346704"/>
            <a:ext cx="1554480" cy="658368"/>
          </a:xfrm>
          <a:prstGeom prst="rect">
            <a:avLst/>
          </a:prstGeom>
          <a:solidFill>
            <a:srgbClr val="FFFFFF"/>
          </a:solidFill>
          <a:ln w="9525">
            <a:solidFill>
              <a:srgbClr val="C9D3DF"/>
            </a:solidFill>
            <a:prstDash val="solid"/>
          </a:ln>
        </p:spPr>
      </p:sp>
      <p:sp>
        <p:nvSpPr>
          <p:cNvPr id="51" name="anim_1_1445"/>
          <p:cNvSpPr txBox="1"/>
          <p:nvPr/>
        </p:nvSpPr>
        <p:spPr>
          <a:xfrm>
            <a:off x="3355848" y="3346704"/>
            <a:ext cx="148132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‪-16.905‬</a:t>
            </a:r>
            <a:endParaRPr lang="fa-IR" sz="1600" dirty="0"/>
          </a:p>
        </p:txBody>
      </p:sp>
      <p:sp>
        <p:nvSpPr>
          <p:cNvPr id="52" name="anim_1_1446"/>
          <p:cNvSpPr/>
          <p:nvPr/>
        </p:nvSpPr>
        <p:spPr>
          <a:xfrm>
            <a:off x="1673352" y="3346704"/>
            <a:ext cx="1645920" cy="658368"/>
          </a:xfrm>
          <a:prstGeom prst="rect">
            <a:avLst/>
          </a:prstGeom>
          <a:solidFill>
            <a:srgbClr val="FFFFFF"/>
          </a:solidFill>
          <a:ln w="9525">
            <a:solidFill>
              <a:srgbClr val="C9D3DF"/>
            </a:solidFill>
            <a:prstDash val="solid"/>
          </a:ln>
        </p:spPr>
      </p:sp>
      <p:sp>
        <p:nvSpPr>
          <p:cNvPr id="53" name="anim_1_1447"/>
          <p:cNvSpPr txBox="1"/>
          <p:nvPr/>
        </p:nvSpPr>
        <p:spPr>
          <a:xfrm>
            <a:off x="1709928" y="3346704"/>
            <a:ext cx="157276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‪&lt; 0.0001‬</a:t>
            </a:r>
            <a:endParaRPr lang="fa-IR" sz="1600" dirty="0"/>
          </a:p>
        </p:txBody>
      </p:sp>
      <p:sp>
        <p:nvSpPr>
          <p:cNvPr id="54" name="anim_1_1448"/>
          <p:cNvSpPr/>
          <p:nvPr/>
        </p:nvSpPr>
        <p:spPr>
          <a:xfrm>
            <a:off x="548640" y="3346704"/>
            <a:ext cx="1124712" cy="658368"/>
          </a:xfrm>
          <a:prstGeom prst="rect">
            <a:avLst/>
          </a:prstGeom>
          <a:solidFill>
            <a:srgbClr val="FFFFFF"/>
          </a:solidFill>
          <a:ln w="9525">
            <a:solidFill>
              <a:srgbClr val="C9D3DF"/>
            </a:solidFill>
            <a:prstDash val="solid"/>
          </a:ln>
        </p:spPr>
      </p:sp>
      <p:sp>
        <p:nvSpPr>
          <p:cNvPr id="55" name="anim_1_1449"/>
          <p:cNvSpPr txBox="1"/>
          <p:nvPr/>
        </p:nvSpPr>
        <p:spPr>
          <a:xfrm>
            <a:off x="585216" y="3346704"/>
            <a:ext cx="1051560"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تأیید</a:t>
            </a:r>
            <a:endParaRPr lang="fa-IR" sz="1600" dirty="0"/>
          </a:p>
        </p:txBody>
      </p:sp>
      <p:sp>
        <p:nvSpPr>
          <p:cNvPr id="56" name="anim_1_1450"/>
          <p:cNvSpPr/>
          <p:nvPr/>
        </p:nvSpPr>
        <p:spPr>
          <a:xfrm>
            <a:off x="8622792" y="4005072"/>
            <a:ext cx="3017520" cy="658368"/>
          </a:xfrm>
          <a:prstGeom prst="rect">
            <a:avLst/>
          </a:prstGeom>
          <a:solidFill>
            <a:srgbClr val="EEF3F8"/>
          </a:solidFill>
          <a:ln w="9525">
            <a:solidFill>
              <a:srgbClr val="C9D3DF"/>
            </a:solidFill>
            <a:prstDash val="solid"/>
          </a:ln>
        </p:spPr>
      </p:sp>
      <p:sp>
        <p:nvSpPr>
          <p:cNvPr id="57" name="anim_1_1451"/>
          <p:cNvSpPr txBox="1"/>
          <p:nvPr/>
        </p:nvSpPr>
        <p:spPr>
          <a:xfrm>
            <a:off x="8659368" y="4005072"/>
            <a:ext cx="2944368" cy="658368"/>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4: ریکاوری از مجرای خدمات غیرحسابرسی</a:t>
            </a:r>
            <a:endParaRPr lang="fa-IR" sz="1600" dirty="0"/>
          </a:p>
        </p:txBody>
      </p:sp>
      <p:sp>
        <p:nvSpPr>
          <p:cNvPr id="58" name="anim_1_1452"/>
          <p:cNvSpPr/>
          <p:nvPr/>
        </p:nvSpPr>
        <p:spPr>
          <a:xfrm>
            <a:off x="6336792" y="4005072"/>
            <a:ext cx="2286000" cy="658368"/>
          </a:xfrm>
          <a:prstGeom prst="rect">
            <a:avLst/>
          </a:prstGeom>
          <a:solidFill>
            <a:srgbClr val="EEF3F8"/>
          </a:solidFill>
          <a:ln w="9525">
            <a:solidFill>
              <a:srgbClr val="C9D3DF"/>
            </a:solidFill>
            <a:prstDash val="solid"/>
          </a:ln>
        </p:spPr>
      </p:sp>
      <p:sp>
        <p:nvSpPr>
          <p:cNvPr id="59" name="anim_1_1453"/>
          <p:cNvSpPr/>
          <p:nvPr/>
        </p:nvSpPr>
        <p:spPr>
          <a:xfrm>
            <a:off x="7196328" y="4160520"/>
            <a:ext cx="566928" cy="347472"/>
          </a:xfrm>
          <a:prstGeom prst="roundRect">
            <a:avLst>
              <a:gd name="adj" fmla="val 15789"/>
            </a:avLst>
          </a:prstGeom>
          <a:solidFill>
            <a:schemeClr val="accent1"/>
          </a:solidFill>
          <a:ln/>
        </p:spPr>
      </p:sp>
      <p:sp>
        <p:nvSpPr>
          <p:cNvPr id="60" name="anim_1_1454"/>
          <p:cNvSpPr txBox="1"/>
          <p:nvPr/>
        </p:nvSpPr>
        <p:spPr>
          <a:xfrm>
            <a:off x="7196328" y="4160520"/>
            <a:ext cx="566928"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AF</a:t>
            </a:r>
            <a:endParaRPr lang="en-US" sz="1300" dirty="0"/>
          </a:p>
        </p:txBody>
      </p:sp>
      <p:sp>
        <p:nvSpPr>
          <p:cNvPr id="61" name="anim_1_1455"/>
          <p:cNvSpPr/>
          <p:nvPr/>
        </p:nvSpPr>
        <p:spPr>
          <a:xfrm>
            <a:off x="4873752" y="4005072"/>
            <a:ext cx="1463040" cy="658368"/>
          </a:xfrm>
          <a:prstGeom prst="rect">
            <a:avLst/>
          </a:prstGeom>
          <a:solidFill>
            <a:srgbClr val="EEF3F8"/>
          </a:solidFill>
          <a:ln w="9525">
            <a:solidFill>
              <a:srgbClr val="C9D3DF"/>
            </a:solidFill>
            <a:prstDash val="solid"/>
          </a:ln>
        </p:spPr>
      </p:sp>
      <p:sp>
        <p:nvSpPr>
          <p:cNvPr id="62" name="anim_1_1456"/>
          <p:cNvSpPr txBox="1"/>
          <p:nvPr/>
        </p:nvSpPr>
        <p:spPr>
          <a:xfrm>
            <a:off x="4910328" y="4005072"/>
            <a:ext cx="138988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‪-0.240‬</a:t>
            </a:r>
            <a:endParaRPr lang="fa-IR" sz="1600" dirty="0"/>
          </a:p>
        </p:txBody>
      </p:sp>
      <p:sp>
        <p:nvSpPr>
          <p:cNvPr id="63" name="anim_1_1457"/>
          <p:cNvSpPr/>
          <p:nvPr/>
        </p:nvSpPr>
        <p:spPr>
          <a:xfrm>
            <a:off x="3319272" y="4005072"/>
            <a:ext cx="1554480" cy="658368"/>
          </a:xfrm>
          <a:prstGeom prst="rect">
            <a:avLst/>
          </a:prstGeom>
          <a:solidFill>
            <a:srgbClr val="EEF3F8"/>
          </a:solidFill>
          <a:ln w="9525">
            <a:solidFill>
              <a:srgbClr val="C9D3DF"/>
            </a:solidFill>
            <a:prstDash val="solid"/>
          </a:ln>
        </p:spPr>
      </p:sp>
      <p:sp>
        <p:nvSpPr>
          <p:cNvPr id="64" name="anim_1_1458"/>
          <p:cNvSpPr txBox="1"/>
          <p:nvPr/>
        </p:nvSpPr>
        <p:spPr>
          <a:xfrm>
            <a:off x="3355848" y="4005072"/>
            <a:ext cx="148132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‪-34.029‬</a:t>
            </a:r>
            <a:endParaRPr lang="fa-IR" sz="1600" dirty="0"/>
          </a:p>
        </p:txBody>
      </p:sp>
      <p:sp>
        <p:nvSpPr>
          <p:cNvPr id="65" name="anim_1_1459"/>
          <p:cNvSpPr/>
          <p:nvPr/>
        </p:nvSpPr>
        <p:spPr>
          <a:xfrm>
            <a:off x="1673352" y="4005072"/>
            <a:ext cx="1645920" cy="658368"/>
          </a:xfrm>
          <a:prstGeom prst="rect">
            <a:avLst/>
          </a:prstGeom>
          <a:solidFill>
            <a:srgbClr val="EEF3F8"/>
          </a:solidFill>
          <a:ln w="9525">
            <a:solidFill>
              <a:srgbClr val="C9D3DF"/>
            </a:solidFill>
            <a:prstDash val="solid"/>
          </a:ln>
        </p:spPr>
      </p:sp>
      <p:sp>
        <p:nvSpPr>
          <p:cNvPr id="66" name="anim_1_1460"/>
          <p:cNvSpPr txBox="1"/>
          <p:nvPr/>
        </p:nvSpPr>
        <p:spPr>
          <a:xfrm>
            <a:off x="1709928" y="4005072"/>
            <a:ext cx="157276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‪&lt; 0.0001‬</a:t>
            </a:r>
            <a:endParaRPr lang="fa-IR" sz="1600" dirty="0"/>
          </a:p>
        </p:txBody>
      </p:sp>
      <p:sp>
        <p:nvSpPr>
          <p:cNvPr id="67" name="anim_1_1461"/>
          <p:cNvSpPr/>
          <p:nvPr/>
        </p:nvSpPr>
        <p:spPr>
          <a:xfrm>
            <a:off x="548640" y="4005072"/>
            <a:ext cx="1124712" cy="658368"/>
          </a:xfrm>
          <a:prstGeom prst="rect">
            <a:avLst/>
          </a:prstGeom>
          <a:solidFill>
            <a:srgbClr val="EEF3F8"/>
          </a:solidFill>
          <a:ln w="9525">
            <a:solidFill>
              <a:srgbClr val="C9D3DF"/>
            </a:solidFill>
            <a:prstDash val="solid"/>
          </a:ln>
        </p:spPr>
      </p:sp>
      <p:sp>
        <p:nvSpPr>
          <p:cNvPr id="68" name="anim_1_1462"/>
          <p:cNvSpPr txBox="1"/>
          <p:nvPr/>
        </p:nvSpPr>
        <p:spPr>
          <a:xfrm>
            <a:off x="585216" y="4005072"/>
            <a:ext cx="1051560"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عدم تأیید</a:t>
            </a:r>
            <a:endParaRPr lang="fa-IR" sz="1600" dirty="0"/>
          </a:p>
        </p:txBody>
      </p:sp>
      <p:sp>
        <p:nvSpPr>
          <p:cNvPr id="69" name="anim_1_1463"/>
          <p:cNvSpPr/>
          <p:nvPr/>
        </p:nvSpPr>
        <p:spPr>
          <a:xfrm>
            <a:off x="8622792" y="4663440"/>
            <a:ext cx="3017520" cy="658368"/>
          </a:xfrm>
          <a:prstGeom prst="rect">
            <a:avLst/>
          </a:prstGeom>
          <a:solidFill>
            <a:srgbClr val="FFFFFF"/>
          </a:solidFill>
          <a:ln w="9525">
            <a:solidFill>
              <a:srgbClr val="C9D3DF"/>
            </a:solidFill>
            <a:prstDash val="solid"/>
          </a:ln>
        </p:spPr>
      </p:sp>
      <p:sp>
        <p:nvSpPr>
          <p:cNvPr id="70" name="anim_1_1464"/>
          <p:cNvSpPr txBox="1"/>
          <p:nvPr/>
        </p:nvSpPr>
        <p:spPr>
          <a:xfrm>
            <a:off x="8659368" y="4663440"/>
            <a:ext cx="2944368" cy="658368"/>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5: ریکاوری و کیفیت آینده</a:t>
            </a:r>
            <a:endParaRPr lang="fa-IR" sz="1600" dirty="0"/>
          </a:p>
        </p:txBody>
      </p:sp>
      <p:sp>
        <p:nvSpPr>
          <p:cNvPr id="71" name="anim_1_1465"/>
          <p:cNvSpPr/>
          <p:nvPr/>
        </p:nvSpPr>
        <p:spPr>
          <a:xfrm>
            <a:off x="6336792" y="4663440"/>
            <a:ext cx="2286000" cy="658368"/>
          </a:xfrm>
          <a:prstGeom prst="rect">
            <a:avLst/>
          </a:prstGeom>
          <a:solidFill>
            <a:srgbClr val="FFFFFF"/>
          </a:solidFill>
          <a:ln w="9525">
            <a:solidFill>
              <a:srgbClr val="C9D3DF"/>
            </a:solidFill>
            <a:prstDash val="solid"/>
          </a:ln>
        </p:spPr>
      </p:sp>
      <p:sp>
        <p:nvSpPr>
          <p:cNvPr id="72" name="anim_1_1466"/>
          <p:cNvSpPr/>
          <p:nvPr/>
        </p:nvSpPr>
        <p:spPr>
          <a:xfrm>
            <a:off x="7054596" y="4818888"/>
            <a:ext cx="850392" cy="347472"/>
          </a:xfrm>
          <a:prstGeom prst="roundRect">
            <a:avLst>
              <a:gd name="adj" fmla="val 15789"/>
            </a:avLst>
          </a:prstGeom>
          <a:solidFill>
            <a:schemeClr val="accent1"/>
          </a:solidFill>
          <a:ln/>
        </p:spPr>
      </p:sp>
      <p:sp>
        <p:nvSpPr>
          <p:cNvPr id="73" name="anim_1_1467"/>
          <p:cNvSpPr txBox="1"/>
          <p:nvPr/>
        </p:nvSpPr>
        <p:spPr>
          <a:xfrm>
            <a:off x="7054596" y="4818888"/>
            <a:ext cx="850392"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COSTP</a:t>
            </a:r>
            <a:endParaRPr lang="en-US" sz="1300" dirty="0"/>
          </a:p>
        </p:txBody>
      </p:sp>
      <p:sp>
        <p:nvSpPr>
          <p:cNvPr id="74" name="anim_1_1468"/>
          <p:cNvSpPr/>
          <p:nvPr/>
        </p:nvSpPr>
        <p:spPr>
          <a:xfrm>
            <a:off x="4873752" y="4663440"/>
            <a:ext cx="1463040" cy="658368"/>
          </a:xfrm>
          <a:prstGeom prst="rect">
            <a:avLst/>
          </a:prstGeom>
          <a:solidFill>
            <a:srgbClr val="FFFFFF"/>
          </a:solidFill>
          <a:ln w="9525">
            <a:solidFill>
              <a:srgbClr val="C9D3DF"/>
            </a:solidFill>
            <a:prstDash val="solid"/>
          </a:ln>
        </p:spPr>
      </p:sp>
      <p:sp>
        <p:nvSpPr>
          <p:cNvPr id="75" name="anim_1_1469"/>
          <p:cNvSpPr txBox="1"/>
          <p:nvPr/>
        </p:nvSpPr>
        <p:spPr>
          <a:xfrm>
            <a:off x="4910328" y="4663440"/>
            <a:ext cx="138988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‪0.027‬</a:t>
            </a:r>
            <a:endParaRPr lang="fa-IR" sz="1600" dirty="0"/>
          </a:p>
        </p:txBody>
      </p:sp>
      <p:sp>
        <p:nvSpPr>
          <p:cNvPr id="76" name="anim_1_1470"/>
          <p:cNvSpPr/>
          <p:nvPr/>
        </p:nvSpPr>
        <p:spPr>
          <a:xfrm>
            <a:off x="3319272" y="4663440"/>
            <a:ext cx="1554480" cy="658368"/>
          </a:xfrm>
          <a:prstGeom prst="rect">
            <a:avLst/>
          </a:prstGeom>
          <a:solidFill>
            <a:srgbClr val="FFFFFF"/>
          </a:solidFill>
          <a:ln w="9525">
            <a:solidFill>
              <a:srgbClr val="C9D3DF"/>
            </a:solidFill>
            <a:prstDash val="solid"/>
          </a:ln>
        </p:spPr>
      </p:sp>
      <p:sp>
        <p:nvSpPr>
          <p:cNvPr id="77" name="anim_1_1471"/>
          <p:cNvSpPr txBox="1"/>
          <p:nvPr/>
        </p:nvSpPr>
        <p:spPr>
          <a:xfrm>
            <a:off x="3355848" y="4663440"/>
            <a:ext cx="148132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‪0.823‬</a:t>
            </a:r>
            <a:endParaRPr lang="fa-IR" sz="1600" dirty="0"/>
          </a:p>
        </p:txBody>
      </p:sp>
      <p:sp>
        <p:nvSpPr>
          <p:cNvPr id="78" name="anim_1_1472"/>
          <p:cNvSpPr/>
          <p:nvPr/>
        </p:nvSpPr>
        <p:spPr>
          <a:xfrm>
            <a:off x="1673352" y="4663440"/>
            <a:ext cx="1645920" cy="658368"/>
          </a:xfrm>
          <a:prstGeom prst="rect">
            <a:avLst/>
          </a:prstGeom>
          <a:solidFill>
            <a:srgbClr val="FFFFFF"/>
          </a:solidFill>
          <a:ln w="9525">
            <a:solidFill>
              <a:srgbClr val="C9D3DF"/>
            </a:solidFill>
            <a:prstDash val="solid"/>
          </a:ln>
        </p:spPr>
      </p:sp>
      <p:sp>
        <p:nvSpPr>
          <p:cNvPr id="79" name="anim_1_1473"/>
          <p:cNvSpPr txBox="1"/>
          <p:nvPr/>
        </p:nvSpPr>
        <p:spPr>
          <a:xfrm>
            <a:off x="1709928" y="4663440"/>
            <a:ext cx="1572768"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‪0.4108‬</a:t>
            </a:r>
            <a:endParaRPr lang="fa-IR" sz="1600" dirty="0"/>
          </a:p>
        </p:txBody>
      </p:sp>
      <p:sp>
        <p:nvSpPr>
          <p:cNvPr id="80" name="anim_1_1474"/>
          <p:cNvSpPr/>
          <p:nvPr/>
        </p:nvSpPr>
        <p:spPr>
          <a:xfrm>
            <a:off x="548640" y="4663440"/>
            <a:ext cx="1124712" cy="658368"/>
          </a:xfrm>
          <a:prstGeom prst="rect">
            <a:avLst/>
          </a:prstGeom>
          <a:solidFill>
            <a:srgbClr val="FFFFFF"/>
          </a:solidFill>
          <a:ln w="9525">
            <a:solidFill>
              <a:srgbClr val="C9D3DF"/>
            </a:solidFill>
            <a:prstDash val="solid"/>
          </a:ln>
        </p:spPr>
      </p:sp>
      <p:sp>
        <p:nvSpPr>
          <p:cNvPr id="81" name="anim_1_1475"/>
          <p:cNvSpPr txBox="1"/>
          <p:nvPr/>
        </p:nvSpPr>
        <p:spPr>
          <a:xfrm>
            <a:off x="585216" y="4663440"/>
            <a:ext cx="1051560" cy="658368"/>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تأیید</a:t>
            </a:r>
            <a:endParaRPr lang="fa-IR" sz="1600" dirty="0"/>
          </a:p>
        </p:txBody>
      </p:sp>
      <p:sp>
        <p:nvSpPr>
          <p:cNvPr id="82" name="anim_2_1476"/>
          <p:cNvSpPr/>
          <p:nvPr/>
        </p:nvSpPr>
        <p:spPr>
          <a:xfrm>
            <a:off x="548640" y="5257800"/>
            <a:ext cx="11091672" cy="1005840"/>
          </a:xfrm>
          <a:prstGeom prst="roundRect">
            <a:avLst>
              <a:gd name="adj" fmla="val 10909"/>
            </a:avLst>
          </a:prstGeom>
          <a:solidFill>
            <a:schemeClr val="tx2"/>
          </a:solidFill>
          <a:ln/>
          <a:effectLst>
            <a:outerShdw sx="100000" sy="100000" kx="0" ky="0" algn="bl" rotWithShape="0" blurRad="101600" dist="25400" dir="5400000">
              <a:srgbClr val="000000">
                <a:alpha val="12000"/>
              </a:srgbClr>
            </a:outerShdw>
          </a:effectLst>
        </p:spPr>
      </p:sp>
      <p:sp>
        <p:nvSpPr>
          <p:cNvPr id="83" name="anim_2_1477"/>
          <p:cNvSpPr txBox="1"/>
          <p:nvPr/>
        </p:nvSpPr>
        <p:spPr>
          <a:xfrm>
            <a:off x="822960" y="5285232"/>
            <a:ext cx="10543032" cy="950976"/>
          </a:xfrm>
          <a:prstGeom prst="rect">
            <a:avLst/>
          </a:prstGeom>
          <a:noFill/>
          <a:ln/>
        </p:spPr>
        <p:txBody>
          <a:bodyPr wrap="square" lIns="0" tIns="0" rIns="0" bIns="0" rtlCol="0" anchor="ctr"/>
          <a:lstStyle/>
          <a:p>
            <a:pPr rtl="1" algn="r" indent="0" marL="0">
              <a:buNone/>
            </a:pPr>
            <a:r>
              <a:rPr lang="fa-IR" altLang="en-US" sz="1900" dirty="0">
                <a:solidFill>
                  <a:schemeClr val="bg1"/>
                </a:solidFill>
                <a:latin typeface="B Nazanin" pitchFamily="34" charset="0"/>
                <a:ea typeface="B Nazanin" pitchFamily="34" charset="-122"/>
                <a:cs typeface="B Nazanin" pitchFamily="34" charset="-120"/>
              </a:rPr>
              <a:t>چهار فرضیه تأیید و فرضیهٔ چهارم تأیید نشد. بازیابی عمدتاً از حق‌الزحمهٔ حسابرسی رخ می‌دهد، کانال خدمات غیرحسابرسی نقش فرعی دارد و بازیابی با افت معنادار کیفیت آینده همراه نیست.</a:t>
            </a:r>
            <a:endParaRPr lang="fa-IR" sz="19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25</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47"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par>
                                <p:cTn id="115" presetID="10" presetClass="entr" presetSubtype="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600"/>
                                        <p:tgtEl>
                                          <p:spTgt spid="40"/>
                                        </p:tgtEl>
                                      </p:cBhvr>
                                    </p:animEffect>
                                  </p:childTnLst>
                                </p:cTn>
                              </p:par>
                              <p:par>
                                <p:cTn id="118" presetID="10" presetClass="entr" presetSubtype="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600"/>
                                        <p:tgtEl>
                                          <p:spTgt spid="41"/>
                                        </p:tgtEl>
                                      </p:cBhvr>
                                    </p:animEffect>
                                  </p:childTnLst>
                                </p:cTn>
                              </p:par>
                              <p:par>
                                <p:cTn id="121" presetID="10" presetClass="entr" presetSubtype="0" fill="hold"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600"/>
                                        <p:tgtEl>
                                          <p:spTgt spid="42"/>
                                        </p:tgtEl>
                                      </p:cBhvr>
                                    </p:animEffect>
                                  </p:childTnLst>
                                </p:cTn>
                              </p:par>
                              <p:par>
                                <p:cTn id="124" presetID="10" presetClass="entr" presetSubtype="0" fill="hold"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600"/>
                                        <p:tgtEl>
                                          <p:spTgt spid="43"/>
                                        </p:tgtEl>
                                      </p:cBhvr>
                                    </p:animEffect>
                                  </p:childTnLst>
                                </p:cTn>
                              </p:par>
                              <p:par>
                                <p:cTn id="127" presetID="10" presetClass="entr" presetSubtype="0" fill="hold"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600"/>
                                        <p:tgtEl>
                                          <p:spTgt spid="44"/>
                                        </p:tgtEl>
                                      </p:cBhvr>
                                    </p:animEffect>
                                  </p:childTnLst>
                                </p:cTn>
                              </p:par>
                              <p:par>
                                <p:cTn id="130" presetID="10" presetClass="entr" presetSubtype="0" fill="hold"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600"/>
                                        <p:tgtEl>
                                          <p:spTgt spid="45"/>
                                        </p:tgtEl>
                                      </p:cBhvr>
                                    </p:animEffect>
                                  </p:childTnLst>
                                </p:cTn>
                              </p:par>
                              <p:par>
                                <p:cTn id="133" presetID="10" presetClass="entr" presetSubtype="0" fill="hold"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600"/>
                                        <p:tgtEl>
                                          <p:spTgt spid="46"/>
                                        </p:tgtEl>
                                      </p:cBhvr>
                                    </p:animEffect>
                                  </p:childTnLst>
                                </p:cTn>
                              </p:par>
                              <p:par>
                                <p:cTn id="136" presetID="10" presetClass="entr" presetSubtype="0" fill="hold"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600"/>
                                        <p:tgtEl>
                                          <p:spTgt spid="47"/>
                                        </p:tgtEl>
                                      </p:cBhvr>
                                    </p:animEffect>
                                  </p:childTnLst>
                                </p:cTn>
                              </p:par>
                              <p:par>
                                <p:cTn id="139" presetID="10" presetClass="entr" presetSubtype="0" fill="hold" nodeType="withEffect">
                                  <p:stCondLst>
                                    <p:cond delay="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600"/>
                                        <p:tgtEl>
                                          <p:spTgt spid="48"/>
                                        </p:tgtEl>
                                      </p:cBhvr>
                                    </p:animEffect>
                                  </p:childTnLst>
                                </p:cTn>
                              </p:par>
                              <p:par>
                                <p:cTn id="142" presetID="10" presetClass="entr" presetSubtype="0" fill="hold" nodeType="withEffect">
                                  <p:stCondLst>
                                    <p:cond delay="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600"/>
                                        <p:tgtEl>
                                          <p:spTgt spid="49"/>
                                        </p:tgtEl>
                                      </p:cBhvr>
                                    </p:animEffect>
                                  </p:childTnLst>
                                </p:cTn>
                              </p:par>
                              <p:par>
                                <p:cTn id="145" presetID="10"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600"/>
                                        <p:tgtEl>
                                          <p:spTgt spid="50"/>
                                        </p:tgtEl>
                                      </p:cBhvr>
                                    </p:animEffect>
                                  </p:childTnLst>
                                </p:cTn>
                              </p:par>
                              <p:par>
                                <p:cTn id="148" presetID="10" presetClass="entr" presetSubtype="0" fill="hold" nodeType="withEffect">
                                  <p:stCondLst>
                                    <p:cond delay="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600"/>
                                        <p:tgtEl>
                                          <p:spTgt spid="51"/>
                                        </p:tgtEl>
                                      </p:cBhvr>
                                    </p:animEffect>
                                  </p:childTnLst>
                                </p:cTn>
                              </p:par>
                              <p:par>
                                <p:cTn id="151" presetID="10" presetClass="entr" presetSubtype="0" fill="hold" nodeType="withEffect">
                                  <p:stCondLst>
                                    <p:cond delay="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600"/>
                                        <p:tgtEl>
                                          <p:spTgt spid="52"/>
                                        </p:tgtEl>
                                      </p:cBhvr>
                                    </p:animEffect>
                                  </p:childTnLst>
                                </p:cTn>
                              </p:par>
                              <p:par>
                                <p:cTn id="154" presetID="10" presetClass="entr" presetSubtype="0" fill="hold" nodeType="with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600"/>
                                        <p:tgtEl>
                                          <p:spTgt spid="53"/>
                                        </p:tgtEl>
                                      </p:cBhvr>
                                    </p:animEffect>
                                  </p:childTnLst>
                                </p:cTn>
                              </p:par>
                              <p:par>
                                <p:cTn id="157" presetID="10" presetClass="entr" presetSubtype="0" fill="hold" nodeType="with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600"/>
                                        <p:tgtEl>
                                          <p:spTgt spid="54"/>
                                        </p:tgtEl>
                                      </p:cBhvr>
                                    </p:animEffect>
                                  </p:childTnLst>
                                </p:cTn>
                              </p:par>
                              <p:par>
                                <p:cTn id="160" presetID="10" presetClass="entr" presetSubtype="0" fill="hold" nodeType="with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00"/>
                                        <p:tgtEl>
                                          <p:spTgt spid="55"/>
                                        </p:tgtEl>
                                      </p:cBhvr>
                                    </p:animEffect>
                                  </p:childTnLst>
                                </p:cTn>
                              </p:par>
                              <p:par>
                                <p:cTn id="163" presetID="10" presetClass="entr" presetSubtype="0" fill="hold"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600"/>
                                        <p:tgtEl>
                                          <p:spTgt spid="56"/>
                                        </p:tgtEl>
                                      </p:cBhvr>
                                    </p:animEffect>
                                  </p:childTnLst>
                                </p:cTn>
                              </p:par>
                              <p:par>
                                <p:cTn id="166" presetID="10" presetClass="entr" presetSubtype="0" fill="hold"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600"/>
                                        <p:tgtEl>
                                          <p:spTgt spid="57"/>
                                        </p:tgtEl>
                                      </p:cBhvr>
                                    </p:animEffect>
                                  </p:childTnLst>
                                </p:cTn>
                              </p:par>
                              <p:par>
                                <p:cTn id="169" presetID="10" presetClass="entr" presetSubtype="0" fill="hold"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600"/>
                                        <p:tgtEl>
                                          <p:spTgt spid="58"/>
                                        </p:tgtEl>
                                      </p:cBhvr>
                                    </p:animEffect>
                                  </p:childTnLst>
                                </p:cTn>
                              </p:par>
                              <p:par>
                                <p:cTn id="172" presetID="10" presetClass="entr" presetSubtype="0" fill="hold"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600"/>
                                        <p:tgtEl>
                                          <p:spTgt spid="59"/>
                                        </p:tgtEl>
                                      </p:cBhvr>
                                    </p:animEffect>
                                  </p:childTnLst>
                                </p:cTn>
                              </p:par>
                              <p:par>
                                <p:cTn id="175" presetID="10" presetClass="entr" presetSubtype="0" fill="hold" nodeType="with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600"/>
                                        <p:tgtEl>
                                          <p:spTgt spid="60"/>
                                        </p:tgtEl>
                                      </p:cBhvr>
                                    </p:animEffect>
                                  </p:childTnLst>
                                </p:cTn>
                              </p:par>
                              <p:par>
                                <p:cTn id="178" presetID="10" presetClass="entr" presetSubtype="0" fill="hold" nodeType="withEffect">
                                  <p:stCondLst>
                                    <p:cond delay="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600"/>
                                        <p:tgtEl>
                                          <p:spTgt spid="61"/>
                                        </p:tgtEl>
                                      </p:cBhvr>
                                    </p:animEffect>
                                  </p:childTnLst>
                                </p:cTn>
                              </p:par>
                              <p:par>
                                <p:cTn id="181" presetID="10" presetClass="entr" presetSubtype="0" fill="hold"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600"/>
                                        <p:tgtEl>
                                          <p:spTgt spid="62"/>
                                        </p:tgtEl>
                                      </p:cBhvr>
                                    </p:animEffect>
                                  </p:childTnLst>
                                </p:cTn>
                              </p:par>
                              <p:par>
                                <p:cTn id="184" presetID="10" presetClass="entr" presetSubtype="0" fill="hold" nodeType="with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600"/>
                                        <p:tgtEl>
                                          <p:spTgt spid="63"/>
                                        </p:tgtEl>
                                      </p:cBhvr>
                                    </p:animEffect>
                                  </p:childTnLst>
                                </p:cTn>
                              </p:par>
                              <p:par>
                                <p:cTn id="187" presetID="10" presetClass="entr" presetSubtype="0" fill="hold"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600"/>
                                        <p:tgtEl>
                                          <p:spTgt spid="64"/>
                                        </p:tgtEl>
                                      </p:cBhvr>
                                    </p:animEffect>
                                  </p:childTnLst>
                                </p:cTn>
                              </p:par>
                              <p:par>
                                <p:cTn id="190" presetID="10" presetClass="entr" presetSubtype="0" fill="hold"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600"/>
                                        <p:tgtEl>
                                          <p:spTgt spid="65"/>
                                        </p:tgtEl>
                                      </p:cBhvr>
                                    </p:animEffect>
                                  </p:childTnLst>
                                </p:cTn>
                              </p:par>
                              <p:par>
                                <p:cTn id="193" presetID="10" presetClass="entr" presetSubtype="0" fill="hold"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600"/>
                                        <p:tgtEl>
                                          <p:spTgt spid="66"/>
                                        </p:tgtEl>
                                      </p:cBhvr>
                                    </p:animEffect>
                                  </p:childTnLst>
                                </p:cTn>
                              </p:par>
                              <p:par>
                                <p:cTn id="196" presetID="10" presetClass="entr" presetSubtype="0" fill="hold" nodeType="withEffect">
                                  <p:stCondLst>
                                    <p:cond delay="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600"/>
                                        <p:tgtEl>
                                          <p:spTgt spid="67"/>
                                        </p:tgtEl>
                                      </p:cBhvr>
                                    </p:animEffect>
                                  </p:childTnLst>
                                </p:cTn>
                              </p:par>
                              <p:par>
                                <p:cTn id="199" presetID="10" presetClass="entr" presetSubtype="0" fill="hold" nodeType="withEffect">
                                  <p:stCondLst>
                                    <p:cond delay="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600"/>
                                        <p:tgtEl>
                                          <p:spTgt spid="68"/>
                                        </p:tgtEl>
                                      </p:cBhvr>
                                    </p:animEffect>
                                  </p:childTnLst>
                                </p:cTn>
                              </p:par>
                              <p:par>
                                <p:cTn id="202" presetID="10" presetClass="entr" presetSubtype="0" fill="hold" nodeType="withEffect">
                                  <p:stCondLst>
                                    <p:cond delay="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600"/>
                                        <p:tgtEl>
                                          <p:spTgt spid="69"/>
                                        </p:tgtEl>
                                      </p:cBhvr>
                                    </p:animEffect>
                                  </p:childTnLst>
                                </p:cTn>
                              </p:par>
                              <p:par>
                                <p:cTn id="205" presetID="10" presetClass="entr" presetSubtype="0" fill="hold" nodeType="withEffect">
                                  <p:stCondLst>
                                    <p:cond delay="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600"/>
                                        <p:tgtEl>
                                          <p:spTgt spid="70"/>
                                        </p:tgtEl>
                                      </p:cBhvr>
                                    </p:animEffect>
                                  </p:childTnLst>
                                </p:cTn>
                              </p:par>
                              <p:par>
                                <p:cTn id="208" presetID="10" presetClass="entr" presetSubtype="0" fill="hold" nodeType="withEffect">
                                  <p:stCondLst>
                                    <p:cond delay="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600"/>
                                        <p:tgtEl>
                                          <p:spTgt spid="71"/>
                                        </p:tgtEl>
                                      </p:cBhvr>
                                    </p:animEffect>
                                  </p:childTnLst>
                                </p:cTn>
                              </p:par>
                              <p:par>
                                <p:cTn id="211" presetID="10" presetClass="entr" presetSubtype="0" fill="hold" nodeType="withEffect">
                                  <p:stCondLst>
                                    <p:cond delay="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600"/>
                                        <p:tgtEl>
                                          <p:spTgt spid="72"/>
                                        </p:tgtEl>
                                      </p:cBhvr>
                                    </p:animEffect>
                                  </p:childTnLst>
                                </p:cTn>
                              </p:par>
                              <p:par>
                                <p:cTn id="214" presetID="10" presetClass="entr" presetSubtype="0" fill="hold" nodeType="withEffect">
                                  <p:stCondLst>
                                    <p:cond delay="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600"/>
                                        <p:tgtEl>
                                          <p:spTgt spid="73"/>
                                        </p:tgtEl>
                                      </p:cBhvr>
                                    </p:animEffect>
                                  </p:childTnLst>
                                </p:cTn>
                              </p:par>
                              <p:par>
                                <p:cTn id="217" presetID="10" presetClass="entr" presetSubtype="0" fill="hold" nodeType="withEffect">
                                  <p:stCondLst>
                                    <p:cond delay="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600"/>
                                        <p:tgtEl>
                                          <p:spTgt spid="74"/>
                                        </p:tgtEl>
                                      </p:cBhvr>
                                    </p:animEffect>
                                  </p:childTnLst>
                                </p:cTn>
                              </p:par>
                              <p:par>
                                <p:cTn id="220" presetID="10" presetClass="entr" presetSubtype="0" fill="hold" nodeType="withEffect">
                                  <p:stCondLst>
                                    <p:cond delay="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600"/>
                                        <p:tgtEl>
                                          <p:spTgt spid="75"/>
                                        </p:tgtEl>
                                      </p:cBhvr>
                                    </p:animEffect>
                                  </p:childTnLst>
                                </p:cTn>
                              </p:par>
                              <p:par>
                                <p:cTn id="223" presetID="10" presetClass="entr" presetSubtype="0" fill="hold" nodeType="withEffect">
                                  <p:stCondLst>
                                    <p:cond delay="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600"/>
                                        <p:tgtEl>
                                          <p:spTgt spid="76"/>
                                        </p:tgtEl>
                                      </p:cBhvr>
                                    </p:animEffect>
                                  </p:childTnLst>
                                </p:cTn>
                              </p:par>
                              <p:par>
                                <p:cTn id="226" presetID="10" presetClass="entr" presetSubtype="0" fill="hold" nodeType="withEffect">
                                  <p:stCondLst>
                                    <p:cond delay="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600"/>
                                        <p:tgtEl>
                                          <p:spTgt spid="77"/>
                                        </p:tgtEl>
                                      </p:cBhvr>
                                    </p:animEffect>
                                  </p:childTnLst>
                                </p:cTn>
                              </p:par>
                              <p:par>
                                <p:cTn id="229" presetID="10" presetClass="entr" presetSubtype="0" fill="hold" nodeType="with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6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600"/>
                                        <p:tgtEl>
                                          <p:spTgt spid="79"/>
                                        </p:tgtEl>
                                      </p:cBhvr>
                                    </p:animEffect>
                                  </p:childTnLst>
                                </p:cTn>
                              </p:par>
                              <p:par>
                                <p:cTn id="235" presetID="10" presetClass="entr" presetSubtype="0" fill="hold"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6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600"/>
                                        <p:tgtEl>
                                          <p:spTgt spid="81"/>
                                        </p:tgtEl>
                                      </p:cBhvr>
                                    </p:animEffect>
                                  </p:childTnLst>
                                </p:cTn>
                              </p:par>
                              <p:par>
                                <p:cTn id="241" presetID="10" presetClass="entr" presetSubtype="0" fill="hold" nodeType="withEffect">
                                  <p:stCondLst>
                                    <p:cond delay="35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600"/>
                                        <p:tgtEl>
                                          <p:spTgt spid="82"/>
                                        </p:tgtEl>
                                      </p:cBhvr>
                                    </p:animEffect>
                                  </p:childTnLst>
                                </p:cTn>
                              </p:par>
                              <p:par>
                                <p:cTn id="244" presetID="10" presetClass="entr" presetSubtype="0" fill="hold" nodeType="withEffect">
                                  <p:stCondLst>
                                    <p:cond delay="35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6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نگاه تصویری به یافته‌ها</a:t>
            </a:r>
            <a:endParaRPr lang="fa-IR" sz="3400" dirty="0"/>
          </a:p>
        </p:txBody>
      </p:sp>
      <p:graphicFrame>
        <p:nvGraphicFramePr>
          <p:cNvPr id="3" name="anim_1_1478" descr=""/>
          <p:cNvGraphicFramePr/>
          <p:nvPr/>
        </p:nvGraphicFramePr>
        <p:xfrm>
          <a:off x="548640" y="1280160"/>
          <a:ext cx="55778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anim_2_1479" descr=""/>
          <p:cNvGraphicFramePr/>
          <p:nvPr/>
        </p:nvGraphicFramePr>
        <p:xfrm>
          <a:off x="6309360" y="1280160"/>
          <a:ext cx="5349240" cy="3931920"/>
        </p:xfrm>
        <a:graphic xmlns:a="http://schemas.openxmlformats.org/drawingml/2006/main">
          <a:graphicData uri="http://schemas.openxmlformats.org/drawingml/2006/chart">
            <c:chart xmlns:c="http://schemas.openxmlformats.org/drawingml/2006/chart" r:id="rId2"/>
          </a:graphicData>
        </a:graphic>
      </p:graphicFrame>
      <p:sp>
        <p:nvSpPr>
          <p:cNvPr id="5" name="anim_3_1480"/>
          <p:cNvSpPr/>
          <p:nvPr/>
        </p:nvSpPr>
        <p:spPr>
          <a:xfrm>
            <a:off x="548640" y="5349240"/>
            <a:ext cx="11091672" cy="960120"/>
          </a:xfrm>
          <a:prstGeom prst="roundRect">
            <a:avLst>
              <a:gd name="adj" fmla="val 11429"/>
            </a:avLst>
          </a:prstGeom>
          <a:solidFill>
            <a:schemeClr val="tx2"/>
          </a:solidFill>
          <a:ln/>
          <a:effectLst>
            <a:outerShdw sx="100000" sy="100000" kx="0" ky="0" algn="bl" rotWithShape="0" blurRad="101600" dist="25400" dir="5400000">
              <a:srgbClr val="000000">
                <a:alpha val="12000"/>
              </a:srgbClr>
            </a:outerShdw>
          </a:effectLst>
        </p:spPr>
      </p:sp>
      <p:sp>
        <p:nvSpPr>
          <p:cNvPr id="6" name="anim_3_1481"/>
          <p:cNvSpPr txBox="1"/>
          <p:nvPr/>
        </p:nvSpPr>
        <p:spPr>
          <a:xfrm>
            <a:off x="822960" y="5376672"/>
            <a:ext cx="10543032" cy="914400"/>
          </a:xfrm>
          <a:prstGeom prst="rect">
            <a:avLst/>
          </a:prstGeom>
          <a:noFill/>
          <a:ln/>
        </p:spPr>
        <p:txBody>
          <a:bodyPr wrap="square" lIns="0" tIns="0" rIns="0" bIns="0" rtlCol="0" anchor="ctr"/>
          <a:lstStyle/>
          <a:p>
            <a:pPr rtl="1" algn="r" indent="0" marL="0">
              <a:buNone/>
            </a:pPr>
            <a:r>
              <a:rPr lang="fa-IR" altLang="en-US" sz="1800" dirty="0">
                <a:solidFill>
                  <a:schemeClr val="bg1"/>
                </a:solidFill>
                <a:latin typeface="B Nazanin" pitchFamily="34" charset="0"/>
                <a:ea typeface="B Nazanin" pitchFamily="34" charset="-122"/>
                <a:cs typeface="B Nazanin" pitchFamily="34" charset="-120"/>
              </a:rPr>
              <a:t>ضرایب فرضیه‌های 1 تا 4 منفی‌اند و ضریب فرضیهٔ 5 نزدیک صفر است. ضرایب تعیین از 0.15 تا 0.58 متغیر است؛ مدل‌های ریکاوری و خدمات غیرحسابرسی بیشترین قدرت توضیحی را دارند.</a:t>
            </a:r>
            <a:endParaRPr lang="fa-IR" sz="18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3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7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7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مقایسه با پژوهش‌های پیشین: انطباق و مغایرت</a:t>
            </a:r>
            <a:endParaRPr lang="fa-IR" sz="3400" dirty="0"/>
          </a:p>
        </p:txBody>
      </p:sp>
      <p:sp>
        <p:nvSpPr>
          <p:cNvPr id="3" name="anim_1_1482"/>
          <p:cNvSpPr/>
          <p:nvPr/>
        </p:nvSpPr>
        <p:spPr>
          <a:xfrm>
            <a:off x="10634472" y="1234440"/>
            <a:ext cx="1005840" cy="713232"/>
          </a:xfrm>
          <a:prstGeom prst="rect">
            <a:avLst/>
          </a:prstGeom>
          <a:solidFill>
            <a:schemeClr val="tx2"/>
          </a:solidFill>
          <a:ln w="9525">
            <a:solidFill>
              <a:srgbClr val="C9D3DF"/>
            </a:solidFill>
            <a:prstDash val="solid"/>
          </a:ln>
        </p:spPr>
      </p:sp>
      <p:sp>
        <p:nvSpPr>
          <p:cNvPr id="4" name="anim_1_1483"/>
          <p:cNvSpPr txBox="1"/>
          <p:nvPr/>
        </p:nvSpPr>
        <p:spPr>
          <a:xfrm>
            <a:off x="10671048" y="1234440"/>
            <a:ext cx="932688" cy="713232"/>
          </a:xfrm>
          <a:prstGeom prst="rect">
            <a:avLst/>
          </a:prstGeom>
          <a:noFill/>
          <a:ln/>
        </p:spPr>
        <p:txBody>
          <a:bodyPr wrap="square" lIns="254" tIns="254" rIns="254" bIns="254" rtlCol="0" anchor="ctr"/>
          <a:lstStyle/>
          <a:p>
            <a:pPr rtl="1" algn="ctr" indent="0" marL="0">
              <a:buNone/>
            </a:pPr>
            <a:r>
              <a:rPr lang="fa-IR" altLang="en-US" sz="1600" b="1" dirty="0">
                <a:solidFill>
                  <a:schemeClr val="bg1"/>
                </a:solidFill>
                <a:latin typeface="B Nazanin" pitchFamily="34" charset="0"/>
                <a:ea typeface="B Nazanin" pitchFamily="34" charset="-122"/>
                <a:cs typeface="B Nazanin" pitchFamily="34" charset="-120"/>
              </a:rPr>
              <a:t>فرضیه</a:t>
            </a:r>
            <a:endParaRPr lang="fa-IR" sz="1600" dirty="0"/>
          </a:p>
        </p:txBody>
      </p:sp>
      <p:sp>
        <p:nvSpPr>
          <p:cNvPr id="5" name="anim_1_1484"/>
          <p:cNvSpPr/>
          <p:nvPr/>
        </p:nvSpPr>
        <p:spPr>
          <a:xfrm>
            <a:off x="4873752" y="1234440"/>
            <a:ext cx="5760720" cy="713232"/>
          </a:xfrm>
          <a:prstGeom prst="rect">
            <a:avLst/>
          </a:prstGeom>
          <a:solidFill>
            <a:schemeClr val="tx2"/>
          </a:solidFill>
          <a:ln w="9525">
            <a:solidFill>
              <a:srgbClr val="C9D3DF"/>
            </a:solidFill>
            <a:prstDash val="solid"/>
          </a:ln>
        </p:spPr>
      </p:sp>
      <p:sp>
        <p:nvSpPr>
          <p:cNvPr id="6" name="anim_1_1485"/>
          <p:cNvSpPr txBox="1"/>
          <p:nvPr/>
        </p:nvSpPr>
        <p:spPr>
          <a:xfrm>
            <a:off x="4910328" y="1234440"/>
            <a:ext cx="5687568" cy="713232"/>
          </a:xfrm>
          <a:prstGeom prst="rect">
            <a:avLst/>
          </a:prstGeom>
          <a:noFill/>
          <a:ln/>
        </p:spPr>
        <p:txBody>
          <a:bodyPr wrap="square" lIns="254" tIns="254" rIns="254" bIns="254" rtlCol="0" anchor="ctr"/>
          <a:lstStyle/>
          <a:p>
            <a:pPr rtl="1" algn="r" indent="0" marL="0">
              <a:buNone/>
            </a:pPr>
            <a:r>
              <a:rPr lang="fa-IR" altLang="en-US" sz="1600" b="1" dirty="0">
                <a:solidFill>
                  <a:schemeClr val="bg1"/>
                </a:solidFill>
                <a:latin typeface="B Nazanin" pitchFamily="34" charset="0"/>
                <a:ea typeface="B Nazanin" pitchFamily="34" charset="-122"/>
                <a:cs typeface="B Nazanin" pitchFamily="34" charset="-120"/>
              </a:rPr>
              <a:t>انطباق (همسو)</a:t>
            </a:r>
            <a:endParaRPr lang="fa-IR" sz="1600" dirty="0"/>
          </a:p>
        </p:txBody>
      </p:sp>
      <p:sp>
        <p:nvSpPr>
          <p:cNvPr id="7" name="anim_1_1486"/>
          <p:cNvSpPr/>
          <p:nvPr/>
        </p:nvSpPr>
        <p:spPr>
          <a:xfrm>
            <a:off x="548640" y="1234440"/>
            <a:ext cx="4325112" cy="713232"/>
          </a:xfrm>
          <a:prstGeom prst="rect">
            <a:avLst/>
          </a:prstGeom>
          <a:solidFill>
            <a:schemeClr val="tx2"/>
          </a:solidFill>
          <a:ln w="9525">
            <a:solidFill>
              <a:srgbClr val="C9D3DF"/>
            </a:solidFill>
            <a:prstDash val="solid"/>
          </a:ln>
        </p:spPr>
      </p:sp>
      <p:sp>
        <p:nvSpPr>
          <p:cNvPr id="8" name="anim_1_1487"/>
          <p:cNvSpPr txBox="1"/>
          <p:nvPr/>
        </p:nvSpPr>
        <p:spPr>
          <a:xfrm>
            <a:off x="585216" y="1234440"/>
            <a:ext cx="4251960" cy="713232"/>
          </a:xfrm>
          <a:prstGeom prst="rect">
            <a:avLst/>
          </a:prstGeom>
          <a:noFill/>
          <a:ln/>
        </p:spPr>
        <p:txBody>
          <a:bodyPr wrap="square" lIns="254" tIns="254" rIns="254" bIns="254" rtlCol="0" anchor="ctr"/>
          <a:lstStyle/>
          <a:p>
            <a:pPr rtl="1" algn="r" indent="0" marL="0">
              <a:buNone/>
            </a:pPr>
            <a:r>
              <a:rPr lang="fa-IR" altLang="en-US" sz="1600" b="1" dirty="0">
                <a:solidFill>
                  <a:schemeClr val="bg1"/>
                </a:solidFill>
                <a:latin typeface="B Nazanin" pitchFamily="34" charset="0"/>
                <a:ea typeface="B Nazanin" pitchFamily="34" charset="-122"/>
                <a:cs typeface="B Nazanin" pitchFamily="34" charset="-120"/>
              </a:rPr>
              <a:t>مغایرت (ناهمسو)</a:t>
            </a:r>
            <a:endParaRPr lang="fa-IR" sz="1600" dirty="0"/>
          </a:p>
        </p:txBody>
      </p:sp>
      <p:sp>
        <p:nvSpPr>
          <p:cNvPr id="9" name="anim_1_1488"/>
          <p:cNvSpPr/>
          <p:nvPr/>
        </p:nvSpPr>
        <p:spPr>
          <a:xfrm>
            <a:off x="10634472" y="1947672"/>
            <a:ext cx="1005840" cy="713232"/>
          </a:xfrm>
          <a:prstGeom prst="rect">
            <a:avLst/>
          </a:prstGeom>
          <a:solidFill>
            <a:srgbClr val="FFFFFF"/>
          </a:solidFill>
          <a:ln w="9525">
            <a:solidFill>
              <a:srgbClr val="C9D3DF"/>
            </a:solidFill>
            <a:prstDash val="solid"/>
          </a:ln>
        </p:spPr>
      </p:sp>
      <p:sp>
        <p:nvSpPr>
          <p:cNvPr id="10" name="anim_1_1489"/>
          <p:cNvSpPr txBox="1"/>
          <p:nvPr/>
        </p:nvSpPr>
        <p:spPr>
          <a:xfrm>
            <a:off x="10671048" y="1947672"/>
            <a:ext cx="932688" cy="713232"/>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‪1‬</a:t>
            </a:r>
            <a:endParaRPr lang="fa-IR" sz="1600" dirty="0"/>
          </a:p>
        </p:txBody>
      </p:sp>
      <p:sp>
        <p:nvSpPr>
          <p:cNvPr id="11" name="anim_1_1490"/>
          <p:cNvSpPr/>
          <p:nvPr/>
        </p:nvSpPr>
        <p:spPr>
          <a:xfrm>
            <a:off x="4873752" y="1947672"/>
            <a:ext cx="5760720" cy="713232"/>
          </a:xfrm>
          <a:prstGeom prst="rect">
            <a:avLst/>
          </a:prstGeom>
          <a:solidFill>
            <a:srgbClr val="FFFFFF"/>
          </a:solidFill>
          <a:ln w="9525">
            <a:solidFill>
              <a:srgbClr val="C9D3DF"/>
            </a:solidFill>
            <a:prstDash val="solid"/>
          </a:ln>
        </p:spPr>
      </p:sp>
      <p:sp>
        <p:nvSpPr>
          <p:cNvPr id="12" name="anim_1_1491"/>
          <p:cNvSpPr txBox="1"/>
          <p:nvPr/>
        </p:nvSpPr>
        <p:spPr>
          <a:xfrm>
            <a:off x="4910328" y="1947672"/>
            <a:ext cx="5687568"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کروب و همکاران (2014)؛ باروا و همکاران (2020)؛ نواک و نچل (2023)</a:t>
            </a:r>
            <a:endParaRPr lang="fa-IR" sz="1600" dirty="0"/>
          </a:p>
        </p:txBody>
      </p:sp>
      <p:sp>
        <p:nvSpPr>
          <p:cNvPr id="13" name="anim_1_1492"/>
          <p:cNvSpPr/>
          <p:nvPr/>
        </p:nvSpPr>
        <p:spPr>
          <a:xfrm>
            <a:off x="548640" y="1947672"/>
            <a:ext cx="4325112" cy="713232"/>
          </a:xfrm>
          <a:prstGeom prst="rect">
            <a:avLst/>
          </a:prstGeom>
          <a:solidFill>
            <a:srgbClr val="FFFFFF"/>
          </a:solidFill>
          <a:ln w="9525">
            <a:solidFill>
              <a:srgbClr val="C9D3DF"/>
            </a:solidFill>
            <a:prstDash val="solid"/>
          </a:ln>
        </p:spPr>
      </p:sp>
      <p:sp>
        <p:nvSpPr>
          <p:cNvPr id="14" name="anim_1_1493"/>
          <p:cNvSpPr txBox="1"/>
          <p:nvPr/>
        </p:nvSpPr>
        <p:spPr>
          <a:xfrm>
            <a:off x="585216" y="1947672"/>
            <a:ext cx="4251960"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چو و همکاران (2020)؛ سیمونیک (1984)</a:t>
            </a:r>
            <a:endParaRPr lang="fa-IR" sz="1600" dirty="0"/>
          </a:p>
        </p:txBody>
      </p:sp>
      <p:sp>
        <p:nvSpPr>
          <p:cNvPr id="15" name="anim_1_1494"/>
          <p:cNvSpPr/>
          <p:nvPr/>
        </p:nvSpPr>
        <p:spPr>
          <a:xfrm>
            <a:off x="10634472" y="2660904"/>
            <a:ext cx="1005840" cy="713232"/>
          </a:xfrm>
          <a:prstGeom prst="rect">
            <a:avLst/>
          </a:prstGeom>
          <a:solidFill>
            <a:srgbClr val="EEF3F8"/>
          </a:solidFill>
          <a:ln w="9525">
            <a:solidFill>
              <a:srgbClr val="C9D3DF"/>
            </a:solidFill>
            <a:prstDash val="solid"/>
          </a:ln>
        </p:spPr>
      </p:sp>
      <p:sp>
        <p:nvSpPr>
          <p:cNvPr id="16" name="anim_1_1495"/>
          <p:cNvSpPr txBox="1"/>
          <p:nvPr/>
        </p:nvSpPr>
        <p:spPr>
          <a:xfrm>
            <a:off x="10671048" y="2660904"/>
            <a:ext cx="932688" cy="713232"/>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‪2‬</a:t>
            </a:r>
            <a:endParaRPr lang="fa-IR" sz="1600" dirty="0"/>
          </a:p>
        </p:txBody>
      </p:sp>
      <p:sp>
        <p:nvSpPr>
          <p:cNvPr id="17" name="anim_1_1496"/>
          <p:cNvSpPr/>
          <p:nvPr/>
        </p:nvSpPr>
        <p:spPr>
          <a:xfrm>
            <a:off x="4873752" y="2660904"/>
            <a:ext cx="5760720" cy="713232"/>
          </a:xfrm>
          <a:prstGeom prst="rect">
            <a:avLst/>
          </a:prstGeom>
          <a:solidFill>
            <a:srgbClr val="EEF3F8"/>
          </a:solidFill>
          <a:ln w="9525">
            <a:solidFill>
              <a:srgbClr val="C9D3DF"/>
            </a:solidFill>
            <a:prstDash val="solid"/>
          </a:ln>
        </p:spPr>
      </p:sp>
      <p:sp>
        <p:nvSpPr>
          <p:cNvPr id="18" name="anim_1_1497"/>
          <p:cNvSpPr txBox="1"/>
          <p:nvPr/>
        </p:nvSpPr>
        <p:spPr>
          <a:xfrm>
            <a:off x="4910328" y="2660904"/>
            <a:ext cx="5687568"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رشیدی و حاجی‌زاده (1403)؛ چو و همکاران (2020)؛ کارسون و فارگر (2007)</a:t>
            </a:r>
            <a:endParaRPr lang="fa-IR" sz="1600" dirty="0"/>
          </a:p>
        </p:txBody>
      </p:sp>
      <p:sp>
        <p:nvSpPr>
          <p:cNvPr id="19" name="anim_1_1498"/>
          <p:cNvSpPr/>
          <p:nvPr/>
        </p:nvSpPr>
        <p:spPr>
          <a:xfrm>
            <a:off x="548640" y="2660904"/>
            <a:ext cx="4325112" cy="713232"/>
          </a:xfrm>
          <a:prstGeom prst="rect">
            <a:avLst/>
          </a:prstGeom>
          <a:solidFill>
            <a:srgbClr val="EEF3F8"/>
          </a:solidFill>
          <a:ln w="9525">
            <a:solidFill>
              <a:srgbClr val="C9D3DF"/>
            </a:solidFill>
            <a:prstDash val="solid"/>
          </a:ln>
        </p:spPr>
      </p:sp>
      <p:sp>
        <p:nvSpPr>
          <p:cNvPr id="20" name="anim_1_1499"/>
          <p:cNvSpPr txBox="1"/>
          <p:nvPr/>
        </p:nvSpPr>
        <p:spPr>
          <a:xfrm>
            <a:off x="585216" y="2660904"/>
            <a:ext cx="4251960"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جمع‌بندی کلی چو و همکاران (2020)</a:t>
            </a:r>
            <a:endParaRPr lang="fa-IR" sz="1600" dirty="0"/>
          </a:p>
        </p:txBody>
      </p:sp>
      <p:sp>
        <p:nvSpPr>
          <p:cNvPr id="21" name="anim_1_1500"/>
          <p:cNvSpPr/>
          <p:nvPr/>
        </p:nvSpPr>
        <p:spPr>
          <a:xfrm>
            <a:off x="10634472" y="3374136"/>
            <a:ext cx="1005840" cy="713232"/>
          </a:xfrm>
          <a:prstGeom prst="rect">
            <a:avLst/>
          </a:prstGeom>
          <a:solidFill>
            <a:srgbClr val="FFFFFF"/>
          </a:solidFill>
          <a:ln w="9525">
            <a:solidFill>
              <a:srgbClr val="C9D3DF"/>
            </a:solidFill>
            <a:prstDash val="solid"/>
          </a:ln>
        </p:spPr>
      </p:sp>
      <p:sp>
        <p:nvSpPr>
          <p:cNvPr id="22" name="anim_1_1501"/>
          <p:cNvSpPr txBox="1"/>
          <p:nvPr/>
        </p:nvSpPr>
        <p:spPr>
          <a:xfrm>
            <a:off x="10671048" y="3374136"/>
            <a:ext cx="932688" cy="713232"/>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‪3‬</a:t>
            </a:r>
            <a:endParaRPr lang="fa-IR" sz="1600" dirty="0"/>
          </a:p>
        </p:txBody>
      </p:sp>
      <p:sp>
        <p:nvSpPr>
          <p:cNvPr id="23" name="anim_1_1502"/>
          <p:cNvSpPr/>
          <p:nvPr/>
        </p:nvSpPr>
        <p:spPr>
          <a:xfrm>
            <a:off x="4873752" y="3374136"/>
            <a:ext cx="5760720" cy="713232"/>
          </a:xfrm>
          <a:prstGeom prst="rect">
            <a:avLst/>
          </a:prstGeom>
          <a:solidFill>
            <a:srgbClr val="FFFFFF"/>
          </a:solidFill>
          <a:ln w="9525">
            <a:solidFill>
              <a:srgbClr val="C9D3DF"/>
            </a:solidFill>
            <a:prstDash val="solid"/>
          </a:ln>
        </p:spPr>
      </p:sp>
      <p:sp>
        <p:nvSpPr>
          <p:cNvPr id="24" name="anim_1_1503"/>
          <p:cNvSpPr txBox="1"/>
          <p:nvPr/>
        </p:nvSpPr>
        <p:spPr>
          <a:xfrm>
            <a:off x="4910328" y="3374136"/>
            <a:ext cx="5687568"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سیمون و فرانسیس (1988)؛ پیل (2013)؛ کاچر و ویلسون (2016)؛ چو و همکاران (2020)</a:t>
            </a:r>
            <a:endParaRPr lang="fa-IR" sz="1600" dirty="0"/>
          </a:p>
        </p:txBody>
      </p:sp>
      <p:sp>
        <p:nvSpPr>
          <p:cNvPr id="25" name="anim_1_1504"/>
          <p:cNvSpPr/>
          <p:nvPr/>
        </p:nvSpPr>
        <p:spPr>
          <a:xfrm>
            <a:off x="548640" y="3374136"/>
            <a:ext cx="4325112" cy="713232"/>
          </a:xfrm>
          <a:prstGeom prst="rect">
            <a:avLst/>
          </a:prstGeom>
          <a:solidFill>
            <a:srgbClr val="FFFFFF"/>
          </a:solidFill>
          <a:ln w="9525">
            <a:solidFill>
              <a:srgbClr val="C9D3DF"/>
            </a:solidFill>
            <a:prstDash val="solid"/>
          </a:ln>
        </p:spPr>
      </p:sp>
      <p:sp>
        <p:nvSpPr>
          <p:cNvPr id="26" name="anim_1_1505"/>
          <p:cNvSpPr txBox="1"/>
          <p:nvPr/>
        </p:nvSpPr>
        <p:spPr>
          <a:xfrm>
            <a:off x="585216" y="3374136"/>
            <a:ext cx="4251960"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عزیزخانی و آقابیگی (1392)؛ باروا و همکاران (2020)</a:t>
            </a:r>
            <a:endParaRPr lang="fa-IR" sz="1600" dirty="0"/>
          </a:p>
        </p:txBody>
      </p:sp>
      <p:sp>
        <p:nvSpPr>
          <p:cNvPr id="27" name="anim_1_1506"/>
          <p:cNvSpPr/>
          <p:nvPr/>
        </p:nvSpPr>
        <p:spPr>
          <a:xfrm>
            <a:off x="10634472" y="4087368"/>
            <a:ext cx="1005840" cy="713232"/>
          </a:xfrm>
          <a:prstGeom prst="rect">
            <a:avLst/>
          </a:prstGeom>
          <a:solidFill>
            <a:srgbClr val="EEF3F8"/>
          </a:solidFill>
          <a:ln w="9525">
            <a:solidFill>
              <a:srgbClr val="C9D3DF"/>
            </a:solidFill>
            <a:prstDash val="solid"/>
          </a:ln>
        </p:spPr>
      </p:sp>
      <p:sp>
        <p:nvSpPr>
          <p:cNvPr id="28" name="anim_1_1507"/>
          <p:cNvSpPr txBox="1"/>
          <p:nvPr/>
        </p:nvSpPr>
        <p:spPr>
          <a:xfrm>
            <a:off x="10671048" y="4087368"/>
            <a:ext cx="932688" cy="713232"/>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‪4‬</a:t>
            </a:r>
            <a:endParaRPr lang="fa-IR" sz="1600" dirty="0"/>
          </a:p>
        </p:txBody>
      </p:sp>
      <p:sp>
        <p:nvSpPr>
          <p:cNvPr id="29" name="anim_1_1508"/>
          <p:cNvSpPr/>
          <p:nvPr/>
        </p:nvSpPr>
        <p:spPr>
          <a:xfrm>
            <a:off x="4873752" y="4087368"/>
            <a:ext cx="5760720" cy="713232"/>
          </a:xfrm>
          <a:prstGeom prst="rect">
            <a:avLst/>
          </a:prstGeom>
          <a:solidFill>
            <a:srgbClr val="EEF3F8"/>
          </a:solidFill>
          <a:ln w="9525">
            <a:solidFill>
              <a:srgbClr val="C9D3DF"/>
            </a:solidFill>
            <a:prstDash val="solid"/>
          </a:ln>
        </p:spPr>
      </p:sp>
      <p:sp>
        <p:nvSpPr>
          <p:cNvPr id="30" name="anim_1_1509"/>
          <p:cNvSpPr txBox="1"/>
          <p:nvPr/>
        </p:nvSpPr>
        <p:spPr>
          <a:xfrm>
            <a:off x="4910328" y="4087368"/>
            <a:ext cx="5687568"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پیل (2013)؛ فرانکل و همکاران (2002)</a:t>
            </a:r>
            <a:endParaRPr lang="fa-IR" sz="1600" dirty="0"/>
          </a:p>
        </p:txBody>
      </p:sp>
      <p:sp>
        <p:nvSpPr>
          <p:cNvPr id="31" name="anim_1_1510"/>
          <p:cNvSpPr/>
          <p:nvPr/>
        </p:nvSpPr>
        <p:spPr>
          <a:xfrm>
            <a:off x="548640" y="4087368"/>
            <a:ext cx="4325112" cy="713232"/>
          </a:xfrm>
          <a:prstGeom prst="rect">
            <a:avLst/>
          </a:prstGeom>
          <a:solidFill>
            <a:srgbClr val="EEF3F8"/>
          </a:solidFill>
          <a:ln w="9525">
            <a:solidFill>
              <a:srgbClr val="C9D3DF"/>
            </a:solidFill>
            <a:prstDash val="solid"/>
          </a:ln>
        </p:spPr>
      </p:sp>
      <p:sp>
        <p:nvSpPr>
          <p:cNvPr id="32" name="anim_1_1511"/>
          <p:cNvSpPr txBox="1"/>
          <p:nvPr/>
        </p:nvSpPr>
        <p:spPr>
          <a:xfrm>
            <a:off x="585216" y="4087368"/>
            <a:ext cx="4251960"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چو و همکاران (2020)؛ کروب و همکاران (2014)</a:t>
            </a:r>
            <a:endParaRPr lang="fa-IR" sz="1600" dirty="0"/>
          </a:p>
        </p:txBody>
      </p:sp>
      <p:sp>
        <p:nvSpPr>
          <p:cNvPr id="33" name="anim_1_1512"/>
          <p:cNvSpPr/>
          <p:nvPr/>
        </p:nvSpPr>
        <p:spPr>
          <a:xfrm>
            <a:off x="10634472" y="4800600"/>
            <a:ext cx="1005840" cy="713232"/>
          </a:xfrm>
          <a:prstGeom prst="rect">
            <a:avLst/>
          </a:prstGeom>
          <a:solidFill>
            <a:srgbClr val="FFFFFF"/>
          </a:solidFill>
          <a:ln w="9525">
            <a:solidFill>
              <a:srgbClr val="C9D3DF"/>
            </a:solidFill>
            <a:prstDash val="solid"/>
          </a:ln>
        </p:spPr>
      </p:sp>
      <p:sp>
        <p:nvSpPr>
          <p:cNvPr id="34" name="anim_1_1513"/>
          <p:cNvSpPr txBox="1"/>
          <p:nvPr/>
        </p:nvSpPr>
        <p:spPr>
          <a:xfrm>
            <a:off x="10671048" y="4800600"/>
            <a:ext cx="932688" cy="713232"/>
          </a:xfrm>
          <a:prstGeom prst="rect">
            <a:avLst/>
          </a:prstGeom>
          <a:noFill/>
          <a:ln/>
        </p:spPr>
        <p:txBody>
          <a:bodyPr wrap="square" lIns="254" tIns="254" rIns="254" bIns="254" rtlCol="0" anchor="ctr"/>
          <a:lstStyle/>
          <a:p>
            <a:pPr rtl="1" algn="ctr" indent="0" marL="0">
              <a:buNone/>
            </a:pPr>
            <a:r>
              <a:rPr lang="fa-IR" altLang="en-US" sz="1600" dirty="0">
                <a:solidFill>
                  <a:schemeClr val="tx1"/>
                </a:solidFill>
                <a:latin typeface="B Nazanin" pitchFamily="34" charset="0"/>
                <a:ea typeface="B Nazanin" pitchFamily="34" charset="-122"/>
                <a:cs typeface="B Nazanin" pitchFamily="34" charset="-120"/>
              </a:rPr>
              <a:t>‪5‬</a:t>
            </a:r>
            <a:endParaRPr lang="fa-IR" sz="1600" dirty="0"/>
          </a:p>
        </p:txBody>
      </p:sp>
      <p:sp>
        <p:nvSpPr>
          <p:cNvPr id="35" name="anim_1_1514"/>
          <p:cNvSpPr/>
          <p:nvPr/>
        </p:nvSpPr>
        <p:spPr>
          <a:xfrm>
            <a:off x="4873752" y="4800600"/>
            <a:ext cx="5760720" cy="713232"/>
          </a:xfrm>
          <a:prstGeom prst="rect">
            <a:avLst/>
          </a:prstGeom>
          <a:solidFill>
            <a:srgbClr val="FFFFFF"/>
          </a:solidFill>
          <a:ln w="9525">
            <a:solidFill>
              <a:srgbClr val="C9D3DF"/>
            </a:solidFill>
            <a:prstDash val="solid"/>
          </a:ln>
        </p:spPr>
      </p:sp>
      <p:sp>
        <p:nvSpPr>
          <p:cNvPr id="36" name="anim_1_1515"/>
          <p:cNvSpPr txBox="1"/>
          <p:nvPr/>
        </p:nvSpPr>
        <p:spPr>
          <a:xfrm>
            <a:off x="4910328" y="4800600"/>
            <a:ext cx="5687568"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چو و همکاران (2020)؛ کروب و همکاران (2014)؛ کریشنان و تانی (2020)؛ امر و یوآن (2025)</a:t>
            </a:r>
            <a:endParaRPr lang="fa-IR" sz="1600" dirty="0"/>
          </a:p>
        </p:txBody>
      </p:sp>
      <p:sp>
        <p:nvSpPr>
          <p:cNvPr id="37" name="anim_1_1516"/>
          <p:cNvSpPr/>
          <p:nvPr/>
        </p:nvSpPr>
        <p:spPr>
          <a:xfrm>
            <a:off x="548640" y="4800600"/>
            <a:ext cx="4325112" cy="713232"/>
          </a:xfrm>
          <a:prstGeom prst="rect">
            <a:avLst/>
          </a:prstGeom>
          <a:solidFill>
            <a:srgbClr val="FFFFFF"/>
          </a:solidFill>
          <a:ln w="9525">
            <a:solidFill>
              <a:srgbClr val="C9D3DF"/>
            </a:solidFill>
            <a:prstDash val="solid"/>
          </a:ln>
        </p:spPr>
      </p:sp>
      <p:sp>
        <p:nvSpPr>
          <p:cNvPr id="38" name="anim_1_1517"/>
          <p:cNvSpPr txBox="1"/>
          <p:nvPr/>
        </p:nvSpPr>
        <p:spPr>
          <a:xfrm>
            <a:off x="585216" y="4800600"/>
            <a:ext cx="4251960" cy="713232"/>
          </a:xfrm>
          <a:prstGeom prst="rect">
            <a:avLst/>
          </a:prstGeom>
          <a:noFill/>
          <a:ln/>
        </p:spPr>
        <p:txBody>
          <a:bodyPr wrap="square" lIns="254" tIns="254" rIns="254" bIns="254" rtlCol="0" anchor="ctr"/>
          <a:lstStyle/>
          <a:p>
            <a:pPr rtl="1" algn="r" indent="0" marL="0">
              <a:buNone/>
            </a:pPr>
            <a:r>
              <a:rPr lang="fa-IR" altLang="en-US" sz="1600" dirty="0">
                <a:solidFill>
                  <a:schemeClr val="tx1"/>
                </a:solidFill>
                <a:latin typeface="B Nazanin" pitchFamily="34" charset="0"/>
                <a:ea typeface="B Nazanin" pitchFamily="34" charset="-122"/>
                <a:cs typeface="B Nazanin" pitchFamily="34" charset="-120"/>
              </a:rPr>
              <a:t>سلیمانی و شکریان (1400)</a:t>
            </a:r>
            <a:endParaRPr lang="fa-IR" sz="1600" dirty="0"/>
          </a:p>
        </p:txBody>
      </p:sp>
      <p:sp>
        <p:nvSpPr>
          <p:cNvPr id="39" name="anim_2_1518"/>
          <p:cNvSpPr txBox="1"/>
          <p:nvPr/>
        </p:nvSpPr>
        <p:spPr>
          <a:xfrm>
            <a:off x="548640" y="5577840"/>
            <a:ext cx="11091672" cy="777240"/>
          </a:xfrm>
          <a:prstGeom prst="rect">
            <a:avLst/>
          </a:prstGeom>
          <a:noFill/>
          <a:ln/>
        </p:spPr>
        <p:txBody>
          <a:bodyPr wrap="square" lIns="0" tIns="0" rIns="0" bIns="0" rtlCol="0" anchor="t"/>
          <a:lstStyle/>
          <a:p>
            <a:pPr rtl="1" algn="r" indent="0" marL="0">
              <a:buNone/>
            </a:pPr>
            <a:r>
              <a:rPr lang="fa-IR" altLang="en-US" sz="1800" dirty="0">
                <a:solidFill>
                  <a:schemeClr val="accent5"/>
                </a:solidFill>
                <a:latin typeface="B Nazanin" pitchFamily="34" charset="0"/>
                <a:ea typeface="B Nazanin" pitchFamily="34" charset="-122"/>
                <a:cs typeface="B Nazanin" pitchFamily="34" charset="-120"/>
              </a:rPr>
              <a:t>تفسیر مغایرت‌ها: تفاوت دوره، معیار سنجش (سطح در برابر تغییر، اقلام تعهدی در برابر افشای تحریف) و بستر بازار توضیح‌دهندهٔ بیشتر مغایرت‌هاست.</a:t>
            </a:r>
            <a:endParaRPr lang="fa-IR" sz="18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5"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6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6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6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60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600"/>
                                        <p:tgtEl>
                                          <p:spTgt spid="32"/>
                                        </p:tgtEl>
                                      </p:cBhvr>
                                    </p:animEffect>
                                  </p:childTnLst>
                                </p:cTn>
                              </p:par>
                              <p:par>
                                <p:cTn id="94" presetID="10" presetClass="entr" presetSubtype="0" fill="hold"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00"/>
                                        <p:tgtEl>
                                          <p:spTgt spid="33"/>
                                        </p:tgtEl>
                                      </p:cBhvr>
                                    </p:animEffect>
                                  </p:childTnLst>
                                </p:cTn>
                              </p:par>
                              <p:par>
                                <p:cTn id="97" presetID="10" presetClass="entr" presetSubtype="0" fill="hold"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00"/>
                                        <p:tgtEl>
                                          <p:spTgt spid="34"/>
                                        </p:tgtEl>
                                      </p:cBhvr>
                                    </p:animEffect>
                                  </p:childTnLst>
                                </p:cTn>
                              </p:par>
                              <p:par>
                                <p:cTn id="100" presetID="10" presetClass="entr" presetSubtype="0" fill="hold"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600"/>
                                        <p:tgtEl>
                                          <p:spTgt spid="35"/>
                                        </p:tgtEl>
                                      </p:cBhvr>
                                    </p:animEffect>
                                  </p:childTnLst>
                                </p:cTn>
                              </p:par>
                              <p:par>
                                <p:cTn id="103" presetID="10"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600"/>
                                        <p:tgtEl>
                                          <p:spTgt spid="36"/>
                                        </p:tgtEl>
                                      </p:cBhvr>
                                    </p:animEffect>
                                  </p:childTnLst>
                                </p:cTn>
                              </p:par>
                              <p:par>
                                <p:cTn id="106" presetID="10" presetClass="entr" presetSubtype="0" fill="hold"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600"/>
                                        <p:tgtEl>
                                          <p:spTgt spid="37"/>
                                        </p:tgtEl>
                                      </p:cBhvr>
                                    </p:animEffect>
                                  </p:childTnLst>
                                </p:cTn>
                              </p:par>
                              <p:par>
                                <p:cTn id="109" presetID="10" presetClass="entr" presetSubtype="0" fill="hold"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600"/>
                                        <p:tgtEl>
                                          <p:spTgt spid="38"/>
                                        </p:tgtEl>
                                      </p:cBhvr>
                                    </p:animEffect>
                                  </p:childTnLst>
                                </p:cTn>
                              </p:par>
                              <p:par>
                                <p:cTn id="112" presetID="10" presetClass="entr" presetSubtype="0" fill="hold" nodeType="withEffect">
                                  <p:stCondLst>
                                    <p:cond delay="35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6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accent2"/>
                </a:solidFill>
                <a:latin typeface="B Titr" pitchFamily="34" charset="0"/>
                <a:ea typeface="B Titr" pitchFamily="34" charset="-122"/>
                <a:cs typeface="B Titr" pitchFamily="34" charset="-120"/>
              </a:rPr>
              <a:t>دکترین و نتیجه‌گیری</a:t>
            </a:r>
            <a:endParaRPr lang="fa-IR" sz="3400" dirty="0"/>
          </a:p>
        </p:txBody>
      </p:sp>
      <p:sp>
        <p:nvSpPr>
          <p:cNvPr id="3" name="anim_1_1519"/>
          <p:cNvSpPr/>
          <p:nvPr/>
        </p:nvSpPr>
        <p:spPr>
          <a:xfrm>
            <a:off x="548640" y="1325880"/>
            <a:ext cx="11091672" cy="2011680"/>
          </a:xfrm>
          <a:prstGeom prst="roundRect">
            <a:avLst>
              <a:gd name="adj" fmla="val 5455"/>
            </a:avLst>
          </a:prstGeom>
          <a:solidFill>
            <a:schemeClr val="tx2"/>
          </a:solidFill>
          <a:ln/>
          <a:effectLst>
            <a:outerShdw sx="100000" sy="100000" kx="0" ky="0" algn="bl" rotWithShape="0" blurRad="101600" dist="25400" dir="5400000">
              <a:srgbClr val="000000">
                <a:alpha val="12000"/>
              </a:srgbClr>
            </a:outerShdw>
          </a:effectLst>
        </p:spPr>
      </p:sp>
      <p:sp>
        <p:nvSpPr>
          <p:cNvPr id="4" name="anim_1_1520"/>
          <p:cNvSpPr txBox="1"/>
          <p:nvPr/>
        </p:nvSpPr>
        <p:spPr>
          <a:xfrm>
            <a:off x="822960" y="1371600"/>
            <a:ext cx="10543032" cy="1920240"/>
          </a:xfrm>
          <a:prstGeom prst="rect">
            <a:avLst/>
          </a:prstGeom>
          <a:noFill/>
          <a:ln/>
        </p:spPr>
        <p:txBody>
          <a:bodyPr wrap="square" lIns="0" tIns="0" rIns="0" bIns="0" rtlCol="0" anchor="ctr"/>
          <a:lstStyle/>
          <a:p>
            <a:pPr rtl="1" algn="r" indent="0" marL="0">
              <a:buNone/>
            </a:pPr>
            <a:r>
              <a:rPr lang="fa-IR" altLang="en-US" sz="2100" dirty="0">
                <a:solidFill>
                  <a:schemeClr val="bg1"/>
                </a:solidFill>
                <a:latin typeface="B Nazanin" pitchFamily="34" charset="0"/>
                <a:ea typeface="B Nazanin" pitchFamily="34" charset="-122"/>
                <a:cs typeface="B Nazanin" pitchFamily="34" charset="-120"/>
              </a:rPr>
              <a:t>«در بازار حسابرسی ایران، کاهش اولیهٔ هزینهٔ حسابرسی واقعیتی قابل مشاهده است که بازیابی آن عمدتاً از طریق افزایش حق‌الزحمهٔ حسابرسی (و تا حدی خدمات غیرحسابرسی) رخ می‌دهد؛ این فرایند در مؤسسات کوچک تحت تأثیر وابستگی به مشتریان مهم شدت می‌یابد، اما کیفیت حسابرسی آینده را به‌طور معناداری تغییر نمی‌دهد.»</a:t>
            </a:r>
            <a:endParaRPr lang="fa-IR" sz="2100" dirty="0"/>
          </a:p>
        </p:txBody>
      </p:sp>
      <p:sp>
        <p:nvSpPr>
          <p:cNvPr id="5" name="anim_2_1521"/>
          <p:cNvSpPr/>
          <p:nvPr/>
        </p:nvSpPr>
        <p:spPr>
          <a:xfrm>
            <a:off x="9034272" y="3657600"/>
            <a:ext cx="2468880" cy="2377440"/>
          </a:xfrm>
          <a:prstGeom prst="roundRect">
            <a:avLst>
              <a:gd name="adj" fmla="val 4615"/>
            </a:avLst>
          </a:prstGeom>
          <a:solidFill>
            <a:schemeClr val="tx2"/>
          </a:solidFill>
          <a:ln/>
          <a:effectLst>
            <a:outerShdw sx="100000" sy="100000" kx="0" ky="0" algn="bl" rotWithShape="0" blurRad="101600" dist="25400" dir="5400000">
              <a:srgbClr val="000000">
                <a:alpha val="12000"/>
              </a:srgbClr>
            </a:outerShdw>
          </a:effectLst>
        </p:spPr>
      </p:sp>
      <p:sp>
        <p:nvSpPr>
          <p:cNvPr id="6" name="anim_2_1522"/>
          <p:cNvSpPr/>
          <p:nvPr/>
        </p:nvSpPr>
        <p:spPr>
          <a:xfrm>
            <a:off x="9857232" y="3840480"/>
            <a:ext cx="822960" cy="822960"/>
          </a:xfrm>
          <a:prstGeom prst="ellipse">
            <a:avLst/>
          </a:prstGeom>
          <a:solidFill>
            <a:schemeClr val="accent1"/>
          </a:solidFill>
          <a:ln/>
        </p:spPr>
      </p:sp>
      <p:pic>
        <p:nvPicPr>
          <p:cNvPr id="7" name="anim_2_1523" descr="preencoded.png">    </p:cNvPr>
          <p:cNvPicPr>
            <a:picLocks noChangeAspect="1"/>
          </p:cNvPicPr>
          <p:nvPr/>
        </p:nvPicPr>
        <p:blipFill>
          <a:blip r:embed="rId1"/>
          <a:stretch>
            <a:fillRect/>
          </a:stretch>
        </p:blipFill>
        <p:spPr>
          <a:xfrm>
            <a:off x="10054742" y="4037990"/>
            <a:ext cx="427939" cy="427939"/>
          </a:xfrm>
          <a:prstGeom prst="rect">
            <a:avLst/>
          </a:prstGeom>
        </p:spPr>
      </p:pic>
      <p:sp>
        <p:nvSpPr>
          <p:cNvPr id="8" name="anim_2_1524"/>
          <p:cNvSpPr txBox="1"/>
          <p:nvPr/>
        </p:nvSpPr>
        <p:spPr>
          <a:xfrm>
            <a:off x="9125712" y="4800600"/>
            <a:ext cx="2286000" cy="1097280"/>
          </a:xfrm>
          <a:prstGeom prst="rect">
            <a:avLst/>
          </a:prstGeom>
          <a:noFill/>
          <a:ln/>
        </p:spPr>
        <p:txBody>
          <a:bodyPr wrap="square" lIns="0" tIns="0" rIns="0" bIns="0" rtlCol="0" anchor="t"/>
          <a:lstStyle/>
          <a:p>
            <a:pPr rtl="1" algn="ctr" indent="0" marL="0">
              <a:buNone/>
            </a:pPr>
            <a:r>
              <a:rPr lang="fa-IR" altLang="en-US" sz="1900" dirty="0">
                <a:solidFill>
                  <a:schemeClr val="bg1"/>
                </a:solidFill>
                <a:latin typeface="B Nazanin" pitchFamily="34" charset="0"/>
                <a:ea typeface="B Nazanin" pitchFamily="34" charset="-122"/>
                <a:cs typeface="B Nazanin" pitchFamily="34" charset="-120"/>
              </a:rPr>
              <a:t>ریکاوری از حق‌الزحمهٔ حسابرسی</a:t>
            </a:r>
            <a:endParaRPr lang="fa-IR" sz="1900" dirty="0"/>
          </a:p>
        </p:txBody>
      </p:sp>
      <p:sp>
        <p:nvSpPr>
          <p:cNvPr id="9" name="anim_3_1525"/>
          <p:cNvSpPr/>
          <p:nvPr/>
        </p:nvSpPr>
        <p:spPr>
          <a:xfrm>
            <a:off x="6291072" y="3657600"/>
            <a:ext cx="2468880" cy="2377440"/>
          </a:xfrm>
          <a:prstGeom prst="roundRect">
            <a:avLst>
              <a:gd name="adj" fmla="val 4615"/>
            </a:avLst>
          </a:prstGeom>
          <a:solidFill>
            <a:schemeClr val="tx2"/>
          </a:solidFill>
          <a:ln/>
          <a:effectLst>
            <a:outerShdw sx="100000" sy="100000" kx="0" ky="0" algn="bl" rotWithShape="0" blurRad="101600" dist="25400" dir="5400000">
              <a:srgbClr val="000000">
                <a:alpha val="12000"/>
              </a:srgbClr>
            </a:outerShdw>
          </a:effectLst>
        </p:spPr>
      </p:sp>
      <p:sp>
        <p:nvSpPr>
          <p:cNvPr id="10" name="anim_3_1526"/>
          <p:cNvSpPr/>
          <p:nvPr/>
        </p:nvSpPr>
        <p:spPr>
          <a:xfrm>
            <a:off x="7114032" y="3840480"/>
            <a:ext cx="822960" cy="822960"/>
          </a:xfrm>
          <a:prstGeom prst="ellipse">
            <a:avLst/>
          </a:prstGeom>
          <a:solidFill>
            <a:schemeClr val="accent2"/>
          </a:solidFill>
          <a:ln/>
        </p:spPr>
      </p:sp>
      <p:pic>
        <p:nvPicPr>
          <p:cNvPr id="11" name="anim_3_1527" descr="preencoded.png">    </p:cNvPr>
          <p:cNvPicPr>
            <a:picLocks noChangeAspect="1"/>
          </p:cNvPicPr>
          <p:nvPr/>
        </p:nvPicPr>
        <p:blipFill>
          <a:blip r:embed="rId2"/>
          <a:stretch>
            <a:fillRect/>
          </a:stretch>
        </p:blipFill>
        <p:spPr>
          <a:xfrm>
            <a:off x="7311542" y="4037990"/>
            <a:ext cx="427939" cy="427939"/>
          </a:xfrm>
          <a:prstGeom prst="rect">
            <a:avLst/>
          </a:prstGeom>
        </p:spPr>
      </p:pic>
      <p:sp>
        <p:nvSpPr>
          <p:cNvPr id="12" name="anim_3_1528"/>
          <p:cNvSpPr txBox="1"/>
          <p:nvPr/>
        </p:nvSpPr>
        <p:spPr>
          <a:xfrm>
            <a:off x="6382512" y="4800600"/>
            <a:ext cx="2286000" cy="1097280"/>
          </a:xfrm>
          <a:prstGeom prst="rect">
            <a:avLst/>
          </a:prstGeom>
          <a:noFill/>
          <a:ln/>
        </p:spPr>
        <p:txBody>
          <a:bodyPr wrap="square" lIns="0" tIns="0" rIns="0" bIns="0" rtlCol="0" anchor="t"/>
          <a:lstStyle/>
          <a:p>
            <a:pPr rtl="1" algn="ctr" indent="0" marL="0">
              <a:buNone/>
            </a:pPr>
            <a:r>
              <a:rPr lang="fa-IR" altLang="en-US" sz="1900" dirty="0">
                <a:solidFill>
                  <a:schemeClr val="bg1"/>
                </a:solidFill>
                <a:latin typeface="B Nazanin" pitchFamily="34" charset="0"/>
                <a:ea typeface="B Nazanin" pitchFamily="34" charset="-122"/>
                <a:cs typeface="B Nazanin" pitchFamily="34" charset="-120"/>
              </a:rPr>
              <a:t>اثر اهمیت مشتری در مؤسسات کوچک</a:t>
            </a:r>
            <a:endParaRPr lang="fa-IR" sz="1900" dirty="0"/>
          </a:p>
        </p:txBody>
      </p:sp>
      <p:sp>
        <p:nvSpPr>
          <p:cNvPr id="13" name="anim_4_1529"/>
          <p:cNvSpPr/>
          <p:nvPr/>
        </p:nvSpPr>
        <p:spPr>
          <a:xfrm>
            <a:off x="3547872" y="3657600"/>
            <a:ext cx="2468880" cy="2377440"/>
          </a:xfrm>
          <a:prstGeom prst="roundRect">
            <a:avLst>
              <a:gd name="adj" fmla="val 4615"/>
            </a:avLst>
          </a:prstGeom>
          <a:solidFill>
            <a:schemeClr val="tx2"/>
          </a:solidFill>
          <a:ln/>
          <a:effectLst>
            <a:outerShdw sx="100000" sy="100000" kx="0" ky="0" algn="bl" rotWithShape="0" blurRad="101600" dist="25400" dir="5400000">
              <a:srgbClr val="000000">
                <a:alpha val="12000"/>
              </a:srgbClr>
            </a:outerShdw>
          </a:effectLst>
        </p:spPr>
      </p:sp>
      <p:sp>
        <p:nvSpPr>
          <p:cNvPr id="14" name="anim_4_1530"/>
          <p:cNvSpPr/>
          <p:nvPr/>
        </p:nvSpPr>
        <p:spPr>
          <a:xfrm>
            <a:off x="4370832" y="3840480"/>
            <a:ext cx="822960" cy="822960"/>
          </a:xfrm>
          <a:prstGeom prst="ellipse">
            <a:avLst/>
          </a:prstGeom>
          <a:solidFill>
            <a:schemeClr val="accent4"/>
          </a:solidFill>
          <a:ln/>
        </p:spPr>
      </p:sp>
      <p:pic>
        <p:nvPicPr>
          <p:cNvPr id="15" name="anim_4_1531" descr="preencoded.png">    </p:cNvPr>
          <p:cNvPicPr>
            <a:picLocks noChangeAspect="1"/>
          </p:cNvPicPr>
          <p:nvPr/>
        </p:nvPicPr>
        <p:blipFill>
          <a:blip r:embed="rId3"/>
          <a:stretch>
            <a:fillRect/>
          </a:stretch>
        </p:blipFill>
        <p:spPr>
          <a:xfrm>
            <a:off x="4568342" y="4037990"/>
            <a:ext cx="427939" cy="427939"/>
          </a:xfrm>
          <a:prstGeom prst="rect">
            <a:avLst/>
          </a:prstGeom>
        </p:spPr>
      </p:pic>
      <p:sp>
        <p:nvSpPr>
          <p:cNvPr id="16" name="anim_4_1532"/>
          <p:cNvSpPr txBox="1"/>
          <p:nvPr/>
        </p:nvSpPr>
        <p:spPr>
          <a:xfrm>
            <a:off x="3639312" y="4800600"/>
            <a:ext cx="2286000" cy="1097280"/>
          </a:xfrm>
          <a:prstGeom prst="rect">
            <a:avLst/>
          </a:prstGeom>
          <a:noFill/>
          <a:ln/>
        </p:spPr>
        <p:txBody>
          <a:bodyPr wrap="square" lIns="0" tIns="0" rIns="0" bIns="0" rtlCol="0" anchor="t"/>
          <a:lstStyle/>
          <a:p>
            <a:pPr rtl="1" algn="ctr" indent="0" marL="0">
              <a:buNone/>
            </a:pPr>
            <a:r>
              <a:rPr lang="fa-IR" altLang="en-US" sz="1900" dirty="0">
                <a:solidFill>
                  <a:schemeClr val="bg1"/>
                </a:solidFill>
                <a:latin typeface="B Nazanin" pitchFamily="34" charset="0"/>
                <a:ea typeface="B Nazanin" pitchFamily="34" charset="-122"/>
                <a:cs typeface="B Nazanin" pitchFamily="34" charset="-120"/>
              </a:rPr>
              <a:t>بدون افت معنادار کیفیت آینده</a:t>
            </a:r>
            <a:endParaRPr lang="fa-IR" sz="1900" dirty="0"/>
          </a:p>
        </p:txBody>
      </p:sp>
      <p:sp>
        <p:nvSpPr>
          <p:cNvPr id="17" name="anim_5_1533"/>
          <p:cNvSpPr/>
          <p:nvPr/>
        </p:nvSpPr>
        <p:spPr>
          <a:xfrm>
            <a:off x="804672" y="3657600"/>
            <a:ext cx="2468880" cy="2377440"/>
          </a:xfrm>
          <a:prstGeom prst="roundRect">
            <a:avLst>
              <a:gd name="adj" fmla="val 4615"/>
            </a:avLst>
          </a:prstGeom>
          <a:solidFill>
            <a:schemeClr val="tx2"/>
          </a:solidFill>
          <a:ln/>
          <a:effectLst>
            <a:outerShdw sx="100000" sy="100000" kx="0" ky="0" algn="bl" rotWithShape="0" blurRad="101600" dist="25400" dir="5400000">
              <a:srgbClr val="000000">
                <a:alpha val="12000"/>
              </a:srgbClr>
            </a:outerShdw>
          </a:effectLst>
        </p:spPr>
      </p:sp>
      <p:sp>
        <p:nvSpPr>
          <p:cNvPr id="18" name="anim_5_1534"/>
          <p:cNvSpPr/>
          <p:nvPr/>
        </p:nvSpPr>
        <p:spPr>
          <a:xfrm>
            <a:off x="1627632" y="3840480"/>
            <a:ext cx="822960" cy="822960"/>
          </a:xfrm>
          <a:prstGeom prst="ellipse">
            <a:avLst/>
          </a:prstGeom>
          <a:solidFill>
            <a:schemeClr val="accent5"/>
          </a:solidFill>
          <a:ln/>
        </p:spPr>
      </p:sp>
      <p:pic>
        <p:nvPicPr>
          <p:cNvPr id="19" name="anim_5_1535" descr="preencoded.png">    </p:cNvPr>
          <p:cNvPicPr>
            <a:picLocks noChangeAspect="1"/>
          </p:cNvPicPr>
          <p:nvPr/>
        </p:nvPicPr>
        <p:blipFill>
          <a:blip r:embed="rId4"/>
          <a:stretch>
            <a:fillRect/>
          </a:stretch>
        </p:blipFill>
        <p:spPr>
          <a:xfrm>
            <a:off x="1825142" y="4037990"/>
            <a:ext cx="427939" cy="427939"/>
          </a:xfrm>
          <a:prstGeom prst="rect">
            <a:avLst/>
          </a:prstGeom>
        </p:spPr>
      </p:pic>
      <p:sp>
        <p:nvSpPr>
          <p:cNvPr id="20" name="anim_5_1536"/>
          <p:cNvSpPr txBox="1"/>
          <p:nvPr/>
        </p:nvSpPr>
        <p:spPr>
          <a:xfrm>
            <a:off x="896112" y="4800600"/>
            <a:ext cx="2286000" cy="1097280"/>
          </a:xfrm>
          <a:prstGeom prst="rect">
            <a:avLst/>
          </a:prstGeom>
          <a:noFill/>
          <a:ln/>
        </p:spPr>
        <p:txBody>
          <a:bodyPr wrap="square" lIns="0" tIns="0" rIns="0" bIns="0" rtlCol="0" anchor="t"/>
          <a:lstStyle/>
          <a:p>
            <a:pPr rtl="1" algn="ctr" indent="0" marL="0">
              <a:buNone/>
            </a:pPr>
            <a:r>
              <a:rPr lang="fa-IR" altLang="en-US" sz="1900" dirty="0">
                <a:solidFill>
                  <a:schemeClr val="bg1"/>
                </a:solidFill>
                <a:latin typeface="B Nazanin" pitchFamily="34" charset="0"/>
                <a:ea typeface="B Nazanin" pitchFamily="34" charset="-122"/>
                <a:cs typeface="B Nazanin" pitchFamily="34" charset="-120"/>
              </a:rPr>
              <a:t>همسو با بیشتر پیشینهٔ بین‌المللی</a:t>
            </a:r>
            <a:endParaRPr lang="fa-IR" sz="19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8"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3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3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70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7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7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7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10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10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10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10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14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140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140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14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777240"/>
          </a:xfrm>
          <a:prstGeom prst="rect">
            <a:avLst/>
          </a:prstGeom>
          <a:noFill/>
          <a:ln/>
        </p:spPr>
        <p:txBody>
          <a:bodyPr wrap="square" lIns="0" tIns="0" rIns="0" bIns="0" rtlCol="0" anchor="ctr"/>
          <a:lstStyle/>
          <a:p>
            <a:pPr rtl="1" algn="r" indent="0" marL="0">
              <a:buNone/>
            </a:pPr>
            <a:r>
              <a:rPr lang="fa-IR" altLang="en-US" sz="3400" dirty="0">
                <a:solidFill>
                  <a:schemeClr val="tx2"/>
                </a:solidFill>
                <a:latin typeface="B Titr" pitchFamily="34" charset="0"/>
                <a:ea typeface="B Titr" pitchFamily="34" charset="-122"/>
                <a:cs typeface="B Titr" pitchFamily="34" charset="-120"/>
              </a:rPr>
              <a:t>پیشنهادها، محدودیت‌ها و پژوهش‌های آتی</a:t>
            </a:r>
            <a:endParaRPr lang="fa-IR" sz="3400" dirty="0"/>
          </a:p>
        </p:txBody>
      </p:sp>
      <p:sp>
        <p:nvSpPr>
          <p:cNvPr id="3" name="anim_1_1537"/>
          <p:cNvSpPr/>
          <p:nvPr/>
        </p:nvSpPr>
        <p:spPr>
          <a:xfrm>
            <a:off x="8138160" y="1417320"/>
            <a:ext cx="3566160" cy="4754880"/>
          </a:xfrm>
          <a:prstGeom prst="roundRect">
            <a:avLst>
              <a:gd name="adj" fmla="val 3077"/>
            </a:avLst>
          </a:prstGeom>
          <a:solidFill>
            <a:schemeClr val="bg2"/>
          </a:solidFill>
          <a:ln/>
          <a:effectLst>
            <a:outerShdw sx="100000" sy="100000" kx="0" ky="0" algn="bl" rotWithShape="0" blurRad="101600" dist="25400" dir="5400000">
              <a:srgbClr val="000000">
                <a:alpha val="12000"/>
              </a:srgbClr>
            </a:outerShdw>
          </a:effectLst>
        </p:spPr>
      </p:sp>
      <p:sp>
        <p:nvSpPr>
          <p:cNvPr id="4" name="anim_1_1538"/>
          <p:cNvSpPr/>
          <p:nvPr/>
        </p:nvSpPr>
        <p:spPr>
          <a:xfrm>
            <a:off x="10835640" y="1554480"/>
            <a:ext cx="685800" cy="685800"/>
          </a:xfrm>
          <a:prstGeom prst="ellipse">
            <a:avLst/>
          </a:prstGeom>
          <a:solidFill>
            <a:schemeClr val="accent1"/>
          </a:solidFill>
          <a:ln/>
        </p:spPr>
      </p:sp>
      <p:pic>
        <p:nvPicPr>
          <p:cNvPr id="5" name="anim_1_1539" descr="preencoded.png">    </p:cNvPr>
          <p:cNvPicPr>
            <a:picLocks noChangeAspect="1"/>
          </p:cNvPicPr>
          <p:nvPr/>
        </p:nvPicPr>
        <p:blipFill>
          <a:blip r:embed="rId1"/>
          <a:stretch>
            <a:fillRect/>
          </a:stretch>
        </p:blipFill>
        <p:spPr>
          <a:xfrm>
            <a:off x="11000232" y="1719072"/>
            <a:ext cx="356616" cy="356616"/>
          </a:xfrm>
          <a:prstGeom prst="rect">
            <a:avLst/>
          </a:prstGeom>
        </p:spPr>
      </p:pic>
      <p:sp>
        <p:nvSpPr>
          <p:cNvPr id="6" name="anim_1_1540"/>
          <p:cNvSpPr txBox="1"/>
          <p:nvPr/>
        </p:nvSpPr>
        <p:spPr>
          <a:xfrm>
            <a:off x="8229600" y="1600200"/>
            <a:ext cx="246888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پیشنهادهای کاربردی</a:t>
            </a:r>
            <a:endParaRPr lang="fa-IR" sz="1900" dirty="0"/>
          </a:p>
        </p:txBody>
      </p:sp>
      <p:sp>
        <p:nvSpPr>
          <p:cNvPr id="7" name="anim_1_1541"/>
          <p:cNvSpPr txBox="1"/>
          <p:nvPr/>
        </p:nvSpPr>
        <p:spPr>
          <a:xfrm>
            <a:off x="8275320" y="2423160"/>
            <a:ext cx="3291840" cy="3657600"/>
          </a:xfrm>
          <a:prstGeom prst="rect">
            <a:avLst/>
          </a:prstGeom>
          <a:noFill/>
          <a:ln/>
        </p:spPr>
        <p:txBody>
          <a:bodyPr wrap="square" lIns="0" tIns="0" rIns="0" bIns="0" rtlCol="0" anchor="t"/>
          <a:lstStyle/>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تعیین آستانهٔ حداقل حق‌الزحمه توسط سازمان بورس و جامعهٔ حسابداران</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تقویت افشای تفکیکی حق‌الزحمه و خدمات غیرحسابرسی</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تمرکز نظارت بر مؤسسات کوچک و پایش تمرکز درآمدی</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توجه کمیتهٔ حسابرسی به روند و الگوی ریکاوری</a:t>
            </a:r>
            <a:endParaRPr lang="fa-IR" sz="1800" dirty="0"/>
          </a:p>
        </p:txBody>
      </p:sp>
      <p:sp>
        <p:nvSpPr>
          <p:cNvPr id="8" name="anim_2_1542"/>
          <p:cNvSpPr/>
          <p:nvPr/>
        </p:nvSpPr>
        <p:spPr>
          <a:xfrm>
            <a:off x="4343400" y="1417320"/>
            <a:ext cx="3566160" cy="4754880"/>
          </a:xfrm>
          <a:prstGeom prst="roundRect">
            <a:avLst>
              <a:gd name="adj" fmla="val 3077"/>
            </a:avLst>
          </a:prstGeom>
          <a:solidFill>
            <a:schemeClr val="bg2"/>
          </a:solidFill>
          <a:ln/>
          <a:effectLst>
            <a:outerShdw sx="100000" sy="100000" kx="0" ky="0" algn="bl" rotWithShape="0" blurRad="101600" dist="25400" dir="5400000">
              <a:srgbClr val="000000">
                <a:alpha val="12000"/>
              </a:srgbClr>
            </a:outerShdw>
          </a:effectLst>
        </p:spPr>
      </p:sp>
      <p:sp>
        <p:nvSpPr>
          <p:cNvPr id="9" name="anim_2_1543"/>
          <p:cNvSpPr/>
          <p:nvPr/>
        </p:nvSpPr>
        <p:spPr>
          <a:xfrm>
            <a:off x="7040880" y="1554480"/>
            <a:ext cx="685800" cy="685800"/>
          </a:xfrm>
          <a:prstGeom prst="ellipse">
            <a:avLst/>
          </a:prstGeom>
          <a:solidFill>
            <a:schemeClr val="accent3"/>
          </a:solidFill>
          <a:ln/>
        </p:spPr>
      </p:sp>
      <p:pic>
        <p:nvPicPr>
          <p:cNvPr id="10" name="anim_2_1544" descr="preencoded.png">    </p:cNvPr>
          <p:cNvPicPr>
            <a:picLocks noChangeAspect="1"/>
          </p:cNvPicPr>
          <p:nvPr/>
        </p:nvPicPr>
        <p:blipFill>
          <a:blip r:embed="rId2"/>
          <a:stretch>
            <a:fillRect/>
          </a:stretch>
        </p:blipFill>
        <p:spPr>
          <a:xfrm>
            <a:off x="7205472" y="1719072"/>
            <a:ext cx="356616" cy="356616"/>
          </a:xfrm>
          <a:prstGeom prst="rect">
            <a:avLst/>
          </a:prstGeom>
        </p:spPr>
      </p:pic>
      <p:sp>
        <p:nvSpPr>
          <p:cNvPr id="11" name="anim_2_1545"/>
          <p:cNvSpPr txBox="1"/>
          <p:nvPr/>
        </p:nvSpPr>
        <p:spPr>
          <a:xfrm>
            <a:off x="4434840" y="1600200"/>
            <a:ext cx="246888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محدودیت‌ها</a:t>
            </a:r>
            <a:endParaRPr lang="fa-IR" sz="1900" dirty="0"/>
          </a:p>
        </p:txBody>
      </p:sp>
      <p:sp>
        <p:nvSpPr>
          <p:cNvPr id="12" name="anim_2_1546"/>
          <p:cNvSpPr txBox="1"/>
          <p:nvPr/>
        </p:nvSpPr>
        <p:spPr>
          <a:xfrm>
            <a:off x="4480560" y="2423160"/>
            <a:ext cx="3291840" cy="3657600"/>
          </a:xfrm>
          <a:prstGeom prst="rect">
            <a:avLst/>
          </a:prstGeom>
          <a:noFill/>
          <a:ln/>
        </p:spPr>
        <p:txBody>
          <a:bodyPr wrap="square" lIns="0" tIns="0" rIns="0" bIns="0" rtlCol="0" anchor="t"/>
          <a:lstStyle/>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افشای ناقص حق‌الزحمه‌های غیرحسابرسی</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نمونهٔ محدود به شرکت‌های بورسی</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سنجش کیفیت با اقلام تعهدی اختیاری</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نوسانات اقتصادی دورهٔ 1396 تا 1402</a:t>
            </a:r>
            <a:endParaRPr lang="fa-IR" sz="1800" dirty="0"/>
          </a:p>
        </p:txBody>
      </p:sp>
      <p:sp>
        <p:nvSpPr>
          <p:cNvPr id="13" name="anim_3_1547"/>
          <p:cNvSpPr/>
          <p:nvPr/>
        </p:nvSpPr>
        <p:spPr>
          <a:xfrm>
            <a:off x="548640" y="1417320"/>
            <a:ext cx="3566160" cy="4754880"/>
          </a:xfrm>
          <a:prstGeom prst="roundRect">
            <a:avLst>
              <a:gd name="adj" fmla="val 3077"/>
            </a:avLst>
          </a:prstGeom>
          <a:solidFill>
            <a:schemeClr val="bg2"/>
          </a:solidFill>
          <a:ln/>
          <a:effectLst>
            <a:outerShdw sx="100000" sy="100000" kx="0" ky="0" algn="bl" rotWithShape="0" blurRad="101600" dist="25400" dir="5400000">
              <a:srgbClr val="000000">
                <a:alpha val="12000"/>
              </a:srgbClr>
            </a:outerShdw>
          </a:effectLst>
        </p:spPr>
      </p:sp>
      <p:sp>
        <p:nvSpPr>
          <p:cNvPr id="14" name="anim_3_1548"/>
          <p:cNvSpPr/>
          <p:nvPr/>
        </p:nvSpPr>
        <p:spPr>
          <a:xfrm>
            <a:off x="3246120" y="1554480"/>
            <a:ext cx="685800" cy="685800"/>
          </a:xfrm>
          <a:prstGeom prst="ellipse">
            <a:avLst/>
          </a:prstGeom>
          <a:solidFill>
            <a:schemeClr val="accent2"/>
          </a:solidFill>
          <a:ln/>
        </p:spPr>
      </p:sp>
      <p:pic>
        <p:nvPicPr>
          <p:cNvPr id="15" name="anim_3_1549" descr="preencoded.png">    </p:cNvPr>
          <p:cNvPicPr>
            <a:picLocks noChangeAspect="1"/>
          </p:cNvPicPr>
          <p:nvPr/>
        </p:nvPicPr>
        <p:blipFill>
          <a:blip r:embed="rId3"/>
          <a:stretch>
            <a:fillRect/>
          </a:stretch>
        </p:blipFill>
        <p:spPr>
          <a:xfrm>
            <a:off x="3410712" y="1719072"/>
            <a:ext cx="356616" cy="356616"/>
          </a:xfrm>
          <a:prstGeom prst="rect">
            <a:avLst/>
          </a:prstGeom>
        </p:spPr>
      </p:pic>
      <p:sp>
        <p:nvSpPr>
          <p:cNvPr id="16" name="anim_3_1550"/>
          <p:cNvSpPr txBox="1"/>
          <p:nvPr/>
        </p:nvSpPr>
        <p:spPr>
          <a:xfrm>
            <a:off x="640080" y="1600200"/>
            <a:ext cx="2468880" cy="594360"/>
          </a:xfrm>
          <a:prstGeom prst="rect">
            <a:avLst/>
          </a:prstGeom>
          <a:noFill/>
          <a:ln/>
        </p:spPr>
        <p:txBody>
          <a:bodyPr wrap="square" lIns="0" tIns="0" rIns="0" bIns="0" rtlCol="0" anchor="ctr"/>
          <a:lstStyle/>
          <a:p>
            <a:pPr rtl="1" algn="r" indent="0" marL="0">
              <a:buNone/>
            </a:pPr>
            <a:r>
              <a:rPr lang="fa-IR" altLang="en-US" sz="1900" dirty="0">
                <a:solidFill>
                  <a:schemeClr val="tx2"/>
                </a:solidFill>
                <a:latin typeface="B Titr" pitchFamily="34" charset="0"/>
                <a:ea typeface="B Titr" pitchFamily="34" charset="-122"/>
                <a:cs typeface="B Titr" pitchFamily="34" charset="-120"/>
              </a:rPr>
              <a:t>پژوهش‌های آتی</a:t>
            </a:r>
            <a:endParaRPr lang="fa-IR" sz="1900" dirty="0"/>
          </a:p>
        </p:txBody>
      </p:sp>
      <p:sp>
        <p:nvSpPr>
          <p:cNvPr id="17" name="anim_3_1551"/>
          <p:cNvSpPr txBox="1"/>
          <p:nvPr/>
        </p:nvSpPr>
        <p:spPr>
          <a:xfrm>
            <a:off x="685800" y="2423160"/>
            <a:ext cx="3291840" cy="3657600"/>
          </a:xfrm>
          <a:prstGeom prst="rect">
            <a:avLst/>
          </a:prstGeom>
          <a:noFill/>
          <a:ln/>
        </p:spPr>
        <p:txBody>
          <a:bodyPr wrap="square" lIns="0" tIns="0" rIns="0" bIns="0" rtlCol="0" anchor="t"/>
          <a:lstStyle/>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معیارهای جایگزین کیفیت (تجدید ارائه، گزارش حسابرس)</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حاکمیت شرکتی و تخصص صنعتی</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آزمون والد برای اثر خالص مؤسسات بزرگ</a:t>
            </a:r>
            <a:endParaRPr lang="fa-IR" sz="1800" dirty="0"/>
          </a:p>
          <a:p>
            <a:pPr algn="r" marL="342900" indent="-342900">
              <a:spcAft>
                <a:spcPts val="1000"/>
              </a:spcAft>
              <a:buSzPct val="100000"/>
              <a:buChar char="•"/>
            </a:pPr>
            <a:r>
              <a:rPr lang="fa-IR" altLang="en-US" sz="1800" dirty="0">
                <a:solidFill>
                  <a:schemeClr val="tx1"/>
                </a:solidFill>
                <a:latin typeface="B Nazanin" pitchFamily="34" charset="0"/>
                <a:ea typeface="B Nazanin" pitchFamily="34" charset="-122"/>
                <a:cs typeface="B Nazanin" pitchFamily="34" charset="-120"/>
              </a:rPr>
              <a:t>زیرنمونهٔ سال اول رابطهٔ حسابرسی</a:t>
            </a:r>
            <a:endParaRPr lang="fa-IR" sz="1800" dirty="0"/>
          </a:p>
        </p:txBody>
      </p:sp>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29</a:t>
            </a:fld>
            <a:endParaRPr lang="en-US"/>
          </a:p>
        </p:txBody>
      </p:sp>
    </p:spTree>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9"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6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3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3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3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3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3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7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7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7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7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70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7498080" y="-1097280"/>
            <a:ext cx="6400800" cy="6400800"/>
          </a:xfrm>
          <a:prstGeom prst="ellipse">
            <a:avLst/>
          </a:prstGeom>
          <a:solidFill>
            <a:srgbClr val="0E7C86"/>
          </a:solidFill>
          <a:ln/>
        </p:spPr>
      </p:sp>
      <p:sp>
        <p:nvSpPr>
          <p:cNvPr id="3" name="Shape 1"/>
          <p:cNvSpPr/>
          <p:nvPr/>
        </p:nvSpPr>
        <p:spPr>
          <a:xfrm>
            <a:off x="-1645920" y="4206240"/>
            <a:ext cx="4937760" cy="4937760"/>
          </a:xfrm>
          <a:prstGeom prst="ellipse">
            <a:avLst/>
          </a:prstGeom>
          <a:solidFill>
            <a:srgbClr val="F2A541"/>
          </a:solidFill>
          <a:ln/>
        </p:spPr>
      </p:sp>
      <p:sp>
        <p:nvSpPr>
          <p:cNvPr id="4" name="anim_1_1552"/>
          <p:cNvSpPr txBox="1"/>
          <p:nvPr/>
        </p:nvSpPr>
        <p:spPr>
          <a:xfrm>
            <a:off x="822960" y="2011680"/>
            <a:ext cx="10515600" cy="1188720"/>
          </a:xfrm>
          <a:prstGeom prst="rect">
            <a:avLst/>
          </a:prstGeom>
          <a:noFill/>
          <a:ln/>
        </p:spPr>
        <p:txBody>
          <a:bodyPr wrap="square" lIns="0" tIns="0" rIns="0" bIns="0" rtlCol="0" anchor="ctr"/>
          <a:lstStyle/>
          <a:p>
            <a:pPr rtl="1" algn="ctr" indent="0" marL="0">
              <a:buNone/>
            </a:pPr>
            <a:r>
              <a:rPr lang="fa-IR" altLang="en-US" sz="4800" dirty="0">
                <a:solidFill>
                  <a:schemeClr val="bg1"/>
                </a:solidFill>
                <a:latin typeface="B Titr" pitchFamily="34" charset="0"/>
                <a:ea typeface="B Titr" pitchFamily="34" charset="-122"/>
                <a:cs typeface="B Titr" pitchFamily="34" charset="-120"/>
              </a:rPr>
              <a:t>با تشکر از توجه شما</a:t>
            </a:r>
            <a:endParaRPr lang="fa-IR" sz="4800" dirty="0"/>
          </a:p>
        </p:txBody>
      </p:sp>
      <p:sp>
        <p:nvSpPr>
          <p:cNvPr id="5" name="anim_2_1553"/>
          <p:cNvSpPr txBox="1"/>
          <p:nvPr/>
        </p:nvSpPr>
        <p:spPr>
          <a:xfrm>
            <a:off x="822960" y="3474720"/>
            <a:ext cx="10515600" cy="731520"/>
          </a:xfrm>
          <a:prstGeom prst="rect">
            <a:avLst/>
          </a:prstGeom>
          <a:noFill/>
          <a:ln/>
        </p:spPr>
        <p:txBody>
          <a:bodyPr wrap="square" lIns="0" tIns="0" rIns="0" bIns="0" rtlCol="0" anchor="t"/>
          <a:lstStyle/>
          <a:p>
            <a:pPr rtl="1" algn="ctr" indent="0" marL="0">
              <a:buNone/>
            </a:pPr>
            <a:r>
              <a:rPr lang="fa-IR" altLang="en-US" sz="2600" dirty="0">
                <a:solidFill>
                  <a:schemeClr val="accent2"/>
                </a:solidFill>
                <a:latin typeface="B Nazanin" pitchFamily="34" charset="0"/>
                <a:ea typeface="B Nazanin" pitchFamily="34" charset="-122"/>
                <a:cs typeface="B Nazanin" pitchFamily="34" charset="-120"/>
              </a:rPr>
              <a:t>آمادهٔ پاسخ‌گویی به پرسش‌ها و نظرات داوران محترم</a:t>
            </a:r>
            <a:endParaRPr lang="fa-IR" sz="2600" dirty="0"/>
          </a:p>
        </p:txBody>
      </p:sp>
      <p:sp>
        <p:nvSpPr>
          <p:cNvPr id="6" name="anim_3_1554"/>
          <p:cNvSpPr/>
          <p:nvPr/>
        </p:nvSpPr>
        <p:spPr>
          <a:xfrm>
            <a:off x="5669280" y="4572000"/>
            <a:ext cx="868680" cy="868680"/>
          </a:xfrm>
          <a:prstGeom prst="ellipse">
            <a:avLst/>
          </a:prstGeom>
          <a:solidFill>
            <a:schemeClr val="accent2"/>
          </a:solidFill>
          <a:ln/>
        </p:spPr>
      </p:sp>
      <p:pic>
        <p:nvPicPr>
          <p:cNvPr id="7" name="anim_3_1555" descr="preencoded.png">    </p:cNvPr>
          <p:cNvPicPr>
            <a:picLocks noChangeAspect="1"/>
          </p:cNvPicPr>
          <p:nvPr/>
        </p:nvPicPr>
        <p:blipFill>
          <a:blip r:embed="rId1"/>
          <a:stretch>
            <a:fillRect/>
          </a:stretch>
        </p:blipFill>
        <p:spPr>
          <a:xfrm>
            <a:off x="5877763" y="4780483"/>
            <a:ext cx="451714" cy="451714"/>
          </a:xfrm>
          <a:prstGeom prst="rect">
            <a:avLst/>
          </a:prstGeom>
        </p:spPr>
      </p:pic>
      <p:sp>
        <p:nvSpPr>
          <p:cNvPr id="25" name="Slide Number Placeholder 0"/>
          <p:cNvSpPr>
            <a:spLocks noGrp="1"/>
          </p:cNvSpPr>
          <p:nvPr>
            <p:ph type="sldNum" sz="quarter" idx="4294967295"/>
          </p:nvPr>
        </p:nvSpPr>
        <p:spPr>
          <a:xfrm>
            <a:off x="320040" y="640080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6"/>
                </a:solidFill>
                <a:latin typeface="B Nazanin"/>
                <a:ea typeface="B Nazanin"/>
                <a:cs typeface="B Nazanin"/>
              </a:defRPr>
            </a:lvl1pPr>
          </a:lstStyle>
          <a:p>
            <a:pPr algn="l"/>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tgtEl>
                                          <p:spTgt spid="4"/>
                                        </p:tgtEl>
                                      </p:cBhvr>
                                    </p:animEffect>
                                  </p:childTnLst>
                                </p:cTn>
                              </p:par>
                              <p:par>
                                <p:cTn id="7" presetID="10" presetClass="entr" presetSubtype="0" fill="hold" nodeType="withEffect">
                                  <p:stCondLst>
                                    <p:cond delay="35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00"/>
                                        <p:tgtEl>
                                          <p:spTgt spid="5"/>
                                        </p:tgtEl>
                                      </p:cBhvr>
                                    </p:animEffect>
                                  </p:childTnLst>
                                </p:cTn>
                              </p:par>
                              <p:par>
                                <p:cTn id="10" presetID="10" presetClass="entr" presetSubtype="0" fill="hold" nodeType="withEffect">
                                  <p:stCondLst>
                                    <p:cond delay="7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00"/>
                                        <p:tgtEl>
                                          <p:spTgt spid="6"/>
                                        </p:tgtEl>
                                      </p:cBhvr>
                                    </p:animEffect>
                                  </p:childTnLst>
                                </p:cTn>
                              </p:par>
                              <p:par>
                                <p:cTn id="13" presetID="10" presetClass="entr" presetSubtype="0" fill="hold" nodeType="withEffect">
                                  <p:stCondLst>
                                    <p:cond delay="7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uditDefense">
  <a:themeElements>
    <a:clrScheme name="AuditDefense">
      <a:dk1>
        <a:srgbClr val="0B1F3A"/>
      </a:dk1>
      <a:lt1>
        <a:srgbClr val="FFFFFF"/>
      </a:lt1>
      <a:dk2>
        <a:srgbClr val="13315C"/>
      </a:dk2>
      <a:lt2>
        <a:srgbClr val="EEF3F8"/>
      </a:lt2>
      <a:accent1>
        <a:srgbClr val="0E7C86"/>
      </a:accent1>
      <a:accent2>
        <a:srgbClr val="F2A541"/>
      </a:accent2>
      <a:accent3>
        <a:srgbClr val="C8553D"/>
      </a:accent3>
      <a:accent4>
        <a:srgbClr val="3E8E41"/>
      </a:accent4>
      <a:accent5>
        <a:srgbClr val="5B7FA6"/>
      </a:accent5>
      <a:accent6>
        <a:srgbClr val="8E9AAF"/>
      </a:accent6>
      <a:hlink>
        <a:srgbClr val="0E7C86"/>
      </a:hlink>
      <a:folHlink>
        <a:srgbClr val="5B7FA6"/>
      </a:folHlink>
    </a:clrScheme>
    <a:fontScheme name="AuditDefense">
      <a:majorFont>
        <a:latin typeface="B Tit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 Nazani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دفاع از رسالهٔ دکتری: بررسی هزینه‌های حسابرسی و ارائهٔ مدلی جهت پیش‌بینی آن</dc:title>
  <dc:subject>PptxGenJS Presentation</dc:subject>
  <dc:creator>رسالهٔ دکتری حسابداری</dc:creator>
  <cp:lastModifiedBy>رسالهٔ دکتری حسابداری</cp:lastModifiedBy>
  <cp:revision>1</cp:revision>
  <dcterms:created xsi:type="dcterms:W3CDTF">2026-10-15T04:36:47Z</dcterms:created>
  <dcterms:modified xsi:type="dcterms:W3CDTF">2026-10-15T04:36:47Z</dcterms:modified>
</cp:coreProperties>
</file>