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اسلاید عنوان. تاریخ ارائه را در صورت نیاز اضافه کنید.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مقدمه و مفهوم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نقد مدل وبری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سه‌گانه بوروکراسی در نظریه ریگز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یکپارچگی و عدم یکپارچگی در جوامع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طبقه‌بندی نظام‌های سیاسی و بوروکراسی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نظریه «گاوس» و بوم‌شناسی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کارمندان دولتی و اندازه دولت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نظام اداری در کشورهای در حال توسعه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انواع نظام‌های اداری بر اساس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جمع‌بندی و نتیجه‌گیری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نکات کلیدی برای ارائه در کلاس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1188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200" dirty="0">
                <a:solidFill>
                  <a:schemeClr val="bg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بوروکراسی و مدل‌های اداره امور عمومی</a:t>
            </a:r>
            <a:endParaRPr lang="en-US" sz="4200" dirty="0"/>
          </a:p>
        </p:txBody>
      </p:sp>
      <p:sp>
        <p:nvSpPr>
          <p:cNvPr id="3" name="Subtitle"/>
          <p:cNvSpPr txBox="1"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CFE3E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برگرفته از کتاب «چارچوبی برای مطالعات تطبیقی» (فصل ۲) — فرد ریگز</a:t>
            </a:r>
            <a:endParaRPr lang="en-US" sz="2000" dirty="0"/>
          </a:p>
        </p:txBody>
      </p:sp>
      <p:sp>
        <p:nvSpPr>
          <p:cNvPr id="4" name="Presenter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2B66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ارائه‌دهنده: حمیده رزدان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مقدمه و مفهوم «ریگز»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فرد ریگز (Riggs)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تئوری منشوری (Prismatic Theory)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کشورهای در حال توسعه = ساختارهای «منشوری» (ترکیب سنت + مدرنیته)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مفهوم «سالا» (Sala)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دیوان (Bureau): هر سه مدل (متمرکز، مرکب، وسیع)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اتاق (Chamber): بوروکراسی مرکب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اداره (Office): بوروکراسی وسیع و جدید</a:t>
            </a:r>
            <a:endParaRPr lang="en-US" sz="1500" dirty="0"/>
          </a:p>
        </p:txBody>
      </p:sp>
      <p:sp>
        <p:nvSpPr>
          <p:cNvPr id="9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جوامع در حال توسعه، ساختارها ظاهراً مدرن‌اند، اما کارکردهایشان هنوز سنتی و خانوادگی است.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نقد مدل وبری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 وبری (عقلانی-قانونی)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626364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سلسله‌مراتب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تقسیم کار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قوانین مکتوب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تخصص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نقد ریگز به وبر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342900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 وبری برای جوامع غربی طراحی شده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برای جوامع در حال توسعه کارایی ندارد</a:t>
            </a:r>
            <a:endParaRPr lang="en-US" sz="1500" dirty="0"/>
          </a:p>
        </p:txBody>
      </p:sp>
      <p:sp>
        <p:nvSpPr>
          <p:cNvPr id="9" name="Card2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Head2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مشکلات در کشورهای در حال توسعه</a:t>
            </a:r>
            <a:endParaRPr lang="en-US" sz="1700" dirty="0"/>
          </a:p>
        </p:txBody>
      </p:sp>
      <p:sp>
        <p:nvSpPr>
          <p:cNvPr id="11" name="CardBody2"/>
          <p:cNvSpPr txBox="1"/>
          <p:nvPr/>
        </p:nvSpPr>
        <p:spPr>
          <a:xfrm>
            <a:off x="59436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نادیده گرفتن روابط غیررسمی و خانوادگی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تطابق با ساختارهای سیاسی سنتی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شکاف بین انتظارات رسمی و رفتار عملی کارکنان</a:t>
            </a:r>
            <a:endParaRPr lang="en-US" sz="1500" dirty="0"/>
          </a:p>
        </p:txBody>
      </p:sp>
      <p:sp>
        <p:nvSpPr>
          <p:cNvPr id="12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3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«آلوریان» معتقد است مدل وبری در کشورهای در حال توسعه باعث «بوروکراسی زائد» می‌شود.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مدل‌های سه‌گانه بوروکراسی در نظریه ریگز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926080"/>
              </a:tblGrid>
              <a:tr h="4114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مثال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ویژگی‌ها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مدل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کشورهای توسعه‌یافته غربی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قوانین، عقلانیت، سلسله‌مراتب، تخصص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۱. مدل «حاکمیت» (Weberian/Classic)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کشورهای در حال توسعه (ایران، مصر)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ترکیب سنتی و مدرن، عدم تطابق کارکردها با ساختار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۲. مدل «منشوری» (Prismatic)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ترکیبی؛ شامل «دیوان»، «اتاق» و «اداره»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۳. مدل «سالا» (Sala)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5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مدل «منشوری»، پدیده «هم‌ریختگی» (Overlapping) رخ می‌دهد؛ سازمان‌های جدید جایگزین قدیمی‌ها نمی‌شوند، بلکه در کنار آنها با کارکردهای متناقض ادامه می‌یابند.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یکپارچگی و عدم یکپارچگی در جوامع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جامعه یکپارچه (Fused)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626364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جوامع سنتی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ساختارها و کارکردها تفکیک نشده‌اند (قبیله‌ای)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جامعه منشوری (Prismatic)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342900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جوامع در حال گذار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نهادهای جدید ایجاد شده، اما کارکردها هنوز سنتی است</a:t>
            </a:r>
            <a:endParaRPr lang="en-US" sz="1500" dirty="0"/>
          </a:p>
        </p:txBody>
      </p:sp>
      <p:sp>
        <p:nvSpPr>
          <p:cNvPr id="9" name="Card2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Head2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جامعه تفکیک‌یافته (Diffracted)</a:t>
            </a:r>
            <a:endParaRPr lang="en-US" sz="1700" dirty="0"/>
          </a:p>
        </p:txBody>
      </p:sp>
      <p:sp>
        <p:nvSpPr>
          <p:cNvPr id="11" name="CardBody2"/>
          <p:cNvSpPr txBox="1"/>
          <p:nvPr/>
        </p:nvSpPr>
        <p:spPr>
          <a:xfrm>
            <a:off x="59436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جوامع مدرن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تفکیک کامل ساختارها و کارکردها</a:t>
            </a:r>
            <a:endParaRPr lang="en-US" sz="1500" dirty="0"/>
          </a:p>
        </p:txBody>
      </p:sp>
      <p:sp>
        <p:nvSpPr>
          <p:cNvPr id="12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3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مثال از متن: ریگز جامعه منشوری را به «ارکستر سمفونی» تشبیه می‌کند که هر نوازنده ساز خود را می‌زند و هماهنگی وجود ندارد.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طبقه‌بندی نظام‌های سیاسی و بوروکراسی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 «حاکمیت» (Heer)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تقسیم‌بندی نظام‌های سیاسی بر اساس درجه حاکمیت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انواع حکومت‌ها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حکومت حاکم (متمرکز مطلق) ← استبدادی سنتی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حکومت حزب (تک‌حزبی) ← شوروی سابق، چین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حکومت بوروکراتیک (دموکراسی) ← کشورهای غربی</a:t>
            </a:r>
            <a:endParaRPr lang="en-US" sz="1500" dirty="0"/>
          </a:p>
        </p:txBody>
      </p:sp>
      <p:sp>
        <p:nvSpPr>
          <p:cNvPr id="9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«حکومت حاکم»، قدرت در دست یک فرد یا گروه کوچک متمرکز است و بوروکراسی صرفاً ابزاری برای اجرای دستورات است.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نظریه «گاوس» و بوم‌شناسی اداری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جان گاوس (John Gaus)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بنیان‌گذار نظریه بوم‌شناسی اداری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اداره امور دولتی را نمی‌توان جدا از محیط اجتماعی، اقتصادی و سیاسی مطالعه کرد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عوامل موثر بر اداره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تکنولوژی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افراد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مکان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آرزوها و عقاید</a:t>
            </a:r>
            <a:endParaRPr lang="en-US" sz="1500" dirty="0"/>
          </a:p>
        </p:txBody>
      </p:sp>
      <p:sp>
        <p:nvSpPr>
          <p:cNvPr id="9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«بوم‌شناسی» کمک می‌کند بفهمیم چرا یک مدل اداری در یک کشور موفق و در کشور دیگر ناموفق است. این نظریه بعدها توسط «ریگز» بسط داده شد.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کارمندان دولتی و اندازه دولت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457200" y="1234440"/>
            <a:ext cx="822960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594360" y="132588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آمارهای جهانی (جدول ۱ و ۲)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594360" y="2011680"/>
            <a:ext cx="7955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کشورهای توسعه‌یافته (سوئد، دانمارک): ۲۵-۳۰٪ استخدام دولتی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کشورهای در حال توسعه (هند، مصر): سهم کمتر، اما لزوماً کارایی بیشتر نیست</a:t>
            </a:r>
            <a:endParaRPr lang="en-US" sz="1500" dirty="0"/>
          </a:p>
        </p:txBody>
      </p:sp>
      <p:sp>
        <p:nvSpPr>
          <p:cNvPr id="6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7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بسیاری از کشورهای در حال توسعه، «بزرگ شدن دولت» = افزایش بوروکراسی زائد، نه افزایش خدمات. این پدیده به «قانون پارکینسون» معروف است: کار کارمندان تا پر شدن زمان موجود گسترش می‌یابد.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مدل‌های نظام اداری در کشورهای در حال توسعه</a:t>
            </a:r>
            <a:endParaRPr lang="en-US" sz="3400" dirty="0"/>
          </a:p>
        </p:txBody>
      </p:sp>
      <p:sp>
        <p:nvSpPr>
          <p:cNvPr id="3" name="GridCard0"/>
          <p:cNvSpPr/>
          <p:nvPr/>
        </p:nvSpPr>
        <p:spPr>
          <a:xfrm>
            <a:off x="4709160" y="12344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0"/>
          <p:cNvSpPr/>
          <p:nvPr/>
        </p:nvSpPr>
        <p:spPr>
          <a:xfrm>
            <a:off x="8046720" y="14173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Num0"/>
          <p:cNvSpPr txBox="1"/>
          <p:nvPr/>
        </p:nvSpPr>
        <p:spPr>
          <a:xfrm>
            <a:off x="80467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</a:t>
            </a:r>
            <a:endParaRPr lang="en-US" sz="1800" dirty="0"/>
          </a:p>
        </p:txBody>
      </p:sp>
      <p:sp>
        <p:nvSpPr>
          <p:cNvPr id="6" name="GridHead0"/>
          <p:cNvSpPr txBox="1"/>
          <p:nvPr/>
        </p:nvSpPr>
        <p:spPr>
          <a:xfrm>
            <a:off x="4892040" y="13716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مدل‌های مردم‌محور (Populist)</a:t>
            </a:r>
            <a:endParaRPr lang="en-US" sz="1800" dirty="0"/>
          </a:p>
        </p:txBody>
      </p:sp>
      <p:sp>
        <p:nvSpPr>
          <p:cNvPr id="7" name="GridBody0"/>
          <p:cNvSpPr txBox="1"/>
          <p:nvPr/>
        </p:nvSpPr>
        <p:spPr>
          <a:xfrm>
            <a:off x="4892040" y="19659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تأکید بر مشارکت مردمی</a:t>
            </a:r>
            <a:endParaRPr lang="en-US" sz="1600" dirty="0"/>
          </a:p>
        </p:txBody>
      </p:sp>
      <p:sp>
        <p:nvSpPr>
          <p:cNvPr id="8" name="GridCard1"/>
          <p:cNvSpPr/>
          <p:nvPr/>
        </p:nvSpPr>
        <p:spPr>
          <a:xfrm>
            <a:off x="457200" y="12344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1"/>
          <p:cNvSpPr/>
          <p:nvPr/>
        </p:nvSpPr>
        <p:spPr>
          <a:xfrm>
            <a:off x="3794760" y="14173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adgeNum1"/>
          <p:cNvSpPr txBox="1"/>
          <p:nvPr/>
        </p:nvSpPr>
        <p:spPr>
          <a:xfrm>
            <a:off x="3794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</a:t>
            </a:r>
            <a:endParaRPr lang="en-US" sz="1800" dirty="0"/>
          </a:p>
        </p:txBody>
      </p:sp>
      <p:sp>
        <p:nvSpPr>
          <p:cNvPr id="11" name="GridHead1"/>
          <p:cNvSpPr txBox="1"/>
          <p:nvPr/>
        </p:nvSpPr>
        <p:spPr>
          <a:xfrm>
            <a:off x="640080" y="13716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مدل‌های بوروکراتیک مطلق</a:t>
            </a:r>
            <a:endParaRPr lang="en-US" sz="1800" dirty="0"/>
          </a:p>
        </p:txBody>
      </p:sp>
      <p:sp>
        <p:nvSpPr>
          <p:cNvPr id="12" name="GridBody1"/>
          <p:cNvSpPr txBox="1"/>
          <p:nvPr/>
        </p:nvSpPr>
        <p:spPr>
          <a:xfrm>
            <a:off x="640080" y="19659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کنترل شدید و تمرکز</a:t>
            </a:r>
            <a:endParaRPr lang="en-US" sz="1600" dirty="0"/>
          </a:p>
        </p:txBody>
      </p:sp>
      <p:sp>
        <p:nvSpPr>
          <p:cNvPr id="13" name="GridCard2"/>
          <p:cNvSpPr/>
          <p:nvPr/>
        </p:nvSpPr>
        <p:spPr>
          <a:xfrm>
            <a:off x="4709160" y="26060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2"/>
          <p:cNvSpPr/>
          <p:nvPr/>
        </p:nvSpPr>
        <p:spPr>
          <a:xfrm>
            <a:off x="8046720" y="2788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BadgeNum2"/>
          <p:cNvSpPr txBox="1"/>
          <p:nvPr/>
        </p:nvSpPr>
        <p:spPr>
          <a:xfrm>
            <a:off x="80467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</a:t>
            </a:r>
            <a:endParaRPr lang="en-US" sz="1800" dirty="0"/>
          </a:p>
        </p:txBody>
      </p:sp>
      <p:sp>
        <p:nvSpPr>
          <p:cNvPr id="16" name="GridHead2"/>
          <p:cNvSpPr txBox="1"/>
          <p:nvPr/>
        </p:nvSpPr>
        <p:spPr>
          <a:xfrm>
            <a:off x="4892040" y="27432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مدل‌های ائتلافی</a:t>
            </a:r>
            <a:endParaRPr lang="en-US" sz="1800" dirty="0"/>
          </a:p>
        </p:txBody>
      </p:sp>
      <p:sp>
        <p:nvSpPr>
          <p:cNvPr id="17" name="GridBody2"/>
          <p:cNvSpPr txBox="1"/>
          <p:nvPr/>
        </p:nvSpPr>
        <p:spPr>
          <a:xfrm>
            <a:off x="4892040" y="33375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ترکیب نیروهای سیاسی مختلف</a:t>
            </a:r>
            <a:endParaRPr lang="en-US" sz="1600" dirty="0"/>
          </a:p>
        </p:txBody>
      </p:sp>
      <p:sp>
        <p:nvSpPr>
          <p:cNvPr id="18" name="GridCard3"/>
          <p:cNvSpPr/>
          <p:nvPr/>
        </p:nvSpPr>
        <p:spPr>
          <a:xfrm>
            <a:off x="457200" y="26060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3"/>
          <p:cNvSpPr/>
          <p:nvPr/>
        </p:nvSpPr>
        <p:spPr>
          <a:xfrm>
            <a:off x="3794760" y="2788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BadgeNum3"/>
          <p:cNvSpPr txBox="1"/>
          <p:nvPr/>
        </p:nvSpPr>
        <p:spPr>
          <a:xfrm>
            <a:off x="37947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۴</a:t>
            </a:r>
            <a:endParaRPr lang="en-US" sz="1800" dirty="0"/>
          </a:p>
        </p:txBody>
      </p:sp>
      <p:sp>
        <p:nvSpPr>
          <p:cNvPr id="21" name="GridHead3"/>
          <p:cNvSpPr txBox="1"/>
          <p:nvPr/>
        </p:nvSpPr>
        <p:spPr>
          <a:xfrm>
            <a:off x="640080" y="27432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مدل‌های جنبشی</a:t>
            </a:r>
            <a:endParaRPr lang="en-US" sz="1800" dirty="0"/>
          </a:p>
        </p:txBody>
      </p:sp>
      <p:sp>
        <p:nvSpPr>
          <p:cNvPr id="22" name="GridBody3"/>
          <p:cNvSpPr txBox="1"/>
          <p:nvPr/>
        </p:nvSpPr>
        <p:spPr>
          <a:xfrm>
            <a:off x="640080" y="33375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مبتنی بر ایدئولوژی و تحرک سیاسی</a:t>
            </a:r>
            <a:endParaRPr lang="en-US" sz="1600" dirty="0"/>
          </a:p>
        </p:txBody>
      </p:sp>
      <p:sp>
        <p:nvSpPr>
          <p:cNvPr id="23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24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این مدل‌ها توسط «ادوارد شیلز» و دیگران بسط یافتند.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انواع نظام‌های اداری بر اساس «ریگز»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معیار طبقه‌بندی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رابطه سیستم اداری با سیستم سیاسی، اقتصادی و اجتماعی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258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سه ویژگی اصلی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201168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حاکم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حزب</a:t>
            </a:r>
            <a:endParaRPr lang="en-US" sz="15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ارتش</a:t>
            </a:r>
            <a:endParaRPr lang="en-US" sz="1500" dirty="0"/>
          </a:p>
        </p:txBody>
      </p:sp>
      <p:sp>
        <p:nvSpPr>
          <p:cNvPr id="9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پاسخگویی به «حاکم» ← بوروکراسی سیاسی و وابسته. پاسخگویی به «قانون» ← بوروکراسی حرفه‌ای‌تر و مستقل‌تر.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جمع‌بندی و نتیجه‌گیری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ریگز و مدل منشوری</a:t>
            </a:r>
            <a:endParaRPr lang="en-US" sz="1700" dirty="0"/>
          </a:p>
        </p:txBody>
      </p:sp>
      <p:sp>
        <p:nvSpPr>
          <p:cNvPr id="5" name="CardBody0"/>
          <p:cNvSpPr txBox="1"/>
          <p:nvPr/>
        </p:nvSpPr>
        <p:spPr>
          <a:xfrm>
            <a:off x="626364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بهترین چارچوب برای تحلیل بوروکراسی در کشورهای در حال توسعه</a:t>
            </a:r>
            <a:endParaRPr lang="en-US" sz="1500" dirty="0"/>
          </a:p>
        </p:txBody>
      </p:sp>
      <p:sp>
        <p:nvSpPr>
          <p:cNvPr id="6" name="Card1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چالش اصلی</a:t>
            </a:r>
            <a:endParaRPr lang="en-US" sz="1700" dirty="0"/>
          </a:p>
        </p:txBody>
      </p:sp>
      <p:sp>
        <p:nvSpPr>
          <p:cNvPr id="8" name="CardBody1"/>
          <p:cNvSpPr txBox="1"/>
          <p:nvPr/>
        </p:nvSpPr>
        <p:spPr>
          <a:xfrm>
            <a:off x="342900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تطابق بین ساختارهای مدرن و کارکردهای سنتی</a:t>
            </a:r>
            <a:endParaRPr lang="en-US" sz="1500" dirty="0"/>
          </a:p>
        </p:txBody>
      </p:sp>
      <p:sp>
        <p:nvSpPr>
          <p:cNvPr id="9" name="Card2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Head2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راهکار</a:t>
            </a:r>
            <a:endParaRPr lang="en-US" sz="1700" dirty="0"/>
          </a:p>
        </p:txBody>
      </p:sp>
      <p:sp>
        <p:nvSpPr>
          <p:cNvPr id="11" name="CardBody2"/>
          <p:cNvSpPr txBox="1"/>
          <p:nvPr/>
        </p:nvSpPr>
        <p:spPr>
          <a:xfrm>
            <a:off x="594360" y="2011680"/>
            <a:ext cx="22860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درک بوم‌شناسی اداری (محیط سیاسی، اجتماعی و فرهنگی) قبل از هرگونه اصلاحات اداری</a:t>
            </a:r>
            <a:endParaRPr lang="en-US" sz="1500" dirty="0"/>
          </a:p>
        </p:txBody>
      </p:sp>
      <p:sp>
        <p:nvSpPr>
          <p:cNvPr id="12" name="NoteCard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3" name="Note"/>
          <p:cNvSpPr txBox="1"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💡 </a:t>
            </a:r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سخن آخر: بوروکراسی صرفاً یک ابزار فنی نیست، بلکه بازتابی از فرهنگ و سیاست هر جامعه است.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B Titr" pitchFamily="34" charset="0"/>
                <a:ea typeface="B Titr" pitchFamily="34" charset="-122"/>
                <a:cs typeface="B Titr" pitchFamily="34" charset="-120"/>
              </a:rPr>
              <a:t>نکات کلیدی برای ارائه در کلاس</a:t>
            </a:r>
            <a:endParaRPr lang="en-US" sz="3400" dirty="0"/>
          </a:p>
        </p:txBody>
      </p:sp>
      <p:sp>
        <p:nvSpPr>
          <p:cNvPr id="3" name="NumCard0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adge0"/>
          <p:cNvSpPr/>
          <p:nvPr/>
        </p:nvSpPr>
        <p:spPr>
          <a:xfrm>
            <a:off x="7909560" y="1481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Txt0"/>
          <p:cNvSpPr txBox="1"/>
          <p:nvPr/>
        </p:nvSpPr>
        <p:spPr>
          <a:xfrm>
            <a:off x="790956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</a:t>
            </a:r>
            <a:endParaRPr lang="en-US" sz="1800" dirty="0"/>
          </a:p>
        </p:txBody>
      </p:sp>
      <p:sp>
        <p:nvSpPr>
          <p:cNvPr id="6" name="NumBody0"/>
          <p:cNvSpPr txBox="1"/>
          <p:nvPr/>
        </p:nvSpPr>
        <p:spPr>
          <a:xfrm>
            <a:off x="685800" y="123444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استفاده از نمودارها: نمودار درختی مدل‌های ریگز را روی تخته یا اسلاید بکشید</a:t>
            </a:r>
            <a:endParaRPr lang="en-US" sz="1700" dirty="0"/>
          </a:p>
        </p:txBody>
      </p:sp>
      <p:sp>
        <p:nvSpPr>
          <p:cNvPr id="7" name="NumCard1"/>
          <p:cNvSpPr/>
          <p:nvPr/>
        </p:nvSpPr>
        <p:spPr>
          <a:xfrm>
            <a:off x="457200" y="233172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Badge1"/>
          <p:cNvSpPr/>
          <p:nvPr/>
        </p:nvSpPr>
        <p:spPr>
          <a:xfrm>
            <a:off x="7909560" y="2578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Txt1"/>
          <p:cNvSpPr txBox="1"/>
          <p:nvPr/>
        </p:nvSpPr>
        <p:spPr>
          <a:xfrm>
            <a:off x="790956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</a:t>
            </a:r>
            <a:endParaRPr lang="en-US" sz="1800" dirty="0"/>
          </a:p>
        </p:txBody>
      </p:sp>
      <p:sp>
        <p:nvSpPr>
          <p:cNvPr id="10" name="NumBody1"/>
          <p:cNvSpPr txBox="1"/>
          <p:nvPr/>
        </p:nvSpPr>
        <p:spPr>
          <a:xfrm>
            <a:off x="685800" y="233172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مثال‌های عینی: برای مدل «منشوری»، مثال سازمان‌های دولتی در ایران را ذکر کنید</a:t>
            </a:r>
            <a:endParaRPr lang="en-US" sz="1700" dirty="0"/>
          </a:p>
        </p:txBody>
      </p:sp>
      <p:sp>
        <p:nvSpPr>
          <p:cNvPr id="11" name="NumCard2"/>
          <p:cNvSpPr/>
          <p:nvPr/>
        </p:nvSpPr>
        <p:spPr>
          <a:xfrm>
            <a:off x="457200" y="342900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NumBadge2"/>
          <p:cNvSpPr/>
          <p:nvPr/>
        </p:nvSpPr>
        <p:spPr>
          <a:xfrm>
            <a:off x="7909560" y="3675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Txt2"/>
          <p:cNvSpPr txBox="1"/>
          <p:nvPr/>
        </p:nvSpPr>
        <p:spPr>
          <a:xfrm>
            <a:off x="790956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</a:t>
            </a:r>
            <a:endParaRPr lang="en-US" sz="1800" dirty="0"/>
          </a:p>
        </p:txBody>
      </p:sp>
      <p:sp>
        <p:nvSpPr>
          <p:cNvPr id="14" name="NumBody2"/>
          <p:cNvSpPr txBox="1"/>
          <p:nvPr/>
        </p:nvSpPr>
        <p:spPr>
          <a:xfrm>
            <a:off x="685800" y="342900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پرسش و پاسخ: از همکلاسی‌ها بپرسید: «به نظر شما بوروکراسی در ایران بیشتر به مدل وبری نزدیک است یا مدل منشوری ریگز؟»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iggs">
  <a:themeElements>
    <a:clrScheme name="Riggs">
      <a:dk1>
        <a:srgbClr val="1F2933"/>
      </a:dk1>
      <a:lt1>
        <a:srgbClr val="FFFFFF"/>
      </a:lt1>
      <a:dk2>
        <a:srgbClr val="0F3D3E"/>
      </a:dk2>
      <a:lt2>
        <a:srgbClr val="EAF3F2"/>
      </a:lt2>
      <a:accent1>
        <a:srgbClr val="0F6E6E"/>
      </a:accent1>
      <a:accent2>
        <a:srgbClr val="D98324"/>
      </a:accent2>
      <a:accent3>
        <a:srgbClr val="5B8E7D"/>
      </a:accent3>
      <a:accent4>
        <a:srgbClr val="8A5A44"/>
      </a:accent4>
      <a:accent5>
        <a:srgbClr val="3E5C76"/>
      </a:accent5>
      <a:accent6>
        <a:srgbClr val="B5483A"/>
      </a:accent6>
      <a:hlink>
        <a:srgbClr val="0F6E6E"/>
      </a:hlink>
      <a:folHlink>
        <a:srgbClr val="5B8E7D"/>
      </a:folHlink>
    </a:clrScheme>
    <a:fontScheme name="Riggs">
      <a:majorFont>
        <a:latin typeface="B Tit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 Nazani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2026-10-14T16:33:59Z</dcterms:created>
  <dcterms:modified xsi:type="dcterms:W3CDTF">2026-10-14T16:33:59Z</dcterms:modified>
</cp:coreProperties>
</file>