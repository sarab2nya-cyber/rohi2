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آغاز" id="{5c2da6e5-3e6e-3747-b09f-fca273e841de}">
          <p14:sldIdLst>
            <p14:sldId id="256"/>
            <p14:sldId id="257"/>
          </p14:sldIdLst>
        </p14:section>
        <p14:section name="بخش اول: مبانی نظری ریگز و نقد وبر" id="{8b9bb63c-662b-c352-9196-872fba90fc4e}">
          <p14:sldIdLst>
            <p14:sldId id="258"/>
            <p14:sldId id="259"/>
            <p14:sldId id="260"/>
            <p14:sldId id="261"/>
          </p14:sldIdLst>
        </p14:section>
        <p14:section name="بخش دوم: جامعه، حکومت و بوم‌شناسی اداری" id="{154ac544-7b9b-7d84-b8e4-4e60174689ac}">
          <p14:sldIdLst>
            <p14:sldId id="262"/>
            <p14:sldId id="263"/>
            <p14:sldId id="264"/>
            <p14:sldId id="265"/>
            <p14:sldId id="266"/>
          </p14:sldIdLst>
        </p14:section>
        <p14:section name="بخش سوم: دولت و نظام‌های اداری" id="{b9e55b62-1c2c-0f21-d04d-a3d1fb4d72d8}">
          <p14:sldIdLst>
            <p14:sldId id="267"/>
            <p14:sldId id="268"/>
            <p14:sldId id="269"/>
            <p14:sldId id="270"/>
          </p14:sldIdLst>
        </p14:section>
        <p14:section name="بخش چهارم: جمع‌بندی و کاربرد در کلاس" id="{a5e8d032-c10a-66a3-f687-9e66b2dde070}">
          <p14:sldIdLst>
            <p14:sldId id="271"/>
            <p14:sldId id="272"/>
            <p14:sldId id="273"/>
          </p14:sldIdLst>
        </p14:section>
        <p14:section name="پایان" id="{51799078-aaa9-f670-db18-4a583f8be3fc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Calibri"/>
                <a:cs typeface="B Zar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Calibri"/>
                <a:cs typeface="B Zar"/>
              </a:rPr>
              <a:t>نمودار مفهومی، نه آماری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درجه تفکیک (مفهومی)</c:v>
                </c:pt>
              </c:strCache>
            </c:strRef>
          </c:tx>
          <c:spPr>
            <a:solidFill>
              <a:srgbClr val="8A9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  <a:cs typeface="B Nazani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B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3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یکپارچه</c:v>
                  </c:pt>
                  <c:pt idx="1">
                    <c:v>منشوری</c:v>
                  </c:pt>
                  <c:pt idx="2">
                    <c:v>تفکیک‌یافته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  <a:cs typeface="B Nazani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Calibri"/>
                <a:cs typeface="B Nazani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  <a:cs typeface="B Nazani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Calibri"/>
                <a:cs typeface="B Zar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Calibri"/>
                <a:cs typeface="B Zar"/>
              </a:rPr>
              <a:t>بازه استخدام دولتی در سوئد و دانمارک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سهم استخدام دولتی (٪)</c:v>
                </c:pt>
              </c:strCache>
            </c:strRef>
          </c:tx>
          <c:spPr>
            <a:solidFill>
              <a:srgbClr val="5B8E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Calibri"/>
                    <a:cs typeface="B Nazani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8E7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حداقل ۲۵٪</c:v>
                  </c:pt>
                  <c:pt idx="1">
                    <c:v>حداکثر ۳۰٪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Calibri"/>
                  <a:cs typeface="B Nazani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Calibri"/>
                <a:cs typeface="B Nazani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  <a:cs typeface="B Nazani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اسلاید عنوان.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فهرست مطالب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بخش اول: مبانی نظری ریگز و نقد وبر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مقدمه و مفهوم «ریگز»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نقد مدل وبری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مدل‌های سه‌گانه بوروکراسی در نظریه ریگز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بخش دوم: جامعه، حکومت و بوم‌شناسی اداری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یکپارچگی و عدم یکپارچگی در جوامع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نمودار مفهومی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طبقه‌بندی نظام‌های سیاسی و بوروکراسی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نظریه «گاوس» و بوم‌شناسی اداری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بخش سوم: دولت و نظام‌های اداری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کارمندان دولتی و اندازه دولت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مدل‌های نظام اداری در کشورهای در حال توسعه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انواع نظام‌های اداری بر اساس «ریگز»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بخش چهارم: جمع‌بندی و کاربرد در کلاس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جمع‌بندی و نتیجه‌گیری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کلیدی برای ارائه در کلاس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480060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6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بوروکراسی و مدل‌های اداره امور عمومی — فرد ریگز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ismArt" descr="prism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0"/>
            <a:ext cx="3200400" cy="248716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3566160" y="10972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بوروکراسی و مدل‌های اداره امور عمومی</a:t>
            </a:r>
            <a:endParaRPr lang="fa-IR" sz="4400" dirty="0"/>
          </a:p>
        </p:txBody>
      </p:sp>
      <p:sp>
        <p:nvSpPr>
          <p:cNvPr id="4" name="Subtitle"/>
          <p:cNvSpPr txBox="1"/>
          <p:nvPr/>
        </p:nvSpPr>
        <p:spPr>
          <a:xfrm>
            <a:off x="3566160" y="24231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8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برگرفته از کتاب «چارچوبی برای مطالعات تطبیقی» (فصل ۲)، نوشته فرد ریگز</a:t>
            </a:r>
            <a:endParaRPr lang="fa-IR" sz="1800" dirty="0"/>
          </a:p>
        </p:txBody>
      </p:sp>
      <p:sp>
        <p:nvSpPr>
          <p:cNvPr id="5" name="Presenter"/>
          <p:cNvSpPr txBox="1"/>
          <p:nvPr/>
        </p:nvSpPr>
        <p:spPr>
          <a:xfrm>
            <a:off x="3566160" y="3383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2000" b="1" dirty="0">
                <a:solidFill>
                  <a:srgbClr val="F2B66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ارائه‌دهنده: حمیده رزدان</a:t>
            </a:r>
            <a:endParaRPr lang="fa-IR" sz="2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آغاز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فهرست مطالب</a:t>
            </a:r>
            <a:endParaRPr lang="fa-IR" sz="3200" dirty="0"/>
          </a:p>
        </p:txBody>
      </p:sp>
      <p:sp>
        <p:nvSpPr>
          <p:cNvPr id="4" name="GridCard0"/>
          <p:cNvSpPr/>
          <p:nvPr/>
        </p:nvSpPr>
        <p:spPr>
          <a:xfrm>
            <a:off x="4709160" y="128016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5" name="IconBg_FaBookOpen"/>
          <p:cNvSpPr/>
          <p:nvPr/>
        </p:nvSpPr>
        <p:spPr>
          <a:xfrm>
            <a:off x="8046720" y="141732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_FaBookOpen" descr="FaBook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536192"/>
            <a:ext cx="237744" cy="237744"/>
          </a:xfrm>
          <a:prstGeom prst="rect">
            <a:avLst/>
          </a:prstGeom>
        </p:spPr>
      </p:pic>
      <p:sp>
        <p:nvSpPr>
          <p:cNvPr id="7" name="GridHead0"/>
          <p:cNvSpPr txBox="1"/>
          <p:nvPr/>
        </p:nvSpPr>
        <p:spPr>
          <a:xfrm>
            <a:off x="4892040" y="13898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مبانی نظری ریگز و نقد وبر</a:t>
            </a:r>
            <a:endParaRPr lang="fa-IR" sz="1700" dirty="0"/>
          </a:p>
        </p:txBody>
      </p:sp>
      <p:sp>
        <p:nvSpPr>
          <p:cNvPr id="8" name="GridBody0"/>
          <p:cNvSpPr txBox="1"/>
          <p:nvPr/>
        </p:nvSpPr>
        <p:spPr>
          <a:xfrm>
            <a:off x="4892040" y="20116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مفهوم منشوری، نقد مدل وبری و مدل‌های سه‌گانه</a:t>
            </a:r>
            <a:endParaRPr lang="fa-IR" sz="1600" dirty="0"/>
          </a:p>
        </p:txBody>
      </p:sp>
      <p:sp>
        <p:nvSpPr>
          <p:cNvPr id="9" name="GridCard1"/>
          <p:cNvSpPr/>
          <p:nvPr/>
        </p:nvSpPr>
        <p:spPr>
          <a:xfrm>
            <a:off x="457200" y="128016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0" name="IconBg_FaGlobe"/>
          <p:cNvSpPr/>
          <p:nvPr/>
        </p:nvSpPr>
        <p:spPr>
          <a:xfrm>
            <a:off x="3794760" y="141732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_FaGlobe" descr="FaGlo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536192"/>
            <a:ext cx="237744" cy="237744"/>
          </a:xfrm>
          <a:prstGeom prst="rect">
            <a:avLst/>
          </a:prstGeom>
        </p:spPr>
      </p:pic>
      <p:sp>
        <p:nvSpPr>
          <p:cNvPr id="12" name="GridHead1"/>
          <p:cNvSpPr txBox="1"/>
          <p:nvPr/>
        </p:nvSpPr>
        <p:spPr>
          <a:xfrm>
            <a:off x="640080" y="13898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جامعه، حکومت و بوم‌شناسی اداری</a:t>
            </a:r>
            <a:endParaRPr lang="fa-IR" sz="1700" dirty="0"/>
          </a:p>
        </p:txBody>
      </p:sp>
      <p:sp>
        <p:nvSpPr>
          <p:cNvPr id="13" name="GridBody1"/>
          <p:cNvSpPr txBox="1"/>
          <p:nvPr/>
        </p:nvSpPr>
        <p:spPr>
          <a:xfrm>
            <a:off x="640080" y="20116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یکپارچگی جوامع، نظام‌های سیاسی و نظریه گاوس</a:t>
            </a:r>
            <a:endParaRPr lang="fa-IR" sz="1600" dirty="0"/>
          </a:p>
        </p:txBody>
      </p:sp>
      <p:sp>
        <p:nvSpPr>
          <p:cNvPr id="14" name="GridCard2"/>
          <p:cNvSpPr/>
          <p:nvPr/>
        </p:nvSpPr>
        <p:spPr>
          <a:xfrm>
            <a:off x="4709160" y="269748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5" name="IconBg_FaLandmark"/>
          <p:cNvSpPr/>
          <p:nvPr/>
        </p:nvSpPr>
        <p:spPr>
          <a:xfrm>
            <a:off x="8046720" y="283464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_FaLandmark" descr="FaLand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2953512"/>
            <a:ext cx="237744" cy="237744"/>
          </a:xfrm>
          <a:prstGeom prst="rect">
            <a:avLst/>
          </a:prstGeom>
        </p:spPr>
      </p:pic>
      <p:sp>
        <p:nvSpPr>
          <p:cNvPr id="17" name="GridHead2"/>
          <p:cNvSpPr txBox="1"/>
          <p:nvPr/>
        </p:nvSpPr>
        <p:spPr>
          <a:xfrm>
            <a:off x="4892040" y="28072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دولت و نظام‌های اداری</a:t>
            </a:r>
            <a:endParaRPr lang="fa-IR" sz="1700" dirty="0"/>
          </a:p>
        </p:txBody>
      </p:sp>
      <p:sp>
        <p:nvSpPr>
          <p:cNvPr id="18" name="GridBody2"/>
          <p:cNvSpPr txBox="1"/>
          <p:nvPr/>
        </p:nvSpPr>
        <p:spPr>
          <a:xfrm>
            <a:off x="4892040" y="3429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اندازه دولت، مدل‌های توسعه و انواع نظام‌های اداری</a:t>
            </a:r>
            <a:endParaRPr lang="fa-IR" sz="1600" dirty="0"/>
          </a:p>
        </p:txBody>
      </p:sp>
      <p:sp>
        <p:nvSpPr>
          <p:cNvPr id="19" name="GridCard3"/>
          <p:cNvSpPr/>
          <p:nvPr/>
        </p:nvSpPr>
        <p:spPr>
          <a:xfrm>
            <a:off x="457200" y="269748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20" name="IconBg_FaCircleCheck"/>
          <p:cNvSpPr/>
          <p:nvPr/>
        </p:nvSpPr>
        <p:spPr>
          <a:xfrm>
            <a:off x="3794760" y="283464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_FaCircleCheck" descr="FaCirc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2953512"/>
            <a:ext cx="237744" cy="237744"/>
          </a:xfrm>
          <a:prstGeom prst="rect">
            <a:avLst/>
          </a:prstGeom>
        </p:spPr>
      </p:pic>
      <p:sp>
        <p:nvSpPr>
          <p:cNvPr id="22" name="GridHead3"/>
          <p:cNvSpPr txBox="1"/>
          <p:nvPr/>
        </p:nvSpPr>
        <p:spPr>
          <a:xfrm>
            <a:off x="640080" y="28072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جمع‌بندی و کاربرد در کلاس</a:t>
            </a:r>
            <a:endParaRPr lang="fa-IR" sz="1700" dirty="0"/>
          </a:p>
        </p:txBody>
      </p:sp>
      <p:sp>
        <p:nvSpPr>
          <p:cNvPr id="23" name="GridBody3"/>
          <p:cNvSpPr txBox="1"/>
          <p:nvPr/>
        </p:nvSpPr>
        <p:spPr>
          <a:xfrm>
            <a:off x="640080" y="3429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نتیجه‌گیری و نکات کلیدی ارائه</a:t>
            </a:r>
            <a:endParaRPr lang="fa-I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2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Badge"/>
          <p:cNvSpPr/>
          <p:nvPr/>
        </p:nvSpPr>
        <p:spPr>
          <a:xfrm>
            <a:off x="7498080" y="123444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3" name="DividerNum"/>
          <p:cNvSpPr txBox="1"/>
          <p:nvPr/>
        </p:nvSpPr>
        <p:spPr>
          <a:xfrm>
            <a:off x="749808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۱</a:t>
            </a:r>
            <a:endParaRPr lang="fa-IR" sz="4000" dirty="0"/>
          </a:p>
        </p:txBody>
      </p:sp>
      <p:pic>
        <p:nvPicPr>
          <p:cNvPr id="4" name="DividerArt" descr="hier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3840480" cy="2990088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4389120" y="22860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مبانی نظری ریگز و نقد وبر</a:t>
            </a:r>
            <a:endParaRPr lang="fa-IR" sz="3400" dirty="0"/>
          </a:p>
        </p:txBody>
      </p:sp>
      <p:sp>
        <p:nvSpPr>
          <p:cNvPr id="6" name="Subtitle"/>
          <p:cNvSpPr txBox="1"/>
          <p:nvPr/>
        </p:nvSpPr>
        <p:spPr>
          <a:xfrm>
            <a:off x="4389120" y="34290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8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مفهوم منشوری، نقد مدل وبری و مدل‌های سه‌گانه</a:t>
            </a:r>
            <a:endParaRPr lang="fa-IR" sz="18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بخش اول: مبانی نظری ریگز و نقد وبر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مقدمه و مفهوم «ریگز»</a:t>
            </a:r>
            <a:endParaRPr lang="fa-IR" sz="3200" dirty="0"/>
          </a:p>
        </p:txBody>
      </p:sp>
      <p:sp>
        <p:nvSpPr>
          <p:cNvPr id="4" name="Card0"/>
          <p:cNvSpPr/>
          <p:nvPr/>
        </p:nvSpPr>
        <p:spPr>
          <a:xfrm>
            <a:off x="4709160" y="123444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5" name="IconBg_FaUserGraduate"/>
          <p:cNvSpPr/>
          <p:nvPr/>
        </p:nvSpPr>
        <p:spPr>
          <a:xfrm>
            <a:off x="8138160" y="1344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_FaUserGraduate" descr="FaUserGradu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316" y="1449324"/>
            <a:ext cx="210312" cy="210312"/>
          </a:xfrm>
          <a:prstGeom prst="rect">
            <a:avLst/>
          </a:prstGeom>
        </p:spPr>
      </p:pic>
      <p:sp>
        <p:nvSpPr>
          <p:cNvPr id="7" name="CardHead0"/>
          <p:cNvSpPr txBox="1"/>
          <p:nvPr/>
        </p:nvSpPr>
        <p:spPr>
          <a:xfrm>
            <a:off x="4846320" y="1325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فرد ریگز (Riggs)</a:t>
            </a:r>
            <a:endParaRPr lang="fa-IR" sz="1700" dirty="0"/>
          </a:p>
        </p:txBody>
      </p:sp>
      <p:sp>
        <p:nvSpPr>
          <p:cNvPr id="8" name="CardBody0"/>
          <p:cNvSpPr txBox="1"/>
          <p:nvPr/>
        </p:nvSpPr>
        <p:spPr>
          <a:xfrm>
            <a:off x="4846320" y="201168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تئوری منشوری (Prismatic Theory)</a:t>
            </a:r>
            <a:endParaRPr lang="fa-IR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کشورهای در حال توسعه = ساختارهای «منشوری» (ترکیب سنت + مدرنیته)</a:t>
            </a:r>
            <a:endParaRPr lang="fa-IR" sz="1600" dirty="0"/>
          </a:p>
        </p:txBody>
      </p:sp>
      <p:sp>
        <p:nvSpPr>
          <p:cNvPr id="9" name="Card1"/>
          <p:cNvSpPr/>
          <p:nvPr/>
        </p:nvSpPr>
        <p:spPr>
          <a:xfrm>
            <a:off x="457200" y="123444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0" name="IconBg_FaBuilding"/>
          <p:cNvSpPr/>
          <p:nvPr/>
        </p:nvSpPr>
        <p:spPr>
          <a:xfrm>
            <a:off x="3886200" y="134416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_FaBuilding" descr="FaBuil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356" y="1449324"/>
            <a:ext cx="210312" cy="210312"/>
          </a:xfrm>
          <a:prstGeom prst="rect">
            <a:avLst/>
          </a:prstGeom>
        </p:spPr>
      </p:pic>
      <p:sp>
        <p:nvSpPr>
          <p:cNvPr id="12" name="CardHead1"/>
          <p:cNvSpPr txBox="1"/>
          <p:nvPr/>
        </p:nvSpPr>
        <p:spPr>
          <a:xfrm>
            <a:off x="594360" y="1325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مفهوم «سالا» (Sala)</a:t>
            </a:r>
            <a:endParaRPr lang="fa-IR" sz="1700" dirty="0"/>
          </a:p>
        </p:txBody>
      </p:sp>
      <p:sp>
        <p:nvSpPr>
          <p:cNvPr id="13" name="CardBody1"/>
          <p:cNvSpPr txBox="1"/>
          <p:nvPr/>
        </p:nvSpPr>
        <p:spPr>
          <a:xfrm>
            <a:off x="594360" y="201168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دیوان (Bureau): هر سه مدل (متمرکز، مرکب، وسیع)</a:t>
            </a:r>
            <a:endParaRPr lang="fa-IR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اتاق (Chamber): بوروکراسی مرکب</a:t>
            </a:r>
            <a:endParaRPr lang="fa-IR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اداره (Office): بوروکراسی وسیع و جدید</a:t>
            </a:r>
            <a:endParaRPr lang="fa-IR" sz="1600" dirty="0"/>
          </a:p>
        </p:txBody>
      </p:sp>
      <p:sp>
        <p:nvSpPr>
          <p:cNvPr id="14" name="NoteCard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5" name="NoteBadge"/>
          <p:cNvSpPr/>
          <p:nvPr/>
        </p:nvSpPr>
        <p:spPr>
          <a:xfrm>
            <a:off x="7406640" y="4206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NoteBadgeText"/>
          <p:cNvSpPr txBox="1"/>
          <p:nvPr/>
        </p:nvSpPr>
        <p:spPr>
          <a:xfrm>
            <a:off x="74066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نکته</a:t>
            </a:r>
            <a:endParaRPr lang="fa-IR" sz="1600" dirty="0"/>
          </a:p>
        </p:txBody>
      </p:sp>
      <p:pic>
        <p:nvPicPr>
          <p:cNvPr id="17" name="NoteIcon" descr="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261104"/>
            <a:ext cx="256032" cy="256032"/>
          </a:xfrm>
          <a:prstGeom prst="rect">
            <a:avLst/>
          </a:prstGeom>
        </p:spPr>
      </p:pic>
      <p:sp>
        <p:nvSpPr>
          <p:cNvPr id="18" name="Note"/>
          <p:cNvSpPr txBox="1"/>
          <p:nvPr/>
        </p:nvSpPr>
        <p:spPr>
          <a:xfrm>
            <a:off x="640080" y="4041648"/>
            <a:ext cx="6629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در جوامع در حال توسعه، ساختارها ظاهراً مدرن‌اند، اما کارکردهایشان هنوز سنتی و خانوادگی است.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4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بخش اول: مبانی نظری ریگز و نقد وبر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نقد مدل وبری</a:t>
            </a:r>
            <a:endParaRPr lang="fa-IR" sz="3200" dirty="0"/>
          </a:p>
        </p:txBody>
      </p:sp>
      <p:sp>
        <p:nvSpPr>
          <p:cNvPr id="4" name="Card0"/>
          <p:cNvSpPr/>
          <p:nvPr/>
        </p:nvSpPr>
        <p:spPr>
          <a:xfrm>
            <a:off x="6126480" y="123444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5" name="IconBg_FaSitemap"/>
          <p:cNvSpPr/>
          <p:nvPr/>
        </p:nvSpPr>
        <p:spPr>
          <a:xfrm>
            <a:off x="8138160" y="1344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_FaSitemap" descr="FaSite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316" y="1449324"/>
            <a:ext cx="210312" cy="210312"/>
          </a:xfrm>
          <a:prstGeom prst="rect">
            <a:avLst/>
          </a:prstGeom>
        </p:spPr>
      </p:pic>
      <p:sp>
        <p:nvSpPr>
          <p:cNvPr id="7" name="CardHead0"/>
          <p:cNvSpPr txBox="1"/>
          <p:nvPr/>
        </p:nvSpPr>
        <p:spPr>
          <a:xfrm>
            <a:off x="6263640" y="1325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مدل وبری (عقلانی-قانونی)</a:t>
            </a:r>
            <a:endParaRPr lang="fa-IR" sz="1500" dirty="0"/>
          </a:p>
        </p:txBody>
      </p:sp>
      <p:sp>
        <p:nvSpPr>
          <p:cNvPr id="8" name="CardBody0"/>
          <p:cNvSpPr txBox="1"/>
          <p:nvPr/>
        </p:nvSpPr>
        <p:spPr>
          <a:xfrm>
            <a:off x="6263640" y="2130552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سلسله‌مراتب</a:t>
            </a:r>
            <a:endParaRPr lang="fa-IR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تقسیم کار</a:t>
            </a:r>
            <a:endParaRPr lang="fa-IR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قوانین مکتوب</a:t>
            </a:r>
            <a:endParaRPr lang="fa-IR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تخصص</a:t>
            </a:r>
            <a:endParaRPr lang="fa-IR" sz="1500" dirty="0"/>
          </a:p>
        </p:txBody>
      </p:sp>
      <p:sp>
        <p:nvSpPr>
          <p:cNvPr id="9" name="Card1"/>
          <p:cNvSpPr/>
          <p:nvPr/>
        </p:nvSpPr>
        <p:spPr>
          <a:xfrm>
            <a:off x="3291840" y="123444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0" name="IconBg_FaMagnifyingGlass"/>
          <p:cNvSpPr/>
          <p:nvPr/>
        </p:nvSpPr>
        <p:spPr>
          <a:xfrm>
            <a:off x="5303520" y="134416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_FaMagnifyingGlass" descr="FaMagnifying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6" y="1449324"/>
            <a:ext cx="210312" cy="210312"/>
          </a:xfrm>
          <a:prstGeom prst="rect">
            <a:avLst/>
          </a:prstGeom>
        </p:spPr>
      </p:pic>
      <p:sp>
        <p:nvSpPr>
          <p:cNvPr id="12" name="CardHead1"/>
          <p:cNvSpPr txBox="1"/>
          <p:nvPr/>
        </p:nvSpPr>
        <p:spPr>
          <a:xfrm>
            <a:off x="3429000" y="1325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نقد ریگز به وبر</a:t>
            </a:r>
            <a:endParaRPr lang="fa-IR" sz="1500" dirty="0"/>
          </a:p>
        </p:txBody>
      </p:sp>
      <p:sp>
        <p:nvSpPr>
          <p:cNvPr id="13" name="CardBody1"/>
          <p:cNvSpPr txBox="1"/>
          <p:nvPr/>
        </p:nvSpPr>
        <p:spPr>
          <a:xfrm>
            <a:off x="3429000" y="2130552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مدل وبری برای جوامع غربی طراحی شده</a:t>
            </a:r>
            <a:endParaRPr lang="fa-IR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برای جوامع در حال توسعه کارایی ندارد</a:t>
            </a:r>
            <a:endParaRPr lang="fa-IR" sz="1500" dirty="0"/>
          </a:p>
        </p:txBody>
      </p:sp>
      <p:sp>
        <p:nvSpPr>
          <p:cNvPr id="14" name="Card2"/>
          <p:cNvSpPr/>
          <p:nvPr/>
        </p:nvSpPr>
        <p:spPr>
          <a:xfrm>
            <a:off x="457200" y="123444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5" name="IconBg_FaTriangleExclamation"/>
          <p:cNvSpPr/>
          <p:nvPr/>
        </p:nvSpPr>
        <p:spPr>
          <a:xfrm>
            <a:off x="2468880" y="134416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_FaTriangleExclamation" descr="FaTriangleExcla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036" y="1449324"/>
            <a:ext cx="210312" cy="210312"/>
          </a:xfrm>
          <a:prstGeom prst="rect">
            <a:avLst/>
          </a:prstGeom>
        </p:spPr>
      </p:pic>
      <p:sp>
        <p:nvSpPr>
          <p:cNvPr id="17" name="CardHead2"/>
          <p:cNvSpPr txBox="1"/>
          <p:nvPr/>
        </p:nvSpPr>
        <p:spPr>
          <a:xfrm>
            <a:off x="594360" y="1325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مشکلات در کشورهای در حال توسعه</a:t>
            </a:r>
            <a:endParaRPr lang="fa-IR" sz="1500" dirty="0"/>
          </a:p>
        </p:txBody>
      </p:sp>
      <p:sp>
        <p:nvSpPr>
          <p:cNvPr id="18" name="CardBody2"/>
          <p:cNvSpPr txBox="1"/>
          <p:nvPr/>
        </p:nvSpPr>
        <p:spPr>
          <a:xfrm>
            <a:off x="594360" y="2130552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نادیده گرفتن روابط غیررسمی و خانوادگی</a:t>
            </a:r>
            <a:endParaRPr lang="fa-IR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عدم تطابق با ساختارهای سیاسی سنتی</a:t>
            </a:r>
            <a:endParaRPr lang="fa-IR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شکاف بین انتظارات رسمی و رفتار عملی کارکنان</a:t>
            </a:r>
            <a:endParaRPr lang="fa-IR" sz="1500" dirty="0"/>
          </a:p>
        </p:txBody>
      </p:sp>
      <p:sp>
        <p:nvSpPr>
          <p:cNvPr id="19" name="NoteCard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20" name="NoteBadge"/>
          <p:cNvSpPr/>
          <p:nvPr/>
        </p:nvSpPr>
        <p:spPr>
          <a:xfrm>
            <a:off x="7406640" y="4206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NoteBadgeText"/>
          <p:cNvSpPr txBox="1"/>
          <p:nvPr/>
        </p:nvSpPr>
        <p:spPr>
          <a:xfrm>
            <a:off x="74066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نکته</a:t>
            </a:r>
            <a:endParaRPr lang="fa-IR" sz="1600" dirty="0"/>
          </a:p>
        </p:txBody>
      </p:sp>
      <p:pic>
        <p:nvPicPr>
          <p:cNvPr id="22" name="NoteIcon" descr="lightbul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261104"/>
            <a:ext cx="256032" cy="256032"/>
          </a:xfrm>
          <a:prstGeom prst="rect">
            <a:avLst/>
          </a:prstGeom>
        </p:spPr>
      </p:pic>
      <p:sp>
        <p:nvSpPr>
          <p:cNvPr id="23" name="Note"/>
          <p:cNvSpPr txBox="1"/>
          <p:nvPr/>
        </p:nvSpPr>
        <p:spPr>
          <a:xfrm>
            <a:off x="640080" y="4041648"/>
            <a:ext cx="6629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«آلوریان» معتقد است مدل وبری در کشورهای در حال توسعه باعث «بوروکراسی زائد» می‌شود.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5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بخش اول: مبانی نظری ریگز و نقد وبر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مدل‌های سه‌گانه بوروکراسی در نظریه ریگز</a:t>
            </a:r>
            <a:endParaRPr lang="fa-IR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2926080"/>
              </a:tblGrid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B Zar" pitchFamily="34" charset="-120"/>
                        </a:rPr>
                        <a:t>مثال</a:t>
                      </a:r>
                      <a:endParaRPr lang="fa-IR" sz="1600" dirty="0">
                        <a:latin typeface="Calibri" charset="0"/>
                        <a:ea typeface="Calibri" charset="0"/>
                        <a:cs typeface="B Z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B Zar" pitchFamily="34" charset="-120"/>
                        </a:rPr>
                        <a:t>ویژگی‌ها</a:t>
                      </a:r>
                      <a:endParaRPr lang="fa-IR" sz="1600" dirty="0">
                        <a:latin typeface="Calibri" charset="0"/>
                        <a:ea typeface="Calibri" charset="0"/>
                        <a:cs typeface="B Z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B Zar" pitchFamily="34" charset="-120"/>
                        </a:rPr>
                        <a:t>مدل</a:t>
                      </a:r>
                      <a:endParaRPr lang="fa-IR" sz="1600" dirty="0">
                        <a:latin typeface="Calibri" charset="0"/>
                        <a:ea typeface="Calibri" charset="0"/>
                        <a:cs typeface="B Z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B Nazanin" pitchFamily="34" charset="-120"/>
                        </a:rPr>
                        <a:t>کشورهای توسعه‌یافته غربی</a:t>
                      </a:r>
                      <a:endParaRPr lang="fa-IR" sz="1600" dirty="0">
                        <a:latin typeface="Calibri" charset="0"/>
                        <a:ea typeface="Calibri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B Nazanin" pitchFamily="34" charset="-120"/>
                        </a:rPr>
                        <a:t>قوانین، عقلانیت، سلسله‌مراتب، تخصص</a:t>
                      </a:r>
                      <a:endParaRPr lang="fa-IR" sz="1600" dirty="0">
                        <a:latin typeface="Calibri" charset="0"/>
                        <a:ea typeface="Calibri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B Nazanin" pitchFamily="34" charset="-120"/>
                        </a:rPr>
                        <a:t>۱. مدل «حاکمیت» (Weberian/Classic)</a:t>
                      </a:r>
                      <a:endParaRPr lang="fa-IR" sz="1600" dirty="0">
                        <a:latin typeface="Calibri" charset="0"/>
                        <a:ea typeface="Calibri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B Nazanin" pitchFamily="34" charset="-120"/>
                        </a:rPr>
                        <a:t>کشورهای در حال توسعه (ایران، مصر)</a:t>
                      </a:r>
                      <a:endParaRPr lang="fa-IR" sz="1600" dirty="0">
                        <a:latin typeface="Calibri" charset="0"/>
                        <a:ea typeface="Calibri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B Nazanin" pitchFamily="34" charset="-120"/>
                        </a:rPr>
                        <a:t>ترکیب سنتی و مدرن، عدم تطابق کارکردها با ساختار</a:t>
                      </a:r>
                      <a:endParaRPr lang="fa-IR" sz="1600" dirty="0">
                        <a:latin typeface="Calibri" charset="0"/>
                        <a:ea typeface="Calibri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B Nazanin" pitchFamily="34" charset="-120"/>
                        </a:rPr>
                        <a:t>۲. مدل «منشوری» (Prismatic)</a:t>
                      </a:r>
                      <a:endParaRPr lang="fa-IR" sz="1600" dirty="0">
                        <a:latin typeface="Calibri" charset="0"/>
                        <a:ea typeface="Calibri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B Nazanin" pitchFamily="34" charset="-120"/>
                        </a:rPr>
                        <a:t>—</a:t>
                      </a:r>
                      <a:endParaRPr lang="fa-IR" sz="1600" dirty="0">
                        <a:latin typeface="Calibri" charset="0"/>
                        <a:ea typeface="Calibri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B Nazanin" pitchFamily="34" charset="-120"/>
                        </a:rPr>
                        <a:t>ترکیبی؛ شامل «دیوان»، «اتاق» و «اداره»</a:t>
                      </a:r>
                      <a:endParaRPr lang="fa-IR" sz="1600" dirty="0">
                        <a:latin typeface="Calibri" charset="0"/>
                        <a:ea typeface="Calibri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B Nazanin" pitchFamily="34" charset="-120"/>
                        </a:rPr>
                        <a:t>۳. مدل «سالا» (Sala)</a:t>
                      </a:r>
                      <a:endParaRPr lang="fa-IR" sz="1600" dirty="0">
                        <a:latin typeface="Calibri" charset="0"/>
                        <a:ea typeface="Calibri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NoteCard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6" name="NoteBadge"/>
          <p:cNvSpPr/>
          <p:nvPr/>
        </p:nvSpPr>
        <p:spPr>
          <a:xfrm>
            <a:off x="7406640" y="4206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NoteBadgeText"/>
          <p:cNvSpPr txBox="1"/>
          <p:nvPr/>
        </p:nvSpPr>
        <p:spPr>
          <a:xfrm>
            <a:off x="74066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نکته</a:t>
            </a:r>
            <a:endParaRPr lang="fa-IR" sz="1600" dirty="0"/>
          </a:p>
        </p:txBody>
      </p:sp>
      <p:pic>
        <p:nvPicPr>
          <p:cNvPr id="8" name="NoteIcon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61104"/>
            <a:ext cx="256032" cy="256032"/>
          </a:xfrm>
          <a:prstGeom prst="rect">
            <a:avLst/>
          </a:prstGeom>
        </p:spPr>
      </p:pic>
      <p:sp>
        <p:nvSpPr>
          <p:cNvPr id="9" name="Note"/>
          <p:cNvSpPr txBox="1"/>
          <p:nvPr/>
        </p:nvSpPr>
        <p:spPr>
          <a:xfrm>
            <a:off x="640080" y="4041648"/>
            <a:ext cx="6629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در مدل «منشوری»، پدیده «هم‌ریختگی» (Overlapping) رخ می‌دهد؛ سازمان‌های جدید جایگزین قدیمی‌ها نمی‌شوند، بلکه در کنار آنها با کارکردهای متناقض ادامه می‌یابند.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6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Badge"/>
          <p:cNvSpPr/>
          <p:nvPr/>
        </p:nvSpPr>
        <p:spPr>
          <a:xfrm>
            <a:off x="7498080" y="123444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3" name="DividerNum"/>
          <p:cNvSpPr txBox="1"/>
          <p:nvPr/>
        </p:nvSpPr>
        <p:spPr>
          <a:xfrm>
            <a:off x="749808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۲</a:t>
            </a:r>
            <a:endParaRPr lang="fa-IR" sz="4000" dirty="0"/>
          </a:p>
        </p:txBody>
      </p:sp>
      <p:pic>
        <p:nvPicPr>
          <p:cNvPr id="4" name="DividerArt" descr="glob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3840480" cy="2990088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4389120" y="22860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جامعه، حکومت و بوم‌شناسی اداری</a:t>
            </a:r>
            <a:endParaRPr lang="fa-IR" sz="3400" dirty="0"/>
          </a:p>
        </p:txBody>
      </p:sp>
      <p:sp>
        <p:nvSpPr>
          <p:cNvPr id="6" name="Subtitle"/>
          <p:cNvSpPr txBox="1"/>
          <p:nvPr/>
        </p:nvSpPr>
        <p:spPr>
          <a:xfrm>
            <a:off x="4389120" y="34290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8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یکپارچگی جوامع، نظام‌های سیاسی و نظریه گاوس</a:t>
            </a:r>
            <a:endParaRPr lang="fa-IR" sz="18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بخش دوم: جامعه، حکومت و بوم‌شناسی اداری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یکپارچگی و عدم یکپارچگی در جوامع</a:t>
            </a:r>
            <a:endParaRPr lang="fa-IR" sz="3200" dirty="0"/>
          </a:p>
        </p:txBody>
      </p:sp>
      <p:sp>
        <p:nvSpPr>
          <p:cNvPr id="4" name="Card0"/>
          <p:cNvSpPr/>
          <p:nvPr/>
        </p:nvSpPr>
        <p:spPr>
          <a:xfrm>
            <a:off x="6126480" y="123444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5" name="IconBg_FaPeopleGroup"/>
          <p:cNvSpPr/>
          <p:nvPr/>
        </p:nvSpPr>
        <p:spPr>
          <a:xfrm>
            <a:off x="8138160" y="1344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_FaPeopleGroup" descr="FaPeople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316" y="1449324"/>
            <a:ext cx="210312" cy="210312"/>
          </a:xfrm>
          <a:prstGeom prst="rect">
            <a:avLst/>
          </a:prstGeom>
        </p:spPr>
      </p:pic>
      <p:sp>
        <p:nvSpPr>
          <p:cNvPr id="7" name="CardHead0"/>
          <p:cNvSpPr txBox="1"/>
          <p:nvPr/>
        </p:nvSpPr>
        <p:spPr>
          <a:xfrm>
            <a:off x="6263640" y="1325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جامعه یکپارچه (Fused)</a:t>
            </a:r>
            <a:endParaRPr lang="fa-IR" sz="1500" dirty="0"/>
          </a:p>
        </p:txBody>
      </p:sp>
      <p:sp>
        <p:nvSpPr>
          <p:cNvPr id="8" name="CardBody0"/>
          <p:cNvSpPr txBox="1"/>
          <p:nvPr/>
        </p:nvSpPr>
        <p:spPr>
          <a:xfrm>
            <a:off x="6263640" y="2130552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جوامع سنتی</a:t>
            </a:r>
            <a:endParaRPr lang="fa-IR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ساختارها و کارکردها تفکیک نشده‌اند (قبیله‌ای)</a:t>
            </a:r>
            <a:endParaRPr lang="fa-IR" sz="1500" dirty="0"/>
          </a:p>
        </p:txBody>
      </p:sp>
      <p:sp>
        <p:nvSpPr>
          <p:cNvPr id="9" name="Card1"/>
          <p:cNvSpPr/>
          <p:nvPr/>
        </p:nvSpPr>
        <p:spPr>
          <a:xfrm>
            <a:off x="3291840" y="123444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0" name="IconBg_FaGem"/>
          <p:cNvSpPr/>
          <p:nvPr/>
        </p:nvSpPr>
        <p:spPr>
          <a:xfrm>
            <a:off x="5303520" y="134416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_FaGem" descr="FaG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6" y="1449324"/>
            <a:ext cx="210312" cy="210312"/>
          </a:xfrm>
          <a:prstGeom prst="rect">
            <a:avLst/>
          </a:prstGeom>
        </p:spPr>
      </p:pic>
      <p:sp>
        <p:nvSpPr>
          <p:cNvPr id="12" name="CardHead1"/>
          <p:cNvSpPr txBox="1"/>
          <p:nvPr/>
        </p:nvSpPr>
        <p:spPr>
          <a:xfrm>
            <a:off x="3429000" y="1325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جامعه منشوری (Prismatic)</a:t>
            </a:r>
            <a:endParaRPr lang="fa-IR" sz="1500" dirty="0"/>
          </a:p>
        </p:txBody>
      </p:sp>
      <p:sp>
        <p:nvSpPr>
          <p:cNvPr id="13" name="CardBody1"/>
          <p:cNvSpPr txBox="1"/>
          <p:nvPr/>
        </p:nvSpPr>
        <p:spPr>
          <a:xfrm>
            <a:off x="3429000" y="2130552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جوامع در حال گذار</a:t>
            </a:r>
            <a:endParaRPr lang="fa-IR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نهادهای جدید ایجاد شده، اما کارکردها هنوز سنتی است</a:t>
            </a:r>
            <a:endParaRPr lang="fa-IR" sz="1500" dirty="0"/>
          </a:p>
        </p:txBody>
      </p:sp>
      <p:sp>
        <p:nvSpPr>
          <p:cNvPr id="14" name="Card2"/>
          <p:cNvSpPr/>
          <p:nvPr/>
        </p:nvSpPr>
        <p:spPr>
          <a:xfrm>
            <a:off x="457200" y="123444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5" name="IconBg_FaCity"/>
          <p:cNvSpPr/>
          <p:nvPr/>
        </p:nvSpPr>
        <p:spPr>
          <a:xfrm>
            <a:off x="2468880" y="134416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_FaCity" descr="FaC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036" y="1449324"/>
            <a:ext cx="210312" cy="210312"/>
          </a:xfrm>
          <a:prstGeom prst="rect">
            <a:avLst/>
          </a:prstGeom>
        </p:spPr>
      </p:pic>
      <p:sp>
        <p:nvSpPr>
          <p:cNvPr id="17" name="CardHead2"/>
          <p:cNvSpPr txBox="1"/>
          <p:nvPr/>
        </p:nvSpPr>
        <p:spPr>
          <a:xfrm>
            <a:off x="594360" y="1325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جامعه تفکیک‌یافته (Diffracted)</a:t>
            </a:r>
            <a:endParaRPr lang="fa-IR" sz="1500" dirty="0"/>
          </a:p>
        </p:txBody>
      </p:sp>
      <p:sp>
        <p:nvSpPr>
          <p:cNvPr id="18" name="CardBody2"/>
          <p:cNvSpPr txBox="1"/>
          <p:nvPr/>
        </p:nvSpPr>
        <p:spPr>
          <a:xfrm>
            <a:off x="594360" y="2130552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جوامع مدرن</a:t>
            </a:r>
            <a:endParaRPr lang="fa-IR" sz="15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تفکیک کامل ساختارها و کارکردها</a:t>
            </a:r>
            <a:endParaRPr lang="fa-IR" sz="1500" dirty="0"/>
          </a:p>
        </p:txBody>
      </p:sp>
      <p:sp>
        <p:nvSpPr>
          <p:cNvPr id="19" name="NoteCard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20" name="NoteBadge"/>
          <p:cNvSpPr/>
          <p:nvPr/>
        </p:nvSpPr>
        <p:spPr>
          <a:xfrm>
            <a:off x="7406640" y="4206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NoteBadgeText"/>
          <p:cNvSpPr txBox="1"/>
          <p:nvPr/>
        </p:nvSpPr>
        <p:spPr>
          <a:xfrm>
            <a:off x="74066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نکته</a:t>
            </a:r>
            <a:endParaRPr lang="fa-IR" sz="1600" dirty="0"/>
          </a:p>
        </p:txBody>
      </p:sp>
      <p:pic>
        <p:nvPicPr>
          <p:cNvPr id="22" name="NoteIcon" descr="lightbul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261104"/>
            <a:ext cx="256032" cy="256032"/>
          </a:xfrm>
          <a:prstGeom prst="rect">
            <a:avLst/>
          </a:prstGeom>
        </p:spPr>
      </p:pic>
      <p:sp>
        <p:nvSpPr>
          <p:cNvPr id="23" name="Note"/>
          <p:cNvSpPr txBox="1"/>
          <p:nvPr/>
        </p:nvSpPr>
        <p:spPr>
          <a:xfrm>
            <a:off x="640080" y="4041648"/>
            <a:ext cx="6629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مثال از متن: ریگز جامعه منشوری را به «ارکستر سمفونی» تشبیه می‌کند که هر نوازنده ساز خود را می‌زند و هماهنگی وجود ندارد.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8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بخش دوم: جامعه، حکومت و بوم‌شناسی اداری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نمودار مفهومی: درجه تفکیک ساختاری و کارکردی</a:t>
            </a:r>
            <a:endParaRPr lang="fa-IR" sz="3200" dirty="0"/>
          </a:p>
        </p:txBody>
      </p:sp>
      <p:sp>
        <p:nvSpPr>
          <p:cNvPr id="4" name="ChartCard"/>
          <p:cNvSpPr/>
          <p:nvPr/>
        </p:nvSpPr>
        <p:spPr>
          <a:xfrm>
            <a:off x="457200" y="1234440"/>
            <a:ext cx="420624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0"/>
          <p:cNvSpPr/>
          <p:nvPr/>
        </p:nvSpPr>
        <p:spPr>
          <a:xfrm>
            <a:off x="4937760" y="1234440"/>
            <a:ext cx="37490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7" name="CardHead0"/>
          <p:cNvSpPr txBox="1"/>
          <p:nvPr/>
        </p:nvSpPr>
        <p:spPr>
          <a:xfrm>
            <a:off x="5074920" y="1325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خوانش نمودار</a:t>
            </a:r>
            <a:endParaRPr lang="fa-IR" sz="1700" dirty="0"/>
          </a:p>
        </p:txBody>
      </p:sp>
      <p:sp>
        <p:nvSpPr>
          <p:cNvPr id="8" name="CardBody0"/>
          <p:cNvSpPr txBox="1"/>
          <p:nvPr/>
        </p:nvSpPr>
        <p:spPr>
          <a:xfrm>
            <a:off x="5074920" y="18288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یکپارچه: ساختار و کارکرد از هم جدا نشده‌اند</a:t>
            </a:r>
            <a:endParaRPr lang="fa-IR" sz="16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منشوری: ساختار جدید، اما کارکرد هنوز سنتی</a:t>
            </a:r>
            <a:endParaRPr lang="fa-IR" sz="16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تفکیک‌یافته: تفکیک کامل ساختارها و کارکردها</a:t>
            </a:r>
            <a:endParaRPr lang="fa-IR" sz="1600" dirty="0"/>
          </a:p>
        </p:txBody>
      </p:sp>
      <p:sp>
        <p:nvSpPr>
          <p:cNvPr id="9" name="NoteCard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0" name="NoteBadge"/>
          <p:cNvSpPr/>
          <p:nvPr/>
        </p:nvSpPr>
        <p:spPr>
          <a:xfrm>
            <a:off x="7406640" y="4206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NoteBadgeText"/>
          <p:cNvSpPr txBox="1"/>
          <p:nvPr/>
        </p:nvSpPr>
        <p:spPr>
          <a:xfrm>
            <a:off x="74066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نکته</a:t>
            </a:r>
            <a:endParaRPr lang="fa-IR" sz="1600" dirty="0"/>
          </a:p>
        </p:txBody>
      </p:sp>
      <p:pic>
        <p:nvPicPr>
          <p:cNvPr id="12" name="NoteIcon" descr="lightbul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261104"/>
            <a:ext cx="256032" cy="256032"/>
          </a:xfrm>
          <a:prstGeom prst="rect">
            <a:avLst/>
          </a:prstGeom>
        </p:spPr>
      </p:pic>
      <p:sp>
        <p:nvSpPr>
          <p:cNvPr id="13" name="Note"/>
          <p:cNvSpPr txBox="1"/>
          <p:nvPr/>
        </p:nvSpPr>
        <p:spPr>
          <a:xfrm>
            <a:off x="640080" y="4041648"/>
            <a:ext cx="6629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ارتفاع ستون‌ها فقط ترتیب مفهومی سه نوع جامعه را نشان می‌دهد و داده آماری نیست.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9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بخش دوم: جامعه، حکومت و بوم‌شناسی اداری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طبقه‌بندی نظام‌های سیاسی و بوروکراسی</a:t>
            </a:r>
            <a:endParaRPr lang="fa-IR" sz="3200" dirty="0"/>
          </a:p>
        </p:txBody>
      </p:sp>
      <p:sp>
        <p:nvSpPr>
          <p:cNvPr id="4" name="Card0"/>
          <p:cNvSpPr/>
          <p:nvPr/>
        </p:nvSpPr>
        <p:spPr>
          <a:xfrm>
            <a:off x="4709160" y="123444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5" name="IconBg_FaScaleBalanced"/>
          <p:cNvSpPr/>
          <p:nvPr/>
        </p:nvSpPr>
        <p:spPr>
          <a:xfrm>
            <a:off x="8138160" y="1344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_FaScaleBalanced" descr="FaScaleBalanc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316" y="1449324"/>
            <a:ext cx="210312" cy="210312"/>
          </a:xfrm>
          <a:prstGeom prst="rect">
            <a:avLst/>
          </a:prstGeom>
        </p:spPr>
      </p:pic>
      <p:sp>
        <p:nvSpPr>
          <p:cNvPr id="7" name="CardHead0"/>
          <p:cNvSpPr txBox="1"/>
          <p:nvPr/>
        </p:nvSpPr>
        <p:spPr>
          <a:xfrm>
            <a:off x="4846320" y="1325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مدل «حاکمیت» (Heer)</a:t>
            </a:r>
            <a:endParaRPr lang="fa-IR" sz="1700" dirty="0"/>
          </a:p>
        </p:txBody>
      </p:sp>
      <p:sp>
        <p:nvSpPr>
          <p:cNvPr id="8" name="CardBody0"/>
          <p:cNvSpPr txBox="1"/>
          <p:nvPr/>
        </p:nvSpPr>
        <p:spPr>
          <a:xfrm>
            <a:off x="4846320" y="201168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تقسیم‌بندی نظام‌های سیاسی بر اساس درجه حاکمیت</a:t>
            </a:r>
            <a:endParaRPr lang="fa-IR" sz="1600" dirty="0"/>
          </a:p>
        </p:txBody>
      </p:sp>
      <p:sp>
        <p:nvSpPr>
          <p:cNvPr id="9" name="Card1"/>
          <p:cNvSpPr/>
          <p:nvPr/>
        </p:nvSpPr>
        <p:spPr>
          <a:xfrm>
            <a:off x="457200" y="123444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0" name="IconBg_FaFlag"/>
          <p:cNvSpPr/>
          <p:nvPr/>
        </p:nvSpPr>
        <p:spPr>
          <a:xfrm>
            <a:off x="3886200" y="134416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_FaFlag" descr="FaFl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356" y="1449324"/>
            <a:ext cx="210312" cy="210312"/>
          </a:xfrm>
          <a:prstGeom prst="rect">
            <a:avLst/>
          </a:prstGeom>
        </p:spPr>
      </p:pic>
      <p:sp>
        <p:nvSpPr>
          <p:cNvPr id="12" name="CardHead1"/>
          <p:cNvSpPr txBox="1"/>
          <p:nvPr/>
        </p:nvSpPr>
        <p:spPr>
          <a:xfrm>
            <a:off x="594360" y="1325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انواع حکومت‌ها</a:t>
            </a:r>
            <a:endParaRPr lang="fa-IR" sz="1700" dirty="0"/>
          </a:p>
        </p:txBody>
      </p:sp>
      <p:sp>
        <p:nvSpPr>
          <p:cNvPr id="13" name="CardBody1"/>
          <p:cNvSpPr txBox="1"/>
          <p:nvPr/>
        </p:nvSpPr>
        <p:spPr>
          <a:xfrm>
            <a:off x="594360" y="201168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حکومت حاکم (متمرکز مطلق) ← استبدادی سنتی</a:t>
            </a:r>
            <a:endParaRPr lang="fa-IR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حکومت حزب (تک‌حزبی) ← شوروی سابق، چین</a:t>
            </a:r>
            <a:endParaRPr lang="fa-IR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حکومت بوروکراتیک (دموکراسی) ← کشورهای غربی</a:t>
            </a:r>
            <a:endParaRPr lang="fa-IR" sz="1600" dirty="0"/>
          </a:p>
        </p:txBody>
      </p:sp>
      <p:sp>
        <p:nvSpPr>
          <p:cNvPr id="14" name="NoteCard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5" name="NoteBadge"/>
          <p:cNvSpPr/>
          <p:nvPr/>
        </p:nvSpPr>
        <p:spPr>
          <a:xfrm>
            <a:off x="7406640" y="4206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NoteBadgeText"/>
          <p:cNvSpPr txBox="1"/>
          <p:nvPr/>
        </p:nvSpPr>
        <p:spPr>
          <a:xfrm>
            <a:off x="74066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نکته</a:t>
            </a:r>
            <a:endParaRPr lang="fa-IR" sz="1600" dirty="0"/>
          </a:p>
        </p:txBody>
      </p:sp>
      <p:pic>
        <p:nvPicPr>
          <p:cNvPr id="17" name="NoteIcon" descr="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261104"/>
            <a:ext cx="256032" cy="256032"/>
          </a:xfrm>
          <a:prstGeom prst="rect">
            <a:avLst/>
          </a:prstGeom>
        </p:spPr>
      </p:pic>
      <p:sp>
        <p:nvSpPr>
          <p:cNvPr id="18" name="Note"/>
          <p:cNvSpPr txBox="1"/>
          <p:nvPr/>
        </p:nvSpPr>
        <p:spPr>
          <a:xfrm>
            <a:off x="640080" y="4041648"/>
            <a:ext cx="6629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در «حکومت حاکم»، قدرت در دست یک فرد یا گروه کوچک متمرکز است و بوروکراسی صرفاً ابزاری برای اجرای دستورات است.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10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بخش دوم: جامعه، حکومت و بوم‌شناسی اداری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نظریه «گاوس» و بوم‌شناسی اداری</a:t>
            </a:r>
            <a:endParaRPr lang="fa-IR" sz="3200" dirty="0"/>
          </a:p>
        </p:txBody>
      </p:sp>
      <p:sp>
        <p:nvSpPr>
          <p:cNvPr id="4" name="Card0"/>
          <p:cNvSpPr/>
          <p:nvPr/>
        </p:nvSpPr>
        <p:spPr>
          <a:xfrm>
            <a:off x="4709160" y="123444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5" name="IconBg_FaBookOpen"/>
          <p:cNvSpPr/>
          <p:nvPr/>
        </p:nvSpPr>
        <p:spPr>
          <a:xfrm>
            <a:off x="8138160" y="1344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_FaBookOpen" descr="FaBook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316" y="1449324"/>
            <a:ext cx="210312" cy="210312"/>
          </a:xfrm>
          <a:prstGeom prst="rect">
            <a:avLst/>
          </a:prstGeom>
        </p:spPr>
      </p:pic>
      <p:sp>
        <p:nvSpPr>
          <p:cNvPr id="7" name="CardHead0"/>
          <p:cNvSpPr txBox="1"/>
          <p:nvPr/>
        </p:nvSpPr>
        <p:spPr>
          <a:xfrm>
            <a:off x="4846320" y="1325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جان گاوس (John Gaus)</a:t>
            </a:r>
            <a:endParaRPr lang="fa-IR" sz="1700" dirty="0"/>
          </a:p>
        </p:txBody>
      </p:sp>
      <p:sp>
        <p:nvSpPr>
          <p:cNvPr id="8" name="CardBody0"/>
          <p:cNvSpPr txBox="1"/>
          <p:nvPr/>
        </p:nvSpPr>
        <p:spPr>
          <a:xfrm>
            <a:off x="4846320" y="201168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بنیان‌گذار نظریه بوم‌شناسی اداری</a:t>
            </a:r>
            <a:endParaRPr lang="fa-IR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اداره امور دولتی را نمی‌توان جدا از محیط اجتماعی، اقتصادی و سیاسی مطالعه کرد</a:t>
            </a:r>
            <a:endParaRPr lang="fa-IR" sz="1600" dirty="0"/>
          </a:p>
        </p:txBody>
      </p:sp>
      <p:sp>
        <p:nvSpPr>
          <p:cNvPr id="9" name="Card1"/>
          <p:cNvSpPr/>
          <p:nvPr/>
        </p:nvSpPr>
        <p:spPr>
          <a:xfrm>
            <a:off x="457200" y="123444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0" name="IconBg_FaGears"/>
          <p:cNvSpPr/>
          <p:nvPr/>
        </p:nvSpPr>
        <p:spPr>
          <a:xfrm>
            <a:off x="3886200" y="134416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_FaGears" descr="FaGea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356" y="1449324"/>
            <a:ext cx="210312" cy="210312"/>
          </a:xfrm>
          <a:prstGeom prst="rect">
            <a:avLst/>
          </a:prstGeom>
        </p:spPr>
      </p:pic>
      <p:sp>
        <p:nvSpPr>
          <p:cNvPr id="12" name="CardHead1"/>
          <p:cNvSpPr txBox="1"/>
          <p:nvPr/>
        </p:nvSpPr>
        <p:spPr>
          <a:xfrm>
            <a:off x="594360" y="1325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عوامل موثر بر اداره</a:t>
            </a:r>
            <a:endParaRPr lang="fa-IR" sz="1700" dirty="0"/>
          </a:p>
        </p:txBody>
      </p:sp>
      <p:sp>
        <p:nvSpPr>
          <p:cNvPr id="13" name="CardBody1"/>
          <p:cNvSpPr txBox="1"/>
          <p:nvPr/>
        </p:nvSpPr>
        <p:spPr>
          <a:xfrm>
            <a:off x="594360" y="201168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تکنولوژی</a:t>
            </a:r>
            <a:endParaRPr lang="fa-IR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افراد</a:t>
            </a:r>
            <a:endParaRPr lang="fa-IR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مکان</a:t>
            </a:r>
            <a:endParaRPr lang="fa-IR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آرزوها و عقاید</a:t>
            </a:r>
            <a:endParaRPr lang="fa-IR" sz="1600" dirty="0"/>
          </a:p>
        </p:txBody>
      </p:sp>
      <p:sp>
        <p:nvSpPr>
          <p:cNvPr id="14" name="NoteCard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5" name="NoteBadge"/>
          <p:cNvSpPr/>
          <p:nvPr/>
        </p:nvSpPr>
        <p:spPr>
          <a:xfrm>
            <a:off x="7406640" y="4206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NoteBadgeText"/>
          <p:cNvSpPr txBox="1"/>
          <p:nvPr/>
        </p:nvSpPr>
        <p:spPr>
          <a:xfrm>
            <a:off x="74066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نکته</a:t>
            </a:r>
            <a:endParaRPr lang="fa-IR" sz="1600" dirty="0"/>
          </a:p>
        </p:txBody>
      </p:sp>
      <p:pic>
        <p:nvPicPr>
          <p:cNvPr id="17" name="NoteIcon" descr="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261104"/>
            <a:ext cx="256032" cy="256032"/>
          </a:xfrm>
          <a:prstGeom prst="rect">
            <a:avLst/>
          </a:prstGeom>
        </p:spPr>
      </p:pic>
      <p:sp>
        <p:nvSpPr>
          <p:cNvPr id="18" name="Note"/>
          <p:cNvSpPr txBox="1"/>
          <p:nvPr/>
        </p:nvSpPr>
        <p:spPr>
          <a:xfrm>
            <a:off x="640080" y="4041648"/>
            <a:ext cx="6629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«بوم‌شناسی» کمک می‌کند بفهمیم چرا یک مدل اداری در یک کشور موفق و در کشور دیگر ناموفق است. این نظریه بعدها توسط «ریگز» بسط داده شد.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11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Badge"/>
          <p:cNvSpPr/>
          <p:nvPr/>
        </p:nvSpPr>
        <p:spPr>
          <a:xfrm>
            <a:off x="7498080" y="123444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3" name="DividerNum"/>
          <p:cNvSpPr txBox="1"/>
          <p:nvPr/>
        </p:nvSpPr>
        <p:spPr>
          <a:xfrm>
            <a:off x="749808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۳</a:t>
            </a:r>
            <a:endParaRPr lang="fa-IR" sz="4000" dirty="0"/>
          </a:p>
        </p:txBody>
      </p:sp>
      <p:pic>
        <p:nvPicPr>
          <p:cNvPr id="4" name="DividerArt" descr="building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3840480" cy="2990088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4389120" y="22860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دولت و نظام‌های اداری</a:t>
            </a:r>
            <a:endParaRPr lang="fa-IR" sz="3400" dirty="0"/>
          </a:p>
        </p:txBody>
      </p:sp>
      <p:sp>
        <p:nvSpPr>
          <p:cNvPr id="6" name="Subtitle"/>
          <p:cNvSpPr txBox="1"/>
          <p:nvPr/>
        </p:nvSpPr>
        <p:spPr>
          <a:xfrm>
            <a:off x="4389120" y="34290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8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اندازه دولت، مدل‌های توسعه و انواع نظام‌های اداری</a:t>
            </a:r>
            <a:endParaRPr lang="fa-IR" sz="18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بخش سوم: دولت و نظام‌های اداری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کارمندان دولتی و اندازه دولت</a:t>
            </a:r>
            <a:endParaRPr lang="fa-IR" sz="3200" dirty="0"/>
          </a:p>
        </p:txBody>
      </p:sp>
      <p:sp>
        <p:nvSpPr>
          <p:cNvPr id="4" name="Card0"/>
          <p:cNvSpPr/>
          <p:nvPr/>
        </p:nvSpPr>
        <p:spPr>
          <a:xfrm>
            <a:off x="4480560" y="1234440"/>
            <a:ext cx="42062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5" name="IconBg_FaUsers"/>
          <p:cNvSpPr/>
          <p:nvPr/>
        </p:nvSpPr>
        <p:spPr>
          <a:xfrm>
            <a:off x="80924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_FaUsers" descr="Fa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6740" y="1440180"/>
            <a:ext cx="228600" cy="228600"/>
          </a:xfrm>
          <a:prstGeom prst="rect">
            <a:avLst/>
          </a:prstGeom>
        </p:spPr>
      </p:pic>
      <p:sp>
        <p:nvSpPr>
          <p:cNvPr id="7" name="CardHead0"/>
          <p:cNvSpPr txBox="1"/>
          <p:nvPr/>
        </p:nvSpPr>
        <p:spPr>
          <a:xfrm>
            <a:off x="4617720" y="1325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آمارهای جهانی (جدول ۱ و ۲)</a:t>
            </a:r>
            <a:endParaRPr lang="fa-IR" sz="1700" dirty="0"/>
          </a:p>
        </p:txBody>
      </p:sp>
      <p:sp>
        <p:nvSpPr>
          <p:cNvPr id="8" name="CardBody0"/>
          <p:cNvSpPr txBox="1"/>
          <p:nvPr/>
        </p:nvSpPr>
        <p:spPr>
          <a:xfrm>
            <a:off x="4617720" y="1828800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کشورهای توسعه‌یافته (سوئد، دانمارک): ۲۵-۳۰٪ استخدام دولتی</a:t>
            </a:r>
            <a:endParaRPr lang="fa-IR" sz="16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کشورهای در حال توسعه (هند، مصر): سهم کمتر، اما لزوماً کارایی بیشتر نیست</a:t>
            </a:r>
            <a:endParaRPr lang="fa-IR" sz="1600" dirty="0"/>
          </a:p>
        </p:txBody>
      </p:sp>
      <p:sp>
        <p:nvSpPr>
          <p:cNvPr id="9" name="ChartCard"/>
          <p:cNvSpPr/>
          <p:nvPr/>
        </p:nvSpPr>
        <p:spPr>
          <a:xfrm>
            <a:off x="457200" y="1234440"/>
            <a:ext cx="3840480" cy="2697480"/>
          </a:xfrm>
          <a:prstGeom prst="roundRect">
            <a:avLst>
              <a:gd name="adj" fmla="val 339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548640" y="1280160"/>
          <a:ext cx="36576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NoteCard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2" name="NoteBadge"/>
          <p:cNvSpPr/>
          <p:nvPr/>
        </p:nvSpPr>
        <p:spPr>
          <a:xfrm>
            <a:off x="7406640" y="4206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oteBadgeText"/>
          <p:cNvSpPr txBox="1"/>
          <p:nvPr/>
        </p:nvSpPr>
        <p:spPr>
          <a:xfrm>
            <a:off x="74066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نکته</a:t>
            </a:r>
            <a:endParaRPr lang="fa-IR" sz="1600" dirty="0"/>
          </a:p>
        </p:txBody>
      </p:sp>
      <p:pic>
        <p:nvPicPr>
          <p:cNvPr id="14" name="NoteIcon" descr="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261104"/>
            <a:ext cx="256032" cy="256032"/>
          </a:xfrm>
          <a:prstGeom prst="rect">
            <a:avLst/>
          </a:prstGeom>
        </p:spPr>
      </p:pic>
      <p:sp>
        <p:nvSpPr>
          <p:cNvPr id="15" name="Note"/>
          <p:cNvSpPr txBox="1"/>
          <p:nvPr/>
        </p:nvSpPr>
        <p:spPr>
          <a:xfrm>
            <a:off x="640080" y="4041648"/>
            <a:ext cx="6629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در بسیاری از کشورهای در حال توسعه، «بزرگ شدن دولت» = افزایش بوروکراسی زائد، نه افزایش خدمات. این پدیده به «قانون پارکینسون» معروف است: کار کارمندان تا پر شدن زمان موجود گسترش می‌یابد.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13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بخش سوم: دولت و نظام‌های اداری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مدل‌های نظام اداری در کشورهای در حال توسعه</a:t>
            </a:r>
            <a:endParaRPr lang="fa-IR" sz="3200" dirty="0"/>
          </a:p>
        </p:txBody>
      </p:sp>
      <p:sp>
        <p:nvSpPr>
          <p:cNvPr id="4" name="GridCard0"/>
          <p:cNvSpPr/>
          <p:nvPr/>
        </p:nvSpPr>
        <p:spPr>
          <a:xfrm>
            <a:off x="4709160" y="128016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5" name="IconBg_FaPeopleGroup"/>
          <p:cNvSpPr/>
          <p:nvPr/>
        </p:nvSpPr>
        <p:spPr>
          <a:xfrm>
            <a:off x="8046720" y="1417320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_FaPeopleGroup" descr="FaPeople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1536192"/>
            <a:ext cx="237744" cy="237744"/>
          </a:xfrm>
          <a:prstGeom prst="rect">
            <a:avLst/>
          </a:prstGeom>
        </p:spPr>
      </p:pic>
      <p:sp>
        <p:nvSpPr>
          <p:cNvPr id="7" name="GridHead0"/>
          <p:cNvSpPr txBox="1"/>
          <p:nvPr/>
        </p:nvSpPr>
        <p:spPr>
          <a:xfrm>
            <a:off x="4892040" y="13898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مدل‌های مردم‌محور (Populist)</a:t>
            </a:r>
            <a:endParaRPr lang="fa-IR" sz="1700" dirty="0"/>
          </a:p>
        </p:txBody>
      </p:sp>
      <p:sp>
        <p:nvSpPr>
          <p:cNvPr id="8" name="GridBody0"/>
          <p:cNvSpPr txBox="1"/>
          <p:nvPr/>
        </p:nvSpPr>
        <p:spPr>
          <a:xfrm>
            <a:off x="4892040" y="20116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تأکید بر مشارکت مردمی</a:t>
            </a:r>
            <a:endParaRPr lang="fa-IR" sz="1600" dirty="0"/>
          </a:p>
        </p:txBody>
      </p:sp>
      <p:sp>
        <p:nvSpPr>
          <p:cNvPr id="9" name="GridCard1"/>
          <p:cNvSpPr/>
          <p:nvPr/>
        </p:nvSpPr>
        <p:spPr>
          <a:xfrm>
            <a:off x="457200" y="128016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0" name="IconBg_FaLock"/>
          <p:cNvSpPr/>
          <p:nvPr/>
        </p:nvSpPr>
        <p:spPr>
          <a:xfrm>
            <a:off x="3794760" y="1417320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_FaLock" descr="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536192"/>
            <a:ext cx="237744" cy="237744"/>
          </a:xfrm>
          <a:prstGeom prst="rect">
            <a:avLst/>
          </a:prstGeom>
        </p:spPr>
      </p:pic>
      <p:sp>
        <p:nvSpPr>
          <p:cNvPr id="12" name="GridHead1"/>
          <p:cNvSpPr txBox="1"/>
          <p:nvPr/>
        </p:nvSpPr>
        <p:spPr>
          <a:xfrm>
            <a:off x="640080" y="13898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مدل‌های بوروکراتیک مطلق</a:t>
            </a:r>
            <a:endParaRPr lang="fa-IR" sz="1700" dirty="0"/>
          </a:p>
        </p:txBody>
      </p:sp>
      <p:sp>
        <p:nvSpPr>
          <p:cNvPr id="13" name="GridBody1"/>
          <p:cNvSpPr txBox="1"/>
          <p:nvPr/>
        </p:nvSpPr>
        <p:spPr>
          <a:xfrm>
            <a:off x="640080" y="20116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کنترل شدید و تمرکز</a:t>
            </a:r>
            <a:endParaRPr lang="fa-IR" sz="1600" dirty="0"/>
          </a:p>
        </p:txBody>
      </p:sp>
      <p:sp>
        <p:nvSpPr>
          <p:cNvPr id="14" name="GridCard2"/>
          <p:cNvSpPr/>
          <p:nvPr/>
        </p:nvSpPr>
        <p:spPr>
          <a:xfrm>
            <a:off x="4709160" y="269748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5" name="IconBg_FaHandshake"/>
          <p:cNvSpPr/>
          <p:nvPr/>
        </p:nvSpPr>
        <p:spPr>
          <a:xfrm>
            <a:off x="8046720" y="2834640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_FaHandshake" descr="FaHandsh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2953512"/>
            <a:ext cx="237744" cy="237744"/>
          </a:xfrm>
          <a:prstGeom prst="rect">
            <a:avLst/>
          </a:prstGeom>
        </p:spPr>
      </p:pic>
      <p:sp>
        <p:nvSpPr>
          <p:cNvPr id="17" name="GridHead2"/>
          <p:cNvSpPr txBox="1"/>
          <p:nvPr/>
        </p:nvSpPr>
        <p:spPr>
          <a:xfrm>
            <a:off x="4892040" y="28072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مدل‌های ائتلافی</a:t>
            </a:r>
            <a:endParaRPr lang="fa-IR" sz="1700" dirty="0"/>
          </a:p>
        </p:txBody>
      </p:sp>
      <p:sp>
        <p:nvSpPr>
          <p:cNvPr id="18" name="GridBody2"/>
          <p:cNvSpPr txBox="1"/>
          <p:nvPr/>
        </p:nvSpPr>
        <p:spPr>
          <a:xfrm>
            <a:off x="4892040" y="3429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ترکیب نیروهای سیاسی مختلف</a:t>
            </a:r>
            <a:endParaRPr lang="fa-IR" sz="1600" dirty="0"/>
          </a:p>
        </p:txBody>
      </p:sp>
      <p:sp>
        <p:nvSpPr>
          <p:cNvPr id="19" name="GridCard3"/>
          <p:cNvSpPr/>
          <p:nvPr/>
        </p:nvSpPr>
        <p:spPr>
          <a:xfrm>
            <a:off x="457200" y="2697480"/>
            <a:ext cx="39776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20" name="IconBg_FaBullhorn"/>
          <p:cNvSpPr/>
          <p:nvPr/>
        </p:nvSpPr>
        <p:spPr>
          <a:xfrm>
            <a:off x="3794760" y="2834640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_FaBullhorn" descr="FaBullhor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2953512"/>
            <a:ext cx="237744" cy="237744"/>
          </a:xfrm>
          <a:prstGeom prst="rect">
            <a:avLst/>
          </a:prstGeom>
        </p:spPr>
      </p:pic>
      <p:sp>
        <p:nvSpPr>
          <p:cNvPr id="22" name="GridHead3"/>
          <p:cNvSpPr txBox="1"/>
          <p:nvPr/>
        </p:nvSpPr>
        <p:spPr>
          <a:xfrm>
            <a:off x="640080" y="28072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مدل‌های جنبشی</a:t>
            </a:r>
            <a:endParaRPr lang="fa-IR" sz="1700" dirty="0"/>
          </a:p>
        </p:txBody>
      </p:sp>
      <p:sp>
        <p:nvSpPr>
          <p:cNvPr id="23" name="GridBody3"/>
          <p:cNvSpPr txBox="1"/>
          <p:nvPr/>
        </p:nvSpPr>
        <p:spPr>
          <a:xfrm>
            <a:off x="640080" y="3429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مبتنی بر ایدئولوژی و تحرک سیاسی</a:t>
            </a:r>
            <a:endParaRPr lang="fa-IR" sz="1600" dirty="0"/>
          </a:p>
        </p:txBody>
      </p:sp>
      <p:sp>
        <p:nvSpPr>
          <p:cNvPr id="24" name="NoteCard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25" name="NoteBadge"/>
          <p:cNvSpPr/>
          <p:nvPr/>
        </p:nvSpPr>
        <p:spPr>
          <a:xfrm>
            <a:off x="7406640" y="4206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NoteBadgeText"/>
          <p:cNvSpPr txBox="1"/>
          <p:nvPr/>
        </p:nvSpPr>
        <p:spPr>
          <a:xfrm>
            <a:off x="74066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نکته</a:t>
            </a:r>
            <a:endParaRPr lang="fa-IR" sz="1600" dirty="0"/>
          </a:p>
        </p:txBody>
      </p:sp>
      <p:pic>
        <p:nvPicPr>
          <p:cNvPr id="27" name="NoteIcon" descr="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4261104"/>
            <a:ext cx="256032" cy="256032"/>
          </a:xfrm>
          <a:prstGeom prst="rect">
            <a:avLst/>
          </a:prstGeom>
        </p:spPr>
      </p:pic>
      <p:sp>
        <p:nvSpPr>
          <p:cNvPr id="28" name="Note"/>
          <p:cNvSpPr txBox="1"/>
          <p:nvPr/>
        </p:nvSpPr>
        <p:spPr>
          <a:xfrm>
            <a:off x="640080" y="4041648"/>
            <a:ext cx="6629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این مدل‌ها توسط «ادوارد شیلز» و دیگران بسط یافتند.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14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بخش سوم: دولت و نظام‌های اداری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انواع نظام‌های اداری بر اساس «ریگز»</a:t>
            </a:r>
            <a:endParaRPr lang="fa-IR" sz="3200" dirty="0"/>
          </a:p>
        </p:txBody>
      </p:sp>
      <p:sp>
        <p:nvSpPr>
          <p:cNvPr id="4" name="Card0"/>
          <p:cNvSpPr/>
          <p:nvPr/>
        </p:nvSpPr>
        <p:spPr>
          <a:xfrm>
            <a:off x="4709160" y="123444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5" name="IconBg_FaDiagramProject"/>
          <p:cNvSpPr/>
          <p:nvPr/>
        </p:nvSpPr>
        <p:spPr>
          <a:xfrm>
            <a:off x="8138160" y="1344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_FaDiagramProject" descr="FaDiagram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316" y="1449324"/>
            <a:ext cx="210312" cy="210312"/>
          </a:xfrm>
          <a:prstGeom prst="rect">
            <a:avLst/>
          </a:prstGeom>
        </p:spPr>
      </p:pic>
      <p:sp>
        <p:nvSpPr>
          <p:cNvPr id="7" name="CardHead0"/>
          <p:cNvSpPr txBox="1"/>
          <p:nvPr/>
        </p:nvSpPr>
        <p:spPr>
          <a:xfrm>
            <a:off x="4846320" y="1325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معیار طبقه‌بندی</a:t>
            </a:r>
            <a:endParaRPr lang="fa-IR" sz="1700" dirty="0"/>
          </a:p>
        </p:txBody>
      </p:sp>
      <p:sp>
        <p:nvSpPr>
          <p:cNvPr id="8" name="CardBody0"/>
          <p:cNvSpPr txBox="1"/>
          <p:nvPr/>
        </p:nvSpPr>
        <p:spPr>
          <a:xfrm>
            <a:off x="4846320" y="201168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رابطه سیستم اداری با سیستم سیاسی، اقتصادی و اجتماعی</a:t>
            </a:r>
            <a:endParaRPr lang="fa-IR" sz="1600" dirty="0"/>
          </a:p>
        </p:txBody>
      </p:sp>
      <p:sp>
        <p:nvSpPr>
          <p:cNvPr id="9" name="Card1"/>
          <p:cNvSpPr/>
          <p:nvPr/>
        </p:nvSpPr>
        <p:spPr>
          <a:xfrm>
            <a:off x="457200" y="123444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0" name="IconBg_FaListCheck"/>
          <p:cNvSpPr/>
          <p:nvPr/>
        </p:nvSpPr>
        <p:spPr>
          <a:xfrm>
            <a:off x="3886200" y="134416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_FaListCheck" descr="FaList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356" y="1449324"/>
            <a:ext cx="210312" cy="210312"/>
          </a:xfrm>
          <a:prstGeom prst="rect">
            <a:avLst/>
          </a:prstGeom>
        </p:spPr>
      </p:pic>
      <p:sp>
        <p:nvSpPr>
          <p:cNvPr id="12" name="CardHead1"/>
          <p:cNvSpPr txBox="1"/>
          <p:nvPr/>
        </p:nvSpPr>
        <p:spPr>
          <a:xfrm>
            <a:off x="594360" y="1325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سه ویژگی اصلی</a:t>
            </a:r>
            <a:endParaRPr lang="fa-IR" sz="1700" dirty="0"/>
          </a:p>
        </p:txBody>
      </p:sp>
      <p:sp>
        <p:nvSpPr>
          <p:cNvPr id="13" name="CardBody1"/>
          <p:cNvSpPr txBox="1"/>
          <p:nvPr/>
        </p:nvSpPr>
        <p:spPr>
          <a:xfrm>
            <a:off x="594360" y="201168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پاسخگویی به حاکم</a:t>
            </a:r>
            <a:endParaRPr lang="fa-IR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پاسخگویی به حزب</a:t>
            </a:r>
            <a:endParaRPr lang="fa-IR" sz="16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پاسخگویی به ارتش</a:t>
            </a:r>
            <a:endParaRPr lang="fa-IR" sz="1600" dirty="0"/>
          </a:p>
        </p:txBody>
      </p:sp>
      <p:sp>
        <p:nvSpPr>
          <p:cNvPr id="14" name="NoteCard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5" name="NoteBadge"/>
          <p:cNvSpPr/>
          <p:nvPr/>
        </p:nvSpPr>
        <p:spPr>
          <a:xfrm>
            <a:off x="7406640" y="4206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NoteBadgeText"/>
          <p:cNvSpPr txBox="1"/>
          <p:nvPr/>
        </p:nvSpPr>
        <p:spPr>
          <a:xfrm>
            <a:off x="74066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نکته</a:t>
            </a:r>
            <a:endParaRPr lang="fa-IR" sz="1600" dirty="0"/>
          </a:p>
        </p:txBody>
      </p:sp>
      <p:pic>
        <p:nvPicPr>
          <p:cNvPr id="17" name="NoteIcon" descr="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261104"/>
            <a:ext cx="256032" cy="256032"/>
          </a:xfrm>
          <a:prstGeom prst="rect">
            <a:avLst/>
          </a:prstGeom>
        </p:spPr>
      </p:pic>
      <p:sp>
        <p:nvSpPr>
          <p:cNvPr id="18" name="Note"/>
          <p:cNvSpPr txBox="1"/>
          <p:nvPr/>
        </p:nvSpPr>
        <p:spPr>
          <a:xfrm>
            <a:off x="640080" y="4041648"/>
            <a:ext cx="6629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پاسخگویی به «حاکم» ← بوروکراسی سیاسی و وابسته. پاسخگویی به «قانون» ← بوروکراسی حرفه‌ای‌تر و مستقل‌تر.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15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Badge"/>
          <p:cNvSpPr/>
          <p:nvPr/>
        </p:nvSpPr>
        <p:spPr>
          <a:xfrm>
            <a:off x="7498080" y="123444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3" name="DividerNum"/>
          <p:cNvSpPr txBox="1"/>
          <p:nvPr/>
        </p:nvSpPr>
        <p:spPr>
          <a:xfrm>
            <a:off x="749808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۴</a:t>
            </a:r>
            <a:endParaRPr lang="fa-IR" sz="4000" dirty="0"/>
          </a:p>
        </p:txBody>
      </p:sp>
      <p:pic>
        <p:nvPicPr>
          <p:cNvPr id="4" name="DividerArt" descr="bulb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3840480" cy="2990088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4389120" y="22860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جمع‌بندی و کاربرد در کلاس</a:t>
            </a:r>
            <a:endParaRPr lang="fa-IR" sz="3400" dirty="0"/>
          </a:p>
        </p:txBody>
      </p:sp>
      <p:sp>
        <p:nvSpPr>
          <p:cNvPr id="6" name="Subtitle"/>
          <p:cNvSpPr txBox="1"/>
          <p:nvPr/>
        </p:nvSpPr>
        <p:spPr>
          <a:xfrm>
            <a:off x="4389120" y="34290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8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نتیجه‌گیری و نکات کلیدی ارائه</a:t>
            </a:r>
            <a:endParaRPr lang="fa-IR" sz="18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بخش چهارم: جمع‌بندی و کاربرد در کلاس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جمع‌بندی و نتیجه‌گیری</a:t>
            </a:r>
            <a:endParaRPr lang="fa-IR" sz="3200" dirty="0"/>
          </a:p>
        </p:txBody>
      </p:sp>
      <p:sp>
        <p:nvSpPr>
          <p:cNvPr id="4" name="Card0"/>
          <p:cNvSpPr/>
          <p:nvPr/>
        </p:nvSpPr>
        <p:spPr>
          <a:xfrm>
            <a:off x="6126480" y="123444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5" name="IconBg_FaGem"/>
          <p:cNvSpPr/>
          <p:nvPr/>
        </p:nvSpPr>
        <p:spPr>
          <a:xfrm>
            <a:off x="8138160" y="1344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_FaGem" descr="FaG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316" y="1449324"/>
            <a:ext cx="210312" cy="210312"/>
          </a:xfrm>
          <a:prstGeom prst="rect">
            <a:avLst/>
          </a:prstGeom>
        </p:spPr>
      </p:pic>
      <p:sp>
        <p:nvSpPr>
          <p:cNvPr id="7" name="CardHead0"/>
          <p:cNvSpPr txBox="1"/>
          <p:nvPr/>
        </p:nvSpPr>
        <p:spPr>
          <a:xfrm>
            <a:off x="6263640" y="1325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ریگز و مدل منشوری</a:t>
            </a:r>
            <a:endParaRPr lang="fa-IR" sz="1500" dirty="0"/>
          </a:p>
        </p:txBody>
      </p:sp>
      <p:sp>
        <p:nvSpPr>
          <p:cNvPr id="8" name="CardBody0"/>
          <p:cNvSpPr txBox="1"/>
          <p:nvPr/>
        </p:nvSpPr>
        <p:spPr>
          <a:xfrm>
            <a:off x="6263640" y="2130552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بهترین چارچوب برای تحلیل بوروکراسی در کشورهای در حال توسعه</a:t>
            </a:r>
            <a:endParaRPr lang="fa-IR" sz="1500" dirty="0"/>
          </a:p>
        </p:txBody>
      </p:sp>
      <p:sp>
        <p:nvSpPr>
          <p:cNvPr id="9" name="Card1"/>
          <p:cNvSpPr/>
          <p:nvPr/>
        </p:nvSpPr>
        <p:spPr>
          <a:xfrm>
            <a:off x="3291840" y="123444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0" name="IconBg_FaTriangleExclamation"/>
          <p:cNvSpPr/>
          <p:nvPr/>
        </p:nvSpPr>
        <p:spPr>
          <a:xfrm>
            <a:off x="5303520" y="134416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_FaTriangleExclamation" descr="FaTriangleExcla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6" y="1449324"/>
            <a:ext cx="210312" cy="210312"/>
          </a:xfrm>
          <a:prstGeom prst="rect">
            <a:avLst/>
          </a:prstGeom>
        </p:spPr>
      </p:pic>
      <p:sp>
        <p:nvSpPr>
          <p:cNvPr id="12" name="CardHead1"/>
          <p:cNvSpPr txBox="1"/>
          <p:nvPr/>
        </p:nvSpPr>
        <p:spPr>
          <a:xfrm>
            <a:off x="3429000" y="1325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چالش اصلی</a:t>
            </a:r>
            <a:endParaRPr lang="fa-IR" sz="1500" dirty="0"/>
          </a:p>
        </p:txBody>
      </p:sp>
      <p:sp>
        <p:nvSpPr>
          <p:cNvPr id="13" name="CardBody1"/>
          <p:cNvSpPr txBox="1"/>
          <p:nvPr/>
        </p:nvSpPr>
        <p:spPr>
          <a:xfrm>
            <a:off x="3429000" y="2130552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عدم تطابق بین ساختارهای مدرن و کارکردهای سنتی</a:t>
            </a:r>
            <a:endParaRPr lang="fa-IR" sz="1500" dirty="0"/>
          </a:p>
        </p:txBody>
      </p:sp>
      <p:sp>
        <p:nvSpPr>
          <p:cNvPr id="14" name="Card2"/>
          <p:cNvSpPr/>
          <p:nvPr/>
        </p:nvSpPr>
        <p:spPr>
          <a:xfrm>
            <a:off x="457200" y="123444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5" name="IconBg_FaKey"/>
          <p:cNvSpPr/>
          <p:nvPr/>
        </p:nvSpPr>
        <p:spPr>
          <a:xfrm>
            <a:off x="2468880" y="134416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_FaKey" descr="Fa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036" y="1449324"/>
            <a:ext cx="210312" cy="210312"/>
          </a:xfrm>
          <a:prstGeom prst="rect">
            <a:avLst/>
          </a:prstGeom>
        </p:spPr>
      </p:pic>
      <p:sp>
        <p:nvSpPr>
          <p:cNvPr id="17" name="CardHead2"/>
          <p:cNvSpPr txBox="1"/>
          <p:nvPr/>
        </p:nvSpPr>
        <p:spPr>
          <a:xfrm>
            <a:off x="594360" y="1325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راهکار</a:t>
            </a:r>
            <a:endParaRPr lang="fa-IR" sz="1500" dirty="0"/>
          </a:p>
        </p:txBody>
      </p:sp>
      <p:sp>
        <p:nvSpPr>
          <p:cNvPr id="18" name="CardBody2"/>
          <p:cNvSpPr txBox="1"/>
          <p:nvPr/>
        </p:nvSpPr>
        <p:spPr>
          <a:xfrm>
            <a:off x="594360" y="2130552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درک بوم‌شناسی اداری (محیط سیاسی، اجتماعی و فرهنگی) قبل از هرگونه اصلاحات اداری</a:t>
            </a:r>
            <a:endParaRPr lang="fa-IR" sz="1500" dirty="0"/>
          </a:p>
        </p:txBody>
      </p:sp>
      <p:sp>
        <p:nvSpPr>
          <p:cNvPr id="19" name="NoteCard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20" name="NoteBadge"/>
          <p:cNvSpPr/>
          <p:nvPr/>
        </p:nvSpPr>
        <p:spPr>
          <a:xfrm>
            <a:off x="7406640" y="4206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NoteBadgeText"/>
          <p:cNvSpPr txBox="1"/>
          <p:nvPr/>
        </p:nvSpPr>
        <p:spPr>
          <a:xfrm>
            <a:off x="74066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نکته</a:t>
            </a:r>
            <a:endParaRPr lang="fa-IR" sz="1600" dirty="0"/>
          </a:p>
        </p:txBody>
      </p:sp>
      <p:pic>
        <p:nvPicPr>
          <p:cNvPr id="22" name="NoteIcon" descr="lightbul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261104"/>
            <a:ext cx="256032" cy="256032"/>
          </a:xfrm>
          <a:prstGeom prst="rect">
            <a:avLst/>
          </a:prstGeom>
        </p:spPr>
      </p:pic>
      <p:sp>
        <p:nvSpPr>
          <p:cNvPr id="23" name="Note"/>
          <p:cNvSpPr txBox="1"/>
          <p:nvPr/>
        </p:nvSpPr>
        <p:spPr>
          <a:xfrm>
            <a:off x="640080" y="4041648"/>
            <a:ext cx="6629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سخن آخر: بوروکراسی صرفاً یک ابزار فنی نیست، بلکه بازتابی از فرهنگ و سیاست هر جامعه است.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17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بخش چهارم: جمع‌بندی و کاربرد در کلاس</a:t>
            </a:r>
            <a:endParaRPr lang="fa-IR" sz="14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rtl="1" algn="r" indent="0" marL="0">
              <a:buNone/>
            </a:pPr>
            <a:r>
              <a:rPr lang="fa-IR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نکات کلیدی برای ارائه در کلاس</a:t>
            </a:r>
            <a:endParaRPr lang="fa-IR" sz="3200" dirty="0"/>
          </a:p>
        </p:txBody>
      </p:sp>
      <p:sp>
        <p:nvSpPr>
          <p:cNvPr id="4" name="NumCard0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5" name="IconBg_FaChartSimple"/>
          <p:cNvSpPr/>
          <p:nvPr/>
        </p:nvSpPr>
        <p:spPr>
          <a:xfrm>
            <a:off x="7863840" y="1463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_FaChartSimple" descr="FaChartSi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2430" y="1611630"/>
            <a:ext cx="297180" cy="297180"/>
          </a:xfrm>
          <a:prstGeom prst="rect">
            <a:avLst/>
          </a:prstGeom>
        </p:spPr>
      </p:pic>
      <p:sp>
        <p:nvSpPr>
          <p:cNvPr id="7" name="NumBody0"/>
          <p:cNvSpPr txBox="1"/>
          <p:nvPr/>
        </p:nvSpPr>
        <p:spPr>
          <a:xfrm>
            <a:off x="685800" y="128016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استفاده از نمودارها: نمودار درختی مدل‌های ریگز را روی تخته یا اسلاید بکشید</a:t>
            </a:r>
            <a:endParaRPr lang="fa-IR" sz="1700" dirty="0"/>
          </a:p>
        </p:txBody>
      </p:sp>
      <p:sp>
        <p:nvSpPr>
          <p:cNvPr id="8" name="NumCard1"/>
          <p:cNvSpPr/>
          <p:nvPr/>
        </p:nvSpPr>
        <p:spPr>
          <a:xfrm>
            <a:off x="457200" y="237744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9" name="IconBg_FaBuildingColumns"/>
          <p:cNvSpPr/>
          <p:nvPr/>
        </p:nvSpPr>
        <p:spPr>
          <a:xfrm>
            <a:off x="7863840" y="2560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_FaBuildingColumns" descr="FaBuildingColum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430" y="2708910"/>
            <a:ext cx="297180" cy="297180"/>
          </a:xfrm>
          <a:prstGeom prst="rect">
            <a:avLst/>
          </a:prstGeom>
        </p:spPr>
      </p:pic>
      <p:sp>
        <p:nvSpPr>
          <p:cNvPr id="11" name="NumBody1"/>
          <p:cNvSpPr txBox="1"/>
          <p:nvPr/>
        </p:nvSpPr>
        <p:spPr>
          <a:xfrm>
            <a:off x="685800" y="237744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مثال‌های عینی: برای مدل «منشوری»، مثال سازمان‌های دولتی در ایران را ذکر کنید</a:t>
            </a:r>
            <a:endParaRPr lang="fa-IR" sz="1700" dirty="0"/>
          </a:p>
        </p:txBody>
      </p:sp>
      <p:sp>
        <p:nvSpPr>
          <p:cNvPr id="12" name="NumCard2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3E">
                <a:alpha val="18000"/>
              </a:srgbClr>
            </a:outerShdw>
          </a:effectLst>
        </p:spPr>
      </p:sp>
      <p:sp>
        <p:nvSpPr>
          <p:cNvPr id="13" name="IconBg_FaComments"/>
          <p:cNvSpPr/>
          <p:nvPr/>
        </p:nvSpPr>
        <p:spPr>
          <a:xfrm>
            <a:off x="7863840" y="3657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_FaComments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430" y="3806190"/>
            <a:ext cx="297180" cy="297180"/>
          </a:xfrm>
          <a:prstGeom prst="rect">
            <a:avLst/>
          </a:prstGeom>
        </p:spPr>
      </p:pic>
      <p:sp>
        <p:nvSpPr>
          <p:cNvPr id="15" name="NumBody2"/>
          <p:cNvSpPr txBox="1"/>
          <p:nvPr/>
        </p:nvSpPr>
        <p:spPr>
          <a:xfrm>
            <a:off x="685800" y="347472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پرسش و پاسخ: از همکلاسی‌ها بپرسید: «به نظر شما بوروکراسی در ایران بیشتر به مدل وبری نزدیک است یا مدل منشوری ریگز؟»</a:t>
            </a:r>
            <a:endParaRPr lang="fa-I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006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86"/>
                </a:solidFill>
                <a:latin typeface="Calibri"/>
                <a:cs typeface="B Nazanin"/>
                <a:ea typeface="Calibri"/>
                <a:cs typeface="B Nazanin"/>
              </a:defRPr>
            </a:lvl1pPr>
          </a:lstStyle>
          <a:p>
            <a:pPr algn="l"/>
            <a:fld id="{F7021451-1387-4CA6-816F-3879F97B5CBC}" type="slidenum">
              <a:rPr b="0" lang="fa-IR"/>
              <a:t>18</a:t>
            </a:fld>
            <a:endParaRPr lang="fa-IR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ismArt" descr="prism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0"/>
            <a:ext cx="3200400" cy="248716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3566160" y="1371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fa-IR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B Zar" pitchFamily="34" charset="-120"/>
              </a:rPr>
              <a:t>پرسش و پاسخ</a:t>
            </a:r>
            <a:endParaRPr lang="fa-IR" sz="4800" dirty="0"/>
          </a:p>
        </p:txBody>
      </p:sp>
      <p:sp>
        <p:nvSpPr>
          <p:cNvPr id="4" name="Subtitle"/>
          <p:cNvSpPr txBox="1"/>
          <p:nvPr/>
        </p:nvSpPr>
        <p:spPr>
          <a:xfrm>
            <a:off x="3566160" y="2560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2400" dirty="0">
                <a:solidFill>
                  <a:srgbClr val="F2B66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با سپاس از توجه شما</a:t>
            </a:r>
            <a:endParaRPr lang="fa-IR" sz="2400" dirty="0"/>
          </a:p>
        </p:txBody>
      </p:sp>
      <p:sp>
        <p:nvSpPr>
          <p:cNvPr id="5" name="Tagline"/>
          <p:cNvSpPr txBox="1"/>
          <p:nvPr/>
        </p:nvSpPr>
        <p:spPr>
          <a:xfrm>
            <a:off x="3566160" y="3200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fa-IR" sz="18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B Nazanin" pitchFamily="34" charset="-120"/>
              </a:rPr>
              <a:t>بوروکراسی بازتابی از فرهنگ و سیاست هر جامعه است</a:t>
            </a:r>
            <a:endParaRPr lang="fa-IR" sz="1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Riggs">
  <a:themeElements>
    <a:clrScheme name="Riggs">
      <a:dk1>
        <a:srgbClr val="1F2933"/>
      </a:dk1>
      <a:lt1>
        <a:srgbClr val="FFFFFF"/>
      </a:lt1>
      <a:dk2>
        <a:srgbClr val="0F3D3E"/>
      </a:dk2>
      <a:lt2>
        <a:srgbClr val="EAF3F2"/>
      </a:lt2>
      <a:accent1>
        <a:srgbClr val="0F6E6E"/>
      </a:accent1>
      <a:accent2>
        <a:srgbClr val="D98324"/>
      </a:accent2>
      <a:accent3>
        <a:srgbClr val="5B8E7D"/>
      </a:accent3>
      <a:accent4>
        <a:srgbClr val="8A5A44"/>
      </a:accent4>
      <a:accent5>
        <a:srgbClr val="3E5C76"/>
      </a:accent5>
      <a:accent6>
        <a:srgbClr val="B5483A"/>
      </a:accent6>
      <a:hlink>
        <a:srgbClr val="0F6E6E"/>
      </a:hlink>
      <a:folHlink>
        <a:srgbClr val="5B8E7D"/>
      </a:folHlink>
    </a:clrScheme>
    <a:fontScheme name="Rigg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بوروکراسی و مدل‌های اداره امور عمومی</dc:title>
  <dc:subject>PptxGenJS Presentation</dc:subject>
  <dc:creator>حمیده رزدان</dc:creator>
  <cp:lastModifiedBy>حمیده رزدان</cp:lastModifiedBy>
  <cp:revision>1</cp:revision>
  <dcterms:created xsi:type="dcterms:W3CDTF">2026-10-14T16:55:57Z</dcterms:created>
  <dcterms:modified xsi:type="dcterms:W3CDTF">2026-10-14T16:55:57Z</dcterms:modified>
</cp:coreProperties>
</file>