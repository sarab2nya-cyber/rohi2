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آغاز" id="{ee43c359-80ff-a609-a20d-3c52d462cec1}">
          <p14:sldIdLst>
            <p14:sldId id="256"/>
            <p14:sldId id="257"/>
          </p14:sldIdLst>
        </p14:section>
        <p14:section name="بخش اول: مبانی نظری ریگز و نقد وبر" id="{543abe93-45ed-ee90-4d8a-7244ca0f87a6}">
          <p14:sldIdLst>
            <p14:sldId id="258"/>
            <p14:sldId id="259"/>
            <p14:sldId id="260"/>
            <p14:sldId id="261"/>
          </p14:sldIdLst>
        </p14:section>
        <p14:section name="بخش دوم: جامعه، حکومت و بوم‌شناسی اداری" id="{2adbfaee-f54c-4004-8b79-06475b84eacc}">
          <p14:sldIdLst>
            <p14:sldId id="262"/>
            <p14:sldId id="263"/>
            <p14:sldId id="264"/>
            <p14:sldId id="265"/>
            <p14:sldId id="266"/>
          </p14:sldIdLst>
        </p14:section>
        <p14:section name="بخش سوم: دولت و نظام‌های اداری" id="{1e87f511-74ee-d603-5699-842bea90e8f1}">
          <p14:sldIdLst>
            <p14:sldId id="267"/>
            <p14:sldId id="268"/>
            <p14:sldId id="269"/>
            <p14:sldId id="270"/>
          </p14:sldIdLst>
        </p14:section>
        <p14:section name="بخش چهارم: جمع‌بندی و کاربرد در کلاس" id="{6ec5bfae-99cb-ed62-6f53-dc1cc8d74088}">
          <p14:sldIdLst>
            <p14:sldId id="271"/>
            <p14:sldId id="272"/>
            <p14:sldId id="273"/>
          </p14:sldIdLst>
        </p14:section>
        <p14:section name="پایان" id="{ce9af180-e838-6ddb-5481-6f5faa61d374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D3E"/>
                </a:solidFill>
                <a:latin typeface="B Zar"/>
              </a:defRPr>
            </a:pPr>
            <a:r>
              <a:rPr sz="1400" b="0" i="0" u="none" strike="noStrike">
                <a:solidFill>
                  <a:srgbClr val="0F3D3E"/>
                </a:solidFill>
                <a:latin typeface="B Zar"/>
              </a:rPr>
              <a:t>نمودار مفهومی، نه آماری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درجه تفکیک (مفهومی)</c:v>
                </c:pt>
              </c:strCache>
            </c:strRef>
          </c:tx>
          <c:spPr>
            <a:solidFill>
              <a:srgbClr val="8A9B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B Nazanin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B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32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6E6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یکپارچه</c:v>
                  </c:pt>
                  <c:pt idx="1">
                    <c:v>منشوری</c:v>
                  </c:pt>
                  <c:pt idx="2">
                    <c:v>تفکیک‌یافته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B Nazani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B Nazani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B Nazani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D3E"/>
                </a:solidFill>
                <a:latin typeface="B Zar"/>
              </a:defRPr>
            </a:pPr>
            <a:r>
              <a:rPr sz="1400" b="0" i="0" u="none" strike="noStrike">
                <a:solidFill>
                  <a:srgbClr val="0F3D3E"/>
                </a:solidFill>
                <a:latin typeface="B Zar"/>
              </a:rPr>
              <a:t>بازه استخدام دولتی در سوئد و دانمارک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سهم استخدام دولتی (٪)</c:v>
                </c:pt>
              </c:strCache>
            </c:strRef>
          </c:tx>
          <c:spPr>
            <a:solidFill>
              <a:srgbClr val="5B8E7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B Nazanin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8E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6E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حداقل ۲۵٪</c:v>
                  </c:pt>
                  <c:pt idx="1">
                    <c:v>حداکثر ۳۰٪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B Nazani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B Nazani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B Nazani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اسلاید عنوان.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فهرست مطالب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اول: مبانی نظری ریگز و نقد وبر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مقدمه و مفهوم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نقد مدل وبری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سه‌گانه بوروکراسی در نظریه ریگز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دوم: جامعه، حکومت و بوم‌شناسی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یکپارچگی و عدم یکپارچگی در جوامع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نمودار مفهومی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طبقه‌بندی نظام‌های سیاسی و بوروکراسی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نظریه «گاوس» و بوم‌شناسی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سوم: دولت و نظام‌های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کارمندان دولتی و اندازه دولت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نظام اداری در کشورهای در حال توسعه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انواع نظام‌های اداری بر اساس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چهارم: جمع‌بندی و کاربرد در کلاس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جمع‌بندی و نتیجه‌گیری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نکات کلیدی برای ارائه در کلاس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0" y="480060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86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بوروکراسی و مدل‌های اداره امور عمومی — فرد ریگز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109728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44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بوروکراسی و مدل‌های اداره امور عمومی</a:t>
            </a:r>
            <a:endParaRPr lang="fa-IR" sz="4400" dirty="0"/>
          </a:p>
        </p:txBody>
      </p:sp>
      <p:sp>
        <p:nvSpPr>
          <p:cNvPr id="3" name="Subtitle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000" dirty="0">
                <a:solidFill>
                  <a:srgbClr val="CFE3E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برگرفته از کتاب «چارچوبی برای مطالعات تطبیقی» (فصل ۲)، نوشته فرد ریگز</a:t>
            </a:r>
            <a:endParaRPr lang="fa-IR" sz="2000" dirty="0"/>
          </a:p>
        </p:txBody>
      </p:sp>
      <p:sp>
        <p:nvSpPr>
          <p:cNvPr id="4" name="Presenter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000" b="1" dirty="0">
                <a:solidFill>
                  <a:srgbClr val="F2B66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ارائه‌دهنده: حمیده رزدان</a:t>
            </a:r>
            <a:endParaRPr lang="fa-IR" sz="20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آغاز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فهرست مطالب</a:t>
            </a:r>
            <a:endParaRPr lang="fa-IR" sz="3200" dirty="0"/>
          </a:p>
        </p:txBody>
      </p:sp>
      <p:sp>
        <p:nvSpPr>
          <p:cNvPr id="4" name="GridCard0"/>
          <p:cNvSpPr/>
          <p:nvPr/>
        </p:nvSpPr>
        <p:spPr>
          <a:xfrm>
            <a:off x="470916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Badge0"/>
          <p:cNvSpPr/>
          <p:nvPr/>
        </p:nvSpPr>
        <p:spPr>
          <a:xfrm>
            <a:off x="8046720" y="14356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BadgeNum0"/>
          <p:cNvSpPr txBox="1"/>
          <p:nvPr/>
        </p:nvSpPr>
        <p:spPr>
          <a:xfrm>
            <a:off x="804672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۱</a:t>
            </a:r>
            <a:endParaRPr lang="fa-IR" sz="1800" dirty="0"/>
          </a:p>
        </p:txBody>
      </p:sp>
      <p:sp>
        <p:nvSpPr>
          <p:cNvPr id="7" name="GridHead0"/>
          <p:cNvSpPr txBox="1"/>
          <p:nvPr/>
        </p:nvSpPr>
        <p:spPr>
          <a:xfrm>
            <a:off x="489204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مبانی نظری ریگز و نقد وبر</a:t>
            </a:r>
            <a:endParaRPr lang="fa-IR" sz="1700" dirty="0"/>
          </a:p>
        </p:txBody>
      </p:sp>
      <p:sp>
        <p:nvSpPr>
          <p:cNvPr id="8" name="GridBody0"/>
          <p:cNvSpPr txBox="1"/>
          <p:nvPr/>
        </p:nvSpPr>
        <p:spPr>
          <a:xfrm>
            <a:off x="489204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مفهوم منشوری، نقد مدل وبری و مدل‌های سه‌گانه</a:t>
            </a:r>
            <a:endParaRPr lang="fa-IR" sz="1600" dirty="0"/>
          </a:p>
        </p:txBody>
      </p:sp>
      <p:sp>
        <p:nvSpPr>
          <p:cNvPr id="9" name="GridCard1"/>
          <p:cNvSpPr/>
          <p:nvPr/>
        </p:nvSpPr>
        <p:spPr>
          <a:xfrm>
            <a:off x="45720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Badge1"/>
          <p:cNvSpPr/>
          <p:nvPr/>
        </p:nvSpPr>
        <p:spPr>
          <a:xfrm>
            <a:off x="3794760" y="14356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adgeNum1"/>
          <p:cNvSpPr txBox="1"/>
          <p:nvPr/>
        </p:nvSpPr>
        <p:spPr>
          <a:xfrm>
            <a:off x="379476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۲</a:t>
            </a:r>
            <a:endParaRPr lang="fa-IR" sz="1800" dirty="0"/>
          </a:p>
        </p:txBody>
      </p:sp>
      <p:sp>
        <p:nvSpPr>
          <p:cNvPr id="12" name="GridHead1"/>
          <p:cNvSpPr txBox="1"/>
          <p:nvPr/>
        </p:nvSpPr>
        <p:spPr>
          <a:xfrm>
            <a:off x="64008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جامعه، حکومت و بوم‌شناسی اداری</a:t>
            </a:r>
            <a:endParaRPr lang="fa-IR" sz="1700" dirty="0"/>
          </a:p>
        </p:txBody>
      </p:sp>
      <p:sp>
        <p:nvSpPr>
          <p:cNvPr id="13" name="GridBody1"/>
          <p:cNvSpPr txBox="1"/>
          <p:nvPr/>
        </p:nvSpPr>
        <p:spPr>
          <a:xfrm>
            <a:off x="64008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یکپارچگی جوامع، نظام‌های سیاسی و نظریه گاوس</a:t>
            </a:r>
            <a:endParaRPr lang="fa-IR" sz="1600" dirty="0"/>
          </a:p>
        </p:txBody>
      </p:sp>
      <p:sp>
        <p:nvSpPr>
          <p:cNvPr id="14" name="GridCard2"/>
          <p:cNvSpPr/>
          <p:nvPr/>
        </p:nvSpPr>
        <p:spPr>
          <a:xfrm>
            <a:off x="470916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Badge2"/>
          <p:cNvSpPr/>
          <p:nvPr/>
        </p:nvSpPr>
        <p:spPr>
          <a:xfrm>
            <a:off x="8046720" y="28529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adgeNum2"/>
          <p:cNvSpPr txBox="1"/>
          <p:nvPr/>
        </p:nvSpPr>
        <p:spPr>
          <a:xfrm>
            <a:off x="804672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۳</a:t>
            </a:r>
            <a:endParaRPr lang="fa-IR" sz="1800" dirty="0"/>
          </a:p>
        </p:txBody>
      </p:sp>
      <p:sp>
        <p:nvSpPr>
          <p:cNvPr id="17" name="GridHead2"/>
          <p:cNvSpPr txBox="1"/>
          <p:nvPr/>
        </p:nvSpPr>
        <p:spPr>
          <a:xfrm>
            <a:off x="489204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دولت و نظام‌های اداری</a:t>
            </a:r>
            <a:endParaRPr lang="fa-IR" sz="1700" dirty="0"/>
          </a:p>
        </p:txBody>
      </p:sp>
      <p:sp>
        <p:nvSpPr>
          <p:cNvPr id="18" name="GridBody2"/>
          <p:cNvSpPr txBox="1"/>
          <p:nvPr/>
        </p:nvSpPr>
        <p:spPr>
          <a:xfrm>
            <a:off x="489204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اندازه دولت، مدل‌های توسعه و انواع نظام‌های اداری</a:t>
            </a:r>
            <a:endParaRPr lang="fa-IR" sz="1600" dirty="0"/>
          </a:p>
        </p:txBody>
      </p:sp>
      <p:sp>
        <p:nvSpPr>
          <p:cNvPr id="19" name="GridCard3"/>
          <p:cNvSpPr/>
          <p:nvPr/>
        </p:nvSpPr>
        <p:spPr>
          <a:xfrm>
            <a:off x="45720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0" name="Badge3"/>
          <p:cNvSpPr/>
          <p:nvPr/>
        </p:nvSpPr>
        <p:spPr>
          <a:xfrm>
            <a:off x="3794760" y="28529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BadgeNum3"/>
          <p:cNvSpPr txBox="1"/>
          <p:nvPr/>
        </p:nvSpPr>
        <p:spPr>
          <a:xfrm>
            <a:off x="379476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۴</a:t>
            </a:r>
            <a:endParaRPr lang="fa-IR" sz="1800" dirty="0"/>
          </a:p>
        </p:txBody>
      </p:sp>
      <p:sp>
        <p:nvSpPr>
          <p:cNvPr id="22" name="GridHead3"/>
          <p:cNvSpPr txBox="1"/>
          <p:nvPr/>
        </p:nvSpPr>
        <p:spPr>
          <a:xfrm>
            <a:off x="64008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جمع‌بندی و کاربرد در کلاس</a:t>
            </a:r>
            <a:endParaRPr lang="fa-IR" sz="1700" dirty="0"/>
          </a:p>
        </p:txBody>
      </p:sp>
      <p:sp>
        <p:nvSpPr>
          <p:cNvPr id="23" name="GridBody3"/>
          <p:cNvSpPr txBox="1"/>
          <p:nvPr/>
        </p:nvSpPr>
        <p:spPr>
          <a:xfrm>
            <a:off x="64008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نتیجه‌گیری و نکات کلیدی ارائه</a:t>
            </a:r>
            <a:endParaRPr lang="fa-I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2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۱</a:t>
            </a:r>
            <a:endParaRPr lang="fa-IR" sz="4000" dirty="0"/>
          </a:p>
        </p:txBody>
      </p:sp>
      <p:sp>
        <p:nvSpPr>
          <p:cNvPr id="4" name="Title"/>
          <p:cNvSpPr txBox="1"/>
          <p:nvPr/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مبانی نظری ریگز و نقد وبر</a:t>
            </a:r>
            <a:endParaRPr lang="fa-IR" sz="3800" dirty="0"/>
          </a:p>
        </p:txBody>
      </p:sp>
      <p:sp>
        <p:nvSpPr>
          <p:cNvPr id="5" name="Subtitle"/>
          <p:cNvSpPr txBox="1"/>
          <p:nvPr/>
        </p:nvSpPr>
        <p:spPr>
          <a:xfrm>
            <a:off x="640080" y="33375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000" dirty="0">
                <a:solidFill>
                  <a:srgbClr val="CFE3E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مفهوم منشوری، نقد مدل وبری و مدل‌های سه‌گانه</a:t>
            </a:r>
            <a:endParaRPr lang="fa-IR" sz="20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اول: مبانی نظری ریگز و نقد وبر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مقدمه و مفهوم «ریگز»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فرد ریگز (Riggs)</a:t>
            </a:r>
            <a:endParaRPr lang="fa-IR" sz="1700" dirty="0"/>
          </a:p>
        </p:txBody>
      </p:sp>
      <p:sp>
        <p:nvSpPr>
          <p:cNvPr id="6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تئوری منشوری (Prismatic Theory)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کشورهای در حال توسعه = ساختارهای «منشوری» (ترکیب سنت + مدرنیته)</a:t>
            </a:r>
            <a:endParaRPr lang="fa-IR" sz="1600" dirty="0"/>
          </a:p>
        </p:txBody>
      </p:sp>
      <p:sp>
        <p:nvSpPr>
          <p:cNvPr id="7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8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مفهوم «سالا» (Sala)</a:t>
            </a:r>
            <a:endParaRPr lang="fa-IR" sz="1700" dirty="0"/>
          </a:p>
        </p:txBody>
      </p:sp>
      <p:sp>
        <p:nvSpPr>
          <p:cNvPr id="9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دیوان (Bureau): هر سه مدل (متمرکز، مرکب، وسیع)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اتاق (Chamber): بوروکراسی مرکب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اداره (Office): بوروکراسی وسیع و جدید</a:t>
            </a:r>
            <a:endParaRPr lang="fa-IR" sz="1600" dirty="0"/>
          </a:p>
        </p:txBody>
      </p:sp>
      <p:sp>
        <p:nvSpPr>
          <p:cNvPr id="10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1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جوامع در حال توسعه، ساختارها ظاهراً مدرن‌اند، اما کارکردهایشان هنوز سنتی و خانوادگی است.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4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اول: مبانی نظری ریگز و نقد وبر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نقد مدل وبری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612648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 وبری (عقلانی-قانونی)</a:t>
            </a:r>
            <a:endParaRPr lang="fa-IR" sz="1500" dirty="0"/>
          </a:p>
        </p:txBody>
      </p:sp>
      <p:sp>
        <p:nvSpPr>
          <p:cNvPr id="6" name="CardBody0"/>
          <p:cNvSpPr txBox="1"/>
          <p:nvPr/>
        </p:nvSpPr>
        <p:spPr>
          <a:xfrm>
            <a:off x="626364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سلسله‌مراتب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تقسیم کار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قوانین مکتوب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تخصص</a:t>
            </a:r>
            <a:endParaRPr lang="fa-IR" sz="1500" dirty="0"/>
          </a:p>
        </p:txBody>
      </p:sp>
      <p:sp>
        <p:nvSpPr>
          <p:cNvPr id="7" name="Card1"/>
          <p:cNvSpPr/>
          <p:nvPr/>
        </p:nvSpPr>
        <p:spPr>
          <a:xfrm>
            <a:off x="329184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8" name="CardHead1"/>
          <p:cNvSpPr txBox="1"/>
          <p:nvPr/>
        </p:nvSpPr>
        <p:spPr>
          <a:xfrm>
            <a:off x="342900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نقد ریگز به وبر</a:t>
            </a:r>
            <a:endParaRPr lang="fa-IR" sz="1500" dirty="0"/>
          </a:p>
        </p:txBody>
      </p:sp>
      <p:sp>
        <p:nvSpPr>
          <p:cNvPr id="9" name="CardBody1"/>
          <p:cNvSpPr txBox="1"/>
          <p:nvPr/>
        </p:nvSpPr>
        <p:spPr>
          <a:xfrm>
            <a:off x="342900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 وبری برای جوامع غربی طراحی شده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برای جوامع در حال توسعه کارایی ندارد</a:t>
            </a:r>
            <a:endParaRPr lang="fa-IR" sz="1500" dirty="0"/>
          </a:p>
        </p:txBody>
      </p:sp>
      <p:sp>
        <p:nvSpPr>
          <p:cNvPr id="10" name="Card2"/>
          <p:cNvSpPr/>
          <p:nvPr/>
        </p:nvSpPr>
        <p:spPr>
          <a:xfrm>
            <a:off x="45720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1" name="CardHead2"/>
          <p:cNvSpPr txBox="1"/>
          <p:nvPr/>
        </p:nvSpPr>
        <p:spPr>
          <a:xfrm>
            <a:off x="59436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مشکلات در کشورهای در حال توسعه</a:t>
            </a:r>
            <a:endParaRPr lang="fa-IR" sz="1500" dirty="0"/>
          </a:p>
        </p:txBody>
      </p:sp>
      <p:sp>
        <p:nvSpPr>
          <p:cNvPr id="12" name="CardBody2"/>
          <p:cNvSpPr txBox="1"/>
          <p:nvPr/>
        </p:nvSpPr>
        <p:spPr>
          <a:xfrm>
            <a:off x="59436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نادیده گرفتن روابط غیررسمی و خانوادگی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عدم تطابق با ساختارهای سیاسی سنتی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شکاف بین انتظارات رسمی و رفتار عملی کارکنان</a:t>
            </a:r>
            <a:endParaRPr lang="fa-IR" sz="1500" dirty="0"/>
          </a:p>
        </p:txBody>
      </p:sp>
      <p:sp>
        <p:nvSpPr>
          <p:cNvPr id="13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4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6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«آلوریان» معتقد است مدل وبری در کشورهای در حال توسعه باعث «بوروکراسی زائد» می‌شود.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5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اول: مبانی نظری ریگز و نقد وبر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مدل‌های سه‌گانه بوروکراسی در نظریه ریگز</a:t>
            </a:r>
            <a:endParaRPr lang="fa-IR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926080"/>
              </a:tblGrid>
              <a:tr h="4572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b="1" dirty="0">
                          <a:solidFill>
                            <a:schemeClr val="bg1"/>
                          </a:solidFill>
                          <a:latin typeface="B Zar" pitchFamily="34" charset="0"/>
                          <a:ea typeface="B Zar" pitchFamily="34" charset="-122"/>
                          <a:cs typeface="B Zar" pitchFamily="34" charset="-120"/>
                        </a:rPr>
                        <a:t>مثال</a:t>
                      </a:r>
                      <a:endParaRPr lang="fa-IR" sz="1600" dirty="0">
                        <a:latin typeface="B Zar" charset="0"/>
                        <a:ea typeface="B Zar" charset="0"/>
                        <a:cs typeface="B Za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b="1" dirty="0">
                          <a:solidFill>
                            <a:schemeClr val="bg1"/>
                          </a:solidFill>
                          <a:latin typeface="B Zar" pitchFamily="34" charset="0"/>
                          <a:ea typeface="B Zar" pitchFamily="34" charset="-122"/>
                          <a:cs typeface="B Zar" pitchFamily="34" charset="-120"/>
                        </a:rPr>
                        <a:t>ویژگی‌ها</a:t>
                      </a:r>
                      <a:endParaRPr lang="fa-IR" sz="1600" dirty="0">
                        <a:latin typeface="B Zar" charset="0"/>
                        <a:ea typeface="B Zar" charset="0"/>
                        <a:cs typeface="B Za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b="1" dirty="0">
                          <a:solidFill>
                            <a:schemeClr val="bg1"/>
                          </a:solidFill>
                          <a:latin typeface="B Zar" pitchFamily="34" charset="0"/>
                          <a:ea typeface="B Zar" pitchFamily="34" charset="-122"/>
                          <a:cs typeface="B Zar" pitchFamily="34" charset="-120"/>
                        </a:rPr>
                        <a:t>مدل</a:t>
                      </a:r>
                      <a:endParaRPr lang="fa-IR" sz="1600" dirty="0">
                        <a:latin typeface="B Zar" charset="0"/>
                        <a:ea typeface="B Zar" charset="0"/>
                        <a:cs typeface="B Za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کشورهای توسعه‌یافته غربی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قوانین، عقلانیت، سلسله‌مراتب، تخصص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۱. مدل «حاکمیت» (Weberian/Classic)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کشورهای در حال توسعه (ایران، مصر)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ترکیب سنتی و مدرن، عدم تطابق کارکردها با ساختار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۲. مدل «منشوری» (Prismatic)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—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ترکیبی؛ شامل «دیوان»، «اتاق» و «اداره»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B Nazanin" pitchFamily="34" charset="0"/>
                          <a:ea typeface="B Nazanin" pitchFamily="34" charset="-122"/>
                          <a:cs typeface="B Nazanin" pitchFamily="34" charset="-120"/>
                        </a:rPr>
                        <a:t>۳. مدل «سالا» (Sala)</a:t>
                      </a:r>
                      <a:endParaRPr lang="fa-IR" sz="1600" dirty="0">
                        <a:latin typeface="B Nazanin" charset="0"/>
                        <a:ea typeface="B Nazanin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6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8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مدل «منشوری»، پدیده «هم‌ریختگی» (Overlapping) رخ می‌دهد؛ سازمان‌های جدید جایگزین قدیمی‌ها نمی‌شوند، بلکه در کنار آنها با کارکردهای متناقض ادامه می‌یابند.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6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۲</a:t>
            </a:r>
            <a:endParaRPr lang="fa-IR" sz="4000" dirty="0"/>
          </a:p>
        </p:txBody>
      </p:sp>
      <p:sp>
        <p:nvSpPr>
          <p:cNvPr id="4" name="Title"/>
          <p:cNvSpPr txBox="1"/>
          <p:nvPr/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جامعه، حکومت و بوم‌شناسی اداری</a:t>
            </a:r>
            <a:endParaRPr lang="fa-IR" sz="3800" dirty="0"/>
          </a:p>
        </p:txBody>
      </p:sp>
      <p:sp>
        <p:nvSpPr>
          <p:cNvPr id="5" name="Subtitle"/>
          <p:cNvSpPr txBox="1"/>
          <p:nvPr/>
        </p:nvSpPr>
        <p:spPr>
          <a:xfrm>
            <a:off x="640080" y="33375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000" dirty="0">
                <a:solidFill>
                  <a:srgbClr val="CFE3E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یکپارچگی جوامع، نظام‌های سیاسی و نظریه گاوس</a:t>
            </a:r>
            <a:endParaRPr lang="fa-IR" sz="20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یکپارچگی و عدم یکپارچگی در جوامع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612648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جامعه یکپارچه (Fused)</a:t>
            </a:r>
            <a:endParaRPr lang="fa-IR" sz="1500" dirty="0"/>
          </a:p>
        </p:txBody>
      </p:sp>
      <p:sp>
        <p:nvSpPr>
          <p:cNvPr id="6" name="CardBody0"/>
          <p:cNvSpPr txBox="1"/>
          <p:nvPr/>
        </p:nvSpPr>
        <p:spPr>
          <a:xfrm>
            <a:off x="626364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جوامع سنتی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ساختارها و کارکردها تفکیک نشده‌اند (قبیله‌ای)</a:t>
            </a:r>
            <a:endParaRPr lang="fa-IR" sz="1500" dirty="0"/>
          </a:p>
        </p:txBody>
      </p:sp>
      <p:sp>
        <p:nvSpPr>
          <p:cNvPr id="7" name="Card1"/>
          <p:cNvSpPr/>
          <p:nvPr/>
        </p:nvSpPr>
        <p:spPr>
          <a:xfrm>
            <a:off x="329184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8" name="CardHead1"/>
          <p:cNvSpPr txBox="1"/>
          <p:nvPr/>
        </p:nvSpPr>
        <p:spPr>
          <a:xfrm>
            <a:off x="342900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جامعه منشوری (Prismatic)</a:t>
            </a:r>
            <a:endParaRPr lang="fa-IR" sz="1500" dirty="0"/>
          </a:p>
        </p:txBody>
      </p:sp>
      <p:sp>
        <p:nvSpPr>
          <p:cNvPr id="9" name="CardBody1"/>
          <p:cNvSpPr txBox="1"/>
          <p:nvPr/>
        </p:nvSpPr>
        <p:spPr>
          <a:xfrm>
            <a:off x="342900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جوامع در حال گذار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نهادهای جدید ایجاد شده، اما کارکردها هنوز سنتی است</a:t>
            </a:r>
            <a:endParaRPr lang="fa-IR" sz="1500" dirty="0"/>
          </a:p>
        </p:txBody>
      </p:sp>
      <p:sp>
        <p:nvSpPr>
          <p:cNvPr id="10" name="Card2"/>
          <p:cNvSpPr/>
          <p:nvPr/>
        </p:nvSpPr>
        <p:spPr>
          <a:xfrm>
            <a:off x="45720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1" name="CardHead2"/>
          <p:cNvSpPr txBox="1"/>
          <p:nvPr/>
        </p:nvSpPr>
        <p:spPr>
          <a:xfrm>
            <a:off x="59436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جامعه تفکیک‌یافته (Diffracted)</a:t>
            </a:r>
            <a:endParaRPr lang="fa-IR" sz="1500" dirty="0"/>
          </a:p>
        </p:txBody>
      </p:sp>
      <p:sp>
        <p:nvSpPr>
          <p:cNvPr id="12" name="CardBody2"/>
          <p:cNvSpPr txBox="1"/>
          <p:nvPr/>
        </p:nvSpPr>
        <p:spPr>
          <a:xfrm>
            <a:off x="59436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جوامع مدرن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تفکیک کامل ساختارها و کارکردها</a:t>
            </a:r>
            <a:endParaRPr lang="fa-IR" sz="1500" dirty="0"/>
          </a:p>
        </p:txBody>
      </p:sp>
      <p:sp>
        <p:nvSpPr>
          <p:cNvPr id="13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4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6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مثال از متن: ریگز جامعه منشوری را به «ارکستر سمفونی» تشبیه می‌کند که هر نوازنده ساز خود را می‌زند و هماهنگی وجود ندارد.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8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نمودار مفهومی: درجه تفکیک ساختاری و کارکردی</a:t>
            </a:r>
            <a:endParaRPr lang="fa-IR" sz="3200" dirty="0"/>
          </a:p>
        </p:txBody>
      </p:sp>
      <p:sp>
        <p:nvSpPr>
          <p:cNvPr id="4" name="ChartCard"/>
          <p:cNvSpPr/>
          <p:nvPr/>
        </p:nvSpPr>
        <p:spPr>
          <a:xfrm>
            <a:off x="457200" y="1234440"/>
            <a:ext cx="4206240" cy="27432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40233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d0"/>
          <p:cNvSpPr/>
          <p:nvPr/>
        </p:nvSpPr>
        <p:spPr>
          <a:xfrm>
            <a:off x="4937760" y="1234440"/>
            <a:ext cx="37490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7" name="CardHead0"/>
          <p:cNvSpPr txBox="1"/>
          <p:nvPr/>
        </p:nvSpPr>
        <p:spPr>
          <a:xfrm>
            <a:off x="5074920" y="13258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خوانش نمودار</a:t>
            </a:r>
            <a:endParaRPr lang="fa-IR" sz="1700" dirty="0"/>
          </a:p>
        </p:txBody>
      </p:sp>
      <p:sp>
        <p:nvSpPr>
          <p:cNvPr id="8" name="CardBody0"/>
          <p:cNvSpPr txBox="1"/>
          <p:nvPr/>
        </p:nvSpPr>
        <p:spPr>
          <a:xfrm>
            <a:off x="5074920" y="1828800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یکپارچه: ساختار و کارکرد از هم جدا نشده‌اند</a:t>
            </a:r>
            <a:endParaRPr lang="fa-IR" sz="16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منشوری: ساختار جدید، اما کارکرد هنوز سنتی</a:t>
            </a:r>
            <a:endParaRPr lang="fa-IR" sz="16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تفکیک‌یافته: تفکیک کامل ساختارها و کارکردها</a:t>
            </a:r>
            <a:endParaRPr lang="fa-IR" sz="1600" dirty="0"/>
          </a:p>
        </p:txBody>
      </p:sp>
      <p:sp>
        <p:nvSpPr>
          <p:cNvPr id="9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2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ارتفاع ستون‌ها فقط ترتیب مفهومی سه نوع جامعه را نشان می‌دهد و داده آماری نیست.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9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طبقه‌بندی نظام‌های سیاسی و بوروکراسی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 «حاکمیت» (Heer)</a:t>
            </a:r>
            <a:endParaRPr lang="fa-IR" sz="1700" dirty="0"/>
          </a:p>
        </p:txBody>
      </p:sp>
      <p:sp>
        <p:nvSpPr>
          <p:cNvPr id="6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تقسیم‌بندی نظام‌های سیاسی بر اساس درجه حاکمیت</a:t>
            </a:r>
            <a:endParaRPr lang="fa-IR" sz="1600" dirty="0"/>
          </a:p>
        </p:txBody>
      </p:sp>
      <p:sp>
        <p:nvSpPr>
          <p:cNvPr id="7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8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انواع حکومت‌ها</a:t>
            </a:r>
            <a:endParaRPr lang="fa-IR" sz="1700" dirty="0"/>
          </a:p>
        </p:txBody>
      </p:sp>
      <p:sp>
        <p:nvSpPr>
          <p:cNvPr id="9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حکومت حاکم (متمرکز مطلق) ← استبدادی سنتی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حکومت حزب (تک‌حزبی) ← شوروی سابق، چین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حکومت بوروکراتیک (دموکراسی) ← کشورهای غربی</a:t>
            </a:r>
            <a:endParaRPr lang="fa-IR" sz="1600" dirty="0"/>
          </a:p>
        </p:txBody>
      </p:sp>
      <p:sp>
        <p:nvSpPr>
          <p:cNvPr id="10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1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«حکومت حاکم»، قدرت در دست یک فرد یا گروه کوچک متمرکز است و بوروکراسی صرفاً ابزاری برای اجرای دستورات است.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10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نظریه «گاوس» و بوم‌شناسی اداری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جان گاوس (John Gaus)</a:t>
            </a:r>
            <a:endParaRPr lang="fa-IR" sz="1700" dirty="0"/>
          </a:p>
        </p:txBody>
      </p:sp>
      <p:sp>
        <p:nvSpPr>
          <p:cNvPr id="6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بنیان‌گذار نظریه بوم‌شناسی اداری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اداره امور دولتی را نمی‌توان جدا از محیط اجتماعی، اقتصادی و سیاسی مطالعه کرد</a:t>
            </a:r>
            <a:endParaRPr lang="fa-IR" sz="1600" dirty="0"/>
          </a:p>
        </p:txBody>
      </p:sp>
      <p:sp>
        <p:nvSpPr>
          <p:cNvPr id="7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8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عوامل موثر بر اداره</a:t>
            </a:r>
            <a:endParaRPr lang="fa-IR" sz="1700" dirty="0"/>
          </a:p>
        </p:txBody>
      </p:sp>
      <p:sp>
        <p:nvSpPr>
          <p:cNvPr id="9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تکنولوژی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افراد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مکان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آرزوها و عقاید</a:t>
            </a:r>
            <a:endParaRPr lang="fa-IR" sz="1600" dirty="0"/>
          </a:p>
        </p:txBody>
      </p:sp>
      <p:sp>
        <p:nvSpPr>
          <p:cNvPr id="10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1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«بوم‌شناسی» کمک می‌کند بفهمیم چرا یک مدل اداری در یک کشور موفق و در کشور دیگر ناموفق است. این نظریه بعدها توسط «ریگز» بسط داده شد.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11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۳</a:t>
            </a:r>
            <a:endParaRPr lang="fa-IR" sz="4000" dirty="0"/>
          </a:p>
        </p:txBody>
      </p:sp>
      <p:sp>
        <p:nvSpPr>
          <p:cNvPr id="4" name="Title"/>
          <p:cNvSpPr txBox="1"/>
          <p:nvPr/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دولت و نظام‌های اداری</a:t>
            </a:r>
            <a:endParaRPr lang="fa-IR" sz="3800" dirty="0"/>
          </a:p>
        </p:txBody>
      </p:sp>
      <p:sp>
        <p:nvSpPr>
          <p:cNvPr id="5" name="Subtitle"/>
          <p:cNvSpPr txBox="1"/>
          <p:nvPr/>
        </p:nvSpPr>
        <p:spPr>
          <a:xfrm>
            <a:off x="640080" y="33375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000" dirty="0">
                <a:solidFill>
                  <a:srgbClr val="CFE3E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اندازه دولت، مدل‌های توسعه و انواع نظام‌های اداری</a:t>
            </a:r>
            <a:endParaRPr lang="fa-IR" sz="2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سوم: دولت و نظام‌های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کارمندان دولتی و اندازه دولت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480560" y="1234440"/>
            <a:ext cx="42062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4617720" y="1325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آمارهای جهانی (جدول ۱ و ۲)</a:t>
            </a:r>
            <a:endParaRPr lang="fa-IR" sz="1700" dirty="0"/>
          </a:p>
        </p:txBody>
      </p:sp>
      <p:sp>
        <p:nvSpPr>
          <p:cNvPr id="6" name="CardBody0"/>
          <p:cNvSpPr txBox="1"/>
          <p:nvPr/>
        </p:nvSpPr>
        <p:spPr>
          <a:xfrm>
            <a:off x="4617720" y="1828800"/>
            <a:ext cx="39319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کشورهای توسعه‌یافته (سوئد، دانمارک): ۲۵-۳۰٪ استخدام دولتی</a:t>
            </a:r>
            <a:endParaRPr lang="fa-IR" sz="16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کشورهای در حال توسعه (هند، مصر): سهم کمتر، اما لزوماً کارایی بیشتر نیست</a:t>
            </a:r>
            <a:endParaRPr lang="fa-IR" sz="1600" dirty="0"/>
          </a:p>
        </p:txBody>
      </p:sp>
      <p:sp>
        <p:nvSpPr>
          <p:cNvPr id="7" name="ChartCard"/>
          <p:cNvSpPr/>
          <p:nvPr/>
        </p:nvSpPr>
        <p:spPr>
          <a:xfrm>
            <a:off x="457200" y="1234440"/>
            <a:ext cx="3840480" cy="2697480"/>
          </a:xfrm>
          <a:prstGeom prst="roundRect">
            <a:avLst>
              <a:gd name="adj" fmla="val 33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48640" y="1280160"/>
          <a:ext cx="36576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2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بسیاری از کشورهای در حال توسعه، «بزرگ شدن دولت» = افزایش بوروکراسی زائد، نه افزایش خدمات. این پدیده به «قانون پارکینسون» معروف است: کار کارمندان تا پر شدن زمان موجود گسترش می‌یابد.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13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سوم: دولت و نظام‌های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مدل‌های نظام اداری در کشورهای در حال توسعه</a:t>
            </a:r>
            <a:endParaRPr lang="fa-IR" sz="3200" dirty="0"/>
          </a:p>
        </p:txBody>
      </p:sp>
      <p:sp>
        <p:nvSpPr>
          <p:cNvPr id="4" name="GridCard0"/>
          <p:cNvSpPr/>
          <p:nvPr/>
        </p:nvSpPr>
        <p:spPr>
          <a:xfrm>
            <a:off x="470916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Badge0"/>
          <p:cNvSpPr/>
          <p:nvPr/>
        </p:nvSpPr>
        <p:spPr>
          <a:xfrm>
            <a:off x="8046720" y="143560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BadgeNum0"/>
          <p:cNvSpPr txBox="1"/>
          <p:nvPr/>
        </p:nvSpPr>
        <p:spPr>
          <a:xfrm>
            <a:off x="804672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۱</a:t>
            </a:r>
            <a:endParaRPr lang="fa-IR" sz="1800" dirty="0"/>
          </a:p>
        </p:txBody>
      </p:sp>
      <p:sp>
        <p:nvSpPr>
          <p:cNvPr id="7" name="GridHead0"/>
          <p:cNvSpPr txBox="1"/>
          <p:nvPr/>
        </p:nvSpPr>
        <p:spPr>
          <a:xfrm>
            <a:off x="489204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مدل‌های مردم‌محور (Populist)</a:t>
            </a:r>
            <a:endParaRPr lang="fa-IR" sz="1700" dirty="0"/>
          </a:p>
        </p:txBody>
      </p:sp>
      <p:sp>
        <p:nvSpPr>
          <p:cNvPr id="8" name="GridBody0"/>
          <p:cNvSpPr txBox="1"/>
          <p:nvPr/>
        </p:nvSpPr>
        <p:spPr>
          <a:xfrm>
            <a:off x="489204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تأکید بر مشارکت مردمی</a:t>
            </a:r>
            <a:endParaRPr lang="fa-IR" sz="1600" dirty="0"/>
          </a:p>
        </p:txBody>
      </p:sp>
      <p:sp>
        <p:nvSpPr>
          <p:cNvPr id="9" name="GridCard1"/>
          <p:cNvSpPr/>
          <p:nvPr/>
        </p:nvSpPr>
        <p:spPr>
          <a:xfrm>
            <a:off x="45720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Badge1"/>
          <p:cNvSpPr/>
          <p:nvPr/>
        </p:nvSpPr>
        <p:spPr>
          <a:xfrm>
            <a:off x="3794760" y="143560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1"/>
          <p:cNvSpPr txBox="1"/>
          <p:nvPr/>
        </p:nvSpPr>
        <p:spPr>
          <a:xfrm>
            <a:off x="379476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۲</a:t>
            </a:r>
            <a:endParaRPr lang="fa-IR" sz="1800" dirty="0"/>
          </a:p>
        </p:txBody>
      </p:sp>
      <p:sp>
        <p:nvSpPr>
          <p:cNvPr id="12" name="GridHead1"/>
          <p:cNvSpPr txBox="1"/>
          <p:nvPr/>
        </p:nvSpPr>
        <p:spPr>
          <a:xfrm>
            <a:off x="64008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مدل‌های بوروکراتیک مطلق</a:t>
            </a:r>
            <a:endParaRPr lang="fa-IR" sz="1700" dirty="0"/>
          </a:p>
        </p:txBody>
      </p:sp>
      <p:sp>
        <p:nvSpPr>
          <p:cNvPr id="13" name="GridBody1"/>
          <p:cNvSpPr txBox="1"/>
          <p:nvPr/>
        </p:nvSpPr>
        <p:spPr>
          <a:xfrm>
            <a:off x="64008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کنترل شدید و تمرکز</a:t>
            </a:r>
            <a:endParaRPr lang="fa-IR" sz="1600" dirty="0"/>
          </a:p>
        </p:txBody>
      </p:sp>
      <p:sp>
        <p:nvSpPr>
          <p:cNvPr id="14" name="GridCard2"/>
          <p:cNvSpPr/>
          <p:nvPr/>
        </p:nvSpPr>
        <p:spPr>
          <a:xfrm>
            <a:off x="470916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Badge2"/>
          <p:cNvSpPr/>
          <p:nvPr/>
        </p:nvSpPr>
        <p:spPr>
          <a:xfrm>
            <a:off x="8046720" y="285292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adgeNum2"/>
          <p:cNvSpPr txBox="1"/>
          <p:nvPr/>
        </p:nvSpPr>
        <p:spPr>
          <a:xfrm>
            <a:off x="804672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۳</a:t>
            </a:r>
            <a:endParaRPr lang="fa-IR" sz="1800" dirty="0"/>
          </a:p>
        </p:txBody>
      </p:sp>
      <p:sp>
        <p:nvSpPr>
          <p:cNvPr id="17" name="GridHead2"/>
          <p:cNvSpPr txBox="1"/>
          <p:nvPr/>
        </p:nvSpPr>
        <p:spPr>
          <a:xfrm>
            <a:off x="489204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مدل‌های ائتلافی</a:t>
            </a:r>
            <a:endParaRPr lang="fa-IR" sz="1700" dirty="0"/>
          </a:p>
        </p:txBody>
      </p:sp>
      <p:sp>
        <p:nvSpPr>
          <p:cNvPr id="18" name="GridBody2"/>
          <p:cNvSpPr txBox="1"/>
          <p:nvPr/>
        </p:nvSpPr>
        <p:spPr>
          <a:xfrm>
            <a:off x="489204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ترکیب نیروهای سیاسی مختلف</a:t>
            </a:r>
            <a:endParaRPr lang="fa-IR" sz="1600" dirty="0"/>
          </a:p>
        </p:txBody>
      </p:sp>
      <p:sp>
        <p:nvSpPr>
          <p:cNvPr id="19" name="GridCard3"/>
          <p:cNvSpPr/>
          <p:nvPr/>
        </p:nvSpPr>
        <p:spPr>
          <a:xfrm>
            <a:off x="45720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0" name="Badge3"/>
          <p:cNvSpPr/>
          <p:nvPr/>
        </p:nvSpPr>
        <p:spPr>
          <a:xfrm>
            <a:off x="3794760" y="285292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BadgeNum3"/>
          <p:cNvSpPr txBox="1"/>
          <p:nvPr/>
        </p:nvSpPr>
        <p:spPr>
          <a:xfrm>
            <a:off x="379476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۴</a:t>
            </a:r>
            <a:endParaRPr lang="fa-IR" sz="1800" dirty="0"/>
          </a:p>
        </p:txBody>
      </p:sp>
      <p:sp>
        <p:nvSpPr>
          <p:cNvPr id="22" name="GridHead3"/>
          <p:cNvSpPr txBox="1"/>
          <p:nvPr/>
        </p:nvSpPr>
        <p:spPr>
          <a:xfrm>
            <a:off x="64008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مدل‌های جنبشی</a:t>
            </a:r>
            <a:endParaRPr lang="fa-IR" sz="1700" dirty="0"/>
          </a:p>
        </p:txBody>
      </p:sp>
      <p:sp>
        <p:nvSpPr>
          <p:cNvPr id="23" name="GridBody3"/>
          <p:cNvSpPr txBox="1"/>
          <p:nvPr/>
        </p:nvSpPr>
        <p:spPr>
          <a:xfrm>
            <a:off x="64008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مبتنی بر ایدئولوژی و تحرک سیاسی</a:t>
            </a:r>
            <a:endParaRPr lang="fa-IR" sz="1600" dirty="0"/>
          </a:p>
        </p:txBody>
      </p:sp>
      <p:sp>
        <p:nvSpPr>
          <p:cNvPr id="24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5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27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این مدل‌ها توسط «ادوارد شیلز» و دیگران بسط یافتند.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14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سوم: دولت و نظام‌های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انواع نظام‌های اداری بر اساس «ریگز»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معیار طبقه‌بندی</a:t>
            </a:r>
            <a:endParaRPr lang="fa-IR" sz="1700" dirty="0"/>
          </a:p>
        </p:txBody>
      </p:sp>
      <p:sp>
        <p:nvSpPr>
          <p:cNvPr id="6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رابطه سیستم اداری با سیستم سیاسی، اقتصادی و اجتماعی</a:t>
            </a:r>
            <a:endParaRPr lang="fa-IR" sz="1600" dirty="0"/>
          </a:p>
        </p:txBody>
      </p:sp>
      <p:sp>
        <p:nvSpPr>
          <p:cNvPr id="7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8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سه ویژگی اصلی</a:t>
            </a:r>
            <a:endParaRPr lang="fa-IR" sz="1700" dirty="0"/>
          </a:p>
        </p:txBody>
      </p:sp>
      <p:sp>
        <p:nvSpPr>
          <p:cNvPr id="9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حاکم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حزب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ارتش</a:t>
            </a:r>
            <a:endParaRPr lang="fa-IR" sz="1600" dirty="0"/>
          </a:p>
        </p:txBody>
      </p:sp>
      <p:sp>
        <p:nvSpPr>
          <p:cNvPr id="10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1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«حاکم» ← بوروکراسی سیاسی و وابسته. پاسخگویی به «قانون» ← بوروکراسی حرفه‌ای‌تر و مستقل‌تر.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15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۴</a:t>
            </a:r>
            <a:endParaRPr lang="fa-IR" sz="4000" dirty="0"/>
          </a:p>
        </p:txBody>
      </p:sp>
      <p:sp>
        <p:nvSpPr>
          <p:cNvPr id="4" name="Title"/>
          <p:cNvSpPr txBox="1"/>
          <p:nvPr/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جمع‌بندی و کاربرد در کلاس</a:t>
            </a:r>
            <a:endParaRPr lang="fa-IR" sz="3800" dirty="0"/>
          </a:p>
        </p:txBody>
      </p:sp>
      <p:sp>
        <p:nvSpPr>
          <p:cNvPr id="5" name="Subtitle"/>
          <p:cNvSpPr txBox="1"/>
          <p:nvPr/>
        </p:nvSpPr>
        <p:spPr>
          <a:xfrm>
            <a:off x="640080" y="33375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000" dirty="0">
                <a:solidFill>
                  <a:srgbClr val="CFE3E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نتیجه‌گیری و نکات کلیدی ارائه</a:t>
            </a:r>
            <a:endParaRPr lang="fa-IR" sz="20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چهارم: جمع‌بندی و کاربرد در کلاس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جمع‌بندی و نتیجه‌گیری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612648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CardHead0"/>
          <p:cNvSpPr txBox="1"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ریگز و مدل منشوری</a:t>
            </a:r>
            <a:endParaRPr lang="fa-IR" sz="1500" dirty="0"/>
          </a:p>
        </p:txBody>
      </p:sp>
      <p:sp>
        <p:nvSpPr>
          <p:cNvPr id="6" name="CardBody0"/>
          <p:cNvSpPr txBox="1"/>
          <p:nvPr/>
        </p:nvSpPr>
        <p:spPr>
          <a:xfrm>
            <a:off x="626364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بهترین چارچوب برای تحلیل بوروکراسی در کشورهای در حال توسعه</a:t>
            </a:r>
            <a:endParaRPr lang="fa-IR" sz="1500" dirty="0"/>
          </a:p>
        </p:txBody>
      </p:sp>
      <p:sp>
        <p:nvSpPr>
          <p:cNvPr id="7" name="Card1"/>
          <p:cNvSpPr/>
          <p:nvPr/>
        </p:nvSpPr>
        <p:spPr>
          <a:xfrm>
            <a:off x="329184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8" name="CardHead1"/>
          <p:cNvSpPr txBox="1"/>
          <p:nvPr/>
        </p:nvSpPr>
        <p:spPr>
          <a:xfrm>
            <a:off x="342900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چالش اصلی</a:t>
            </a:r>
            <a:endParaRPr lang="fa-IR" sz="1500" dirty="0"/>
          </a:p>
        </p:txBody>
      </p:sp>
      <p:sp>
        <p:nvSpPr>
          <p:cNvPr id="9" name="CardBody1"/>
          <p:cNvSpPr txBox="1"/>
          <p:nvPr/>
        </p:nvSpPr>
        <p:spPr>
          <a:xfrm>
            <a:off x="342900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عدم تطابق بین ساختارهای مدرن و کارکردهای سنتی</a:t>
            </a:r>
            <a:endParaRPr lang="fa-IR" sz="1500" dirty="0"/>
          </a:p>
        </p:txBody>
      </p:sp>
      <p:sp>
        <p:nvSpPr>
          <p:cNvPr id="10" name="Card2"/>
          <p:cNvSpPr/>
          <p:nvPr/>
        </p:nvSpPr>
        <p:spPr>
          <a:xfrm>
            <a:off x="45720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1" name="CardHead2"/>
          <p:cNvSpPr txBox="1"/>
          <p:nvPr/>
        </p:nvSpPr>
        <p:spPr>
          <a:xfrm>
            <a:off x="59436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راهکار</a:t>
            </a:r>
            <a:endParaRPr lang="fa-IR" sz="1500" dirty="0"/>
          </a:p>
        </p:txBody>
      </p:sp>
      <p:sp>
        <p:nvSpPr>
          <p:cNvPr id="12" name="CardBody2"/>
          <p:cNvSpPr txBox="1"/>
          <p:nvPr/>
        </p:nvSpPr>
        <p:spPr>
          <a:xfrm>
            <a:off x="594360" y="20116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درک بوم‌شناسی اداری (محیط سیاسی، اجتماعی و فرهنگی) قبل از هرگونه اصلاحات اداری</a:t>
            </a:r>
            <a:endParaRPr lang="fa-IR" sz="1500" dirty="0"/>
          </a:p>
        </p:txBody>
      </p:sp>
      <p:sp>
        <p:nvSpPr>
          <p:cNvPr id="13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4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oteBadgeText"/>
          <p:cNvSpPr txBox="1"/>
          <p:nvPr/>
        </p:nvSpPr>
        <p:spPr>
          <a:xfrm>
            <a:off x="7406640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sp>
        <p:nvSpPr>
          <p:cNvPr id="16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سخن آخر: بوروکراسی صرفاً یک ابزار فنی نیست، بلکه بازتابی از فرهنگ و سیاست هر جامعه است.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17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 چهارم: جمع‌بندی و کاربرد در کلاس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نکات کلیدی برای ارائه در کلاس</a:t>
            </a:r>
            <a:endParaRPr lang="fa-IR" sz="3200" dirty="0"/>
          </a:p>
        </p:txBody>
      </p:sp>
      <p:sp>
        <p:nvSpPr>
          <p:cNvPr id="4" name="NumCard0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NumBadge0"/>
          <p:cNvSpPr/>
          <p:nvPr/>
        </p:nvSpPr>
        <p:spPr>
          <a:xfrm>
            <a:off x="7909560" y="15270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Txt0"/>
          <p:cNvSpPr txBox="1"/>
          <p:nvPr/>
        </p:nvSpPr>
        <p:spPr>
          <a:xfrm>
            <a:off x="7909560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۱</a:t>
            </a:r>
            <a:endParaRPr lang="fa-IR" sz="1800" dirty="0"/>
          </a:p>
        </p:txBody>
      </p:sp>
      <p:sp>
        <p:nvSpPr>
          <p:cNvPr id="7" name="NumBody0"/>
          <p:cNvSpPr txBox="1"/>
          <p:nvPr/>
        </p:nvSpPr>
        <p:spPr>
          <a:xfrm>
            <a:off x="685800" y="128016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استفاده از نمودارها: نمودار درختی مدل‌های ریگز را روی تخته یا اسلاید بکشید</a:t>
            </a:r>
            <a:endParaRPr lang="fa-IR" sz="1700" dirty="0"/>
          </a:p>
        </p:txBody>
      </p:sp>
      <p:sp>
        <p:nvSpPr>
          <p:cNvPr id="8" name="NumCard1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9" name="NumBadge1"/>
          <p:cNvSpPr/>
          <p:nvPr/>
        </p:nvSpPr>
        <p:spPr>
          <a:xfrm>
            <a:off x="7909560" y="2624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umTxt1"/>
          <p:cNvSpPr txBox="1"/>
          <p:nvPr/>
        </p:nvSpPr>
        <p:spPr>
          <a:xfrm>
            <a:off x="79095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۲</a:t>
            </a:r>
            <a:endParaRPr lang="fa-IR" sz="1800" dirty="0"/>
          </a:p>
        </p:txBody>
      </p:sp>
      <p:sp>
        <p:nvSpPr>
          <p:cNvPr id="11" name="NumBody1"/>
          <p:cNvSpPr txBox="1"/>
          <p:nvPr/>
        </p:nvSpPr>
        <p:spPr>
          <a:xfrm>
            <a:off x="685800" y="237744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مثال‌های عینی: برای مدل «منشوری»، مثال سازمان‌های دولتی در ایران را ذکر کنید</a:t>
            </a:r>
            <a:endParaRPr lang="fa-IR" sz="1700" dirty="0"/>
          </a:p>
        </p:txBody>
      </p:sp>
      <p:sp>
        <p:nvSpPr>
          <p:cNvPr id="12" name="NumCard2"/>
          <p:cNvSpPr/>
          <p:nvPr/>
        </p:nvSpPr>
        <p:spPr>
          <a:xfrm>
            <a:off x="457200" y="347472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3" name="NumBadge2"/>
          <p:cNvSpPr/>
          <p:nvPr/>
        </p:nvSpPr>
        <p:spPr>
          <a:xfrm>
            <a:off x="7909560" y="37216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umTxt2"/>
          <p:cNvSpPr txBox="1"/>
          <p:nvPr/>
        </p:nvSpPr>
        <p:spPr>
          <a:xfrm>
            <a:off x="7909560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۳</a:t>
            </a:r>
            <a:endParaRPr lang="fa-IR" sz="1800" dirty="0"/>
          </a:p>
        </p:txBody>
      </p:sp>
      <p:sp>
        <p:nvSpPr>
          <p:cNvPr id="15" name="NumBody2"/>
          <p:cNvSpPr txBox="1"/>
          <p:nvPr/>
        </p:nvSpPr>
        <p:spPr>
          <a:xfrm>
            <a:off x="685800" y="347472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پرسش و پاسخ: از همکلاسی‌ها بپرسید: «به نظر شما بوروکراسی در ایران بیشتر به مدل وبری نزدیک است یا مدل منشوری ریگز؟»</a:t>
            </a:r>
            <a:endParaRPr lang="fa-IR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B Nazanin"/>
                <a:ea typeface="B Nazanin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18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4800" b="1" dirty="0">
                <a:solidFill>
                  <a:schemeClr val="bg1"/>
                </a:solidFill>
                <a:latin typeface="B Zar" pitchFamily="34" charset="0"/>
                <a:ea typeface="B Zar" pitchFamily="34" charset="-122"/>
                <a:cs typeface="B Zar" pitchFamily="34" charset="-120"/>
              </a:rPr>
              <a:t>پرسش و پاسخ</a:t>
            </a:r>
            <a:endParaRPr lang="fa-IR" sz="4800" dirty="0"/>
          </a:p>
        </p:txBody>
      </p:sp>
      <p:sp>
        <p:nvSpPr>
          <p:cNvPr id="3" name="Subtitle"/>
          <p:cNvSpPr txBox="1"/>
          <p:nvPr/>
        </p:nvSpPr>
        <p:spPr>
          <a:xfrm>
            <a:off x="640080" y="25603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400" dirty="0">
                <a:solidFill>
                  <a:srgbClr val="F2B66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 سپاس از توجه شما</a:t>
            </a:r>
            <a:endParaRPr lang="fa-IR" sz="2400" dirty="0"/>
          </a:p>
        </p:txBody>
      </p:sp>
      <p:sp>
        <p:nvSpPr>
          <p:cNvPr id="4" name="Tagline"/>
          <p:cNvSpPr txBox="1"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800" dirty="0">
                <a:solidFill>
                  <a:srgbClr val="CFE3E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بوروکراسی بازتابی از فرهنگ و سیاست هر جامعه است</a:t>
            </a:r>
            <a:endParaRPr lang="fa-IR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Riggs">
  <a:themeElements>
    <a:clrScheme name="Riggs">
      <a:dk1>
        <a:srgbClr val="1F2933"/>
      </a:dk1>
      <a:lt1>
        <a:srgbClr val="FFFFFF"/>
      </a:lt1>
      <a:dk2>
        <a:srgbClr val="0F3D3E"/>
      </a:dk2>
      <a:lt2>
        <a:srgbClr val="EAF3F2"/>
      </a:lt2>
      <a:accent1>
        <a:srgbClr val="0F6E6E"/>
      </a:accent1>
      <a:accent2>
        <a:srgbClr val="D98324"/>
      </a:accent2>
      <a:accent3>
        <a:srgbClr val="5B8E7D"/>
      </a:accent3>
      <a:accent4>
        <a:srgbClr val="8A5A44"/>
      </a:accent4>
      <a:accent5>
        <a:srgbClr val="3E5C76"/>
      </a:accent5>
      <a:accent6>
        <a:srgbClr val="B5483A"/>
      </a:accent6>
      <a:hlink>
        <a:srgbClr val="0F6E6E"/>
      </a:hlink>
      <a:folHlink>
        <a:srgbClr val="5B8E7D"/>
      </a:folHlink>
    </a:clrScheme>
    <a:fontScheme name="Riggs">
      <a:majorFont>
        <a:latin typeface="B Za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 Nazani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بوروکراسی و مدل‌های اداره امور عمومی</dc:title>
  <dc:subject>PptxGenJS Presentation</dc:subject>
  <dc:creator>حمیده رزدان</dc:creator>
  <cp:lastModifiedBy>حمیده رزدان</cp:lastModifiedBy>
  <cp:revision>1</cp:revision>
  <dcterms:created xsi:type="dcterms:W3CDTF">2026-10-14T16:51:32Z</dcterms:created>
  <dcterms:modified xsi:type="dcterms:W3CDTF">2026-10-14T16:51:32Z</dcterms:modified>
</cp:coreProperties>
</file>